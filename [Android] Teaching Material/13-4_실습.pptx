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  <p:sldMasterId id="2147483840" r:id="rId2"/>
  </p:sldMasterIdLst>
  <p:notesMasterIdLst>
    <p:notesMasterId r:id="rId28"/>
  </p:notesMasterIdLst>
  <p:sldIdLst>
    <p:sldId id="256" r:id="rId3"/>
    <p:sldId id="770" r:id="rId4"/>
    <p:sldId id="771" r:id="rId5"/>
    <p:sldId id="772" r:id="rId6"/>
    <p:sldId id="773" r:id="rId7"/>
    <p:sldId id="774" r:id="rId8"/>
    <p:sldId id="778" r:id="rId9"/>
    <p:sldId id="779" r:id="rId10"/>
    <p:sldId id="780" r:id="rId11"/>
    <p:sldId id="796" r:id="rId12"/>
    <p:sldId id="795" r:id="rId13"/>
    <p:sldId id="798" r:id="rId14"/>
    <p:sldId id="799" r:id="rId15"/>
    <p:sldId id="800" r:id="rId16"/>
    <p:sldId id="801" r:id="rId17"/>
    <p:sldId id="802" r:id="rId18"/>
    <p:sldId id="803" r:id="rId19"/>
    <p:sldId id="797" r:id="rId20"/>
    <p:sldId id="777" r:id="rId21"/>
    <p:sldId id="788" r:id="rId22"/>
    <p:sldId id="789" r:id="rId23"/>
    <p:sldId id="790" r:id="rId24"/>
    <p:sldId id="791" r:id="rId25"/>
    <p:sldId id="804" r:id="rId26"/>
    <p:sldId id="760" r:id="rId27"/>
  </p:sldIdLst>
  <p:sldSz cx="9144000" cy="6858000" type="screen4x3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3224">
          <p15:clr>
            <a:srgbClr val="A4A3A4"/>
          </p15:clr>
        </p15:guide>
        <p15:guide id="2" pos="223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BE2"/>
    <a:srgbClr val="0066FF"/>
    <a:srgbClr val="004C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49" autoAdjust="0"/>
    <p:restoredTop sz="76842" autoAdjust="0"/>
  </p:normalViewPr>
  <p:slideViewPr>
    <p:cSldViewPr snapToGrid="0">
      <p:cViewPr varScale="1">
        <p:scale>
          <a:sx n="88" d="100"/>
          <a:sy n="88" d="100"/>
        </p:scale>
        <p:origin x="-230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-3756" y="-102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/>
          <a:lstStyle>
            <a:lvl1pPr algn="r">
              <a:defRPr sz="1200"/>
            </a:lvl1pPr>
          </a:lstStyle>
          <a:p>
            <a:fld id="{F90D873F-EA2E-46B8-AF3A-207077BF9E2A}" type="datetimeFigureOut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6763"/>
            <a:ext cx="5119687" cy="3840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079" tIns="47540" rIns="95079" bIns="4754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861441"/>
            <a:ext cx="5683250" cy="4605575"/>
          </a:xfrm>
          <a:prstGeom prst="rect">
            <a:avLst/>
          </a:prstGeom>
        </p:spPr>
        <p:txBody>
          <a:bodyPr vert="horz" lIns="95079" tIns="47540" rIns="95079" bIns="47540" rtlCol="0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6"/>
            <a:ext cx="3078427" cy="511730"/>
          </a:xfrm>
          <a:prstGeom prst="rect">
            <a:avLst/>
          </a:prstGeom>
        </p:spPr>
        <p:txBody>
          <a:bodyPr vert="horz" lIns="95079" tIns="47540" rIns="95079" bIns="47540" rtlCol="0" anchor="b"/>
          <a:lstStyle>
            <a:lvl1pPr algn="r">
              <a:defRPr sz="1200"/>
            </a:lvl1pPr>
          </a:lstStyle>
          <a:p>
            <a:fld id="{56445C23-547F-4807-82A2-44CB5165115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376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5207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4495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82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928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6417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258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131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569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 dirty="0" smtClean="0"/>
          </a:p>
        </p:txBody>
      </p:sp>
      <p:sp>
        <p:nvSpPr>
          <p:cNvPr id="5530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4986" indent="-30961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38441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33817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29193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98605F09-2F2C-4FD2-AE1F-E900A21E763F}" type="slidenum">
              <a:rPr lang="ko-KR" altLang="en-US" smtClean="0"/>
              <a:pPr eaLnBrk="1" hangingPunct="1"/>
              <a:t>19</a:t>
            </a:fld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6107573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 smtClean="0"/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4986" indent="-30961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38441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33817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29193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17FA6188-5B61-4FED-8C0B-B4BE0ECAEFF2}" type="slidenum">
              <a:rPr lang="ko-KR" altLang="en-US" smtClean="0"/>
              <a:pPr eaLnBrk="1" hangingPunct="1"/>
              <a:t>20</a:t>
            </a:fld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40975677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9741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 dirty="0" smtClean="0"/>
          </a:p>
        </p:txBody>
      </p:sp>
      <p:sp>
        <p:nvSpPr>
          <p:cNvPr id="5632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804986" indent="-309610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238441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733817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229193" indent="-247688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724569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3219945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715322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4210698" indent="-247688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17FA6188-5B61-4FED-8C0B-B4BE0ECAEFF2}" type="slidenum">
              <a:rPr lang="ko-KR" altLang="en-US" smtClean="0"/>
              <a:pPr eaLnBrk="1" hangingPunct="1"/>
              <a:t>22</a:t>
            </a:fld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1243775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45C23-547F-4807-82A2-44CB51651154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95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ko-KR" dirty="0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BB1D5F-33CD-4488-976B-F9464FD9175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A0C15-7F47-4547-995A-E06B8BD978BD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5276DC-5F53-4EC5-9E0B-7C43E8461919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453976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73978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34068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80812-1F40-45FD-82CF-F544E556480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4F5704-1777-4A4F-9646-122E7F100DB5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A8956-45F5-40BA-9EC4-3972E0A2B8E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6DBBE-459F-47F7-AC25-C1520DCBA82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D703F-420F-4C6E-A47B-DAAC0702168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17E0-6ED8-49AC-8F3C-035789E329D3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6A579-5918-4B54-82E8-D4CEFF471756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19546-0714-4120-89FC-4148593C534F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auto">
          <a:xfrm>
            <a:off x="4572000" y="0"/>
            <a:ext cx="3600450" cy="6858000"/>
          </a:xfrm>
          <a:prstGeom prst="rect">
            <a:avLst/>
          </a:prstGeom>
          <a:solidFill>
            <a:srgbClr val="669900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6156325" y="0"/>
            <a:ext cx="1655763" cy="6858000"/>
          </a:xfrm>
          <a:prstGeom prst="rect">
            <a:avLst/>
          </a:prstGeom>
          <a:solidFill>
            <a:srgbClr val="FFD937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6" name="Rectangle 4"/>
          <p:cNvSpPr>
            <a:spLocks noChangeArrowheads="1"/>
          </p:cNvSpPr>
          <p:nvPr userDrawn="1"/>
        </p:nvSpPr>
        <p:spPr bwMode="auto">
          <a:xfrm>
            <a:off x="0" y="71438"/>
            <a:ext cx="9144000" cy="6742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7" name="Picture 14" descr="그림1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343400"/>
            <a:ext cx="3203575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15"/>
          <p:cNvSpPr>
            <a:spLocks noChangeArrowheads="1"/>
          </p:cNvSpPr>
          <p:nvPr userDrawn="1"/>
        </p:nvSpPr>
        <p:spPr bwMode="auto">
          <a:xfrm>
            <a:off x="5580063" y="4103688"/>
            <a:ext cx="3563937" cy="2709862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graphicFrame>
        <p:nvGraphicFramePr>
          <p:cNvPr id="9" name="Object 10"/>
          <p:cNvGraphicFramePr>
            <a:graphicFrameLocks noChangeAspect="1"/>
          </p:cNvGraphicFramePr>
          <p:nvPr userDrawn="1"/>
        </p:nvGraphicFramePr>
        <p:xfrm>
          <a:off x="0" y="6424613"/>
          <a:ext cx="24114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0" name="Image" r:id="rId4" imgW="7873016" imgH="1269841" progId="Photoshop.Image.8">
                  <p:embed/>
                </p:oleObj>
              </mc:Choice>
              <mc:Fallback>
                <p:oleObj name="Image" r:id="rId4" imgW="7873016" imgH="1269841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24613"/>
                        <a:ext cx="24114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00"/>
                                </a:gs>
                                <a:gs pos="100000">
                                  <a:srgbClr val="FF620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Rectangle 5"/>
          <p:cNvSpPr>
            <a:spLocks noGrp="1" noChangeArrowheads="1"/>
          </p:cNvSpPr>
          <p:nvPr>
            <p:ph type="ctrTitle"/>
          </p:nvPr>
        </p:nvSpPr>
        <p:spPr>
          <a:xfrm>
            <a:off x="685800" y="1598613"/>
            <a:ext cx="7772400" cy="1470025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845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4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0" name="Rectangle 7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7010400" y="115888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11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12" name="Rectangle 9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237288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DFA6C-DC29-410A-98AD-E745B85062C5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10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DAFA5F-3690-4FE0-9945-91054F5209D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9569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6F4739-1061-46F0-87BE-29137D38351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13535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5073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0DED0-4351-4F4D-9D8D-04B38D58CAE9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687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327C7-E6B6-46F6-9EE4-DD40FA25A1C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915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22BC2C-8F26-425F-8D7D-E76B8B6D5BB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03604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14BC7E-434E-47A6-A5A1-83D33510053B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34973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DBE4BC-6581-4400-AD6F-365675D9D7F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1835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9A02F-E0B9-4A98-AF94-6478BEBFE100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1748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8F19A-7C39-4100-965F-65238AE93B9A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47384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628ADF-ADFB-47CB-852B-B81C1D21B3E2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ko-KR">
              <a:solidFill>
                <a:srgbClr val="000000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958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altLang="ko-KR" dirty="0" smtClean="0"/>
              <a:t>Click to edit Master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672"/>
            <a:ext cx="8229600" cy="46414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3B9C821C-F261-4C36-858D-913B97B2EFDC}" type="datetime1">
              <a:rPr lang="ko-KR" altLang="en-US" smtClean="0"/>
              <a:pPr/>
              <a:t>2017-11-28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8FAA61E-CA35-46E7-954C-43D901BBD1EB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27345" y="110416"/>
            <a:ext cx="2137143" cy="27809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TextBox 10"/>
          <p:cNvSpPr txBox="1"/>
          <p:nvPr userDrawn="1"/>
        </p:nvSpPr>
        <p:spPr>
          <a:xfrm>
            <a:off x="-3205" y="171313"/>
            <a:ext cx="1125180" cy="259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ctr" defTabSz="914400" rtl="0" eaLnBrk="1" fontAlgn="auto" latinLnBrk="1" hangingPunct="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800" kern="1200" spc="0" dirty="0" smtClean="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rPr>
              <a:t>COMP</a:t>
            </a:r>
            <a:r>
              <a:rPr lang="en-US" altLang="ko-KR" sz="1800" kern="1200" spc="0" dirty="0" smtClean="0">
                <a:solidFill>
                  <a:srgbClr val="FF0000"/>
                </a:solidFill>
                <a:latin typeface="Calibri" pitchFamily="34" charset="0"/>
                <a:ea typeface="+mn-ea"/>
                <a:cs typeface="Calibri" pitchFamily="34" charset="0"/>
              </a:rPr>
              <a:t>3</a:t>
            </a:r>
            <a:r>
              <a:rPr lang="en-US" altLang="ko-KR" sz="1800" kern="1200" spc="0" dirty="0" smtClean="0">
                <a:solidFill>
                  <a:schemeClr val="accent5"/>
                </a:solidFill>
                <a:latin typeface="Calibri" pitchFamily="34" charset="0"/>
                <a:ea typeface="+mn-ea"/>
                <a:cs typeface="Calibri" pitchFamily="34" charset="0"/>
              </a:rPr>
              <a:t>2</a:t>
            </a:r>
            <a:r>
              <a:rPr lang="en-US" altLang="ko-KR" sz="1800" kern="1200" spc="0" dirty="0" smtClean="0">
                <a:solidFill>
                  <a:srgbClr val="0066FF"/>
                </a:solidFill>
                <a:latin typeface="Calibri" pitchFamily="34" charset="0"/>
                <a:ea typeface="+mn-ea"/>
                <a:cs typeface="Calibri" pitchFamily="34" charset="0"/>
              </a:rPr>
              <a:t>8</a:t>
            </a:r>
            <a:endParaRPr lang="ko-KR" altLang="en-US" sz="1800" kern="1200" spc="0" dirty="0" smtClean="0">
              <a:solidFill>
                <a:schemeClr val="tx1">
                  <a:lumMod val="50000"/>
                  <a:lumOff val="50000"/>
                </a:schemeClr>
              </a:solidFill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949172" y="101474"/>
            <a:ext cx="1474704" cy="391812"/>
            <a:chOff x="983729" y="101774"/>
            <a:chExt cx="1474704" cy="391812"/>
          </a:xfrm>
        </p:grpSpPr>
        <p:sp>
          <p:nvSpPr>
            <p:cNvPr id="10" name="TextBox 9"/>
            <p:cNvSpPr txBox="1"/>
            <p:nvPr userDrawn="1"/>
          </p:nvSpPr>
          <p:spPr>
            <a:xfrm>
              <a:off x="983729" y="101774"/>
              <a:ext cx="1151277" cy="2714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1600" b="0" kern="1200" dirty="0" smtClean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libri" pitchFamily="34" charset="0"/>
                  <a:ea typeface="+mn-ea"/>
                  <a:cs typeface="Calibri" pitchFamily="34" charset="0"/>
                </a:rPr>
                <a:t>M</a:t>
              </a:r>
              <a:r>
                <a:rPr lang="en-US" altLang="ko-KR" sz="1600" kern="1200" dirty="0" smtClean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ea typeface="+mn-ea"/>
                  <a:cs typeface="Calibri" pitchFamily="34" charset="0"/>
                </a:rPr>
                <a:t>obile App</a:t>
              </a:r>
              <a:endParaRPr lang="ko-KR" altLang="en-US" sz="1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1053433" y="155032"/>
              <a:ext cx="140500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P</a:t>
              </a:r>
              <a:r>
                <a:rPr kumimoji="0" lang="en-US" altLang="ko-KR" sz="16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black">
                      <a:lumMod val="50000"/>
                      <a:lumOff val="50000"/>
                    </a:prst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rogramming I</a:t>
              </a:r>
              <a:endParaRPr lang="ko-KR" altLang="en-US" sz="1600" dirty="0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1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Calibri" pitchFamily="34" charset="0"/>
          <a:ea typeface="+mj-ea"/>
          <a:cs typeface="Calibri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fol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ChangeArrowheads="1"/>
          </p:cNvSpPr>
          <p:nvPr userDrawn="1"/>
        </p:nvSpPr>
        <p:spPr bwMode="auto">
          <a:xfrm>
            <a:off x="4572000" y="0"/>
            <a:ext cx="3600450" cy="6858000"/>
          </a:xfrm>
          <a:prstGeom prst="rect">
            <a:avLst/>
          </a:prstGeom>
          <a:solidFill>
            <a:srgbClr val="669900"/>
          </a:solidFill>
          <a:ln w="12700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81" name="Rectangle 9"/>
          <p:cNvSpPr>
            <a:spLocks noChangeArrowheads="1"/>
          </p:cNvSpPr>
          <p:nvPr userDrawn="1"/>
        </p:nvSpPr>
        <p:spPr bwMode="auto">
          <a:xfrm>
            <a:off x="6156325" y="0"/>
            <a:ext cx="1655763" cy="6858000"/>
          </a:xfrm>
          <a:prstGeom prst="rect">
            <a:avLst/>
          </a:prstGeom>
          <a:solidFill>
            <a:srgbClr val="FFD937"/>
          </a:solidFill>
          <a:ln w="12700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079" name="Rectangle 7"/>
          <p:cNvSpPr>
            <a:spLocks noChangeArrowheads="1"/>
          </p:cNvSpPr>
          <p:nvPr userDrawn="1"/>
        </p:nvSpPr>
        <p:spPr bwMode="auto">
          <a:xfrm>
            <a:off x="0" y="71438"/>
            <a:ext cx="9144000" cy="6742112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D789E57-AA4D-4DB9-A627-96C817CF2E22}" type="slidenum">
              <a:rPr kumimoji="1" lang="en-US" altLang="ko-KR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000000"/>
              </a:solidFill>
            </a:endParaRPr>
          </a:p>
        </p:txBody>
      </p:sp>
      <p:graphicFrame>
        <p:nvGraphicFramePr>
          <p:cNvPr id="1026" name="Object 10"/>
          <p:cNvGraphicFramePr>
            <a:graphicFrameLocks noChangeAspect="1"/>
          </p:cNvGraphicFramePr>
          <p:nvPr userDrawn="1"/>
        </p:nvGraphicFramePr>
        <p:xfrm>
          <a:off x="0" y="6424613"/>
          <a:ext cx="2411413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6" name="Image" r:id="rId14" imgW="7873016" imgH="1269841" progId="Photoshop.Image.8">
                  <p:embed/>
                </p:oleObj>
              </mc:Choice>
              <mc:Fallback>
                <p:oleObj name="Image" r:id="rId14" imgW="7873016" imgH="1269841" progId="Photoshop.Imag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424613"/>
                        <a:ext cx="2411413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gradFill rotWithShape="1">
                              <a:gsLst>
                                <a:gs pos="0">
                                  <a:srgbClr val="FF9900"/>
                                </a:gs>
                                <a:gs pos="100000">
                                  <a:srgbClr val="FF6201"/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3" name="Picture 14" descr="그림1"/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425" y="4343400"/>
            <a:ext cx="3203575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87" name="Rectangle 15"/>
          <p:cNvSpPr>
            <a:spLocks noChangeArrowheads="1"/>
          </p:cNvSpPr>
          <p:nvPr userDrawn="1"/>
        </p:nvSpPr>
        <p:spPr bwMode="auto">
          <a:xfrm>
            <a:off x="5580063" y="4103688"/>
            <a:ext cx="3563937" cy="2709862"/>
          </a:xfrm>
          <a:prstGeom prst="rect">
            <a:avLst/>
          </a:prstGeom>
          <a:solidFill>
            <a:schemeClr val="bg1">
              <a:alpha val="50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b="1">
              <a:solidFill>
                <a:srgbClr val="000000"/>
              </a:solidFill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0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507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  <a:ea typeface="+mn-ea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en-US" altLang="ko-KR">
              <a:solidFill>
                <a:srgbClr val="000000"/>
              </a:solidFill>
            </a:endParaRPr>
          </a:p>
        </p:txBody>
      </p:sp>
      <p:sp>
        <p:nvSpPr>
          <p:cNvPr id="3088" name="Rectangle 16"/>
          <p:cNvSpPr>
            <a:spLocks noChangeArrowheads="1"/>
          </p:cNvSpPr>
          <p:nvPr/>
        </p:nvSpPr>
        <p:spPr bwMode="auto">
          <a:xfrm>
            <a:off x="7010400" y="62372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  <a:defRPr/>
            </a:pPr>
            <a:fld id="{DBF98BD3-2415-460B-9FC2-91789834B1DD}" type="slidenum">
              <a:rPr kumimoji="1" lang="en-US" altLang="ko-KR" sz="14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 sz="1400">
              <a:solidFill>
                <a:srgbClr val="000000"/>
              </a:solidFill>
            </a:endParaRPr>
          </a:p>
        </p:txBody>
      </p:sp>
      <p:grpSp>
        <p:nvGrpSpPr>
          <p:cNvPr id="2" name="Group 17"/>
          <p:cNvGrpSpPr>
            <a:grpSpLocks/>
          </p:cNvGrpSpPr>
          <p:nvPr userDrawn="1"/>
        </p:nvGrpSpPr>
        <p:grpSpPr bwMode="auto">
          <a:xfrm>
            <a:off x="0" y="0"/>
            <a:ext cx="395288" cy="1052513"/>
            <a:chOff x="0" y="0"/>
            <a:chExt cx="249" cy="663"/>
          </a:xfrm>
        </p:grpSpPr>
        <p:sp>
          <p:nvSpPr>
            <p:cNvPr id="3090" name="Rectangle 18"/>
            <p:cNvSpPr>
              <a:spLocks noChangeArrowheads="1"/>
            </p:cNvSpPr>
            <p:nvPr userDrawn="1"/>
          </p:nvSpPr>
          <p:spPr bwMode="auto">
            <a:xfrm>
              <a:off x="0" y="0"/>
              <a:ext cx="204" cy="663"/>
            </a:xfrm>
            <a:prstGeom prst="rect">
              <a:avLst/>
            </a:prstGeom>
            <a:solidFill>
              <a:srgbClr val="6699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1" name="Rectangle 19"/>
            <p:cNvSpPr>
              <a:spLocks noChangeArrowheads="1"/>
            </p:cNvSpPr>
            <p:nvPr userDrawn="1"/>
          </p:nvSpPr>
          <p:spPr bwMode="auto">
            <a:xfrm>
              <a:off x="91" y="0"/>
              <a:ext cx="67" cy="663"/>
            </a:xfrm>
            <a:prstGeom prst="rect">
              <a:avLst/>
            </a:prstGeom>
            <a:solidFill>
              <a:srgbClr val="99CC0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2" name="Rectangle 20"/>
            <p:cNvSpPr>
              <a:spLocks noChangeArrowheads="1"/>
            </p:cNvSpPr>
            <p:nvPr userDrawn="1"/>
          </p:nvSpPr>
          <p:spPr bwMode="auto">
            <a:xfrm>
              <a:off x="158" y="0"/>
              <a:ext cx="67" cy="663"/>
            </a:xfrm>
            <a:prstGeom prst="rect">
              <a:avLst/>
            </a:prstGeom>
            <a:solidFill>
              <a:srgbClr val="FFD937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093" name="Rectangle 21"/>
            <p:cNvSpPr>
              <a:spLocks noChangeArrowheads="1"/>
            </p:cNvSpPr>
            <p:nvPr userDrawn="1"/>
          </p:nvSpPr>
          <p:spPr bwMode="auto">
            <a:xfrm>
              <a:off x="0" y="527"/>
              <a:ext cx="249" cy="136"/>
            </a:xfrm>
            <a:prstGeom prst="rect">
              <a:avLst/>
            </a:prstGeom>
            <a:solidFill>
              <a:schemeClr val="bg1">
                <a:alpha val="39999"/>
              </a:schemeClr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anchor="ctr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kumimoji="1" lang="ko-KR" altLang="en-US" b="1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705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0" grpId="0" animBg="1"/>
      <p:bldP spid="3081" grpId="0" animBg="1"/>
    </p:bldLst>
  </p:timing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HY강B" pitchFamily="18" charset="-127"/>
          <a:ea typeface="HY강B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88840"/>
            <a:ext cx="7772400" cy="864096"/>
          </a:xfrm>
          <a:solidFill>
            <a:srgbClr val="004CBC"/>
          </a:solidFill>
        </p:spPr>
        <p:txBody>
          <a:bodyPr>
            <a:normAutofit/>
          </a:bodyPr>
          <a:lstStyle/>
          <a:p>
            <a:r>
              <a:rPr lang="ko-KR" altLang="en-US" sz="4800" b="1" dirty="0" smtClean="0">
                <a:solidFill>
                  <a:schemeClr val="bg1"/>
                </a:solidFill>
                <a:effectLst/>
                <a:latin typeface="Arial" pitchFamily="34" charset="0"/>
                <a:cs typeface="Arial" pitchFamily="34" charset="0"/>
              </a:rPr>
              <a:t>실습</a:t>
            </a:r>
            <a:endParaRPr lang="ko-KR" altLang="en-US" sz="4800" b="1" dirty="0"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 err="1"/>
              <a:t>Gi</a:t>
            </a:r>
            <a:r>
              <a:rPr lang="en-US" altLang="ko-KR" dirty="0"/>
              <a:t> Sook Jung, </a:t>
            </a:r>
            <a:r>
              <a:rPr lang="en-US" altLang="ko-KR" dirty="0" err="1"/>
              <a:t>Ph.D</a:t>
            </a:r>
            <a:endParaRPr lang="en-US" altLang="ko-KR"/>
          </a:p>
          <a:p>
            <a:r>
              <a:rPr lang="en-US" altLang="ko-KR" smtClean="0"/>
              <a:t>School </a:t>
            </a:r>
            <a:r>
              <a:rPr lang="en-US" altLang="ko-KR" dirty="0" smtClean="0"/>
              <a:t>of Computer Science and Engineering</a:t>
            </a:r>
          </a:p>
          <a:p>
            <a:r>
              <a:rPr lang="en-US" altLang="ko-KR" dirty="0" smtClean="0"/>
              <a:t>College of IT Engineering, KNU</a:t>
            </a:r>
            <a:endParaRPr lang="ko-KR" altLang="en-US" dirty="0"/>
          </a:p>
        </p:txBody>
      </p:sp>
      <p:pic>
        <p:nvPicPr>
          <p:cNvPr id="5122" name="Picture 2" descr="http://www.ddaily.co.kr/DATA/news/20110210/20110210140451__I6720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027" b="22179"/>
          <a:stretch/>
        </p:blipFill>
        <p:spPr bwMode="auto">
          <a:xfrm>
            <a:off x="2208089" y="3084845"/>
            <a:ext cx="4762500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308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 smtClean="0"/>
              <a:t>NDKCalculator</a:t>
            </a:r>
            <a:endParaRPr lang="ko-KR" altLang="en-US" sz="44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JNI with NDK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45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457200" y="265470"/>
            <a:ext cx="8229600" cy="1042219"/>
          </a:xfrm>
        </p:spPr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44500" y="1271460"/>
            <a:ext cx="7515856" cy="7676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Courier New" pitchFamily="49" charset="0"/>
              <a:buChar char="o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  <a:cs typeface="+mn-cs"/>
              </a:defRPr>
            </a:lvl9pPr>
          </a:lstStyle>
          <a:p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ko-KR" altLang="en-US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주어진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Native Source</a:t>
            </a:r>
            <a:r>
              <a:rPr lang="ko-KR" altLang="en-US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와 </a:t>
            </a:r>
            <a:r>
              <a:rPr lang="en-US" altLang="ko-KR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layout</a:t>
            </a:r>
            <a:r>
              <a:rPr lang="ko-KR" altLang="en-US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으로 간단한 계산기를 만들어보자 </a:t>
            </a:r>
            <a:endParaRPr lang="en-US" altLang="ko-KR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36146"/>
          <a:stretch/>
        </p:blipFill>
        <p:spPr>
          <a:xfrm>
            <a:off x="729575" y="2928026"/>
            <a:ext cx="3842426" cy="357727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rcRect b="30631"/>
          <a:stretch/>
        </p:blipFill>
        <p:spPr>
          <a:xfrm>
            <a:off x="4572000" y="2928026"/>
            <a:ext cx="3652327" cy="356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254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30" y="1916939"/>
            <a:ext cx="4433570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&lt;?</a:t>
            </a:r>
            <a:r>
              <a:rPr lang="en-US" altLang="ko-KR" sz="12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xml </a:t>
            </a:r>
            <a:r>
              <a:rPr lang="en-US" altLang="ko-KR" sz="1200" dirty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version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"1.0" </a:t>
            </a:r>
            <a:r>
              <a:rPr lang="en-US" altLang="ko-KR" sz="1200" i="1" dirty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encoding</a:t>
            </a:r>
            <a:r>
              <a:rPr lang="en-US" altLang="ko-KR" sz="1200" i="1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"utf-8"</a:t>
            </a:r>
            <a:r>
              <a:rPr lang="en-US" altLang="ko-KR" sz="1200" i="1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?&gt;</a:t>
            </a:r>
          </a:p>
          <a:p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r>
              <a:rPr lang="en-US" altLang="ko-KR" sz="12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smtClean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</a:t>
            </a:r>
          </a:p>
          <a:p>
            <a:r>
              <a:rPr lang="en-US" altLang="ko-KR" sz="12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200" dirty="0" smtClean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dirty="0" err="1" smtClean="0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xmlns:android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"http://schemas.android.com/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apk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/res/android"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12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endParaRPr lang="en-US" altLang="ko-KR" sz="1200" i="1" dirty="0">
              <a:solidFill>
                <a:srgbClr val="2A00F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android:orientation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"vertical" </a:t>
            </a:r>
            <a:r>
              <a:rPr lang="en-US" altLang="ko-KR" sz="1200" i="1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en-US" altLang="ko-KR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endParaRPr lang="en-US" altLang="ko-KR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endParaRPr lang="en-US" altLang="ko-KR" sz="1200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“</a:t>
            </a:r>
            <a:r>
              <a:rPr lang="en-US" altLang="ko-KR" sz="1200" i="1" dirty="0" err="1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match_parent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android:orientation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"horizontal" </a:t>
            </a:r>
            <a:r>
              <a:rPr lang="en-US" altLang="ko-KR" sz="1200" i="1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u="sng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endParaRPr lang="en-US" altLang="ko-KR" sz="1200" u="sng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"@+id/value1"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"5" </a:t>
            </a:r>
            <a:r>
              <a:rPr lang="en-US" altLang="ko-KR" sz="1200" i="1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2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"@+id/display"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"+"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android:textSize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"20sp" </a:t>
            </a:r>
            <a:r>
              <a:rPr lang="en-US" altLang="ko-KR" sz="1200" i="1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200" dirty="0" err="1" smtClean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2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en-US" altLang="ko-KR" sz="1200" dirty="0">
              <a:solidFill>
                <a:srgbClr val="00808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 smtClean="0"/>
          </a:p>
          <a:p>
            <a:r>
              <a:rPr lang="en-US" altLang="ko-KR" dirty="0" smtClean="0"/>
              <a:t>/res/layout/main.xml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00" y="1428059"/>
            <a:ext cx="2850478" cy="50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39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 smtClean="0"/>
          </a:p>
          <a:p>
            <a:r>
              <a:rPr lang="en-US" altLang="ko-KR" dirty="0" smtClean="0"/>
              <a:t>/res/layout/main.xml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28" y="1926491"/>
            <a:ext cx="4423412" cy="45243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</a:t>
            </a:r>
            <a:r>
              <a:rPr lang="en-US" altLang="ko-KR" sz="120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</a:t>
            </a:r>
            <a:r>
              <a:rPr lang="en-US" altLang="ko-KR" sz="1200" u="sng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u="sng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endParaRPr lang="en-US" altLang="ko-KR" sz="1200" u="sng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"@+id/value2"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android:textSize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"20sp" </a:t>
            </a:r>
            <a:r>
              <a:rPr lang="en-US" altLang="ko-KR" sz="1200" i="1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btnCalc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android:onClick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onClick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"=" </a:t>
            </a:r>
            <a:r>
              <a:rPr lang="en-US" altLang="ko-KR" sz="1200" i="1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2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endParaRPr lang="ko-KR" altLang="en-US" sz="12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endParaRPr lang="en-US" altLang="ko-KR" sz="1200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"@+id/Result"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u="sng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2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android:layout_weight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"0"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2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"Result"</a:t>
            </a:r>
          </a:p>
          <a:p>
            <a:r>
              <a:rPr lang="en-US" altLang="ko-KR" sz="12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2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android:textSize</a:t>
            </a:r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2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"20sp" </a:t>
            </a:r>
            <a:r>
              <a:rPr lang="en-US" altLang="ko-KR" sz="1200" i="1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2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2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&gt;&lt;/</a:t>
            </a:r>
            <a:r>
              <a:rPr lang="en-US" altLang="ko-KR" sz="12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r>
              <a:rPr lang="en-US" altLang="ko-KR" sz="12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00" y="1428059"/>
            <a:ext cx="2850478" cy="50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974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6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97228" y="1926491"/>
            <a:ext cx="4354832" cy="449353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1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endParaRPr lang="en-US" altLang="ko-KR" sz="1100" dirty="0">
              <a:solidFill>
                <a:srgbClr val="3F7F7F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android:orientation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"horizontal" </a:t>
            </a:r>
            <a:r>
              <a:rPr lang="en-US" altLang="ko-KR" sz="1100" i="1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ko-KR" altLang="en-US" sz="1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"@+id/btn1"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onClick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1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"+" </a:t>
            </a:r>
            <a:r>
              <a:rPr lang="en-US" altLang="ko-KR" sz="1100" i="1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  <a:r>
              <a:rPr lang="en-US" altLang="ko-KR" sz="11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ko-KR" altLang="en-US" sz="1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"@+id/btn2"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onClick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1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"*" </a:t>
            </a:r>
            <a:r>
              <a:rPr lang="en-US" altLang="ko-KR" sz="1100" i="1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  <a:r>
              <a:rPr lang="en-US" altLang="ko-KR" sz="11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  <a:endParaRPr lang="ko-KR" altLang="en-US" sz="1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android:id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"@+id/btn3"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android:layout_width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"60sp"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android:layout_height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wrap_content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android:onClick</a:t>
            </a:r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  <a:r>
              <a:rPr lang="en-US" altLang="ko-KR" sz="1100" i="1" dirty="0" err="1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onClick</a:t>
            </a:r>
            <a:r>
              <a:rPr lang="en-US" altLang="ko-KR" sz="1100" i="1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</a:t>
            </a:r>
          </a:p>
          <a:p>
            <a:r>
              <a:rPr lang="en-US" altLang="ko-KR" sz="1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    </a:t>
            </a:r>
            <a:r>
              <a:rPr lang="en-US" altLang="ko-KR" sz="1100" u="sng" dirty="0" err="1">
                <a:solidFill>
                  <a:srgbClr val="7F00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android:text</a:t>
            </a:r>
            <a:r>
              <a:rPr lang="en-US" altLang="ko-KR" sz="1100" u="sng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</a:t>
            </a:r>
            <a:r>
              <a:rPr lang="en-US" altLang="ko-KR" sz="1100" i="1" u="sng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"/" </a:t>
            </a:r>
            <a:r>
              <a:rPr lang="en-US" altLang="ko-KR" sz="1100" i="1" u="sng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100" dirty="0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Button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  <a:p>
            <a:r>
              <a:rPr lang="en-US" altLang="ko-KR" sz="110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&lt;/</a:t>
            </a:r>
            <a:r>
              <a:rPr lang="en-US" altLang="ko-KR" sz="11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r>
              <a:rPr lang="en-US" altLang="ko-KR" sz="1100" dirty="0" smtClean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&gt;&lt;/</a:t>
            </a:r>
            <a:r>
              <a:rPr lang="en-US" altLang="ko-KR" sz="1100" dirty="0" err="1">
                <a:solidFill>
                  <a:srgbClr val="3F7F7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LinearLayout</a:t>
            </a:r>
            <a:r>
              <a:rPr lang="en-US" altLang="ko-KR" sz="1100" dirty="0">
                <a:solidFill>
                  <a:srgbClr val="00808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" y="1280160"/>
            <a:ext cx="2322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/>
          </a:p>
          <a:p>
            <a:r>
              <a:rPr lang="en-US" altLang="ko-KR" dirty="0" smtClean="0"/>
              <a:t>/res/layout/main.xml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800" y="1428059"/>
            <a:ext cx="2850478" cy="501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511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7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88720" y="1949351"/>
            <a:ext cx="5830442" cy="45520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400" b="1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class</a:t>
            </a:r>
            <a:r>
              <a:rPr lang="en-US" altLang="ko-KR" sz="1400" kern="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 </a:t>
            </a:r>
            <a:r>
              <a:rPr lang="en-US" altLang="ko-KR" sz="1400" b="1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extends</a:t>
            </a:r>
            <a:r>
              <a:rPr lang="en-US" altLang="ko-KR" sz="1400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Activity </a:t>
            </a:r>
            <a:r>
              <a:rPr lang="en-US" altLang="ko-KR" sz="1400" kern="0" dirty="0" smtClean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  <a:endParaRPr lang="ko-KR" altLang="ko-KR" sz="1400" kern="100" dirty="0">
              <a:solidFill>
                <a:schemeClr val="bg1">
                  <a:lumMod val="50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chemeClr val="bg1">
                    <a:lumMod val="50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static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kern="0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System.</a:t>
            </a:r>
            <a:r>
              <a:rPr lang="en-US" altLang="ko-KR" sz="1400" i="1" kern="0" dirty="0" err="1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loadLibrary</a:t>
            </a:r>
            <a:r>
              <a:rPr lang="en-US" altLang="ko-KR" sz="1400" kern="0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(“calculate”);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kern="0" dirty="0" smtClean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native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add(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x,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y);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native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mul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x,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y);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native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div(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x, </a:t>
            </a:r>
            <a:r>
              <a:rPr lang="en-US" altLang="ko-KR" sz="1400" b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y);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 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display;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String operator = "+";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 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@Override</a:t>
            </a:r>
            <a:endParaRPr lang="ko-KR" altLang="ko-KR" sz="1400" kern="100" dirty="0">
              <a:solidFill>
                <a:schemeClr val="bg1">
                  <a:lumMod val="6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b="1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onCreate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(Bundle 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{</a:t>
            </a:r>
            <a:endParaRPr lang="ko-KR" altLang="ko-KR" sz="1400" kern="100" dirty="0">
              <a:solidFill>
                <a:schemeClr val="bg1">
                  <a:lumMod val="6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super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.onCreate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savedInstanceState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solidFill>
                <a:schemeClr val="bg1">
                  <a:lumMod val="6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setContentView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R.layout.</a:t>
            </a:r>
            <a:r>
              <a:rPr lang="en-US" altLang="ko-KR" sz="1400" i="1" kern="0" dirty="0" err="1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main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solidFill>
                <a:schemeClr val="bg1">
                  <a:lumMod val="6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 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display = (</a:t>
            </a:r>
            <a:r>
              <a:rPr lang="en-US" altLang="ko-KR" sz="1400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1400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R.id.</a:t>
            </a:r>
            <a:r>
              <a:rPr lang="en-US" altLang="ko-KR" sz="1400" i="1" kern="0" dirty="0" err="1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display</a:t>
            </a: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solidFill>
                <a:srgbClr val="005BE2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5BE2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400" kern="0" dirty="0">
                <a:solidFill>
                  <a:schemeClr val="bg1">
                    <a:lumMod val="65000"/>
                  </a:schemeClr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ko-KR" sz="1400" kern="100" dirty="0">
              <a:solidFill>
                <a:schemeClr val="bg1">
                  <a:lumMod val="65000"/>
                </a:schemeClr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837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 smtClean="0"/>
          </a:p>
          <a:p>
            <a:r>
              <a:rPr lang="en-US" altLang="ko-KR" dirty="0" smtClean="0">
                <a:solidFill>
                  <a:prstClr val="black"/>
                </a:solidFill>
              </a:rPr>
              <a:t>/</a:t>
            </a:r>
            <a:r>
              <a:rPr lang="en-US" altLang="ko-KR" dirty="0" err="1" smtClean="0">
                <a:solidFill>
                  <a:prstClr val="black"/>
                </a:solidFill>
              </a:rPr>
              <a:t>src</a:t>
            </a:r>
            <a:r>
              <a:rPr lang="en-US" altLang="ko-KR" dirty="0" smtClean="0">
                <a:solidFill>
                  <a:prstClr val="black"/>
                </a:solidFill>
              </a:rPr>
              <a:t>/Main.java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7018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8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4420" y="1949351"/>
            <a:ext cx="7370929" cy="45336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2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public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void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onClick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(View v) {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switch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v.getId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 {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R.id.</a:t>
            </a:r>
            <a:r>
              <a:rPr lang="en-US" altLang="ko-KR" sz="1400" i="1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btn1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400" kern="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"+"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display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.setText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R.id.</a:t>
            </a:r>
            <a:r>
              <a:rPr lang="en-US" altLang="ko-KR" sz="1400" i="1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btn2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400" kern="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"*"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display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.setText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R.id.</a:t>
            </a:r>
            <a:r>
              <a:rPr lang="en-US" altLang="ko-KR" sz="1400" i="1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btn3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= </a:t>
            </a:r>
            <a:r>
              <a:rPr lang="en-US" altLang="ko-KR" sz="1400" kern="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"/"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display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.setText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</a:t>
            </a:r>
            <a:r>
              <a:rPr lang="en-US" altLang="ko-KR" sz="14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case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R.id.</a:t>
            </a:r>
            <a:r>
              <a:rPr lang="en-US" altLang="ko-KR" sz="1400" i="1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btnCalc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: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result = (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R.id.</a:t>
            </a:r>
            <a:r>
              <a:rPr lang="en-US" altLang="ko-KR" sz="1400" i="1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Result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val1 = (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sz="1400" i="1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value1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4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		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val2 = (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EditText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 </a:t>
            </a:r>
            <a:r>
              <a:rPr lang="en-US" altLang="ko-KR" sz="14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findViewById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(R.id.</a:t>
            </a:r>
            <a:r>
              <a:rPr lang="en-US" altLang="ko-KR" sz="1400" i="1" kern="0" dirty="0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value2</a:t>
            </a:r>
            <a:r>
              <a:rPr lang="en-US" altLang="ko-KR" sz="14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endParaRPr lang="ko-KR" altLang="ko-KR" sz="12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837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/>
          </a:p>
          <a:p>
            <a:r>
              <a:rPr lang="en-US" altLang="ko-KR" dirty="0">
                <a:solidFill>
                  <a:prstClr val="black"/>
                </a:solidFill>
              </a:rPr>
              <a:t>/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467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9</a:t>
            </a:fld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120140" y="1949351"/>
            <a:ext cx="6173470" cy="462280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atinLnBrk="0">
              <a:lnSpc>
                <a:spcPct val="115000"/>
              </a:lnSpc>
            </a:pPr>
            <a:r>
              <a:rPr lang="en-US" altLang="ko-KR" sz="11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err="1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v1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, v2,</a:t>
            </a:r>
            <a:r>
              <a:rPr lang="en-US" altLang="ko-KR" sz="1600" kern="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-1;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endParaRPr lang="en-US" altLang="ko-KR" sz="1600" kern="0" dirty="0" smtClean="0">
              <a:solidFill>
                <a:srgbClr val="000000"/>
              </a:solidFill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b="1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try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{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v1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Integer.</a:t>
            </a:r>
            <a:r>
              <a:rPr lang="en-US" altLang="ko-KR" sz="1600" i="1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parseInt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(val1.getText().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toString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());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   v2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Integer.</a:t>
            </a:r>
            <a:r>
              <a:rPr lang="en-US" altLang="ko-KR" sz="1600" i="1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parseInt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(val2.getText().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toString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());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 </a:t>
            </a:r>
            <a:r>
              <a:rPr lang="en-US" altLang="ko-KR" sz="16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catch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NumberFormatException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e) {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v1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0;  v2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0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   }</a:t>
            </a:r>
          </a:p>
          <a:p>
            <a:pPr latinLnBrk="0">
              <a:lnSpc>
                <a:spcPct val="115000"/>
              </a:lnSpc>
            </a:pP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.equals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kern="0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"+"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        { res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add(v1, v2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r>
              <a:rPr lang="en-US" altLang="ko-KR" sz="1600" kern="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else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.equals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kern="0" dirty="0" smtClean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"*"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 { res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mul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(v1, v2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 }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else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b="1" kern="0" dirty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if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(</a:t>
            </a:r>
            <a:r>
              <a:rPr lang="en-US" altLang="ko-KR" sz="1600" kern="0" dirty="0" err="1">
                <a:solidFill>
                  <a:srgbClr val="0000C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operator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.equals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kern="0" dirty="0">
                <a:solidFill>
                  <a:srgbClr val="2A00FF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"/"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))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{ res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= div(v1, v2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);</a:t>
            </a:r>
            <a:r>
              <a:rPr lang="en-US" altLang="ko-KR" sz="1600" kern="100" dirty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1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kern="0" dirty="0" err="1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result.setText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new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Integer(res).</a:t>
            </a:r>
            <a:r>
              <a:rPr lang="en-US" altLang="ko-KR" sz="1600" kern="0" dirty="0" err="1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toString</a:t>
            </a: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());</a:t>
            </a:r>
            <a:endParaRPr lang="ko-KR" altLang="ko-KR" sz="1600" kern="1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	</a:t>
            </a:r>
            <a:r>
              <a:rPr lang="en-US" altLang="ko-KR" sz="1600" b="1" kern="0" dirty="0" smtClean="0">
                <a:solidFill>
                  <a:srgbClr val="7F0055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break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;</a:t>
            </a:r>
          </a:p>
          <a:p>
            <a:pPr latinLnBrk="0">
              <a:lnSpc>
                <a:spcPct val="115000"/>
              </a:lnSpc>
            </a:pPr>
            <a:r>
              <a:rPr lang="en-US" altLang="ko-KR" sz="1600" kern="0" dirty="0">
                <a:solidFill>
                  <a:srgbClr val="000000"/>
                </a:solidFill>
                <a:latin typeface="Consolas"/>
                <a:cs typeface="Times New Roman"/>
              </a:rPr>
              <a:t>	</a:t>
            </a: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  <a:p>
            <a:pPr latinLnBrk="0">
              <a:lnSpc>
                <a:spcPct val="115000"/>
              </a:lnSpc>
            </a:pPr>
            <a:r>
              <a:rPr lang="en-US" altLang="ko-KR" sz="1600" kern="0" dirty="0" smtClean="0">
                <a:solidFill>
                  <a:srgbClr val="000000"/>
                </a:solidFill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7230" y="1280160"/>
            <a:ext cx="18373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err="1"/>
              <a:t>NDKCalculator</a:t>
            </a:r>
            <a:endParaRPr lang="en-US" altLang="ko-KR" b="1" dirty="0"/>
          </a:p>
          <a:p>
            <a:r>
              <a:rPr lang="en-US" altLang="ko-KR" dirty="0">
                <a:solidFill>
                  <a:prstClr val="black"/>
                </a:solidFill>
              </a:rPr>
              <a:t>/</a:t>
            </a:r>
            <a:r>
              <a:rPr lang="en-US" altLang="ko-KR" dirty="0" err="1">
                <a:solidFill>
                  <a:prstClr val="black"/>
                </a:solidFill>
              </a:rPr>
              <a:t>src</a:t>
            </a:r>
            <a:r>
              <a:rPr lang="en-US" altLang="ko-KR" dirty="0">
                <a:solidFill>
                  <a:prstClr val="black"/>
                </a:solidFill>
              </a:rPr>
              <a:t>/Main.java</a:t>
            </a:r>
            <a:endParaRPr lang="ko-KR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55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dirty="0" smtClean="0"/>
          </a:p>
          <a:p>
            <a:r>
              <a:rPr lang="en-US" altLang="ko-KR" dirty="0" err="1" smtClean="0"/>
              <a:t>Javah</a:t>
            </a:r>
            <a:r>
              <a:rPr lang="ko-KR" altLang="en-US" dirty="0" smtClean="0"/>
              <a:t>를 이용한 </a:t>
            </a:r>
            <a:r>
              <a:rPr lang="en-US" altLang="ko-KR" dirty="0" smtClean="0"/>
              <a:t>h</a:t>
            </a:r>
            <a:r>
              <a:rPr lang="ko-KR" altLang="en-US" dirty="0" smtClean="0"/>
              <a:t>파일 생성 및 </a:t>
            </a:r>
            <a:r>
              <a:rPr lang="en-US" altLang="ko-KR" dirty="0" smtClean="0"/>
              <a:t>c </a:t>
            </a:r>
            <a:r>
              <a:rPr lang="ko-KR" altLang="en-US" dirty="0" smtClean="0"/>
              <a:t>소스파일로 변경</a:t>
            </a:r>
            <a:endParaRPr lang="en-US" altLang="ko-KR" dirty="0" smtClean="0"/>
          </a:p>
          <a:p>
            <a:r>
              <a:rPr lang="en-US" altLang="ko-KR" dirty="0" smtClean="0"/>
              <a:t>Alt+F12 </a:t>
            </a:r>
            <a:r>
              <a:rPr lang="ko-KR" altLang="en-US" dirty="0" smtClean="0"/>
              <a:t>로 </a:t>
            </a:r>
            <a:r>
              <a:rPr lang="en-US" altLang="ko-KR" dirty="0" smtClean="0"/>
              <a:t>Android Studio Terminal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(</a:t>
            </a:r>
            <a:r>
              <a:rPr lang="ko-KR" altLang="en-US" dirty="0" smtClean="0"/>
              <a:t>좌측하단버튼</a:t>
            </a:r>
            <a:r>
              <a:rPr lang="en-US" altLang="ko-KR" dirty="0" smtClean="0"/>
              <a:t>)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cd app/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/main/java 			</a:t>
            </a:r>
            <a:r>
              <a:rPr lang="ko-KR" altLang="en-US" dirty="0" smtClean="0"/>
              <a:t>입력</a:t>
            </a:r>
            <a:r>
              <a:rPr lang="en-US" altLang="ko-KR" dirty="0" smtClean="0"/>
              <a:t>: </a:t>
            </a:r>
            <a:r>
              <a:rPr lang="ko-KR" altLang="en-US" dirty="0" smtClean="0"/>
              <a:t>경로이동</a:t>
            </a:r>
            <a:endParaRPr lang="en-US" altLang="ko-KR" dirty="0" smtClean="0"/>
          </a:p>
          <a:p>
            <a:r>
              <a:rPr lang="en-US" altLang="ko-KR" dirty="0" err="1" smtClean="0"/>
              <a:t>Javah</a:t>
            </a:r>
            <a:r>
              <a:rPr lang="en-US" altLang="ko-KR" dirty="0" smtClean="0"/>
              <a:t> –d ../</a:t>
            </a:r>
            <a:r>
              <a:rPr lang="en-US" altLang="ko-KR" dirty="0" err="1" smtClean="0"/>
              <a:t>jni</a:t>
            </a:r>
            <a:r>
              <a:rPr lang="en-US" altLang="ko-KR" dirty="0"/>
              <a:t> </a:t>
            </a:r>
            <a:r>
              <a:rPr lang="en-US" altLang="ko-KR" dirty="0" err="1" smtClean="0">
                <a:solidFill>
                  <a:srgbClr val="00B0F0"/>
                </a:solidFill>
              </a:rPr>
              <a:t>ex.ndkcalculator</a:t>
            </a:r>
            <a:r>
              <a:rPr lang="en-US" altLang="ko-KR" dirty="0" err="1" smtClean="0"/>
              <a:t>.</a:t>
            </a:r>
            <a:r>
              <a:rPr lang="en-US" altLang="ko-KR" dirty="0" err="1" smtClean="0">
                <a:solidFill>
                  <a:srgbClr val="FF0000"/>
                </a:solidFill>
              </a:rPr>
              <a:t>Main</a:t>
            </a:r>
            <a:r>
              <a:rPr lang="en-US" altLang="ko-KR" dirty="0"/>
              <a:t> </a:t>
            </a:r>
            <a:r>
              <a:rPr lang="en-US" altLang="ko-KR" dirty="0" smtClean="0"/>
              <a:t>	</a:t>
            </a:r>
            <a:r>
              <a:rPr lang="ko-KR" altLang="en-US" dirty="0" smtClean="0"/>
              <a:t>입력</a:t>
            </a:r>
            <a:r>
              <a:rPr lang="en-US" altLang="ko-KR" dirty="0"/>
              <a:t>: </a:t>
            </a:r>
            <a:r>
              <a:rPr lang="en-US" altLang="ko-KR" dirty="0" smtClean="0"/>
              <a:t>h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  <a:p>
            <a:pPr lvl="1"/>
            <a:r>
              <a:rPr lang="ko-KR" altLang="en-US" dirty="0" smtClean="0">
                <a:solidFill>
                  <a:srgbClr val="00B0F0"/>
                </a:solidFill>
              </a:rPr>
              <a:t>패키지 이름</a:t>
            </a:r>
            <a:r>
              <a:rPr lang="ko-KR" altLang="en-US" dirty="0" smtClean="0"/>
              <a:t>과 </a:t>
            </a:r>
            <a:r>
              <a:rPr lang="ko-KR" altLang="en-US" dirty="0" smtClean="0">
                <a:solidFill>
                  <a:srgbClr val="FF0000"/>
                </a:solidFill>
              </a:rPr>
              <a:t>클래스 이름을 </a:t>
            </a:r>
            <a:r>
              <a:rPr lang="ko-KR" altLang="en-US" dirty="0" smtClean="0"/>
              <a:t>반드시 확인할 것</a:t>
            </a:r>
            <a:endParaRPr lang="en-US" altLang="ko-KR" dirty="0" smtClean="0"/>
          </a:p>
          <a:p>
            <a:pPr marL="0" indent="0">
              <a:buNone/>
            </a:pP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10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53" y="3028723"/>
            <a:ext cx="4076700" cy="13906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0828" y="2533423"/>
            <a:ext cx="1114425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80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JNI </a:t>
            </a:r>
            <a:r>
              <a:rPr lang="ko-KR" altLang="en-US" dirty="0" smtClean="0"/>
              <a:t>폴더 내에 생성된 </a:t>
            </a:r>
            <a:r>
              <a:rPr lang="en-US" altLang="ko-KR" dirty="0" smtClean="0"/>
              <a:t>h</a:t>
            </a:r>
            <a:r>
              <a:rPr lang="ko-KR" altLang="en-US" dirty="0" smtClean="0"/>
              <a:t>파일을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err="1" smtClean="0"/>
              <a:t>calculator.c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변경 </a:t>
            </a:r>
            <a:r>
              <a:rPr lang="en-US" altLang="ko-KR" dirty="0" smtClean="0"/>
              <a:t>(Shift + F6)</a:t>
            </a:r>
            <a:r>
              <a:rPr lang="ko-KR" altLang="en-US" dirty="0" smtClean="0"/>
              <a:t> 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2" y="2764832"/>
            <a:ext cx="2619375" cy="31242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420" y="2764832"/>
            <a:ext cx="2447925" cy="3095625"/>
          </a:xfrm>
          <a:prstGeom prst="rect">
            <a:avLst/>
          </a:prstGeom>
        </p:spPr>
      </p:pic>
      <p:sp>
        <p:nvSpPr>
          <p:cNvPr id="9" name="오른쪽 화살표 8"/>
          <p:cNvSpPr/>
          <p:nvPr/>
        </p:nvSpPr>
        <p:spPr>
          <a:xfrm>
            <a:off x="3619499" y="3971109"/>
            <a:ext cx="2141221" cy="722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666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calculator.c</a:t>
            </a:r>
            <a:r>
              <a:rPr lang="en-US" altLang="ko-KR" dirty="0" smtClean="0"/>
              <a:t> 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12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17180" y="2148163"/>
            <a:ext cx="7109639" cy="415498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#include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&lt;jni.h&gt;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#ifndef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_Included_ex_ndkcalculator_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#define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_Included_ex_ndkcalculator_</a:t>
            </a:r>
            <a:r>
              <a:rPr kumimoji="0" lang="en-US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Main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#ifdef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__cplusplus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extern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"C"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#endif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jint Java_ex_ndkcalculator_Main_add(JNIEnv *env, jobject obj, jint value1, jint value2 ){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return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(jint)(value1 + value2);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jint Java_ex_ndkcalculator_Main_mul(JNIEnv *env, jobject obj, jint value1, jint value2 ){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return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(jint)(value1 * value2);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jint Java_ex_ndkcalculator_Main_div(JNIEnv *env, jobject obj, jint value1, jint value2 ){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return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(jint)(value1 / value2);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#ifdef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__cplusplus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#endif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8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#endif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866900" y="3654810"/>
            <a:ext cx="1199028" cy="236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171825" y="3654810"/>
            <a:ext cx="300038" cy="236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48064" y="3654810"/>
            <a:ext cx="247649" cy="2366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2194208" y="3438920"/>
            <a:ext cx="69762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/>
              <a:t>Package</a:t>
            </a:r>
            <a:endParaRPr lang="ko-KR" altLang="en-US"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2997105" y="3438920"/>
            <a:ext cx="66236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/>
              <a:t>Activity</a:t>
            </a:r>
            <a:endParaRPr lang="ko-KR" altLang="en-US" sz="1050" dirty="0"/>
          </a:p>
        </p:txBody>
      </p:sp>
      <p:sp>
        <p:nvSpPr>
          <p:cNvPr id="11" name="TextBox 10"/>
          <p:cNvSpPr txBox="1"/>
          <p:nvPr/>
        </p:nvSpPr>
        <p:spPr>
          <a:xfrm>
            <a:off x="3635900" y="3438920"/>
            <a:ext cx="71365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/>
              <a:t>Function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86311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(App)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13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08" y="1962281"/>
            <a:ext cx="2066925" cy="2686050"/>
          </a:xfrm>
          <a:prstGeom prst="rect">
            <a:avLst/>
          </a:prstGeom>
        </p:spPr>
      </p:pic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774400" y="2190089"/>
            <a:ext cx="7330853" cy="452431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apply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plugin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'com.android.application'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android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compileSdkVersion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23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buildToolsVersion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"23.0.0"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defaultConfig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applicationId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"ex.ndk_calculator"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minSdkVersion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19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targetSdkVersion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23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versionCode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1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FF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versionName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"1.0"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buildTypes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release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minifyEnabled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false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proguardFiles getDefaultProguardFile(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'proguard-android.txt'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),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'proguard-rules.pro'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dependencies {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compile fileTree(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dir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'libs'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include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[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'*.jar'</a:t>
            </a: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])</a:t>
            </a:r>
            <a:b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compile </a:t>
            </a:r>
            <a: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'com.android.support:appcompat-v7:23.0.0'</a:t>
            </a:r>
            <a:br>
              <a:rPr kumimoji="0" lang="ko-KR" altLang="ko-KR" sz="12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2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endParaRPr kumimoji="0" lang="ko-KR" altLang="ko-KR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237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(App)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67404" y="1953041"/>
            <a:ext cx="7875874" cy="4585871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compile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'com.android.support:appcompat-v7:23.0.0'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import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org.apache.tools.ant.taskdefs.condition.Os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def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getNdkBuildPath()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Properties properties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new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Properties()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properties.load(project.rootProject.file(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'local.properties'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).newDataInputStream())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def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command =  properties.getProperty(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'ndk.dir'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if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(Os.</a:t>
            </a:r>
            <a:r>
              <a:rPr kumimoji="0" lang="ko-KR" altLang="ko-KR" sz="1400" b="0" i="1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isFamily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(Os.</a:t>
            </a:r>
            <a:r>
              <a:rPr kumimoji="0" lang="ko-KR" altLang="ko-KR" sz="14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FAMILY_WINDOWS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command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\\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ndk-build.cmd"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else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command +=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"/ndk-build"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return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command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2284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(App)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15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34440" y="1955145"/>
            <a:ext cx="8489825" cy="440120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return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command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android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sourceSets.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main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jniLibs.srcDir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'src/main/libs'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jni.srcDirs = []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ext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nativeDebuggable =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false</a:t>
            </a:r>
            <a:b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task buildNative(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type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Exec,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description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'Compile JNI source via NDK'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if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(nativeDebuggable) 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commandLine getNdkBuildPath(),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'NDK_DEBUG=1'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'-C'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file(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'src/main'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).absolutePath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}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else 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{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commandLine getNdkBuildPath(), 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'-C'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file(</a:t>
            </a:r>
            <a:r>
              <a:rPr kumimoji="0" lang="ko-KR" altLang="ko-KR" sz="14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'src/main'</a:t>
            </a: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).absolutePath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}</a:t>
            </a:r>
            <a:b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endParaRPr kumimoji="0" lang="ko-KR" altLang="ko-KR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(App)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16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57200" y="2025053"/>
            <a:ext cx="8255786" cy="4278094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commandLine getNdkBuildPath(),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'-C'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file(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'src/main'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).absolutePath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tasks.withType(JavaCompile)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compileTask -&gt; compileTask.dependsOn buildNative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task cleanNative(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type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Exec,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description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: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'Clean native objs and lib'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commandLine getNdkBuildPath(),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'-C'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, file(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'src/main'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).absolutePath,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'clean'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clean.dependsOn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'cleanNative'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8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ext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nativeDebuggable 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2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 err="1" smtClean="0"/>
              <a:t>Build.gradle</a:t>
            </a:r>
            <a:r>
              <a:rPr lang="en-US" altLang="ko-KR" dirty="0" smtClean="0"/>
              <a:t> (App)</a:t>
            </a:r>
            <a:r>
              <a:rPr lang="ko-KR" altLang="en-US" dirty="0" smtClean="0"/>
              <a:t>내용 변경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17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96834" y="2143282"/>
            <a:ext cx="7615646" cy="4031873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ext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nativeDebuggable =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buildTypes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debug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    jniDebuggable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defaultConfig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multiDexEnabled </a:t>
            </a: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true</a:t>
            </a:r>
            <a:b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0" u="none" strike="noStrike" cap="none" normalizeH="0" baseline="0" dirty="0" smtClean="0">
                <a:ln>
                  <a:noFill/>
                </a:ln>
                <a:solidFill>
                  <a:srgbClr val="000043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compileOptions {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sourceCompatibility JavaVersion.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VERSION_1_7</a:t>
            </a:r>
            <a:b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targetCompatibility JavaVersion.</a:t>
            </a: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VERSION_1_7</a:t>
            </a:r>
            <a:b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1" i="1" u="none" strike="noStrike" cap="none" normalizeH="0" baseline="0" dirty="0" smtClean="0">
                <a:ln>
                  <a:noFill/>
                </a:ln>
                <a:solidFill>
                  <a:srgbClr val="660E7A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    </a:t>
            </a: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b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}</a:t>
            </a:r>
            <a:endParaRPr kumimoji="0" lang="ko-KR" altLang="ko-KR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77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JNI </a:t>
            </a:r>
            <a:r>
              <a:rPr lang="ko-KR" altLang="en-US" dirty="0" smtClean="0"/>
              <a:t>폴더에 </a:t>
            </a:r>
            <a:r>
              <a:rPr lang="en-US" altLang="ko-KR" dirty="0" smtClean="0"/>
              <a:t>Android.mk</a:t>
            </a:r>
            <a:r>
              <a:rPr lang="ko-KR" altLang="en-US" dirty="0" smtClean="0"/>
              <a:t> </a:t>
            </a:r>
            <a:r>
              <a:rPr lang="en-US" altLang="ko-KR" dirty="0" smtClean="0"/>
              <a:t>/ Application.mk </a:t>
            </a:r>
            <a:r>
              <a:rPr lang="ko-KR" altLang="en-US" dirty="0" smtClean="0"/>
              <a:t>파일 생성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18</a:t>
            </a:fld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139" y="2186168"/>
            <a:ext cx="5391150" cy="1619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722" y="3537041"/>
            <a:ext cx="4105275" cy="14287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721" y="4965791"/>
            <a:ext cx="410527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5921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Android NDK</a:t>
            </a:r>
            <a:endParaRPr lang="ko-KR" altLang="en-US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44815" y="1213862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NDKCalculator</a:t>
            </a:r>
            <a:r>
              <a:rPr lang="en-US" altLang="ko-KR" b="1" dirty="0"/>
              <a:t> </a:t>
            </a:r>
            <a:r>
              <a:rPr lang="en-US" altLang="ko-KR" dirty="0" smtClean="0"/>
              <a:t>/jni/Android.mk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244815" y="2246039"/>
            <a:ext cx="4160113" cy="2862322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LOCAL_PATH := $(call my-dir)</a:t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include $(CLEAR_VARS)</a:t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LOCAL_MODULE := </a:t>
            </a:r>
            <a:r>
              <a:rPr kumimoji="0" lang="en-US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calculate</a:t>
            </a: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LOCAL_SRC_FILES := calculator.c</a:t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LOCAL_LDLIBS := -llog</a:t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/>
            </a:r>
            <a:b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</a:br>
            <a:r>
              <a:rPr kumimoji="0" lang="ko-KR" altLang="ko-KR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include $(BUILD_SHARED_LIBRARY)</a:t>
            </a:r>
            <a:endParaRPr kumimoji="0" lang="ko-KR" altLang="ko-KR" sz="4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16963" y="1213862"/>
            <a:ext cx="3474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/>
              <a:t>NDKCalculator</a:t>
            </a:r>
            <a:r>
              <a:rPr lang="en-US" altLang="ko-KR" b="1" dirty="0"/>
              <a:t> </a:t>
            </a:r>
            <a:r>
              <a:rPr lang="en-US" altLang="ko-KR" dirty="0" smtClean="0"/>
              <a:t>/jni/Application.mk</a:t>
            </a:r>
            <a:endParaRPr lang="ko-KR" altLang="en-US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APP_ABI=all</a:t>
            </a: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916963" y="2399928"/>
            <a:ext cx="3474720" cy="2554545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굴림체" panose="020B0609000101010101" pitchFamily="49" charset="-127"/>
                <a:ea typeface="굴림체" panose="020B0609000101010101" pitchFamily="49" charset="-127"/>
              </a:rPr>
              <a:t>APP_ABI=all</a:t>
            </a: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600" dirty="0">
              <a:solidFill>
                <a:srgbClr val="000000"/>
              </a:solidFill>
              <a:latin typeface="굴림체" panose="020B0609000101010101" pitchFamily="49" charset="-127"/>
              <a:ea typeface="굴림체" panose="020B060900010101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굴림체" panose="020B0609000101010101" pitchFamily="49" charset="-127"/>
              <a:ea typeface="굴림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8116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NDK calculator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357" y="1297117"/>
            <a:ext cx="2850478" cy="50131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1875" y="1307689"/>
            <a:ext cx="2833905" cy="49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2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400" dirty="0" err="1" smtClean="0"/>
              <a:t>NDKCalculator</a:t>
            </a:r>
            <a:r>
              <a:rPr lang="en-US" altLang="ko-KR" sz="4400" dirty="0" smtClean="0"/>
              <a:t> #2</a:t>
            </a:r>
            <a:endParaRPr lang="ko-KR" altLang="en-US" sz="4400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JNI with NDK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21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39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NDK Calculator#2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03420" y="2128857"/>
            <a:ext cx="437769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소수점 및 여러 자리 수 인식이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/>
            </a:r>
            <a:b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</a:b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가능하도록 제작할 것</a:t>
            </a: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NDK </a:t>
            </a: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를 이용하여 사칙연산이 </a:t>
            </a: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   </a:t>
            </a: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가능한 </a:t>
            </a:r>
            <a:r>
              <a:rPr lang="en-US" altLang="ko-KR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Calculator</a:t>
            </a: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 완성</a:t>
            </a: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000" dirty="0" smtClean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계산식과 결과는</a:t>
            </a:r>
            <a:r>
              <a:rPr lang="en-US" altLang="ko-KR" sz="2000" dirty="0" err="1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TextView</a:t>
            </a:r>
            <a:r>
              <a:rPr lang="ko-KR" altLang="en-US" sz="2000" dirty="0" smtClean="0">
                <a:latin typeface="Arial Unicode MS" panose="020B0604020202020204" pitchFamily="50" charset="-127"/>
                <a:ea typeface="Arial Unicode MS" panose="020B0604020202020204" pitchFamily="50" charset="-127"/>
                <a:cs typeface="Arial Unicode MS" panose="020B0604020202020204" pitchFamily="50" charset="-127"/>
              </a:rPr>
              <a:t>에 출력 </a:t>
            </a:r>
            <a:endParaRPr lang="ko-KR" altLang="en-US" sz="2000" dirty="0">
              <a:latin typeface="Arial Unicode MS" panose="020B0604020202020204" pitchFamily="50" charset="-127"/>
              <a:ea typeface="Arial Unicode MS" panose="020B0604020202020204" pitchFamily="50" charset="-127"/>
              <a:cs typeface="Arial Unicode MS" panose="020B06040202020202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650" y="1828800"/>
            <a:ext cx="2711116" cy="429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22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후 주의사항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 smtClean="0"/>
          </a:p>
          <a:p>
            <a:r>
              <a:rPr lang="ko-KR" altLang="en-US" dirty="0" smtClean="0"/>
              <a:t>실습을 완료하고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</a:t>
            </a:r>
          </a:p>
          <a:p>
            <a:endParaRPr lang="en-US" altLang="ko-KR" dirty="0"/>
          </a:p>
          <a:p>
            <a:r>
              <a:rPr lang="en-US" altLang="ko-KR" dirty="0" err="1" smtClean="0"/>
              <a:t>Bitbucket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Push </a:t>
            </a:r>
            <a:r>
              <a:rPr lang="ko-KR" altLang="en-US" dirty="0" smtClean="0"/>
              <a:t>완료하면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b="1" u="sng" smtClean="0">
                <a:solidFill>
                  <a:srgbClr val="FF0000"/>
                </a:solidFill>
              </a:rPr>
              <a:t>반드시 </a:t>
            </a:r>
            <a:r>
              <a:rPr lang="ko-KR" altLang="en-US" b="1" u="sng" dirty="0" smtClean="0">
                <a:solidFill>
                  <a:srgbClr val="FF0000"/>
                </a:solidFill>
              </a:rPr>
              <a:t>자리에서 프로젝트 파일 및 </a:t>
            </a:r>
            <a:r>
              <a:rPr lang="ko-KR" altLang="en-US" b="1" u="sng" dirty="0" err="1" smtClean="0">
                <a:solidFill>
                  <a:srgbClr val="FF0000"/>
                </a:solidFill>
              </a:rPr>
              <a:t>캡쳐화면</a:t>
            </a:r>
            <a:r>
              <a:rPr lang="ko-KR" altLang="en-US" b="1" u="sng" dirty="0" smtClean="0">
                <a:solidFill>
                  <a:srgbClr val="FF0000"/>
                </a:solidFill>
              </a:rPr>
              <a:t>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b="1" u="sng" dirty="0">
              <a:solidFill>
                <a:srgbClr val="FF0000"/>
              </a:solidFill>
            </a:endParaRPr>
          </a:p>
          <a:p>
            <a:r>
              <a:rPr lang="ko-KR" altLang="en-US" b="1" u="sng" dirty="0" smtClean="0">
                <a:solidFill>
                  <a:srgbClr val="FF0000"/>
                </a:solidFill>
              </a:rPr>
              <a:t>에뮬레이터 내의 애플리케이션도 삭제</a:t>
            </a:r>
            <a:endParaRPr lang="en-US" altLang="ko-KR" b="1" u="sng" dirty="0" smtClean="0">
              <a:solidFill>
                <a:srgbClr val="FF0000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파일이 남아 있을 경우 감점</a:t>
            </a: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274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제출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제출형식</a:t>
            </a:r>
            <a:endParaRPr lang="en-US" altLang="ko-KR" dirty="0"/>
          </a:p>
          <a:p>
            <a:pPr lvl="1"/>
            <a:r>
              <a:rPr lang="ko-KR" altLang="en-US" dirty="0" smtClean="0"/>
              <a:t>주어진 문제의 기능을 보여주는 화면을 </a:t>
            </a:r>
            <a:r>
              <a:rPr lang="ko-KR" altLang="en-US" dirty="0" err="1" smtClean="0"/>
              <a:t>캡쳐한</a:t>
            </a:r>
            <a:r>
              <a:rPr lang="ko-KR" altLang="en-US" dirty="0" smtClean="0"/>
              <a:t> 보고서 작성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소스파일과 보고서를 </a:t>
            </a:r>
            <a:r>
              <a:rPr lang="en-US" altLang="ko-KR" dirty="0" err="1" smtClean="0"/>
              <a:t>Bitbucket</a:t>
            </a:r>
            <a:r>
              <a:rPr lang="ko-KR" altLang="en-US" dirty="0" smtClean="0"/>
              <a:t>에 제출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주의</a:t>
            </a:r>
            <a:endParaRPr lang="en-US" altLang="ko-KR" dirty="0"/>
          </a:p>
          <a:p>
            <a:pPr lvl="1"/>
            <a:r>
              <a:rPr lang="ko-KR" altLang="en-US" dirty="0">
                <a:solidFill>
                  <a:srgbClr val="FF0000"/>
                </a:solidFill>
              </a:rPr>
              <a:t>마감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다음 수업 전날 자정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만점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</a:p>
          <a:p>
            <a:pPr lvl="1"/>
            <a:r>
              <a:rPr lang="ko-KR" altLang="en-US" dirty="0"/>
              <a:t>이후 제출은 채점대상에서 제외함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/>
              <a:t>24</a:t>
            </a:fld>
            <a:endParaRPr lang="ko-KR" altLang="en-US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776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FAA61E-CA35-46E7-954C-43D901BBD1EB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6146" name="Picture 2" descr="http://www.smartnbiz.co.kr/biz/userfiles/2011/2011-01-27/1292946066_android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6189" y="651914"/>
            <a:ext cx="6832878" cy="5633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209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HY강B"/>
        <a:ea typeface="HY강B"/>
        <a:cs typeface=""/>
      </a:majorFont>
      <a:minorFont>
        <a:latin typeface="HY강B"/>
        <a:ea typeface="HY강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47802</TotalTime>
  <Words>628</Words>
  <Application>Microsoft Office PowerPoint</Application>
  <PresentationFormat>화면 슬라이드 쇼(4:3)</PresentationFormat>
  <Paragraphs>264</Paragraphs>
  <Slides>25</Slides>
  <Notes>13</Notes>
  <HiddenSlides>0</HiddenSlides>
  <MMClips>0</MMClips>
  <ScaleCrop>false</ScaleCrop>
  <HeadingPairs>
    <vt:vector size="6" baseType="variant"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8" baseType="lpstr">
      <vt:lpstr>Executive</vt:lpstr>
      <vt:lpstr>디자인 사용자 지정</vt:lpstr>
      <vt:lpstr>Image</vt:lpstr>
      <vt:lpstr>실습</vt:lpstr>
      <vt:lpstr>NDKCalculator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NDK calculator</vt:lpstr>
      <vt:lpstr>Android NDK</vt:lpstr>
      <vt:lpstr>NDK calculator</vt:lpstr>
      <vt:lpstr>NDKCalculator #2</vt:lpstr>
      <vt:lpstr>NDK Calculator#2</vt:lpstr>
      <vt:lpstr>실습 후 주의사항</vt:lpstr>
      <vt:lpstr>제출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Sketching and Composing Widget for 3D Manipulation</dc:title>
  <dc:creator>Seonho</dc:creator>
  <cp:lastModifiedBy>OWNER</cp:lastModifiedBy>
  <cp:revision>2210</cp:revision>
  <cp:lastPrinted>2011-04-25T22:15:32Z</cp:lastPrinted>
  <dcterms:created xsi:type="dcterms:W3CDTF">2010-10-12T07:50:15Z</dcterms:created>
  <dcterms:modified xsi:type="dcterms:W3CDTF">2017-11-28T08:32:05Z</dcterms:modified>
</cp:coreProperties>
</file>