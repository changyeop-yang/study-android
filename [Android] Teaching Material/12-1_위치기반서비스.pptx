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48"/>
  </p:notesMasterIdLst>
  <p:sldIdLst>
    <p:sldId id="256" r:id="rId2"/>
    <p:sldId id="349" r:id="rId3"/>
    <p:sldId id="348" r:id="rId4"/>
    <p:sldId id="350" r:id="rId5"/>
    <p:sldId id="351" r:id="rId6"/>
    <p:sldId id="352" r:id="rId7"/>
    <p:sldId id="354" r:id="rId8"/>
    <p:sldId id="363" r:id="rId9"/>
    <p:sldId id="364" r:id="rId10"/>
    <p:sldId id="365" r:id="rId11"/>
    <p:sldId id="362" r:id="rId12"/>
    <p:sldId id="353" r:id="rId13"/>
    <p:sldId id="355" r:id="rId14"/>
    <p:sldId id="356" r:id="rId15"/>
    <p:sldId id="359" r:id="rId16"/>
    <p:sldId id="357" r:id="rId17"/>
    <p:sldId id="358" r:id="rId18"/>
    <p:sldId id="360" r:id="rId19"/>
    <p:sldId id="361" r:id="rId20"/>
    <p:sldId id="376" r:id="rId21"/>
    <p:sldId id="382" r:id="rId22"/>
    <p:sldId id="379" r:id="rId23"/>
    <p:sldId id="377" r:id="rId24"/>
    <p:sldId id="378" r:id="rId25"/>
    <p:sldId id="383" r:id="rId26"/>
    <p:sldId id="384" r:id="rId27"/>
    <p:sldId id="385" r:id="rId28"/>
    <p:sldId id="395" r:id="rId29"/>
    <p:sldId id="380" r:id="rId30"/>
    <p:sldId id="381" r:id="rId31"/>
    <p:sldId id="386" r:id="rId32"/>
    <p:sldId id="389" r:id="rId33"/>
    <p:sldId id="409" r:id="rId34"/>
    <p:sldId id="390" r:id="rId35"/>
    <p:sldId id="406" r:id="rId36"/>
    <p:sldId id="391" r:id="rId37"/>
    <p:sldId id="392" r:id="rId38"/>
    <p:sldId id="393" r:id="rId39"/>
    <p:sldId id="394" r:id="rId40"/>
    <p:sldId id="396" r:id="rId41"/>
    <p:sldId id="397" r:id="rId42"/>
    <p:sldId id="398" r:id="rId43"/>
    <p:sldId id="399" r:id="rId44"/>
    <p:sldId id="400" r:id="rId45"/>
    <p:sldId id="401" r:id="rId46"/>
    <p:sldId id="294" r:id="rId47"/>
  </p:sldIdLst>
  <p:sldSz cx="9144000" cy="6858000" type="screen4x3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066FF"/>
    <a:srgbClr val="005BE2"/>
    <a:srgbClr val="004CBC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04" autoAdjust="0"/>
    <p:restoredTop sz="92953" autoAdjust="0"/>
  </p:normalViewPr>
  <p:slideViewPr>
    <p:cSldViewPr snapToGrid="0">
      <p:cViewPr varScale="1">
        <p:scale>
          <a:sx n="82" d="100"/>
          <a:sy n="82" d="100"/>
        </p:scale>
        <p:origin x="176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9687" cy="3840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079" tIns="47540" rIns="95079" bIns="4754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5"/>
          </a:xfrm>
          <a:prstGeom prst="rect">
            <a:avLst/>
          </a:prstGeom>
        </p:spPr>
        <p:txBody>
          <a:bodyPr vert="horz" lIns="95079" tIns="47540" rIns="95079" bIns="4754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0898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7654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13130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723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89454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94241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76902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2564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92362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 err="1" smtClean="0"/>
              <a:t>안드로이드의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GPS </a:t>
            </a:r>
            <a:r>
              <a:rPr lang="ko-KR" altLang="en-US" b="1" dirty="0" smtClean="0"/>
              <a:t>위치 정보는 </a:t>
            </a:r>
            <a:r>
              <a:rPr lang="en-US" altLang="ko-KR" b="1" dirty="0" smtClean="0"/>
              <a:t>A-GPS</a:t>
            </a:r>
          </a:p>
          <a:p>
            <a:r>
              <a:rPr lang="en-US" altLang="ko-KR" dirty="0" smtClean="0"/>
              <a:t>3G </a:t>
            </a:r>
            <a:r>
              <a:rPr lang="ko-KR" altLang="en-US" dirty="0" smtClean="0"/>
              <a:t>통신 요금이 소액 발생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Position Determining Entity (PDE)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87681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75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차량의 정보통신 환경인 </a:t>
            </a:r>
            <a:r>
              <a:rPr lang="en-US" altLang="ko-KR" b="1" dirty="0" smtClean="0"/>
              <a:t>Telematics</a:t>
            </a:r>
            <a:r>
              <a:rPr lang="en-US" altLang="ko-KR" dirty="0" smtClean="0"/>
              <a:t> </a:t>
            </a:r>
            <a:r>
              <a:rPr lang="ko-KR" altLang="en-US" dirty="0" smtClean="0"/>
              <a:t>는 </a:t>
            </a:r>
            <a:r>
              <a:rPr lang="en-US" altLang="ko-KR" b="1" dirty="0" smtClean="0"/>
              <a:t>Telecommunications(</a:t>
            </a:r>
            <a:r>
              <a:rPr lang="ko-KR" altLang="en-US" b="1" dirty="0" smtClean="0"/>
              <a:t>통신</a:t>
            </a:r>
            <a:r>
              <a:rPr lang="en-US" altLang="ko-KR" b="1" dirty="0" smtClean="0"/>
              <a:t>)</a:t>
            </a:r>
            <a:r>
              <a:rPr lang="ko-KR" altLang="en-US" b="1" dirty="0" smtClean="0"/>
              <a:t>과 </a:t>
            </a:r>
            <a:r>
              <a:rPr lang="en-US" altLang="ko-KR" b="1" dirty="0" smtClean="0"/>
              <a:t>Informatics(</a:t>
            </a:r>
            <a:r>
              <a:rPr lang="ko-KR" altLang="en-US" b="1" dirty="0" smtClean="0"/>
              <a:t>정보과학</a:t>
            </a:r>
            <a:r>
              <a:rPr lang="en-US" altLang="ko-KR" b="1" dirty="0" smtClean="0"/>
              <a:t>)</a:t>
            </a:r>
            <a:r>
              <a:rPr lang="ko-KR" altLang="en-US" b="1" dirty="0" smtClean="0"/>
              <a:t>의 합성어</a:t>
            </a:r>
            <a:r>
              <a:rPr lang="ko-KR" altLang="en-US" dirty="0" smtClean="0"/>
              <a:t>이다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이동통신망</a:t>
            </a:r>
            <a:r>
              <a:rPr lang="en-US" altLang="ko-KR" dirty="0" smtClean="0"/>
              <a:t>, </a:t>
            </a:r>
            <a:r>
              <a:rPr lang="ko-KR" altLang="en-US" dirty="0" smtClean="0"/>
              <a:t>위성 확인 시스템</a:t>
            </a:r>
            <a:r>
              <a:rPr lang="en-US" altLang="ko-KR" dirty="0" smtClean="0"/>
              <a:t>(GPS) </a:t>
            </a:r>
            <a:r>
              <a:rPr lang="ko-KR" altLang="en-US" dirty="0" smtClean="0"/>
              <a:t>및 첨단 지리정보 시스템</a:t>
            </a:r>
            <a:r>
              <a:rPr lang="en-US" altLang="ko-KR" dirty="0" smtClean="0"/>
              <a:t>(GIS)</a:t>
            </a:r>
            <a:r>
              <a:rPr lang="ko-KR" altLang="en-US" dirty="0" smtClean="0"/>
              <a:t>을 통한 위치 기반 서비스</a:t>
            </a:r>
            <a:r>
              <a:rPr lang="en-US" altLang="ko-KR" dirty="0" smtClean="0"/>
              <a:t>(LBS), </a:t>
            </a:r>
            <a:r>
              <a:rPr lang="ko-KR" altLang="en-US" dirty="0" smtClean="0"/>
              <a:t>지능형 교통체계</a:t>
            </a:r>
            <a:r>
              <a:rPr lang="en-US" altLang="ko-KR" dirty="0" smtClean="0"/>
              <a:t>(ITS) </a:t>
            </a:r>
            <a:r>
              <a:rPr lang="ko-KR" altLang="en-US" dirty="0" smtClean="0"/>
              <a:t>등을 </a:t>
            </a:r>
            <a:r>
              <a:rPr lang="ko-KR" altLang="en-US" u="sng" dirty="0" smtClean="0"/>
              <a:t>자동차에 접목</a:t>
            </a:r>
            <a:r>
              <a:rPr lang="ko-KR" altLang="en-US" dirty="0" smtClean="0"/>
              <a:t>하여 운전 경로 안내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차량 사고나 도난 감지</a:t>
            </a:r>
            <a:r>
              <a:rPr lang="en-US" altLang="ko-KR" dirty="0" smtClean="0"/>
              <a:t>, </a:t>
            </a:r>
            <a:r>
              <a:rPr lang="ko-KR" altLang="en-US" dirty="0" smtClean="0"/>
              <a:t>교통 및 각종 생활 편의 정보를 운전자에게 실시간으로 제공하는 종합 서비스를 말한다</a:t>
            </a:r>
            <a:r>
              <a:rPr lang="en-US" altLang="ko-KR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3744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MLP</a:t>
            </a:r>
            <a:r>
              <a:rPr lang="en-US" altLang="ko-KR" baseline="0" dirty="0" smtClean="0"/>
              <a:t> (Mobile Location Protocol)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6277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2002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13034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Wi-Fi</a:t>
            </a:r>
            <a:r>
              <a:rPr lang="en-US" altLang="ko-KR" baseline="0" dirty="0" smtClean="0"/>
              <a:t> MAC </a:t>
            </a:r>
            <a:r>
              <a:rPr lang="ko-KR" altLang="en-US" baseline="0" dirty="0" smtClean="0"/>
              <a:t>주소 기반 위치 정보를 제공하기 위해</a:t>
            </a:r>
            <a:endParaRPr lang="en-US" altLang="ko-KR" baseline="0" dirty="0" smtClean="0"/>
          </a:p>
          <a:p>
            <a:r>
              <a:rPr lang="ko-KR" altLang="en-US" baseline="0" dirty="0" err="1" smtClean="0"/>
              <a:t>구글은</a:t>
            </a:r>
            <a:r>
              <a:rPr lang="ko-KR" altLang="en-US" baseline="0" dirty="0" smtClean="0"/>
              <a:t> </a:t>
            </a:r>
            <a:r>
              <a:rPr lang="ko-KR" altLang="en-US" baseline="0" dirty="0" err="1" smtClean="0"/>
              <a:t>스트리트뷰</a:t>
            </a:r>
            <a:r>
              <a:rPr lang="ko-KR" altLang="en-US" baseline="0" dirty="0" smtClean="0"/>
              <a:t> </a:t>
            </a:r>
            <a:r>
              <a:rPr lang="ko-KR" altLang="en-US" baseline="0" dirty="0" err="1" smtClean="0"/>
              <a:t>촬영시</a:t>
            </a:r>
            <a:r>
              <a:rPr lang="ko-KR" altLang="en-US" baseline="0" dirty="0" smtClean="0"/>
              <a:t> 주변의 </a:t>
            </a:r>
            <a:r>
              <a:rPr lang="en-US" altLang="ko-KR" baseline="0" dirty="0" smtClean="0"/>
              <a:t>AP</a:t>
            </a:r>
            <a:r>
              <a:rPr lang="ko-KR" altLang="en-US" baseline="0" dirty="0" smtClean="0"/>
              <a:t>를 전부 검색하여 데이터베이스화</a:t>
            </a:r>
            <a:endParaRPr lang="en-US" altLang="ko-KR" baseline="0" dirty="0" smtClean="0"/>
          </a:p>
          <a:p>
            <a:r>
              <a:rPr lang="ko-KR" altLang="en-US" baseline="0" dirty="0" err="1" smtClean="0"/>
              <a:t>안드로이드</a:t>
            </a:r>
            <a:r>
              <a:rPr lang="ko-KR" altLang="en-US" baseline="0" dirty="0" smtClean="0"/>
              <a:t> </a:t>
            </a:r>
            <a:r>
              <a:rPr lang="ko-KR" altLang="en-US" baseline="0" dirty="0" err="1" smtClean="0"/>
              <a:t>폰에서</a:t>
            </a:r>
            <a:r>
              <a:rPr lang="ko-KR" altLang="en-US" baseline="0" dirty="0" smtClean="0"/>
              <a:t> </a:t>
            </a:r>
            <a:r>
              <a:rPr lang="en-US" altLang="ko-KR" baseline="0" dirty="0" smtClean="0"/>
              <a:t>Wi-Fi </a:t>
            </a:r>
            <a:r>
              <a:rPr lang="ko-KR" altLang="en-US" baseline="0" dirty="0" err="1" smtClean="0"/>
              <a:t>연결시</a:t>
            </a:r>
            <a:r>
              <a:rPr lang="ko-KR" altLang="en-US" baseline="0" dirty="0" smtClean="0"/>
              <a:t> </a:t>
            </a:r>
            <a:r>
              <a:rPr lang="en-US" altLang="ko-KR" baseline="0" dirty="0" smtClean="0"/>
              <a:t>GPS</a:t>
            </a:r>
            <a:r>
              <a:rPr lang="ko-KR" altLang="en-US" baseline="0" dirty="0" smtClean="0"/>
              <a:t>와 연동하여 </a:t>
            </a:r>
            <a:r>
              <a:rPr lang="ko-KR" altLang="en-US" baseline="0" dirty="0" err="1" smtClean="0"/>
              <a:t>구글</a:t>
            </a:r>
            <a:r>
              <a:rPr lang="ko-KR" altLang="en-US" baseline="0" dirty="0" smtClean="0"/>
              <a:t> 서버로 정보를 전송</a:t>
            </a:r>
            <a:endParaRPr lang="en-US" altLang="ko-KR" baseline="0" dirty="0" smtClean="0"/>
          </a:p>
          <a:p>
            <a:endParaRPr lang="en-US" altLang="ko-KR" baseline="0" dirty="0" smtClean="0"/>
          </a:p>
          <a:p>
            <a:r>
              <a:rPr lang="ko-KR" altLang="en-US" baseline="0" dirty="0" smtClean="0"/>
              <a:t>예전 </a:t>
            </a:r>
            <a:r>
              <a:rPr lang="ko-KR" altLang="en-US" baseline="0" dirty="0" err="1" smtClean="0"/>
              <a:t>아이폰</a:t>
            </a:r>
            <a:r>
              <a:rPr lang="ko-KR" altLang="en-US" baseline="0" dirty="0" smtClean="0"/>
              <a:t> 위치 정보 추적에 관한 기사의 내용도</a:t>
            </a:r>
            <a:endParaRPr lang="en-US" altLang="ko-KR" baseline="0" dirty="0" smtClean="0"/>
          </a:p>
          <a:p>
            <a:r>
              <a:rPr lang="ko-KR" altLang="en-US" baseline="0" dirty="0" smtClean="0"/>
              <a:t>바로 </a:t>
            </a:r>
            <a:r>
              <a:rPr lang="en-US" altLang="ko-KR" baseline="0" dirty="0" smtClean="0"/>
              <a:t>Wi-Fi </a:t>
            </a:r>
            <a:r>
              <a:rPr lang="ko-KR" altLang="en-US" baseline="0" dirty="0" smtClean="0"/>
              <a:t>위치를 보정하기 위한 정보 수집 후 캐시 관리를 실수한 내용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3743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cold start: </a:t>
            </a:r>
            <a:r>
              <a:rPr lang="ko-KR" altLang="en-US" dirty="0" smtClean="0"/>
              <a:t>시스템을 처음부터 다시 시동하는 것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6574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4841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8220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PASSIVE_PROVIDER : </a:t>
            </a:r>
            <a:r>
              <a:rPr lang="ko-KR" altLang="en-US" dirty="0" smtClean="0"/>
              <a:t>다른 </a:t>
            </a:r>
            <a:r>
              <a:rPr lang="ko-KR" altLang="en-US" dirty="0" err="1" smtClean="0"/>
              <a:t>앱에서</a:t>
            </a:r>
            <a:r>
              <a:rPr lang="ko-KR" altLang="en-US" dirty="0" smtClean="0"/>
              <a:t> 사용한 현 위치 정보를 가져와서 사용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8220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Altitude : </a:t>
            </a:r>
            <a:r>
              <a:rPr lang="ko-KR" altLang="en-US" dirty="0" smtClean="0"/>
              <a:t>고도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45056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8220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8220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8220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Longitude </a:t>
            </a:r>
            <a:r>
              <a:rPr lang="ko-KR" altLang="en-US" dirty="0" smtClean="0"/>
              <a:t>경도</a:t>
            </a:r>
            <a:endParaRPr lang="en-US" altLang="ko-KR" dirty="0" smtClean="0"/>
          </a:p>
          <a:p>
            <a:r>
              <a:rPr lang="en-US" altLang="ko-KR" dirty="0" smtClean="0"/>
              <a:t>Latitude </a:t>
            </a:r>
            <a:r>
              <a:rPr lang="ko-KR" altLang="en-US" dirty="0" smtClean="0"/>
              <a:t>위도</a:t>
            </a:r>
            <a:endParaRPr lang="en-US" altLang="ko-KR" dirty="0" smtClean="0"/>
          </a:p>
          <a:p>
            <a:r>
              <a:rPr lang="en-US" altLang="ko-KR" dirty="0" smtClean="0"/>
              <a:t>Altitude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고도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8220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8220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8220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42688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6280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7306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2428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789312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216630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216630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483622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26043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114961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79079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639739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051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292344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203842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600294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21498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148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53976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73978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34068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ctr" defTabSz="914400" rtl="0" eaLnBrk="1" fontAlgn="auto" latinLnBrk="1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668811"/>
            <a:chOff x="983729" y="101774"/>
            <a:chExt cx="1474704" cy="668811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4257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  <a:p>
              <a:pPr>
                <a:lnSpc>
                  <a:spcPts val="1300"/>
                </a:lnSpc>
              </a:pP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  <a:p>
              <a:endParaRPr lang="ko-KR" alt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.android.com/guide/topics/location/obtaining-user-location.html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위치기반서비스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err="1" smtClean="0"/>
              <a:t>Gi</a:t>
            </a:r>
            <a:r>
              <a:rPr lang="en-US" altLang="ko-KR" dirty="0" smtClean="0"/>
              <a:t> Sook </a:t>
            </a:r>
            <a:r>
              <a:rPr lang="en-US" altLang="ko-KR" dirty="0" smtClean="0"/>
              <a:t>Jung, </a:t>
            </a:r>
            <a:r>
              <a:rPr lang="en-US" altLang="ko-KR" dirty="0" err="1" smtClean="0"/>
              <a:t>Ph.D</a:t>
            </a:r>
            <a:endParaRPr lang="en-US" altLang="ko-KR" dirty="0" smtClean="0"/>
          </a:p>
          <a:p>
            <a:r>
              <a:rPr lang="en-US" altLang="ko-KR" dirty="0" smtClean="0"/>
              <a:t>School of Computer Science and Engineering</a:t>
            </a:r>
          </a:p>
          <a:p>
            <a:r>
              <a:rPr lang="en-US" altLang="ko-KR" dirty="0" smtClean="0"/>
              <a:t>College of IT Engineering, KNU</a:t>
            </a:r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위치기반서비스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Location Based Service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6927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시작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Location Based Service</a:t>
            </a:r>
          </a:p>
          <a:p>
            <a:pPr lvl="1"/>
            <a:r>
              <a:rPr lang="ko-KR" altLang="en-US" dirty="0" smtClean="0"/>
              <a:t>사용자의 위치에 따라 변경되는 특정 정보를 제공하는 서비스</a:t>
            </a:r>
            <a:endParaRPr lang="en-US" altLang="ko-KR" dirty="0" smtClean="0"/>
          </a:p>
          <a:p>
            <a:pPr lvl="1"/>
            <a:r>
              <a:rPr lang="en-US" altLang="ko-KR" dirty="0" err="1"/>
              <a:t>LoCation</a:t>
            </a:r>
            <a:r>
              <a:rPr lang="en-US" altLang="ko-KR" dirty="0"/>
              <a:t> </a:t>
            </a:r>
            <a:r>
              <a:rPr lang="en-US" altLang="ko-KR" dirty="0" smtClean="0"/>
              <a:t>Services(LCS)</a:t>
            </a:r>
            <a:r>
              <a:rPr lang="ko-KR" altLang="en-US" dirty="0" smtClean="0"/>
              <a:t>로</a:t>
            </a:r>
            <a:r>
              <a:rPr lang="en-US" altLang="ko-KR" dirty="0"/>
              <a:t> </a:t>
            </a:r>
            <a:r>
              <a:rPr lang="ko-KR" altLang="en-US" dirty="0" smtClean="0"/>
              <a:t>지칭되기도 함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r>
              <a:rPr lang="ko-KR" altLang="en-US" dirty="0" smtClean="0"/>
              <a:t>위치 정보 이용의 시작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1989</a:t>
            </a:r>
            <a:r>
              <a:rPr lang="ko-KR" altLang="en-US" dirty="0" smtClean="0"/>
              <a:t>년</a:t>
            </a:r>
            <a:r>
              <a:rPr lang="en-US" altLang="ko-KR" dirty="0" smtClean="0"/>
              <a:t>~1992</a:t>
            </a:r>
            <a:r>
              <a:rPr lang="ko-KR" altLang="en-US" dirty="0" smtClean="0"/>
              <a:t>년</a:t>
            </a:r>
            <a:r>
              <a:rPr lang="en-US" altLang="ko-KR" dirty="0" smtClean="0"/>
              <a:t>, </a:t>
            </a:r>
            <a:r>
              <a:rPr lang="en-US" altLang="ko-KR" b="1" dirty="0" smtClean="0"/>
              <a:t>The Active Badge System</a:t>
            </a:r>
          </a:p>
          <a:p>
            <a:pPr lvl="1"/>
            <a:r>
              <a:rPr lang="ko-KR" altLang="en-US" dirty="0" smtClean="0"/>
              <a:t>개인마다 특정 신호를 발신하는 </a:t>
            </a:r>
            <a:r>
              <a:rPr lang="ko-KR" altLang="en-US" u="sng" dirty="0" smtClean="0"/>
              <a:t>적외선 액티브 </a:t>
            </a:r>
            <a:r>
              <a:rPr lang="ko-KR" altLang="en-US" u="sng" dirty="0" err="1" smtClean="0"/>
              <a:t>마커</a:t>
            </a:r>
            <a:r>
              <a:rPr lang="ko-KR" altLang="en-US" dirty="0" err="1" smtClean="0"/>
              <a:t>를</a:t>
            </a:r>
            <a:r>
              <a:rPr lang="ko-KR" altLang="en-US" dirty="0" smtClean="0"/>
              <a:t> 달고 이동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건물 내부에 특정 위치마다 </a:t>
            </a:r>
            <a:r>
              <a:rPr lang="ko-KR" altLang="en-US" u="sng" dirty="0" smtClean="0"/>
              <a:t>적외선 센서</a:t>
            </a:r>
            <a:r>
              <a:rPr lang="ko-KR" altLang="en-US" dirty="0" smtClean="0"/>
              <a:t>를 설치 </a:t>
            </a:r>
            <a:r>
              <a:rPr lang="ko-KR" altLang="en-US" u="sng" dirty="0" smtClean="0"/>
              <a:t>네트워크를 통해 정보를 수집</a:t>
            </a:r>
            <a:endParaRPr lang="en-US" altLang="ko-KR" u="sng" dirty="0" smtClean="0"/>
          </a:p>
          <a:p>
            <a:pPr lvl="1"/>
            <a:r>
              <a:rPr lang="ko-KR" altLang="en-US" dirty="0" smtClean="0"/>
              <a:t>사람의 위치 찾기</a:t>
            </a:r>
            <a:r>
              <a:rPr lang="en-US" altLang="ko-KR" dirty="0" smtClean="0"/>
              <a:t>, </a:t>
            </a:r>
            <a:r>
              <a:rPr lang="ko-KR" altLang="en-US" dirty="0" smtClean="0"/>
              <a:t>특정 위치에 있는 사람들 목록</a:t>
            </a:r>
            <a:r>
              <a:rPr lang="en-US" altLang="ko-KR" dirty="0" smtClean="0"/>
              <a:t>, </a:t>
            </a:r>
            <a:r>
              <a:rPr lang="ko-KR" altLang="en-US" dirty="0" smtClean="0"/>
              <a:t>특정 위치에 접근 알림 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Roy Want &amp; </a:t>
            </a:r>
            <a:r>
              <a:rPr lang="en-US" altLang="ko-KR" dirty="0"/>
              <a:t>Andy </a:t>
            </a:r>
            <a:r>
              <a:rPr lang="en-US" altLang="ko-KR" dirty="0" smtClean="0"/>
              <a:t>Hopper</a:t>
            </a:r>
            <a:r>
              <a:rPr lang="en-US" altLang="ko-KR" dirty="0"/>
              <a:t>, “The active badge location system,” ACM Transactions on Information Systems (TOIS)</a:t>
            </a:r>
            <a:r>
              <a:rPr lang="nl-NL" altLang="ko-KR" dirty="0" smtClean="0"/>
              <a:t>, </a:t>
            </a:r>
            <a:r>
              <a:rPr lang="en-US" altLang="ko-KR" dirty="0"/>
              <a:t>Volume 10 Issue 1</a:t>
            </a:r>
            <a:r>
              <a:rPr lang="nl-NL" altLang="ko-KR" dirty="0" smtClean="0"/>
              <a:t>, </a:t>
            </a:r>
            <a:r>
              <a:rPr lang="nl-NL" altLang="ko-KR" dirty="0"/>
              <a:t>January </a:t>
            </a:r>
            <a:r>
              <a:rPr lang="nl-NL" altLang="ko-KR" dirty="0" smtClean="0"/>
              <a:t>1992</a:t>
            </a:r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737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시작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위치에 따른 서비스 제공 시나리오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1997</a:t>
            </a:r>
            <a:r>
              <a:rPr lang="ko-KR" altLang="en-US" dirty="0" smtClean="0"/>
              <a:t>년</a:t>
            </a:r>
            <a:r>
              <a:rPr lang="en-US" altLang="ko-KR" dirty="0" smtClean="0"/>
              <a:t>, </a:t>
            </a:r>
            <a:r>
              <a:rPr lang="en-US" altLang="ko-KR" b="1" dirty="0" smtClean="0"/>
              <a:t>The Pizza Story</a:t>
            </a:r>
          </a:p>
          <a:p>
            <a:pPr lvl="1"/>
            <a:r>
              <a:rPr lang="ko-KR" altLang="en-US" dirty="0" smtClean="0"/>
              <a:t>이동</a:t>
            </a:r>
            <a:r>
              <a:rPr lang="en-US" altLang="ko-KR" dirty="0" smtClean="0"/>
              <a:t> </a:t>
            </a:r>
            <a:r>
              <a:rPr lang="ko-KR" altLang="en-US" dirty="0" smtClean="0"/>
              <a:t>중에 가장 가까운 </a:t>
            </a:r>
            <a:r>
              <a:rPr lang="ko-KR" altLang="en-US" dirty="0" err="1" smtClean="0"/>
              <a:t>피자집에</a:t>
            </a:r>
            <a:r>
              <a:rPr lang="ko-KR" altLang="en-US" dirty="0" smtClean="0"/>
              <a:t> 배달을 주문하는 시나리오 소개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The Open GIS Consortium (OGC), 1st Location </a:t>
            </a:r>
            <a:r>
              <a:rPr lang="en-US" altLang="ko-KR" dirty="0"/>
              <a:t>Interoperability Forum </a:t>
            </a:r>
            <a:r>
              <a:rPr lang="en-US" altLang="ko-KR" dirty="0" smtClean="0"/>
              <a:t>Meeting, November 2000</a:t>
            </a:r>
          </a:p>
          <a:p>
            <a:pPr lvl="1"/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320" y="3041458"/>
            <a:ext cx="6349848" cy="341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3892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발전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다양한 방식의 위치 정보 획득 방법 개발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2000</a:t>
            </a:r>
            <a:r>
              <a:rPr lang="ko-KR" altLang="en-US" dirty="0" smtClean="0"/>
              <a:t>년</a:t>
            </a:r>
            <a:r>
              <a:rPr lang="en-US" altLang="ko-KR" dirty="0" smtClean="0"/>
              <a:t>, Microsoft's </a:t>
            </a:r>
            <a:r>
              <a:rPr lang="en-US" altLang="ko-KR" u="sng" dirty="0" smtClean="0"/>
              <a:t>Wi-Fi-based</a:t>
            </a:r>
            <a:r>
              <a:rPr lang="en-US" altLang="ko-KR" dirty="0" smtClean="0"/>
              <a:t> indoor location system RADAR</a:t>
            </a:r>
          </a:p>
          <a:p>
            <a:pPr lvl="1"/>
            <a:r>
              <a:rPr lang="en-US" altLang="ko-KR" dirty="0" smtClean="0"/>
              <a:t>2000</a:t>
            </a:r>
            <a:r>
              <a:rPr lang="ko-KR" altLang="en-US" dirty="0" smtClean="0"/>
              <a:t>년</a:t>
            </a:r>
            <a:r>
              <a:rPr lang="en-US" altLang="ko-KR" dirty="0"/>
              <a:t>, MIT's Cricket project using </a:t>
            </a:r>
            <a:r>
              <a:rPr lang="en-US" altLang="ko-KR" u="sng" dirty="0"/>
              <a:t>ultrasound</a:t>
            </a:r>
            <a:r>
              <a:rPr lang="en-US" altLang="ko-KR" dirty="0"/>
              <a:t> </a:t>
            </a:r>
            <a:r>
              <a:rPr lang="en-US" altLang="ko-KR" dirty="0" smtClean="0"/>
              <a:t>location</a:t>
            </a:r>
          </a:p>
          <a:p>
            <a:pPr lvl="1"/>
            <a:r>
              <a:rPr lang="en-US" altLang="ko-KR" dirty="0" smtClean="0"/>
              <a:t>2003</a:t>
            </a:r>
            <a:r>
              <a:rPr lang="ko-KR" altLang="en-US" dirty="0" smtClean="0"/>
              <a:t>년</a:t>
            </a:r>
            <a:r>
              <a:rPr lang="en-US" altLang="ko-KR" dirty="0"/>
              <a:t>, Intel's Place Lab with wide-area </a:t>
            </a:r>
            <a:r>
              <a:rPr lang="en-US" altLang="ko-KR" dirty="0" smtClean="0"/>
              <a:t>location</a:t>
            </a:r>
          </a:p>
          <a:p>
            <a:pPr lvl="1"/>
            <a:endParaRPr lang="en-US" altLang="ko-KR" dirty="0"/>
          </a:p>
          <a:p>
            <a:r>
              <a:rPr lang="ko-KR" altLang="en-US" dirty="0" smtClean="0"/>
              <a:t>최초의 </a:t>
            </a:r>
            <a:r>
              <a:rPr lang="en-US" altLang="ko-KR" dirty="0" smtClean="0"/>
              <a:t>LBS </a:t>
            </a:r>
            <a:r>
              <a:rPr lang="ko-KR" altLang="en-US" dirty="0" smtClean="0"/>
              <a:t>서비스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2001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5</a:t>
            </a:r>
            <a:r>
              <a:rPr lang="ko-KR" altLang="en-US" dirty="0" smtClean="0"/>
              <a:t>월</a:t>
            </a:r>
            <a:r>
              <a:rPr lang="en-US" altLang="ko-KR" dirty="0" smtClean="0"/>
              <a:t>, </a:t>
            </a:r>
            <a:r>
              <a:rPr lang="ko-KR" altLang="en-US" dirty="0" smtClean="0"/>
              <a:t>스위스 </a:t>
            </a:r>
            <a:r>
              <a:rPr lang="en-US" altLang="ko-KR" dirty="0" smtClean="0"/>
              <a:t>Swisscom</a:t>
            </a:r>
            <a:r>
              <a:rPr lang="ko-KR" altLang="en-US" dirty="0" smtClean="0"/>
              <a:t>에서 </a:t>
            </a:r>
            <a:r>
              <a:rPr lang="en-US" altLang="ko-KR" b="1" dirty="0" err="1" smtClean="0"/>
              <a:t>Friendzone</a:t>
            </a:r>
            <a:r>
              <a:rPr lang="ko-KR" altLang="en-US" b="1" dirty="0"/>
              <a:t> </a:t>
            </a:r>
            <a:r>
              <a:rPr lang="ko-KR" altLang="en-US" dirty="0" smtClean="0"/>
              <a:t>무료 서비스 시작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가까운 거리의 친구를 검색</a:t>
            </a:r>
            <a:r>
              <a:rPr lang="en-US" altLang="ko-KR" dirty="0" smtClean="0"/>
              <a:t>, </a:t>
            </a:r>
            <a:r>
              <a:rPr lang="ko-KR" altLang="en-US" dirty="0" smtClean="0"/>
              <a:t>거리에 기반한 간단한 게임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독일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포르투갈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이스라엘의 순서로 서비스 지역 확대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r>
              <a:rPr lang="en-US" altLang="ko-KR" dirty="0" smtClean="0"/>
              <a:t>2001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7</a:t>
            </a:r>
            <a:r>
              <a:rPr lang="ko-KR" altLang="en-US" dirty="0" smtClean="0"/>
              <a:t>월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일본의 </a:t>
            </a:r>
            <a:r>
              <a:rPr lang="en-US" altLang="ko-KR" dirty="0" smtClean="0"/>
              <a:t>DoCoMo</a:t>
            </a:r>
            <a:r>
              <a:rPr lang="ko-KR" altLang="en-US" dirty="0" smtClean="0"/>
              <a:t>에서 최초의 상업 서비스 시작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기지국 삼각법 위치 정보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그 해 </a:t>
            </a:r>
            <a:r>
              <a:rPr lang="en-US" altLang="ko-KR" dirty="0" smtClean="0"/>
              <a:t>11</a:t>
            </a:r>
            <a:r>
              <a:rPr lang="ko-KR" altLang="en-US" dirty="0" smtClean="0"/>
              <a:t>월에 </a:t>
            </a:r>
            <a:r>
              <a:rPr lang="en-US" altLang="ko-KR" dirty="0" smtClean="0"/>
              <a:t>GPS</a:t>
            </a:r>
            <a:r>
              <a:rPr lang="ko-KR" altLang="en-US" dirty="0"/>
              <a:t> </a:t>
            </a:r>
            <a:r>
              <a:rPr lang="ko-KR" altLang="en-US" dirty="0" smtClean="0"/>
              <a:t>위치 정보 사용 시작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r>
              <a:rPr lang="ko-KR" altLang="en-US" dirty="0" smtClean="0"/>
              <a:t>이동통신사와 </a:t>
            </a:r>
            <a:r>
              <a:rPr lang="ko-KR" altLang="en-US" dirty="0" err="1" smtClean="0"/>
              <a:t>모바일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콘텐츠</a:t>
            </a:r>
            <a:r>
              <a:rPr lang="ko-KR" altLang="en-US" dirty="0" smtClean="0"/>
              <a:t> 공급사의 주도로 개발</a:t>
            </a:r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5884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구성 요소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주로 제공되는 내용</a:t>
            </a:r>
            <a:endParaRPr lang="en-US" altLang="ko-KR" dirty="0" smtClean="0"/>
          </a:p>
          <a:p>
            <a:pPr lvl="1"/>
            <a:r>
              <a:rPr lang="ko-KR" altLang="en-US" dirty="0" smtClean="0">
                <a:solidFill>
                  <a:srgbClr val="00B0F0"/>
                </a:solidFill>
              </a:rPr>
              <a:t>지역적으로 분산된 자원 관리</a:t>
            </a:r>
            <a:r>
              <a:rPr lang="en-US" altLang="ko-KR" dirty="0" smtClean="0"/>
              <a:t>: </a:t>
            </a:r>
            <a:r>
              <a:rPr lang="ko-KR" altLang="en-US" dirty="0" smtClean="0"/>
              <a:t>택시</a:t>
            </a:r>
            <a:r>
              <a:rPr lang="en-US" altLang="ko-KR" dirty="0" smtClean="0"/>
              <a:t>, </a:t>
            </a:r>
            <a:r>
              <a:rPr lang="ko-KR" altLang="en-US" dirty="0" smtClean="0"/>
              <a:t>배달</a:t>
            </a:r>
            <a:r>
              <a:rPr lang="en-US" altLang="ko-KR" dirty="0" smtClean="0"/>
              <a:t>, </a:t>
            </a:r>
            <a:r>
              <a:rPr lang="ko-KR" altLang="en-US" dirty="0" smtClean="0"/>
              <a:t>병원 등</a:t>
            </a:r>
            <a:endParaRPr lang="en-US" altLang="ko-KR" dirty="0"/>
          </a:p>
          <a:p>
            <a:pPr lvl="1"/>
            <a:r>
              <a:rPr lang="ko-KR" altLang="en-US" dirty="0" smtClean="0">
                <a:solidFill>
                  <a:srgbClr val="00B0F0"/>
                </a:solidFill>
              </a:rPr>
              <a:t>물자 위치 추적</a:t>
            </a:r>
            <a:r>
              <a:rPr lang="en-US" altLang="ko-KR" dirty="0" smtClean="0"/>
              <a:t>: </a:t>
            </a:r>
            <a:r>
              <a:rPr lang="ko-KR" altLang="en-US" dirty="0" smtClean="0"/>
              <a:t>상품 배치</a:t>
            </a:r>
            <a:r>
              <a:rPr lang="en-US" altLang="ko-KR" dirty="0" smtClean="0"/>
              <a:t>, </a:t>
            </a:r>
            <a:r>
              <a:rPr lang="ko-KR" altLang="en-US" dirty="0" smtClean="0"/>
              <a:t>택배 등</a:t>
            </a:r>
            <a:endParaRPr lang="en-US" altLang="ko-KR" dirty="0" smtClean="0"/>
          </a:p>
          <a:p>
            <a:pPr lvl="1"/>
            <a:r>
              <a:rPr lang="ko-KR" altLang="en-US" dirty="0" smtClean="0">
                <a:solidFill>
                  <a:srgbClr val="00B0F0"/>
                </a:solidFill>
              </a:rPr>
              <a:t>위치 찾기</a:t>
            </a:r>
            <a:r>
              <a:rPr lang="en-US" altLang="ko-KR" dirty="0" smtClean="0"/>
              <a:t>: </a:t>
            </a:r>
            <a:r>
              <a:rPr lang="ko-KR" altLang="en-US" dirty="0" smtClean="0"/>
              <a:t>이동 경로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서비스 제공 장소</a:t>
            </a:r>
            <a:r>
              <a:rPr lang="en-US" altLang="ko-KR" dirty="0" smtClean="0"/>
              <a:t>, </a:t>
            </a:r>
            <a:r>
              <a:rPr lang="ko-KR" altLang="en-US" dirty="0" smtClean="0"/>
              <a:t>교통 상황</a:t>
            </a:r>
            <a:r>
              <a:rPr lang="en-US" altLang="ko-KR" dirty="0" smtClean="0"/>
              <a:t>, </a:t>
            </a:r>
            <a:r>
              <a:rPr lang="ko-KR" altLang="en-US" dirty="0" smtClean="0"/>
              <a:t>숙소 등</a:t>
            </a:r>
            <a:endParaRPr lang="en-US" altLang="ko-KR" dirty="0" smtClean="0"/>
          </a:p>
          <a:p>
            <a:pPr lvl="1"/>
            <a:r>
              <a:rPr lang="ko-KR" altLang="en-US" dirty="0" smtClean="0">
                <a:solidFill>
                  <a:srgbClr val="00B0F0"/>
                </a:solidFill>
              </a:rPr>
              <a:t>목표 접근 시 알림</a:t>
            </a:r>
            <a:r>
              <a:rPr lang="en-US" altLang="ko-KR" dirty="0" smtClean="0"/>
              <a:t>: </a:t>
            </a:r>
            <a:r>
              <a:rPr lang="ko-KR" altLang="en-US" dirty="0" smtClean="0"/>
              <a:t>목표 지정 광고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친구 목록</a:t>
            </a:r>
            <a:r>
              <a:rPr lang="en-US" altLang="ko-KR" dirty="0" smtClean="0"/>
              <a:t>, </a:t>
            </a:r>
            <a:r>
              <a:rPr lang="ko-KR" altLang="en-US" dirty="0" smtClean="0"/>
              <a:t>상대 찾기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자동 체크인 등</a:t>
            </a:r>
            <a:endParaRPr lang="en-US" altLang="ko-KR" dirty="0" smtClean="0"/>
          </a:p>
          <a:p>
            <a:pPr lvl="1"/>
            <a:r>
              <a:rPr lang="ko-KR" altLang="en-US" dirty="0" smtClean="0">
                <a:solidFill>
                  <a:srgbClr val="00B0F0"/>
                </a:solidFill>
              </a:rPr>
              <a:t>목표 접근 시 자동 수행</a:t>
            </a:r>
            <a:r>
              <a:rPr lang="en-US" altLang="ko-KR" dirty="0" smtClean="0"/>
              <a:t>: </a:t>
            </a:r>
            <a:r>
              <a:rPr lang="ko-KR" altLang="en-US" dirty="0" smtClean="0"/>
              <a:t>통행 요금 지불 등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구성 요소</a:t>
            </a:r>
            <a:endParaRPr lang="en-US" altLang="ko-KR" dirty="0" smtClean="0"/>
          </a:p>
          <a:p>
            <a:pPr lvl="1"/>
            <a:r>
              <a:rPr lang="ko-KR" altLang="en-US" b="1" dirty="0" err="1" smtClean="0">
                <a:solidFill>
                  <a:srgbClr val="00B0F0"/>
                </a:solidFill>
              </a:rPr>
              <a:t>측위</a:t>
            </a:r>
            <a:r>
              <a:rPr lang="ko-KR" altLang="en-US" b="1" dirty="0" smtClean="0">
                <a:solidFill>
                  <a:srgbClr val="00B0F0"/>
                </a:solidFill>
              </a:rPr>
              <a:t> 기술</a:t>
            </a:r>
            <a:r>
              <a:rPr lang="en-US" altLang="ko-KR" dirty="0"/>
              <a:t>: </a:t>
            </a:r>
            <a:r>
              <a:rPr lang="en-US" altLang="ko-KR" b="1" dirty="0" smtClean="0"/>
              <a:t>LDT (Location </a:t>
            </a:r>
            <a:r>
              <a:rPr lang="en-US" altLang="ko-KR" b="1" dirty="0"/>
              <a:t>Determination </a:t>
            </a:r>
            <a:r>
              <a:rPr lang="en-US" altLang="ko-KR" b="1" dirty="0" smtClean="0"/>
              <a:t>Technology)</a:t>
            </a:r>
          </a:p>
          <a:p>
            <a:pPr lvl="2"/>
            <a:r>
              <a:rPr lang="ko-KR" altLang="en-US" dirty="0" smtClean="0"/>
              <a:t>망 기반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핸드셋</a:t>
            </a:r>
            <a:r>
              <a:rPr lang="ko-KR" altLang="en-US" dirty="0" smtClean="0"/>
              <a:t> 기반</a:t>
            </a:r>
            <a:r>
              <a:rPr lang="en-US" altLang="ko-KR" dirty="0" smtClean="0"/>
              <a:t>, Hybrid </a:t>
            </a:r>
            <a:r>
              <a:rPr lang="ko-KR" altLang="en-US" dirty="0" smtClean="0"/>
              <a:t>방식</a:t>
            </a:r>
            <a:endParaRPr lang="en-US" altLang="ko-KR" dirty="0"/>
          </a:p>
          <a:p>
            <a:pPr lvl="2"/>
            <a:r>
              <a:rPr lang="ko-KR" altLang="en-US" dirty="0" smtClean="0">
                <a:solidFill>
                  <a:srgbClr val="008000"/>
                </a:solidFill>
              </a:rPr>
              <a:t>측정 시간</a:t>
            </a:r>
            <a:r>
              <a:rPr lang="en-US" altLang="ko-KR" dirty="0" smtClean="0">
                <a:solidFill>
                  <a:srgbClr val="008000"/>
                </a:solidFill>
              </a:rPr>
              <a:t>, </a:t>
            </a:r>
            <a:r>
              <a:rPr lang="ko-KR" altLang="en-US" dirty="0" smtClean="0">
                <a:solidFill>
                  <a:srgbClr val="008000"/>
                </a:solidFill>
              </a:rPr>
              <a:t>위치 정확도가 중요</a:t>
            </a:r>
            <a:endParaRPr lang="en-US" altLang="ko-KR" dirty="0" smtClean="0">
              <a:solidFill>
                <a:srgbClr val="008000"/>
              </a:solidFill>
            </a:endParaRPr>
          </a:p>
          <a:p>
            <a:pPr lvl="1"/>
            <a:r>
              <a:rPr lang="ko-KR" altLang="en-US" b="1" dirty="0" smtClean="0">
                <a:solidFill>
                  <a:srgbClr val="00B0F0"/>
                </a:solidFill>
              </a:rPr>
              <a:t>위치 처리 플랫폼</a:t>
            </a:r>
            <a:r>
              <a:rPr lang="en-US" altLang="ko-KR" dirty="0"/>
              <a:t>: </a:t>
            </a:r>
            <a:r>
              <a:rPr lang="en-US" altLang="ko-KR" b="1" dirty="0" smtClean="0"/>
              <a:t>LEP (Location </a:t>
            </a:r>
            <a:r>
              <a:rPr lang="en-US" altLang="ko-KR" b="1" dirty="0"/>
              <a:t>Enabled </a:t>
            </a:r>
            <a:r>
              <a:rPr lang="en-US" altLang="ko-KR" b="1" dirty="0" smtClean="0"/>
              <a:t>Platform)</a:t>
            </a:r>
          </a:p>
          <a:p>
            <a:pPr lvl="1"/>
            <a:r>
              <a:rPr lang="ko-KR" altLang="en-US" b="1" dirty="0">
                <a:solidFill>
                  <a:srgbClr val="00B0F0"/>
                </a:solidFill>
              </a:rPr>
              <a:t>위치 응용 </a:t>
            </a:r>
            <a:r>
              <a:rPr lang="ko-KR" altLang="en-US" b="1" dirty="0" smtClean="0">
                <a:solidFill>
                  <a:srgbClr val="00B0F0"/>
                </a:solidFill>
              </a:rPr>
              <a:t>프로그램</a:t>
            </a:r>
            <a:r>
              <a:rPr lang="en-US" altLang="ko-KR" dirty="0" smtClean="0"/>
              <a:t>: </a:t>
            </a:r>
            <a:r>
              <a:rPr lang="en-US" altLang="ko-KR" b="1" dirty="0" smtClean="0"/>
              <a:t>LAP (Location </a:t>
            </a:r>
            <a:r>
              <a:rPr lang="en-US" altLang="ko-KR" b="1" dirty="0"/>
              <a:t>Application Program)</a:t>
            </a:r>
            <a:endParaRPr lang="en-US" altLang="ko-KR" b="1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5765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측위</a:t>
            </a:r>
            <a:r>
              <a:rPr lang="ko-KR" altLang="en-US" dirty="0" smtClean="0"/>
              <a:t> 기술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Location Determination Technology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또 다른 말로 </a:t>
            </a:r>
            <a:r>
              <a:rPr lang="en-US" altLang="ko-KR" dirty="0" smtClean="0"/>
              <a:t>PDT(Position Determination Technology)</a:t>
            </a:r>
            <a:endParaRPr lang="en-US" altLang="ko-KR" dirty="0"/>
          </a:p>
          <a:p>
            <a:pPr lvl="1"/>
            <a:r>
              <a:rPr lang="ko-KR" altLang="en-US" dirty="0" smtClean="0"/>
              <a:t>망 </a:t>
            </a:r>
            <a:r>
              <a:rPr lang="ko-KR" altLang="en-US" dirty="0"/>
              <a:t>기반 </a:t>
            </a:r>
            <a:r>
              <a:rPr lang="ko-KR" altLang="en-US" dirty="0" err="1"/>
              <a:t>측위기술</a:t>
            </a:r>
            <a:r>
              <a:rPr lang="ko-KR" altLang="en-US" dirty="0"/>
              <a:t> </a:t>
            </a:r>
            <a:r>
              <a:rPr lang="en-US" altLang="ko-KR" dirty="0"/>
              <a:t>: Cell ID, TDA, AOA, EOTD</a:t>
            </a:r>
          </a:p>
          <a:p>
            <a:pPr lvl="1"/>
            <a:r>
              <a:rPr lang="ko-KR" altLang="en-US" dirty="0" err="1" smtClean="0"/>
              <a:t>핸드셋</a:t>
            </a:r>
            <a:r>
              <a:rPr lang="ko-KR" altLang="en-US" dirty="0" smtClean="0"/>
              <a:t> </a:t>
            </a:r>
            <a:r>
              <a:rPr lang="ko-KR" altLang="en-US" dirty="0"/>
              <a:t>기반 </a:t>
            </a:r>
            <a:r>
              <a:rPr lang="ko-KR" altLang="en-US" dirty="0" err="1"/>
              <a:t>측위기술</a:t>
            </a:r>
            <a:r>
              <a:rPr lang="ko-KR" altLang="en-US" dirty="0"/>
              <a:t> </a:t>
            </a:r>
            <a:r>
              <a:rPr lang="en-US" altLang="ko-KR" dirty="0"/>
              <a:t>: GPS</a:t>
            </a:r>
          </a:p>
          <a:p>
            <a:pPr lvl="1"/>
            <a:r>
              <a:rPr lang="en-US" altLang="ko-KR" dirty="0" smtClean="0"/>
              <a:t>Hybrid </a:t>
            </a:r>
            <a:r>
              <a:rPr lang="ko-KR" altLang="en-US" dirty="0"/>
              <a:t>방식 </a:t>
            </a:r>
            <a:r>
              <a:rPr lang="en-US" altLang="ko-KR" dirty="0"/>
              <a:t>: Network Assisted GPS, </a:t>
            </a:r>
            <a:r>
              <a:rPr lang="en-US" altLang="ko-KR" dirty="0" smtClean="0"/>
              <a:t>WAG, A-GPS</a:t>
            </a:r>
            <a:endParaRPr lang="en-US" altLang="ko-KR" dirty="0"/>
          </a:p>
          <a:p>
            <a:pPr lvl="1"/>
            <a:r>
              <a:rPr lang="ko-KR" altLang="en-US" dirty="0" smtClean="0"/>
              <a:t>측정시간</a:t>
            </a:r>
            <a:r>
              <a:rPr lang="en-US" altLang="ko-KR" dirty="0"/>
              <a:t>, </a:t>
            </a:r>
            <a:r>
              <a:rPr lang="ko-KR" altLang="en-US" dirty="0"/>
              <a:t>위치정확도가 기술개발의 관건</a:t>
            </a:r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7</a:t>
            </a:fld>
            <a:endParaRPr lang="ko-KR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8838" y="3822949"/>
            <a:ext cx="2514600" cy="193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" name="그룹 5"/>
          <p:cNvGrpSpPr/>
          <p:nvPr/>
        </p:nvGrpSpPr>
        <p:grpSpPr>
          <a:xfrm>
            <a:off x="1015388" y="3856286"/>
            <a:ext cx="1981200" cy="1866900"/>
            <a:chOff x="1058536" y="4109405"/>
            <a:chExt cx="1981200" cy="1866900"/>
          </a:xfrm>
        </p:grpSpPr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8536" y="4109405"/>
              <a:ext cx="1981200" cy="18669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직사각형 4"/>
            <p:cNvSpPr/>
            <p:nvPr/>
          </p:nvSpPr>
          <p:spPr>
            <a:xfrm>
              <a:off x="2511846" y="4233231"/>
              <a:ext cx="527890" cy="3057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6462428" y="3980111"/>
            <a:ext cx="1651381" cy="1619251"/>
            <a:chOff x="6505576" y="4233230"/>
            <a:chExt cx="1651381" cy="1619251"/>
          </a:xfrm>
        </p:grpSpPr>
        <p:pic>
          <p:nvPicPr>
            <p:cNvPr id="3076" name="Picture 4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5576" y="4233231"/>
              <a:ext cx="1619250" cy="1619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>
              <a:off x="7755875" y="4233230"/>
              <a:ext cx="401082" cy="4022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46122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이동통신 기지국 기반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199" y="1484671"/>
            <a:ext cx="6210263" cy="5232555"/>
          </a:xfrm>
        </p:spPr>
        <p:txBody>
          <a:bodyPr/>
          <a:lstStyle/>
          <a:p>
            <a:r>
              <a:rPr lang="en-US" altLang="ko-KR" dirty="0" smtClean="0"/>
              <a:t>Cell-ID</a:t>
            </a:r>
          </a:p>
          <a:p>
            <a:pPr lvl="1"/>
            <a:r>
              <a:rPr lang="ko-KR" altLang="en-US" dirty="0" smtClean="0"/>
              <a:t>기지국의 신호 세기와 방향에 따른 위치 측정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en-US" altLang="ko-KR" dirty="0" smtClean="0"/>
              <a:t>AOA (Angle of Arrival)</a:t>
            </a:r>
          </a:p>
          <a:p>
            <a:pPr lvl="1"/>
            <a:r>
              <a:rPr lang="ko-KR" altLang="en-US" dirty="0" smtClean="0"/>
              <a:t>기지국에서 수신한 방향을 이용한 위치 측정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en-US" altLang="ko-KR" dirty="0" smtClean="0"/>
              <a:t>TOA (Time of Arrival)</a:t>
            </a:r>
          </a:p>
          <a:p>
            <a:pPr lvl="1"/>
            <a:r>
              <a:rPr lang="en-US" altLang="ko-KR" dirty="0" smtClean="0"/>
              <a:t>3</a:t>
            </a:r>
            <a:r>
              <a:rPr lang="ko-KR" altLang="en-US" dirty="0" smtClean="0"/>
              <a:t>개의 기지국에서 전파의 도착시간으로 위치 측정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en-US" altLang="ko-KR" dirty="0" smtClean="0"/>
              <a:t>TDOA (Time Difference of Arrival)</a:t>
            </a:r>
          </a:p>
          <a:p>
            <a:pPr lvl="1"/>
            <a:r>
              <a:rPr lang="en-US" altLang="ko-KR" dirty="0" smtClean="0"/>
              <a:t>W-CDMA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OTDOA, GSM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E-OTD</a:t>
            </a:r>
          </a:p>
          <a:p>
            <a:pPr lvl="1"/>
            <a:r>
              <a:rPr lang="en-US" altLang="ko-KR" dirty="0" smtClean="0"/>
              <a:t>3</a:t>
            </a:r>
            <a:r>
              <a:rPr lang="ko-KR" altLang="en-US" dirty="0" smtClean="0"/>
              <a:t>개의 기지국의 전파도착 시간과 기지국간의 거리 차이에 따른 쌍곡선의 교차 지점을 계산하여 위치 측정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상대적으로 큰 오차 </a:t>
            </a:r>
            <a:r>
              <a:rPr lang="en-US" altLang="ko-KR" dirty="0" smtClean="0">
                <a:solidFill>
                  <a:srgbClr val="008000"/>
                </a:solidFill>
              </a:rPr>
              <a:t>(1~4Km </a:t>
            </a:r>
            <a:r>
              <a:rPr lang="ko-KR" altLang="en-US" dirty="0" smtClean="0">
                <a:solidFill>
                  <a:srgbClr val="008000"/>
                </a:solidFill>
              </a:rPr>
              <a:t>오차</a:t>
            </a:r>
            <a:r>
              <a:rPr lang="en-US" altLang="ko-KR" dirty="0" smtClean="0">
                <a:solidFill>
                  <a:srgbClr val="008000"/>
                </a:solidFill>
              </a:rPr>
              <a:t>)</a:t>
            </a:r>
            <a:endParaRPr lang="ko-KR" altLang="en-US" dirty="0">
              <a:solidFill>
                <a:srgbClr val="008000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8</a:t>
            </a:fld>
            <a:endParaRPr lang="ko-KR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9753" y="3578078"/>
            <a:ext cx="1913262" cy="1471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" name="그룹 5"/>
          <p:cNvGrpSpPr/>
          <p:nvPr/>
        </p:nvGrpSpPr>
        <p:grpSpPr>
          <a:xfrm>
            <a:off x="7075756" y="5133336"/>
            <a:ext cx="1667259" cy="1571071"/>
            <a:chOff x="1058536" y="4109405"/>
            <a:chExt cx="1981200" cy="1866900"/>
          </a:xfrm>
        </p:grpSpPr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8536" y="4109405"/>
              <a:ext cx="1981200" cy="18669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직사각형 7"/>
            <p:cNvSpPr/>
            <p:nvPr/>
          </p:nvSpPr>
          <p:spPr>
            <a:xfrm>
              <a:off x="2511846" y="4233231"/>
              <a:ext cx="527890" cy="3057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1105" y="1354571"/>
            <a:ext cx="1152716" cy="1023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8454" y="2578822"/>
            <a:ext cx="1161247" cy="986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7711" y="1354570"/>
            <a:ext cx="1154295" cy="1023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4859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Wi-Fi </a:t>
            </a:r>
            <a:r>
              <a:rPr lang="ko-KR" altLang="en-US" dirty="0" smtClean="0"/>
              <a:t>네트워크 기반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484672"/>
            <a:ext cx="4555475" cy="4641492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/>
              <a:t>Nearest </a:t>
            </a:r>
            <a:r>
              <a:rPr lang="en-US" altLang="ko-KR" dirty="0" smtClean="0"/>
              <a:t>Point</a:t>
            </a:r>
          </a:p>
          <a:p>
            <a:pPr lvl="1"/>
            <a:r>
              <a:rPr lang="ko-KR" altLang="en-US" dirty="0" smtClean="0"/>
              <a:t>현재 연결된 </a:t>
            </a:r>
            <a:r>
              <a:rPr lang="en-US" altLang="ko-KR" dirty="0" smtClean="0"/>
              <a:t>(</a:t>
            </a:r>
            <a:r>
              <a:rPr lang="ko-KR" altLang="en-US" dirty="0" smtClean="0"/>
              <a:t>혹은 가장 가까운</a:t>
            </a:r>
            <a:r>
              <a:rPr lang="en-US" altLang="ko-KR" dirty="0" smtClean="0"/>
              <a:t>) </a:t>
            </a:r>
            <a:r>
              <a:rPr lang="en-US" altLang="ko-KR" dirty="0" err="1" smtClean="0"/>
              <a:t>WiFi</a:t>
            </a:r>
            <a:r>
              <a:rPr lang="en-US" altLang="ko-KR" dirty="0" smtClean="0"/>
              <a:t> AP</a:t>
            </a:r>
            <a:r>
              <a:rPr lang="ko-KR" altLang="en-US" dirty="0" smtClean="0"/>
              <a:t>의 위치에서 보정하여 측정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en-US" altLang="ko-KR" dirty="0" smtClean="0"/>
              <a:t>Triangulation (trilateration)</a:t>
            </a:r>
          </a:p>
          <a:p>
            <a:pPr lvl="1"/>
            <a:r>
              <a:rPr lang="en-US" altLang="ko-KR" dirty="0" smtClean="0"/>
              <a:t>3</a:t>
            </a:r>
            <a:r>
              <a:rPr lang="ko-KR" altLang="en-US" dirty="0" smtClean="0"/>
              <a:t>개 이상의 </a:t>
            </a:r>
            <a:r>
              <a:rPr lang="en-US" altLang="ko-KR" dirty="0" smtClean="0"/>
              <a:t>AP </a:t>
            </a:r>
            <a:r>
              <a:rPr lang="ko-KR" altLang="en-US" dirty="0" smtClean="0"/>
              <a:t>신호 세기로 계산하여 위치 측정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r>
              <a:rPr lang="en-US" altLang="ko-KR" dirty="0"/>
              <a:t>WPS(Wi-Fi Positioning System)</a:t>
            </a:r>
          </a:p>
          <a:p>
            <a:pPr lvl="1"/>
            <a:r>
              <a:rPr lang="en-US" altLang="ko-KR" dirty="0" smtClean="0"/>
              <a:t>Skyhook</a:t>
            </a:r>
            <a:r>
              <a:rPr lang="ko-KR" altLang="en-US" dirty="0" smtClean="0"/>
              <a:t>사의 독보적 기술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무선망 위치 데이터베이스를 구축하여 위치 정보 보정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 smtClean="0"/>
              <a:t>AP</a:t>
            </a:r>
            <a:r>
              <a:rPr lang="ko-KR" altLang="en-US" dirty="0" smtClean="0"/>
              <a:t>의</a:t>
            </a:r>
            <a:r>
              <a:rPr lang="en-US" altLang="ko-KR" dirty="0"/>
              <a:t> </a:t>
            </a:r>
            <a:r>
              <a:rPr lang="ko-KR" altLang="en-US" dirty="0" smtClean="0"/>
              <a:t>위치 정보와 신호 세기에 따라서 오차의 범위가 다양 </a:t>
            </a:r>
            <a:r>
              <a:rPr lang="en-US" altLang="ko-KR" dirty="0" smtClean="0">
                <a:solidFill>
                  <a:srgbClr val="008000"/>
                </a:solidFill>
              </a:rPr>
              <a:t>(10m ~ 500m </a:t>
            </a:r>
            <a:r>
              <a:rPr lang="ko-KR" altLang="en-US" dirty="0" smtClean="0">
                <a:solidFill>
                  <a:srgbClr val="008000"/>
                </a:solidFill>
              </a:rPr>
              <a:t>오차</a:t>
            </a:r>
            <a:r>
              <a:rPr lang="en-US" altLang="ko-KR" dirty="0" smtClean="0">
                <a:solidFill>
                  <a:srgbClr val="008000"/>
                </a:solidFill>
              </a:rPr>
              <a:t>)</a:t>
            </a:r>
            <a:endParaRPr lang="ko-KR" altLang="en-US" dirty="0">
              <a:solidFill>
                <a:srgbClr val="008000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9</a:t>
            </a:fld>
            <a:endParaRPr lang="ko-KR" altLang="en-US"/>
          </a:p>
        </p:txBody>
      </p:sp>
      <p:grpSp>
        <p:nvGrpSpPr>
          <p:cNvPr id="6" name="그룹 5"/>
          <p:cNvGrpSpPr/>
          <p:nvPr/>
        </p:nvGrpSpPr>
        <p:grpSpPr>
          <a:xfrm>
            <a:off x="6379884" y="3116026"/>
            <a:ext cx="1071562" cy="1348561"/>
            <a:chOff x="2475870" y="3029468"/>
            <a:chExt cx="1071562" cy="1348561"/>
          </a:xfrm>
        </p:grpSpPr>
        <p:pic>
          <p:nvPicPr>
            <p:cNvPr id="10242" name="Picture 2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75870" y="3029468"/>
              <a:ext cx="1071562" cy="10715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2633854" y="4101030"/>
              <a:ext cx="7555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 err="1" smtClean="0"/>
                <a:t>WiFi</a:t>
              </a:r>
              <a:r>
                <a:rPr lang="en-US" altLang="ko-KR" sz="1200" dirty="0" smtClean="0"/>
                <a:t> AP</a:t>
              </a:r>
              <a:endParaRPr lang="ko-KR" altLang="en-US" sz="1200" dirty="0"/>
            </a:p>
          </p:txBody>
        </p:sp>
      </p:grpSp>
      <p:sp>
        <p:nvSpPr>
          <p:cNvPr id="11" name="타원 10"/>
          <p:cNvSpPr/>
          <p:nvPr/>
        </p:nvSpPr>
        <p:spPr>
          <a:xfrm>
            <a:off x="5961326" y="2939841"/>
            <a:ext cx="1908674" cy="190867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/>
          <p:cNvSpPr/>
          <p:nvPr/>
        </p:nvSpPr>
        <p:spPr>
          <a:xfrm>
            <a:off x="5553330" y="2531845"/>
            <a:ext cx="2724665" cy="272466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/>
          <p:cNvSpPr/>
          <p:nvPr/>
        </p:nvSpPr>
        <p:spPr>
          <a:xfrm>
            <a:off x="5138544" y="2117057"/>
            <a:ext cx="3554242" cy="355424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/>
          <p:cNvCxnSpPr/>
          <p:nvPr/>
        </p:nvCxnSpPr>
        <p:spPr>
          <a:xfrm flipH="1">
            <a:off x="5860973" y="4187589"/>
            <a:ext cx="676895" cy="70555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44" name="Picture 4" descr="F:\Downloads\wifi man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3" r="9003" b="1682"/>
          <a:stretch/>
        </p:blipFill>
        <p:spPr bwMode="auto">
          <a:xfrm>
            <a:off x="5355167" y="4639760"/>
            <a:ext cx="440394" cy="778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6606125" y="2755175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/>
              <a:t>10m</a:t>
            </a:r>
            <a:endParaRPr lang="ko-KR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6606125" y="2347179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/>
              <a:t>20m</a:t>
            </a:r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6606125" y="1932391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/>
              <a:t>30m</a:t>
            </a:r>
            <a:endParaRPr lang="ko-KR" altLang="en-US" dirty="0"/>
          </a:p>
        </p:txBody>
      </p:sp>
      <p:pic>
        <p:nvPicPr>
          <p:cNvPr id="25" name="Picture 4" descr="F:\Downloads\wifi man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3" r="9003" b="1682"/>
          <a:stretch/>
        </p:blipFill>
        <p:spPr bwMode="auto">
          <a:xfrm flipH="1">
            <a:off x="8277995" y="4075511"/>
            <a:ext cx="440394" cy="778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6" name="직선 화살표 연결선 25"/>
          <p:cNvCxnSpPr/>
          <p:nvPr/>
        </p:nvCxnSpPr>
        <p:spPr>
          <a:xfrm>
            <a:off x="7451446" y="3977089"/>
            <a:ext cx="826549" cy="46692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4012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GPS</a:t>
            </a:r>
            <a:r>
              <a:rPr lang="ko-KR" altLang="en-US" dirty="0" smtClean="0"/>
              <a:t> 기반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484672"/>
            <a:ext cx="4555475" cy="4641492"/>
          </a:xfrm>
        </p:spPr>
        <p:txBody>
          <a:bodyPr/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GPS</a:t>
            </a:r>
          </a:p>
          <a:p>
            <a:pPr lvl="1"/>
            <a:r>
              <a:rPr lang="ko-KR" altLang="en-US" dirty="0" err="1"/>
              <a:t>중궤도를</a:t>
            </a:r>
            <a:r>
              <a:rPr lang="ko-KR" altLang="en-US" dirty="0"/>
              <a:t> 도는 </a:t>
            </a:r>
            <a:r>
              <a:rPr lang="en-US" altLang="ko-KR" dirty="0">
                <a:solidFill>
                  <a:srgbClr val="00B0F0"/>
                </a:solidFill>
              </a:rPr>
              <a:t>24</a:t>
            </a:r>
            <a:r>
              <a:rPr lang="ko-KR" altLang="en-US" dirty="0">
                <a:solidFill>
                  <a:srgbClr val="00B0F0"/>
                </a:solidFill>
              </a:rPr>
              <a:t>개</a:t>
            </a:r>
            <a:r>
              <a:rPr lang="en-US" altLang="ko-KR" dirty="0">
                <a:solidFill>
                  <a:srgbClr val="00B0F0"/>
                </a:solidFill>
              </a:rPr>
              <a:t>(</a:t>
            </a:r>
            <a:r>
              <a:rPr lang="ko-KR" altLang="en-US" dirty="0">
                <a:solidFill>
                  <a:srgbClr val="00B0F0"/>
                </a:solidFill>
              </a:rPr>
              <a:t>실제는 그 이상</a:t>
            </a:r>
            <a:r>
              <a:rPr lang="en-US" altLang="ko-KR" dirty="0">
                <a:solidFill>
                  <a:srgbClr val="00B0F0"/>
                </a:solidFill>
              </a:rPr>
              <a:t>)</a:t>
            </a:r>
            <a:r>
              <a:rPr lang="ko-KR" altLang="en-US" dirty="0">
                <a:solidFill>
                  <a:srgbClr val="00B0F0"/>
                </a:solidFill>
              </a:rPr>
              <a:t>의 인공위성</a:t>
            </a:r>
            <a:r>
              <a:rPr lang="ko-KR" altLang="en-US" dirty="0"/>
              <a:t>에서 발신하는 마이크로파를 </a:t>
            </a:r>
            <a:r>
              <a:rPr lang="en-US" altLang="ko-KR" dirty="0">
                <a:solidFill>
                  <a:srgbClr val="00B0F0"/>
                </a:solidFill>
              </a:rPr>
              <a:t>GPS </a:t>
            </a:r>
            <a:r>
              <a:rPr lang="ko-KR" altLang="en-US" dirty="0">
                <a:solidFill>
                  <a:srgbClr val="00B0F0"/>
                </a:solidFill>
              </a:rPr>
              <a:t>수신기</a:t>
            </a:r>
            <a:r>
              <a:rPr lang="ko-KR" altLang="en-US" dirty="0"/>
              <a:t>에서 수신하여 </a:t>
            </a:r>
            <a:r>
              <a:rPr lang="ko-KR" altLang="en-US" dirty="0">
                <a:solidFill>
                  <a:srgbClr val="00B0F0"/>
                </a:solidFill>
              </a:rPr>
              <a:t>수신기의 위치벡터</a:t>
            </a:r>
            <a:r>
              <a:rPr lang="ko-KR" altLang="en-US" dirty="0"/>
              <a:t>를 </a:t>
            </a:r>
            <a:r>
              <a:rPr lang="ko-KR" altLang="en-US" dirty="0" smtClean="0"/>
              <a:t>결정</a:t>
            </a:r>
            <a:endParaRPr lang="en-US" altLang="ko-KR" dirty="0" smtClean="0"/>
          </a:p>
          <a:p>
            <a:pPr lvl="1"/>
            <a:r>
              <a:rPr lang="ko-KR" altLang="en-US" dirty="0">
                <a:solidFill>
                  <a:srgbClr val="00B0F0"/>
                </a:solidFill>
              </a:rPr>
              <a:t>경도</a:t>
            </a:r>
            <a:r>
              <a:rPr lang="en-US" altLang="ko-KR" dirty="0">
                <a:solidFill>
                  <a:srgbClr val="00B0F0"/>
                </a:solidFill>
              </a:rPr>
              <a:t>(X), </a:t>
            </a:r>
            <a:r>
              <a:rPr lang="ko-KR" altLang="en-US" dirty="0">
                <a:solidFill>
                  <a:srgbClr val="00B0F0"/>
                </a:solidFill>
              </a:rPr>
              <a:t>위도</a:t>
            </a:r>
            <a:r>
              <a:rPr lang="en-US" altLang="ko-KR" dirty="0">
                <a:solidFill>
                  <a:srgbClr val="00B0F0"/>
                </a:solidFill>
              </a:rPr>
              <a:t>(Y), </a:t>
            </a:r>
            <a:r>
              <a:rPr lang="ko-KR" altLang="en-US" dirty="0">
                <a:solidFill>
                  <a:srgbClr val="00B0F0"/>
                </a:solidFill>
              </a:rPr>
              <a:t>고도</a:t>
            </a:r>
            <a:r>
              <a:rPr lang="en-US" altLang="ko-KR" dirty="0">
                <a:solidFill>
                  <a:srgbClr val="00B0F0"/>
                </a:solidFill>
              </a:rPr>
              <a:t>(Z), </a:t>
            </a:r>
            <a:r>
              <a:rPr lang="ko-KR" altLang="en-US" dirty="0">
                <a:solidFill>
                  <a:srgbClr val="00B0F0"/>
                </a:solidFill>
              </a:rPr>
              <a:t>시간</a:t>
            </a:r>
            <a:r>
              <a:rPr lang="en-US" altLang="ko-KR" dirty="0">
                <a:solidFill>
                  <a:srgbClr val="00B0F0"/>
                </a:solidFill>
              </a:rPr>
              <a:t>(T) </a:t>
            </a:r>
            <a:r>
              <a:rPr lang="ko-KR" altLang="en-US" dirty="0">
                <a:solidFill>
                  <a:srgbClr val="00B0F0"/>
                </a:solidFill>
              </a:rPr>
              <a:t>정보</a:t>
            </a:r>
            <a:endParaRPr lang="en-US" altLang="ko-KR" dirty="0">
              <a:solidFill>
                <a:srgbClr val="00B0F0"/>
              </a:solidFill>
            </a:endParaRPr>
          </a:p>
          <a:p>
            <a:pPr lvl="1"/>
            <a:r>
              <a:rPr lang="en-US" altLang="ko-KR" dirty="0" smtClean="0"/>
              <a:t>GPS </a:t>
            </a:r>
            <a:r>
              <a:rPr lang="ko-KR" altLang="en-US" dirty="0"/>
              <a:t>위성은 </a:t>
            </a:r>
            <a:r>
              <a:rPr lang="ko-KR" altLang="en-US" dirty="0">
                <a:solidFill>
                  <a:srgbClr val="008000"/>
                </a:solidFill>
              </a:rPr>
              <a:t>미국 공군 제</a:t>
            </a:r>
            <a:r>
              <a:rPr lang="en-US" altLang="ko-KR" dirty="0">
                <a:solidFill>
                  <a:srgbClr val="008000"/>
                </a:solidFill>
              </a:rPr>
              <a:t>50</a:t>
            </a:r>
            <a:r>
              <a:rPr lang="ko-KR" altLang="en-US" dirty="0">
                <a:solidFill>
                  <a:srgbClr val="008000"/>
                </a:solidFill>
              </a:rPr>
              <a:t>우주비행단</a:t>
            </a:r>
            <a:r>
              <a:rPr lang="ko-KR" altLang="en-US" dirty="0"/>
              <a:t>에서 </a:t>
            </a:r>
            <a:r>
              <a:rPr lang="ko-KR" altLang="en-US" dirty="0" smtClean="0"/>
              <a:t>관리</a:t>
            </a:r>
            <a:endParaRPr lang="en-US" altLang="ko-KR" dirty="0" smtClean="0"/>
          </a:p>
          <a:p>
            <a:pPr lvl="1"/>
            <a:r>
              <a:rPr lang="ko-KR" altLang="en-US" dirty="0"/>
              <a:t>노후 위성의 교체와 새로운 위성 발사 등 유지와 연구</a:t>
            </a:r>
            <a:r>
              <a:rPr lang="en-US" altLang="ko-KR" dirty="0"/>
              <a:t>, </a:t>
            </a:r>
            <a:r>
              <a:rPr lang="ko-KR" altLang="en-US" dirty="0"/>
              <a:t>개발에 필요한 비용은 연간 약 </a:t>
            </a:r>
            <a:r>
              <a:rPr lang="en-US" altLang="ko-KR" dirty="0"/>
              <a:t>7</a:t>
            </a:r>
            <a:r>
              <a:rPr lang="ko-KR" altLang="en-US" dirty="0"/>
              <a:t>억</a:t>
            </a:r>
            <a:r>
              <a:rPr lang="en-US" altLang="ko-KR" dirty="0"/>
              <a:t>5</a:t>
            </a:r>
            <a:r>
              <a:rPr lang="ko-KR" altLang="en-US" dirty="0"/>
              <a:t>천만 </a:t>
            </a:r>
            <a:r>
              <a:rPr lang="ko-KR" altLang="en-US" dirty="0" smtClean="0"/>
              <a:t>달러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현재 무료로 제공 받는 정보 중 가장 정확한 위치</a:t>
            </a:r>
            <a:r>
              <a:rPr lang="en-US" altLang="ko-KR" dirty="0"/>
              <a:t> </a:t>
            </a:r>
            <a:r>
              <a:rPr lang="ko-KR" altLang="en-US" dirty="0" smtClean="0"/>
              <a:t>정보 </a:t>
            </a:r>
            <a:r>
              <a:rPr lang="en-US" altLang="ko-KR" dirty="0" smtClean="0">
                <a:solidFill>
                  <a:srgbClr val="008000"/>
                </a:solidFill>
              </a:rPr>
              <a:t>(0~10m </a:t>
            </a:r>
            <a:r>
              <a:rPr lang="ko-KR" altLang="en-US" dirty="0" smtClean="0">
                <a:solidFill>
                  <a:srgbClr val="008000"/>
                </a:solidFill>
              </a:rPr>
              <a:t>오차</a:t>
            </a:r>
            <a:r>
              <a:rPr lang="en-US" altLang="ko-KR" dirty="0" smtClean="0">
                <a:solidFill>
                  <a:srgbClr val="008000"/>
                </a:solidFill>
              </a:rPr>
              <a:t>)</a:t>
            </a:r>
            <a:endParaRPr lang="ko-KR" altLang="en-US" dirty="0">
              <a:solidFill>
                <a:srgbClr val="008000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10</a:t>
            </a:fld>
            <a:endParaRPr lang="ko-KR" altLang="en-US"/>
          </a:p>
        </p:txBody>
      </p:sp>
      <p:pic>
        <p:nvPicPr>
          <p:cNvPr id="40962" name="Picture 2" descr="http://it.donga.com/files/2011/03/24/0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04304" y="2130651"/>
            <a:ext cx="3552825" cy="317182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03472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A-GPS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Assisted GPS</a:t>
            </a:r>
          </a:p>
          <a:p>
            <a:pPr lvl="1"/>
            <a:r>
              <a:rPr lang="ko-KR" altLang="en-US" dirty="0" smtClean="0"/>
              <a:t>최근에 가장 널리 사용되는 </a:t>
            </a:r>
            <a:r>
              <a:rPr lang="ko-KR" altLang="en-US" dirty="0" err="1" smtClean="0"/>
              <a:t>측위</a:t>
            </a:r>
            <a:r>
              <a:rPr lang="ko-KR" altLang="en-US" dirty="0" smtClean="0"/>
              <a:t> 기술</a:t>
            </a:r>
            <a:endParaRPr lang="en-US" altLang="ko-KR" dirty="0" smtClean="0"/>
          </a:p>
          <a:p>
            <a:pPr lvl="1"/>
            <a:r>
              <a:rPr lang="ko-KR" altLang="en-US" dirty="0" smtClean="0">
                <a:solidFill>
                  <a:srgbClr val="00B0F0"/>
                </a:solidFill>
              </a:rPr>
              <a:t>통신망</a:t>
            </a:r>
            <a:r>
              <a:rPr lang="ko-KR" altLang="en-US" dirty="0" smtClean="0"/>
              <a:t>에서 </a:t>
            </a:r>
            <a:r>
              <a:rPr lang="ko-KR" altLang="en-US" dirty="0" smtClean="0">
                <a:solidFill>
                  <a:srgbClr val="00B0F0"/>
                </a:solidFill>
              </a:rPr>
              <a:t>지역에 따른 </a:t>
            </a:r>
            <a:r>
              <a:rPr lang="en-US" altLang="ko-KR" dirty="0" smtClean="0">
                <a:solidFill>
                  <a:srgbClr val="00B0F0"/>
                </a:solidFill>
              </a:rPr>
              <a:t>GPS </a:t>
            </a:r>
            <a:r>
              <a:rPr lang="ko-KR" altLang="en-US" dirty="0" smtClean="0">
                <a:solidFill>
                  <a:srgbClr val="00B0F0"/>
                </a:solidFill>
              </a:rPr>
              <a:t>신호의 정확도를 조사</a:t>
            </a:r>
            <a:r>
              <a:rPr lang="ko-KR" altLang="en-US" dirty="0" smtClean="0"/>
              <a:t>하여 </a:t>
            </a:r>
            <a:r>
              <a:rPr lang="en-US" altLang="ko-KR" dirty="0" smtClean="0">
                <a:solidFill>
                  <a:srgbClr val="00B0F0"/>
                </a:solidFill>
              </a:rPr>
              <a:t>GPS </a:t>
            </a:r>
            <a:r>
              <a:rPr lang="ko-KR" altLang="en-US" dirty="0" smtClean="0">
                <a:solidFill>
                  <a:srgbClr val="00B0F0"/>
                </a:solidFill>
              </a:rPr>
              <a:t>위치를 보정</a:t>
            </a:r>
            <a:r>
              <a:rPr lang="ko-KR" altLang="en-US" dirty="0" smtClean="0"/>
              <a:t>하는 </a:t>
            </a:r>
            <a:r>
              <a:rPr lang="ko-KR" altLang="en-US" dirty="0" smtClean="0"/>
              <a:t>기술</a:t>
            </a:r>
            <a:endParaRPr lang="en-US" altLang="ko-KR" dirty="0" smtClean="0"/>
          </a:p>
          <a:p>
            <a:pPr lvl="1"/>
            <a:r>
              <a:rPr lang="en-US" altLang="ko-KR" dirty="0">
                <a:solidFill>
                  <a:srgbClr val="00B0F0"/>
                </a:solidFill>
              </a:rPr>
              <a:t>GPS </a:t>
            </a:r>
            <a:r>
              <a:rPr lang="ko-KR" altLang="en-US" dirty="0">
                <a:solidFill>
                  <a:srgbClr val="00B0F0"/>
                </a:solidFill>
              </a:rPr>
              <a:t>정보 → 이동통신망의 </a:t>
            </a:r>
            <a:r>
              <a:rPr lang="en-US" altLang="ko-KR" dirty="0">
                <a:solidFill>
                  <a:srgbClr val="00B0F0"/>
                </a:solidFill>
              </a:rPr>
              <a:t>PDE </a:t>
            </a:r>
            <a:r>
              <a:rPr lang="ko-KR" altLang="en-US" dirty="0">
                <a:solidFill>
                  <a:srgbClr val="00B0F0"/>
                </a:solidFill>
              </a:rPr>
              <a:t>→ 단말기 위치 </a:t>
            </a:r>
            <a:r>
              <a:rPr lang="ko-KR" altLang="en-US" dirty="0" smtClean="0">
                <a:solidFill>
                  <a:srgbClr val="00B0F0"/>
                </a:solidFill>
              </a:rPr>
              <a:t>보정</a:t>
            </a:r>
            <a:endParaRPr lang="en-US" altLang="ko-KR" dirty="0">
              <a:solidFill>
                <a:srgbClr val="00B0F0"/>
              </a:solidFill>
            </a:endParaRPr>
          </a:p>
          <a:p>
            <a:pPr lvl="1"/>
            <a:r>
              <a:rPr lang="ko-KR" altLang="en-US" dirty="0" smtClean="0"/>
              <a:t>전파의 굴절이나 감소 등의 상세한 지역적 정보를 구축하여 사용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이미 확정되어 있는 정보를 사용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en-US" altLang="ko-KR" dirty="0" smtClean="0"/>
              <a:t>GPS</a:t>
            </a:r>
            <a:r>
              <a:rPr lang="ko-KR" altLang="en-US" dirty="0" smtClean="0"/>
              <a:t>가 일시적으로 끊기더라도 위치 제공 가능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GPS</a:t>
            </a:r>
            <a:r>
              <a:rPr lang="ko-KR" altLang="en-US" dirty="0" smtClean="0"/>
              <a:t>가 다시 연결되었을 때 통신망의 정보를 사용하여 초기화 시간을 단축</a:t>
            </a:r>
            <a:endParaRPr lang="en-US" altLang="ko-KR" dirty="0" smtClean="0"/>
          </a:p>
          <a:p>
            <a:pPr lvl="1"/>
            <a:r>
              <a:rPr lang="ko-KR" altLang="en-US" dirty="0"/>
              <a:t>전용 </a:t>
            </a:r>
            <a:r>
              <a:rPr lang="ko-KR" altLang="en-US" dirty="0" err="1"/>
              <a:t>네비게이션</a:t>
            </a:r>
            <a:r>
              <a:rPr lang="ko-KR" altLang="en-US" dirty="0"/>
              <a:t> 보다 </a:t>
            </a:r>
            <a:r>
              <a:rPr lang="ko-KR" altLang="en-US" dirty="0" err="1">
                <a:solidFill>
                  <a:srgbClr val="00B0F0"/>
                </a:solidFill>
              </a:rPr>
              <a:t>스마트폰</a:t>
            </a:r>
            <a:r>
              <a:rPr lang="ko-KR" altLang="en-US" dirty="0" err="1"/>
              <a:t>이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00B0F0"/>
                </a:solidFill>
              </a:rPr>
              <a:t>더 빠르게 위치 정보가 수신</a:t>
            </a:r>
            <a:r>
              <a:rPr lang="ko-KR" altLang="en-US" dirty="0"/>
              <a:t>되는 이유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11</a:t>
            </a:fld>
            <a:endParaRPr lang="ko-KR" altLang="en-US"/>
          </a:p>
        </p:txBody>
      </p:sp>
      <p:grpSp>
        <p:nvGrpSpPr>
          <p:cNvPr id="16" name="그룹 15"/>
          <p:cNvGrpSpPr/>
          <p:nvPr/>
        </p:nvGrpSpPr>
        <p:grpSpPr>
          <a:xfrm>
            <a:off x="2819389" y="4065225"/>
            <a:ext cx="3828693" cy="2792776"/>
            <a:chOff x="2819389" y="4065225"/>
            <a:chExt cx="3828693" cy="2792776"/>
          </a:xfrm>
        </p:grpSpPr>
        <p:pic>
          <p:nvPicPr>
            <p:cNvPr id="8194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9389" y="4065225"/>
              <a:ext cx="3828693" cy="27927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6" name="직선 화살표 연결선 5"/>
            <p:cNvCxnSpPr/>
            <p:nvPr/>
          </p:nvCxnSpPr>
          <p:spPr>
            <a:xfrm>
              <a:off x="4208443" y="4450814"/>
              <a:ext cx="66101" cy="109067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화살표 연결선 7"/>
            <p:cNvCxnSpPr/>
            <p:nvPr/>
          </p:nvCxnSpPr>
          <p:spPr>
            <a:xfrm flipV="1">
              <a:off x="4638101" y="5894024"/>
              <a:ext cx="793215" cy="16525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/>
            <p:cNvCxnSpPr/>
            <p:nvPr/>
          </p:nvCxnSpPr>
          <p:spPr>
            <a:xfrm flipH="1" flipV="1">
              <a:off x="5354198" y="5541484"/>
              <a:ext cx="187286" cy="16525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자유형 12"/>
            <p:cNvSpPr/>
            <p:nvPr/>
          </p:nvSpPr>
          <p:spPr>
            <a:xfrm>
              <a:off x="4638101" y="5563518"/>
              <a:ext cx="720960" cy="396607"/>
            </a:xfrm>
            <a:custGeom>
              <a:avLst/>
              <a:gdLst>
                <a:gd name="connsiteX0" fmla="*/ 572877 w 720960"/>
                <a:gd name="connsiteY0" fmla="*/ 0 h 396607"/>
                <a:gd name="connsiteX1" fmla="*/ 683046 w 720960"/>
                <a:gd name="connsiteY1" fmla="*/ 220337 h 396607"/>
                <a:gd name="connsiteX2" fmla="*/ 0 w 720960"/>
                <a:gd name="connsiteY2" fmla="*/ 396607 h 39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0960" h="396607">
                  <a:moveTo>
                    <a:pt x="572877" y="0"/>
                  </a:moveTo>
                  <a:cubicBezTo>
                    <a:pt x="675701" y="77118"/>
                    <a:pt x="778525" y="154236"/>
                    <a:pt x="683046" y="220337"/>
                  </a:cubicBezTo>
                  <a:cubicBezTo>
                    <a:pt x="587567" y="286438"/>
                    <a:pt x="293783" y="341522"/>
                    <a:pt x="0" y="396607"/>
                  </a:cubicBezTo>
                </a:path>
              </a:pathLst>
            </a:custGeom>
            <a:ln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196" name="Picture 4" descr="E:\UserData\tinywolf\Pictures\android-phone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44934" y="5602075"/>
              <a:ext cx="660116" cy="11978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74215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위치 처리 플랫폼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Location Enabled Platform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위치 정보의 가공</a:t>
            </a:r>
            <a:r>
              <a:rPr lang="en-US" altLang="ko-KR" dirty="0" smtClean="0"/>
              <a:t>, </a:t>
            </a:r>
            <a:r>
              <a:rPr lang="ko-KR" altLang="en-US" dirty="0" smtClean="0"/>
              <a:t>관리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컨텐츠</a:t>
            </a:r>
            <a:r>
              <a:rPr lang="ko-KR" altLang="en-US" dirty="0" smtClean="0"/>
              <a:t> </a:t>
            </a:r>
            <a:r>
              <a:rPr lang="ko-KR" altLang="en-US" dirty="0"/>
              <a:t>변환 및 전송 인터페이스</a:t>
            </a:r>
          </a:p>
          <a:p>
            <a:pPr lvl="1"/>
            <a:r>
              <a:rPr lang="en-US" altLang="ko-KR" dirty="0" smtClean="0"/>
              <a:t>PULL/PUSH </a:t>
            </a:r>
            <a:r>
              <a:rPr lang="ko-KR" altLang="en-US" dirty="0"/>
              <a:t>서비스 기술</a:t>
            </a:r>
          </a:p>
          <a:p>
            <a:pPr lvl="1"/>
            <a:r>
              <a:rPr lang="ko-KR" altLang="en-US" dirty="0" smtClean="0"/>
              <a:t>대용량 </a:t>
            </a:r>
            <a:r>
              <a:rPr lang="ko-KR" altLang="en-US" dirty="0"/>
              <a:t>위치정보 관리기술</a:t>
            </a:r>
          </a:p>
          <a:p>
            <a:pPr lvl="2"/>
            <a:r>
              <a:rPr lang="ko-KR" altLang="en-US" dirty="0" smtClean="0"/>
              <a:t>실시간 </a:t>
            </a:r>
            <a:r>
              <a:rPr lang="ko-KR" altLang="en-US" dirty="0"/>
              <a:t>위치정보 추적</a:t>
            </a:r>
            <a:r>
              <a:rPr lang="en-US" altLang="ko-KR" dirty="0"/>
              <a:t>, </a:t>
            </a:r>
            <a:r>
              <a:rPr lang="ko-KR" altLang="en-US" dirty="0"/>
              <a:t>저장</a:t>
            </a:r>
            <a:r>
              <a:rPr lang="en-US" altLang="ko-KR" dirty="0"/>
              <a:t>, </a:t>
            </a:r>
            <a:r>
              <a:rPr lang="ko-KR" altLang="en-US" dirty="0"/>
              <a:t>관리</a:t>
            </a:r>
            <a:r>
              <a:rPr lang="en-US" altLang="ko-KR" dirty="0"/>
              <a:t>, </a:t>
            </a:r>
            <a:r>
              <a:rPr lang="ko-KR" altLang="en-US" dirty="0"/>
              <a:t>검색 기술</a:t>
            </a:r>
          </a:p>
          <a:p>
            <a:pPr lvl="2"/>
            <a:r>
              <a:rPr lang="ko-KR" altLang="en-US" dirty="0" smtClean="0"/>
              <a:t>이동객체 </a:t>
            </a:r>
            <a:r>
              <a:rPr lang="ko-KR" altLang="en-US" dirty="0"/>
              <a:t>위치정보 추적</a:t>
            </a:r>
            <a:r>
              <a:rPr lang="en-US" altLang="ko-KR" dirty="0"/>
              <a:t>, </a:t>
            </a:r>
            <a:r>
              <a:rPr lang="ko-KR" altLang="en-US" dirty="0"/>
              <a:t>저장</a:t>
            </a:r>
            <a:r>
              <a:rPr lang="en-US" altLang="ko-KR" dirty="0"/>
              <a:t>, </a:t>
            </a:r>
            <a:r>
              <a:rPr lang="ko-KR" altLang="en-US" dirty="0"/>
              <a:t>관리</a:t>
            </a:r>
            <a:r>
              <a:rPr lang="en-US" altLang="ko-KR" dirty="0"/>
              <a:t>, </a:t>
            </a:r>
            <a:r>
              <a:rPr lang="ko-KR" altLang="en-US" dirty="0"/>
              <a:t>검색 기술</a:t>
            </a:r>
          </a:p>
          <a:p>
            <a:pPr lvl="1"/>
            <a:r>
              <a:rPr lang="ko-KR" altLang="en-US" dirty="0" smtClean="0"/>
              <a:t>다양한 </a:t>
            </a:r>
            <a:r>
              <a:rPr lang="ko-KR" altLang="en-US" dirty="0"/>
              <a:t>위치기반서비스 응용서버</a:t>
            </a:r>
          </a:p>
          <a:p>
            <a:pPr lvl="2"/>
            <a:r>
              <a:rPr lang="en-US" altLang="ko-KR" dirty="0" smtClean="0"/>
              <a:t>Geocoding, Map Service, Directory Service(POI), Tracking, Event </a:t>
            </a:r>
            <a:r>
              <a:rPr lang="en-US" altLang="ko-KR" dirty="0"/>
              <a:t>Notification</a:t>
            </a:r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12</a:t>
            </a:fld>
            <a:endParaRPr lang="ko-KR" altLang="en-US"/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2" t="3066" r="1877" b="8945"/>
          <a:stretch/>
        </p:blipFill>
        <p:spPr bwMode="auto">
          <a:xfrm>
            <a:off x="2291512" y="4367014"/>
            <a:ext cx="4285562" cy="24469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8697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위치 응용 서비스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Location Application Program</a:t>
            </a:r>
            <a:endParaRPr lang="en-US" altLang="ko-KR" dirty="0" smtClean="0"/>
          </a:p>
          <a:p>
            <a:pPr lvl="1"/>
            <a:r>
              <a:rPr lang="ko-KR" altLang="en-US" dirty="0"/>
              <a:t>공공안전 </a:t>
            </a:r>
            <a:r>
              <a:rPr lang="ko-KR" altLang="en-US" dirty="0" smtClean="0"/>
              <a:t>서비스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FCC E-911 (</a:t>
            </a:r>
            <a:r>
              <a:rPr lang="ko-KR" altLang="en-US" dirty="0" smtClean="0"/>
              <a:t>응급 전화 위치 정보 제공</a:t>
            </a:r>
            <a:r>
              <a:rPr lang="en-US" altLang="ko-KR" dirty="0" smtClean="0"/>
              <a:t>)</a:t>
            </a:r>
            <a:endParaRPr lang="en-US" altLang="ko-KR" dirty="0"/>
          </a:p>
          <a:p>
            <a:pPr lvl="1"/>
            <a:r>
              <a:rPr lang="en-US" altLang="ko-KR" dirty="0" smtClean="0"/>
              <a:t>L-Commerce</a:t>
            </a:r>
          </a:p>
          <a:p>
            <a:pPr lvl="2"/>
            <a:r>
              <a:rPr lang="en-US" altLang="ko-KR" dirty="0" smtClean="0"/>
              <a:t>Mobile </a:t>
            </a:r>
            <a:r>
              <a:rPr lang="ko-KR" altLang="en-US" dirty="0"/>
              <a:t>결재</a:t>
            </a:r>
            <a:r>
              <a:rPr lang="en-US" altLang="ko-KR" dirty="0"/>
              <a:t>, </a:t>
            </a:r>
            <a:r>
              <a:rPr lang="ko-KR" altLang="en-US" dirty="0"/>
              <a:t>물류 등</a:t>
            </a:r>
          </a:p>
          <a:p>
            <a:pPr lvl="1"/>
            <a:r>
              <a:rPr lang="en-US" altLang="ko-KR" dirty="0" smtClean="0"/>
              <a:t>Telematics</a:t>
            </a:r>
            <a:endParaRPr lang="en-US" altLang="ko-KR" dirty="0"/>
          </a:p>
          <a:p>
            <a:pPr lvl="1"/>
            <a:r>
              <a:rPr lang="ko-KR" altLang="en-US" dirty="0" smtClean="0"/>
              <a:t>민간용 </a:t>
            </a:r>
            <a:r>
              <a:rPr lang="ko-KR" altLang="en-US" dirty="0"/>
              <a:t>위치기반 정보서비스</a:t>
            </a:r>
          </a:p>
          <a:p>
            <a:pPr lvl="2"/>
            <a:r>
              <a:rPr lang="ko-KR" altLang="en-US" dirty="0" err="1" smtClean="0"/>
              <a:t>디렉토리</a:t>
            </a:r>
            <a:r>
              <a:rPr lang="ko-KR" altLang="en-US" dirty="0" smtClean="0"/>
              <a:t> </a:t>
            </a:r>
            <a:r>
              <a:rPr lang="ko-KR" altLang="en-US" dirty="0"/>
              <a:t>서비스 </a:t>
            </a:r>
            <a:r>
              <a:rPr lang="en-US" altLang="ko-KR" dirty="0"/>
              <a:t>: </a:t>
            </a:r>
            <a:r>
              <a:rPr lang="ko-KR" altLang="en-US" dirty="0"/>
              <a:t>관광 및 주변시설 안내</a:t>
            </a:r>
            <a:r>
              <a:rPr lang="en-US" altLang="ko-KR" dirty="0"/>
              <a:t>, </a:t>
            </a:r>
            <a:r>
              <a:rPr lang="ko-KR" altLang="en-US" dirty="0"/>
              <a:t>친구</a:t>
            </a:r>
            <a:r>
              <a:rPr lang="en-US" altLang="ko-KR" dirty="0"/>
              <a:t>/</a:t>
            </a:r>
            <a:r>
              <a:rPr lang="ko-KR" altLang="en-US" dirty="0"/>
              <a:t>미아 찾기 등</a:t>
            </a:r>
          </a:p>
          <a:p>
            <a:pPr lvl="2"/>
            <a:r>
              <a:rPr lang="en-US" altLang="ko-KR" dirty="0" smtClean="0"/>
              <a:t>Event </a:t>
            </a:r>
            <a:r>
              <a:rPr lang="en-US" altLang="ko-KR" dirty="0"/>
              <a:t>Notification </a:t>
            </a:r>
            <a:r>
              <a:rPr lang="ko-KR" altLang="en-US" dirty="0"/>
              <a:t>서비스 </a:t>
            </a:r>
            <a:r>
              <a:rPr lang="en-US" altLang="ko-KR" dirty="0"/>
              <a:t>: </a:t>
            </a:r>
            <a:r>
              <a:rPr lang="ko-KR" altLang="en-US" dirty="0"/>
              <a:t>특정 위치에 대한 이벤트 광고 등</a:t>
            </a:r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13</a:t>
            </a:fld>
            <a:endParaRPr lang="ko-KR" altLang="en-US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893"/>
          <a:stretch/>
        </p:blipFill>
        <p:spPr bwMode="auto">
          <a:xfrm>
            <a:off x="2190750" y="4456610"/>
            <a:ext cx="4762500" cy="1933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8365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위치기반서비</a:t>
            </a:r>
            <a:r>
              <a:rPr lang="ko-KR" altLang="en-US" dirty="0"/>
              <a:t>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457200" y="1484672"/>
            <a:ext cx="8229600" cy="5114432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표준화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2000</a:t>
            </a:r>
            <a:r>
              <a:rPr lang="ko-KR" altLang="en-US" dirty="0" smtClean="0"/>
              <a:t>년부터 수많은 업체들이 참여하여 각종 표준화 기구가 발족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LIF, 3GPP, OGC </a:t>
            </a:r>
            <a:r>
              <a:rPr lang="ko-KR" altLang="en-US" dirty="0" smtClean="0"/>
              <a:t>등의 기관 등에서 표준화를 진행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표준화 완료 단계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대중화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이동통신사와 </a:t>
            </a:r>
            <a:r>
              <a:rPr lang="ko-KR" altLang="en-US" dirty="0" err="1" smtClean="0"/>
              <a:t>모바일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업계의 제한 안에서 진행되던 서비스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GPS</a:t>
            </a:r>
            <a:r>
              <a:rPr lang="ko-KR" altLang="en-US" dirty="0" smtClean="0"/>
              <a:t>가 기본 장착된 </a:t>
            </a:r>
            <a:r>
              <a:rPr lang="ko-KR" altLang="en-US" dirty="0" err="1" smtClean="0"/>
              <a:t>아이폰으로</a:t>
            </a:r>
            <a:r>
              <a:rPr lang="ko-KR" altLang="en-US" dirty="0" smtClean="0"/>
              <a:t> 인하여 </a:t>
            </a:r>
            <a:r>
              <a:rPr lang="en-US" altLang="ko-KR" dirty="0" smtClean="0"/>
              <a:t>2009</a:t>
            </a:r>
            <a:r>
              <a:rPr lang="ko-KR" altLang="en-US" dirty="0" smtClean="0"/>
              <a:t>년대 대중화 시작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현재는 매우 다양한 형태의 서비스가 제공</a:t>
            </a:r>
            <a:endParaRPr lang="en-US" altLang="ko-KR" dirty="0" smtClean="0"/>
          </a:p>
          <a:p>
            <a:pPr lvl="1"/>
            <a:r>
              <a:rPr lang="ko-KR" altLang="en-US" dirty="0" err="1" smtClean="0">
                <a:solidFill>
                  <a:srgbClr val="00B0F0"/>
                </a:solidFill>
              </a:rPr>
              <a:t>구글</a:t>
            </a:r>
            <a:r>
              <a:rPr lang="en-US" altLang="ko-KR" dirty="0" smtClean="0">
                <a:solidFill>
                  <a:srgbClr val="00B0F0"/>
                </a:solidFill>
              </a:rPr>
              <a:t>, </a:t>
            </a:r>
            <a:r>
              <a:rPr lang="ko-KR" altLang="en-US" dirty="0" smtClean="0">
                <a:solidFill>
                  <a:srgbClr val="00B0F0"/>
                </a:solidFill>
              </a:rPr>
              <a:t>애플</a:t>
            </a:r>
            <a:r>
              <a:rPr lang="en-US" altLang="ko-KR" dirty="0" smtClean="0">
                <a:solidFill>
                  <a:srgbClr val="00B0F0"/>
                </a:solidFill>
              </a:rPr>
              <a:t>, MS, </a:t>
            </a:r>
            <a:r>
              <a:rPr lang="ko-KR" altLang="en-US" dirty="0" err="1" smtClean="0">
                <a:solidFill>
                  <a:srgbClr val="00B0F0"/>
                </a:solidFill>
              </a:rPr>
              <a:t>페이스북</a:t>
            </a:r>
            <a:r>
              <a:rPr lang="en-US" altLang="ko-KR" dirty="0" smtClean="0">
                <a:solidFill>
                  <a:srgbClr val="00B0F0"/>
                </a:solidFill>
              </a:rPr>
              <a:t>, </a:t>
            </a:r>
            <a:r>
              <a:rPr lang="ko-KR" altLang="en-US" dirty="0" err="1" smtClean="0">
                <a:solidFill>
                  <a:srgbClr val="00B0F0"/>
                </a:solidFill>
              </a:rPr>
              <a:t>네이버</a:t>
            </a:r>
            <a:r>
              <a:rPr lang="ko-KR" altLang="en-US" dirty="0" smtClean="0"/>
              <a:t> 등 다수의 서비스 업체에서 </a:t>
            </a:r>
            <a:r>
              <a:rPr lang="ko-KR" altLang="en-US" dirty="0" smtClean="0">
                <a:solidFill>
                  <a:srgbClr val="00B0F0"/>
                </a:solidFill>
              </a:rPr>
              <a:t>위치 정보 수집</a:t>
            </a:r>
            <a:r>
              <a:rPr lang="en-US" altLang="ko-KR" dirty="0" smtClean="0">
                <a:solidFill>
                  <a:srgbClr val="00B0F0"/>
                </a:solidFill>
              </a:rPr>
              <a:t>,</a:t>
            </a:r>
            <a:r>
              <a:rPr lang="ko-KR" altLang="en-US" dirty="0" smtClean="0">
                <a:solidFill>
                  <a:srgbClr val="00B0F0"/>
                </a:solidFill>
              </a:rPr>
              <a:t> 제공</a:t>
            </a:r>
            <a:endParaRPr lang="en-US" altLang="ko-KR" dirty="0" smtClean="0">
              <a:solidFill>
                <a:srgbClr val="00B0F0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14</a:t>
            </a:fld>
            <a:endParaRPr lang="ko-KR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8286" y="2754217"/>
            <a:ext cx="4840882" cy="1969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6933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위치기반서비</a:t>
            </a:r>
            <a:r>
              <a:rPr lang="ko-KR" altLang="en-US" dirty="0"/>
              <a:t>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457200" y="1484672"/>
            <a:ext cx="8229600" cy="5114432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상업화</a:t>
            </a:r>
            <a:endParaRPr lang="en-US" altLang="ko-KR" dirty="0" smtClean="0"/>
          </a:p>
          <a:p>
            <a:pPr lvl="1"/>
            <a:r>
              <a:rPr lang="en-US" altLang="ko-KR" dirty="0" smtClean="0">
                <a:solidFill>
                  <a:srgbClr val="00B0F0"/>
                </a:solidFill>
              </a:rPr>
              <a:t>SNS</a:t>
            </a:r>
            <a:r>
              <a:rPr lang="ko-KR" altLang="en-US" dirty="0" smtClean="0">
                <a:solidFill>
                  <a:srgbClr val="00B0F0"/>
                </a:solidFill>
              </a:rPr>
              <a:t>와 </a:t>
            </a:r>
            <a:r>
              <a:rPr lang="en-US" altLang="ko-KR" dirty="0" smtClean="0">
                <a:solidFill>
                  <a:srgbClr val="00B0F0"/>
                </a:solidFill>
              </a:rPr>
              <a:t>LBS</a:t>
            </a:r>
            <a:r>
              <a:rPr lang="ko-KR" altLang="en-US" dirty="0" smtClean="0">
                <a:solidFill>
                  <a:srgbClr val="00B0F0"/>
                </a:solidFill>
              </a:rPr>
              <a:t>의 결합</a:t>
            </a:r>
            <a:endParaRPr lang="en-US" altLang="ko-KR" dirty="0" smtClean="0">
              <a:solidFill>
                <a:srgbClr val="00B0F0"/>
              </a:solidFill>
            </a:endParaRPr>
          </a:p>
          <a:p>
            <a:pPr lvl="2"/>
            <a:r>
              <a:rPr lang="en-US" altLang="ko-KR" dirty="0" smtClean="0"/>
              <a:t>Facebook Places, Twitter Location, </a:t>
            </a:r>
            <a:r>
              <a:rPr lang="ko-KR" altLang="en-US" dirty="0" err="1" smtClean="0"/>
              <a:t>티스토리</a:t>
            </a:r>
            <a:r>
              <a:rPr lang="en-US" altLang="ko-KR" dirty="0" smtClean="0"/>
              <a:t> </a:t>
            </a:r>
            <a:r>
              <a:rPr lang="ko-KR" altLang="en-US" dirty="0" smtClean="0"/>
              <a:t>위치 태그</a:t>
            </a:r>
            <a:endParaRPr lang="en-US" altLang="ko-KR" dirty="0" smtClean="0"/>
          </a:p>
          <a:p>
            <a:pPr lvl="1"/>
            <a:r>
              <a:rPr lang="ko-KR" altLang="en-US" dirty="0">
                <a:solidFill>
                  <a:srgbClr val="00B0F0"/>
                </a:solidFill>
              </a:rPr>
              <a:t>효율적인 광고 </a:t>
            </a:r>
            <a:r>
              <a:rPr lang="ko-KR" altLang="en-US" dirty="0" smtClean="0">
                <a:solidFill>
                  <a:srgbClr val="00B0F0"/>
                </a:solidFill>
              </a:rPr>
              <a:t>모델로</a:t>
            </a:r>
            <a:r>
              <a:rPr lang="en-US" altLang="ko-KR" dirty="0" smtClean="0">
                <a:solidFill>
                  <a:srgbClr val="00B0F0"/>
                </a:solidFill>
              </a:rPr>
              <a:t> </a:t>
            </a:r>
            <a:r>
              <a:rPr lang="ko-KR" altLang="en-US" dirty="0" smtClean="0">
                <a:solidFill>
                  <a:srgbClr val="00B0F0"/>
                </a:solidFill>
              </a:rPr>
              <a:t>활용</a:t>
            </a:r>
            <a:endParaRPr lang="en-US" altLang="ko-KR" dirty="0" smtClean="0">
              <a:solidFill>
                <a:srgbClr val="00B0F0"/>
              </a:solidFill>
            </a:endParaRPr>
          </a:p>
          <a:p>
            <a:pPr lvl="1"/>
            <a:r>
              <a:rPr lang="ko-KR" altLang="en-US" dirty="0" smtClean="0">
                <a:solidFill>
                  <a:srgbClr val="00B0F0"/>
                </a:solidFill>
              </a:rPr>
              <a:t>결제 시스템과의 연동</a:t>
            </a:r>
            <a:endParaRPr lang="en-US" altLang="ko-KR" dirty="0" smtClean="0">
              <a:solidFill>
                <a:srgbClr val="00B0F0"/>
              </a:solidFill>
            </a:endParaRPr>
          </a:p>
          <a:p>
            <a:pPr lvl="2"/>
            <a:r>
              <a:rPr lang="en-US" altLang="ko-KR" dirty="0" smtClean="0"/>
              <a:t>Google NFC, Facebook Deals, </a:t>
            </a:r>
            <a:r>
              <a:rPr lang="en-US" altLang="ko-KR" dirty="0" err="1" smtClean="0"/>
              <a:t>Groupon</a:t>
            </a:r>
            <a:r>
              <a:rPr lang="en-US" altLang="ko-KR" dirty="0" smtClean="0"/>
              <a:t> LBS</a:t>
            </a:r>
          </a:p>
          <a:p>
            <a:pPr lvl="1"/>
            <a:endParaRPr lang="en-US" altLang="ko-KR" dirty="0" smtClean="0"/>
          </a:p>
          <a:p>
            <a:pPr lvl="1"/>
            <a:r>
              <a:rPr lang="en-US" altLang="ko-KR" dirty="0" smtClean="0"/>
              <a:t>Food Truck: </a:t>
            </a:r>
            <a:r>
              <a:rPr lang="ko-KR" altLang="en-US" dirty="0" err="1" smtClean="0"/>
              <a:t>트위터로</a:t>
            </a:r>
            <a:r>
              <a:rPr lang="ko-KR" altLang="en-US" dirty="0" smtClean="0"/>
              <a:t> 현재 위치 공개 → 상업적 성공</a:t>
            </a:r>
            <a:endParaRPr lang="en-US" altLang="ko-KR" dirty="0" smtClean="0"/>
          </a:p>
          <a:p>
            <a:pPr lvl="1"/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15</a:t>
            </a:fld>
            <a:endParaRPr lang="ko-KR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194" y="4284035"/>
            <a:ext cx="2692056" cy="2019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8079" y="3331277"/>
            <a:ext cx="1671638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5264" y="4284035"/>
            <a:ext cx="2692056" cy="2019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2247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Google</a:t>
            </a:r>
            <a:r>
              <a:rPr lang="ko-KR" altLang="en-US" dirty="0" smtClean="0"/>
              <a:t> </a:t>
            </a:r>
            <a:r>
              <a:rPr lang="en-US" altLang="ko-KR" dirty="0" smtClean="0"/>
              <a:t>LBS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구글의</a:t>
            </a:r>
            <a:r>
              <a:rPr lang="ko-KR" altLang="en-US" dirty="0" smtClean="0"/>
              <a:t> </a:t>
            </a:r>
            <a:r>
              <a:rPr lang="en-US" altLang="ko-KR" dirty="0" smtClean="0"/>
              <a:t>LBS</a:t>
            </a:r>
          </a:p>
          <a:p>
            <a:pPr lvl="1"/>
            <a:r>
              <a:rPr lang="en-US" altLang="ko-KR" dirty="0" smtClean="0"/>
              <a:t>2003</a:t>
            </a:r>
            <a:r>
              <a:rPr lang="ko-KR" altLang="en-US" dirty="0" smtClean="0"/>
              <a:t>년 </a:t>
            </a:r>
            <a:r>
              <a:rPr lang="ko-KR" altLang="en-US" dirty="0" err="1" smtClean="0"/>
              <a:t>타겟광고</a:t>
            </a:r>
            <a:r>
              <a:rPr lang="ko-KR" altLang="en-US" dirty="0" smtClean="0"/>
              <a:t> 도입 광고 서비스에 </a:t>
            </a:r>
            <a:r>
              <a:rPr lang="en-US" altLang="ko-KR" dirty="0" smtClean="0"/>
              <a:t>IP </a:t>
            </a:r>
            <a:r>
              <a:rPr lang="ko-KR" altLang="en-US" dirty="0"/>
              <a:t>주소 </a:t>
            </a:r>
            <a:r>
              <a:rPr lang="ko-KR" altLang="en-US" dirty="0" smtClean="0"/>
              <a:t>기반 위치 정보 활용</a:t>
            </a:r>
            <a:endParaRPr lang="en-US" altLang="ko-KR" dirty="0" smtClean="0"/>
          </a:p>
          <a:p>
            <a:pPr lvl="1"/>
            <a:r>
              <a:rPr lang="en-US" altLang="ko-KR" dirty="0"/>
              <a:t>2006</a:t>
            </a:r>
            <a:r>
              <a:rPr lang="ko-KR" altLang="en-US" dirty="0" smtClean="0"/>
              <a:t>년 </a:t>
            </a:r>
            <a:r>
              <a:rPr lang="ko-KR" altLang="en-US" dirty="0" err="1"/>
              <a:t>구글의</a:t>
            </a:r>
            <a:r>
              <a:rPr lang="ko-KR" altLang="en-US" dirty="0"/>
              <a:t> 홍보 영상에서 </a:t>
            </a:r>
            <a:r>
              <a:rPr lang="ko-KR" altLang="en-US" dirty="0" smtClean="0"/>
              <a:t>검색 결과에 위치</a:t>
            </a:r>
            <a:r>
              <a:rPr lang="en-US" altLang="ko-KR" dirty="0" smtClean="0"/>
              <a:t> </a:t>
            </a:r>
            <a:r>
              <a:rPr lang="ko-KR" altLang="en-US" dirty="0" smtClean="0"/>
              <a:t>정보를 활용한 </a:t>
            </a:r>
            <a:r>
              <a:rPr lang="ko-KR" altLang="en-US" dirty="0"/>
              <a:t>내용 </a:t>
            </a:r>
            <a:r>
              <a:rPr lang="ko-KR" altLang="en-US" dirty="0" smtClean="0"/>
              <a:t>포함</a:t>
            </a:r>
            <a:endParaRPr lang="en-US" altLang="ko-KR" dirty="0" smtClean="0"/>
          </a:p>
          <a:p>
            <a:pPr lvl="1"/>
            <a:r>
              <a:rPr lang="en-US" altLang="ko-KR" dirty="0">
                <a:solidFill>
                  <a:srgbClr val="00B0F0"/>
                </a:solidFill>
              </a:rPr>
              <a:t>2008</a:t>
            </a:r>
            <a:r>
              <a:rPr lang="ko-KR" altLang="en-US" dirty="0">
                <a:solidFill>
                  <a:srgbClr val="00B0F0"/>
                </a:solidFill>
              </a:rPr>
              <a:t>년</a:t>
            </a:r>
            <a:r>
              <a:rPr lang="ko-KR" altLang="en-US" dirty="0"/>
              <a:t> </a:t>
            </a:r>
            <a:r>
              <a:rPr lang="ko-KR" altLang="en-US" dirty="0" err="1">
                <a:solidFill>
                  <a:srgbClr val="00B0F0"/>
                </a:solidFill>
              </a:rPr>
              <a:t>구글지도</a:t>
            </a:r>
            <a:r>
              <a:rPr lang="ko-KR" altLang="en-US" dirty="0">
                <a:solidFill>
                  <a:srgbClr val="00B0F0"/>
                </a:solidFill>
              </a:rPr>
              <a:t> </a:t>
            </a:r>
            <a:r>
              <a:rPr lang="ko-KR" altLang="en-US" dirty="0" err="1">
                <a:solidFill>
                  <a:srgbClr val="00B0F0"/>
                </a:solidFill>
              </a:rPr>
              <a:t>위젯을</a:t>
            </a:r>
            <a:r>
              <a:rPr lang="ko-KR" altLang="en-US" dirty="0">
                <a:solidFill>
                  <a:srgbClr val="00B0F0"/>
                </a:solidFill>
              </a:rPr>
              <a:t> 포함한 </a:t>
            </a:r>
            <a:r>
              <a:rPr lang="ko-KR" altLang="en-US" dirty="0" err="1">
                <a:solidFill>
                  <a:srgbClr val="00B0F0"/>
                </a:solidFill>
              </a:rPr>
              <a:t>안드로이드</a:t>
            </a:r>
            <a:r>
              <a:rPr lang="ko-KR" altLang="en-US" dirty="0">
                <a:solidFill>
                  <a:srgbClr val="00B0F0"/>
                </a:solidFill>
              </a:rPr>
              <a:t> 발표</a:t>
            </a:r>
            <a:endParaRPr lang="en-US" altLang="ko-KR" dirty="0">
              <a:solidFill>
                <a:srgbClr val="00B0F0"/>
              </a:solidFill>
            </a:endParaRPr>
          </a:p>
          <a:p>
            <a:pPr lvl="1"/>
            <a:r>
              <a:rPr lang="en-US" altLang="ko-KR" dirty="0" smtClean="0"/>
              <a:t>2009</a:t>
            </a:r>
            <a:r>
              <a:rPr lang="ko-KR" altLang="en-US" dirty="0"/>
              <a:t>년 </a:t>
            </a:r>
            <a:r>
              <a:rPr lang="en-US" altLang="ko-KR" dirty="0" err="1"/>
              <a:t>AdMob</a:t>
            </a:r>
            <a:r>
              <a:rPr lang="en-US" altLang="ko-KR" dirty="0"/>
              <a:t> </a:t>
            </a:r>
            <a:r>
              <a:rPr lang="ko-KR" altLang="en-US" dirty="0"/>
              <a:t>인수 </a:t>
            </a:r>
            <a:r>
              <a:rPr lang="ko-KR" altLang="en-US" dirty="0" smtClean="0"/>
              <a:t>후 </a:t>
            </a:r>
            <a:r>
              <a:rPr lang="ko-KR" altLang="en-US" dirty="0" err="1" smtClean="0"/>
              <a:t>모바일</a:t>
            </a:r>
            <a:r>
              <a:rPr lang="ko-KR" altLang="en-US" dirty="0" smtClean="0"/>
              <a:t> 영역에서 광고 서비스에 위치 정보 활용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Google Hotpot: </a:t>
            </a:r>
            <a:r>
              <a:rPr lang="ko-KR" altLang="en-US" dirty="0" smtClean="0"/>
              <a:t>위치 정보 등록 및 평가 커뮤니티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Google NFC Sticker: </a:t>
            </a:r>
            <a:r>
              <a:rPr lang="ko-KR" altLang="en-US" dirty="0" smtClean="0"/>
              <a:t>상점에 스티커 부착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안드로이드로</a:t>
            </a:r>
            <a:r>
              <a:rPr lang="ko-KR" altLang="en-US" dirty="0" smtClean="0"/>
              <a:t> 촬영 후 결제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16</a:t>
            </a:fld>
            <a:endParaRPr lang="ko-KR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5739" y="4060462"/>
            <a:ext cx="1717455" cy="2347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1891" y="4060462"/>
            <a:ext cx="2857500" cy="212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632153" y="4660835"/>
            <a:ext cx="19159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해당</a:t>
            </a:r>
            <a:r>
              <a:rPr lang="en-US" altLang="ko-KR" dirty="0" smtClean="0"/>
              <a:t> </a:t>
            </a:r>
            <a:r>
              <a:rPr lang="ko-KR" altLang="en-US" dirty="0" smtClean="0"/>
              <a:t>장소의 결제</a:t>
            </a:r>
            <a:endParaRPr lang="en-US" altLang="ko-KR" dirty="0" smtClean="0"/>
          </a:p>
          <a:p>
            <a:pPr algn="ctr"/>
            <a:r>
              <a:rPr lang="en-US" altLang="ko-KR" dirty="0"/>
              <a:t>&amp;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주변 장소의 광고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2358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Android</a:t>
            </a:r>
            <a:r>
              <a:rPr lang="ko-KR" altLang="en-US" dirty="0" smtClean="0"/>
              <a:t> </a:t>
            </a:r>
            <a:r>
              <a:rPr lang="en-US" altLang="ko-KR" dirty="0" smtClean="0"/>
              <a:t>LBS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484672"/>
            <a:ext cx="8229600" cy="5114432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>Android Location</a:t>
            </a:r>
          </a:p>
          <a:p>
            <a:pPr lvl="1"/>
            <a:r>
              <a:rPr lang="en-US" altLang="ko-KR" dirty="0">
                <a:solidFill>
                  <a:srgbClr val="00B0F0"/>
                </a:solidFill>
              </a:rPr>
              <a:t>Network Provider</a:t>
            </a:r>
          </a:p>
          <a:p>
            <a:pPr lvl="1"/>
            <a:r>
              <a:rPr lang="en-US" altLang="ko-KR" dirty="0" smtClean="0">
                <a:solidFill>
                  <a:srgbClr val="00B0F0"/>
                </a:solidFill>
              </a:rPr>
              <a:t>GPS Provider</a:t>
            </a:r>
          </a:p>
          <a:p>
            <a:pPr lvl="1"/>
            <a:endParaRPr lang="en-US" altLang="ko-KR" dirty="0"/>
          </a:p>
          <a:p>
            <a:r>
              <a:rPr lang="en-US" altLang="ko-KR" dirty="0" smtClean="0"/>
              <a:t>Network Provider</a:t>
            </a:r>
          </a:p>
          <a:p>
            <a:pPr lvl="1"/>
            <a:r>
              <a:rPr lang="en-US" altLang="ko-KR" dirty="0" smtClean="0">
                <a:solidFill>
                  <a:srgbClr val="008000"/>
                </a:solidFill>
              </a:rPr>
              <a:t>ACCESS_COARSE_LOCATION </a:t>
            </a:r>
            <a:r>
              <a:rPr lang="ko-KR" altLang="en-US" dirty="0" smtClean="0">
                <a:solidFill>
                  <a:srgbClr val="008000"/>
                </a:solidFill>
              </a:rPr>
              <a:t>권한 </a:t>
            </a:r>
            <a:r>
              <a:rPr lang="ko-KR" altLang="en-US" dirty="0" smtClean="0"/>
              <a:t>필요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위치 확인 가능한 네트워크에 연결되면 바로 작동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3G </a:t>
            </a:r>
            <a:r>
              <a:rPr lang="ko-KR" altLang="en-US" dirty="0" smtClean="0"/>
              <a:t>기지국 위치의 측량에 의한 위치 정보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Wi-Fi MAC </a:t>
            </a:r>
            <a:r>
              <a:rPr lang="ko-KR" altLang="en-US" dirty="0" smtClean="0"/>
              <a:t>주소에 대응하는 위치 정보</a:t>
            </a:r>
            <a:endParaRPr lang="en-US" altLang="ko-KR" dirty="0"/>
          </a:p>
          <a:p>
            <a:pPr lvl="2"/>
            <a:r>
              <a:rPr lang="ko-KR" altLang="en-US" dirty="0" smtClean="0">
                <a:solidFill>
                  <a:srgbClr val="008000"/>
                </a:solidFill>
              </a:rPr>
              <a:t>기지국</a:t>
            </a:r>
            <a:r>
              <a:rPr lang="ko-KR" altLang="en-US" dirty="0" smtClean="0"/>
              <a:t>과 </a:t>
            </a:r>
            <a:r>
              <a:rPr lang="en-US" altLang="ko-KR" dirty="0" smtClean="0">
                <a:solidFill>
                  <a:srgbClr val="008000"/>
                </a:solidFill>
              </a:rPr>
              <a:t>Wi-Fi </a:t>
            </a:r>
            <a:r>
              <a:rPr lang="ko-KR" altLang="en-US" dirty="0" smtClean="0"/>
              <a:t>신호를 이용</a:t>
            </a:r>
            <a:endParaRPr lang="en-US" altLang="ko-KR" dirty="0" smtClean="0"/>
          </a:p>
          <a:p>
            <a:pPr lvl="1"/>
            <a:r>
              <a:rPr lang="ko-KR" altLang="en-US" dirty="0" smtClean="0">
                <a:solidFill>
                  <a:srgbClr val="008000"/>
                </a:solidFill>
              </a:rPr>
              <a:t>실내</a:t>
            </a:r>
            <a:r>
              <a:rPr lang="en-US" altLang="ko-KR" dirty="0" smtClean="0">
                <a:solidFill>
                  <a:srgbClr val="008000"/>
                </a:solidFill>
              </a:rPr>
              <a:t>, </a:t>
            </a:r>
            <a:r>
              <a:rPr lang="ko-KR" altLang="en-US" dirty="0" smtClean="0">
                <a:solidFill>
                  <a:srgbClr val="008000"/>
                </a:solidFill>
              </a:rPr>
              <a:t>야외 </a:t>
            </a:r>
            <a:r>
              <a:rPr lang="ko-KR" altLang="en-US" dirty="0" smtClean="0"/>
              <a:t>가리지 않고 네트워크에 연결 가능하다면 사용</a:t>
            </a:r>
            <a:endParaRPr lang="en-US" altLang="ko-KR" dirty="0" smtClean="0"/>
          </a:p>
          <a:p>
            <a:pPr lvl="1"/>
            <a:r>
              <a:rPr lang="ko-KR" altLang="en-US" dirty="0" smtClean="0">
                <a:solidFill>
                  <a:srgbClr val="008000"/>
                </a:solidFill>
              </a:rPr>
              <a:t>오차범위가 큼</a:t>
            </a:r>
            <a:r>
              <a:rPr lang="ko-KR" altLang="en-US" dirty="0" smtClean="0"/>
              <a:t> </a:t>
            </a:r>
            <a:r>
              <a:rPr lang="en-US" altLang="ko-KR" dirty="0" smtClean="0"/>
              <a:t>(Wi-Fi AP</a:t>
            </a:r>
            <a:r>
              <a:rPr lang="ko-KR" altLang="en-US" dirty="0" smtClean="0"/>
              <a:t>의 위치 이동</a:t>
            </a:r>
            <a:r>
              <a:rPr lang="en-US" altLang="ko-KR" dirty="0" smtClean="0"/>
              <a:t>, </a:t>
            </a:r>
            <a:r>
              <a:rPr lang="ko-KR" altLang="en-US" dirty="0" smtClean="0"/>
              <a:t>기기 변경 등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 smtClean="0"/>
              <a:t>처리 속도가 </a:t>
            </a:r>
            <a:r>
              <a:rPr lang="ko-KR" altLang="en-US" dirty="0"/>
              <a:t>빠름</a:t>
            </a:r>
            <a:r>
              <a:rPr lang="en-US" altLang="ko-KR" dirty="0"/>
              <a:t>, </a:t>
            </a:r>
            <a:r>
              <a:rPr lang="ko-KR" altLang="en-US" dirty="0" smtClean="0"/>
              <a:t>배터리 소모가 적음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4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393" y="4274314"/>
            <a:ext cx="4667250" cy="249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Android</a:t>
            </a:r>
            <a:r>
              <a:rPr lang="ko-KR" altLang="en-US" dirty="0" smtClean="0"/>
              <a:t> </a:t>
            </a:r>
            <a:r>
              <a:rPr lang="en-US" altLang="ko-KR" dirty="0" smtClean="0"/>
              <a:t>LBS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GPS Provider</a:t>
            </a:r>
          </a:p>
          <a:p>
            <a:pPr lvl="1"/>
            <a:r>
              <a:rPr lang="en-US" altLang="ko-KR" dirty="0" smtClean="0">
                <a:solidFill>
                  <a:srgbClr val="008000"/>
                </a:solidFill>
              </a:rPr>
              <a:t>ACCESS_FINE_LOCATION </a:t>
            </a:r>
            <a:r>
              <a:rPr lang="ko-KR" altLang="en-US" dirty="0" smtClean="0">
                <a:solidFill>
                  <a:srgbClr val="008000"/>
                </a:solidFill>
              </a:rPr>
              <a:t>권한 </a:t>
            </a:r>
            <a:r>
              <a:rPr lang="ko-KR" altLang="en-US" dirty="0" smtClean="0"/>
              <a:t>필요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Cold Start</a:t>
            </a:r>
          </a:p>
          <a:p>
            <a:pPr lvl="2"/>
            <a:r>
              <a:rPr lang="ko-KR" altLang="en-US" dirty="0" smtClean="0"/>
              <a:t>시간을 </a:t>
            </a:r>
            <a:r>
              <a:rPr lang="ko-KR" altLang="en-US" dirty="0" smtClean="0"/>
              <a:t>기준으로 한 </a:t>
            </a:r>
            <a:r>
              <a:rPr lang="en-US" altLang="ko-KR" dirty="0" smtClean="0"/>
              <a:t>GPS </a:t>
            </a:r>
            <a:r>
              <a:rPr lang="ko-KR" altLang="en-US" dirty="0" smtClean="0"/>
              <a:t>특성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오랜 시간 </a:t>
            </a:r>
            <a:r>
              <a:rPr lang="en-US" altLang="ko-KR" dirty="0" smtClean="0"/>
              <a:t>GPS </a:t>
            </a:r>
            <a:r>
              <a:rPr lang="ko-KR" altLang="en-US" dirty="0" smtClean="0"/>
              <a:t>신호를 놓쳤을 때 위치 정보 초기화 지연 시간 </a:t>
            </a:r>
            <a:r>
              <a:rPr lang="en-US" altLang="ko-KR" dirty="0" smtClean="0"/>
              <a:t>: </a:t>
            </a:r>
            <a:r>
              <a:rPr lang="en-US" altLang="ko-KR" dirty="0"/>
              <a:t>2</a:t>
            </a:r>
            <a:r>
              <a:rPr lang="ko-KR" altLang="en-US" dirty="0"/>
              <a:t>분</a:t>
            </a:r>
            <a:r>
              <a:rPr lang="en-US" altLang="ko-KR" dirty="0"/>
              <a:t>~15</a:t>
            </a:r>
            <a:r>
              <a:rPr lang="ko-KR" altLang="en-US" dirty="0"/>
              <a:t>분 </a:t>
            </a:r>
            <a:r>
              <a:rPr lang="ko-KR" altLang="en-US" dirty="0" smtClean="0"/>
              <a:t>소요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환경적 요인에 </a:t>
            </a:r>
            <a:r>
              <a:rPr lang="ko-KR" altLang="en-US" dirty="0" err="1" smtClean="0"/>
              <a:t>민감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ko-KR" altLang="en-US" dirty="0" smtClean="0"/>
              <a:t>날씨</a:t>
            </a:r>
            <a:r>
              <a:rPr lang="en-US" altLang="ko-KR" dirty="0" smtClean="0"/>
              <a:t>, </a:t>
            </a:r>
            <a:r>
              <a:rPr lang="ko-KR" altLang="en-US" dirty="0" smtClean="0"/>
              <a:t>빌딩의 간섭 등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 smtClean="0">
                <a:solidFill>
                  <a:srgbClr val="008000"/>
                </a:solidFill>
              </a:rPr>
              <a:t>야외에서만 동작 </a:t>
            </a:r>
            <a:r>
              <a:rPr lang="en-US" altLang="ko-KR" dirty="0" smtClean="0"/>
              <a:t>(</a:t>
            </a:r>
            <a:r>
              <a:rPr lang="ko-KR" altLang="en-US" dirty="0" smtClean="0"/>
              <a:t>인공위성의 신호 수신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/>
              <a:t>배터리 소모가 </a:t>
            </a:r>
            <a:r>
              <a:rPr lang="ko-KR" altLang="en-US" dirty="0" smtClean="0"/>
              <a:t>큼</a:t>
            </a:r>
            <a:r>
              <a:rPr lang="en-US" altLang="ko-KR" dirty="0" smtClean="0"/>
              <a:t>, </a:t>
            </a:r>
            <a:r>
              <a:rPr lang="ko-KR" altLang="en-US" dirty="0" smtClean="0">
                <a:solidFill>
                  <a:srgbClr val="008000"/>
                </a:solidFill>
              </a:rPr>
              <a:t>정확도가 높음</a:t>
            </a:r>
            <a:endParaRPr lang="ko-KR" altLang="en-US" dirty="0">
              <a:solidFill>
                <a:srgbClr val="008000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18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5995643" y="3562351"/>
            <a:ext cx="3012363" cy="5232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400" b="1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역발상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실내에서만 동작하는 기능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      </a:t>
            </a:r>
            <a:r>
              <a:rPr lang="ko-KR" altLang="en-US" sz="1400" dirty="0" smtClean="0"/>
              <a:t>실내 진동 모드 자동 전환 등</a:t>
            </a:r>
            <a:endParaRPr lang="ko-KR" altLang="en-US" sz="1400" dirty="0"/>
          </a:p>
        </p:txBody>
      </p:sp>
      <p:cxnSp>
        <p:nvCxnSpPr>
          <p:cNvPr id="8" name="직선 화살표 연결선 7"/>
          <p:cNvCxnSpPr>
            <a:stCxn id="6" idx="1"/>
          </p:cNvCxnSpPr>
          <p:nvPr/>
        </p:nvCxnSpPr>
        <p:spPr>
          <a:xfrm flipH="1" flipV="1">
            <a:off x="4950619" y="3540320"/>
            <a:ext cx="1045024" cy="28364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53350" y="5054656"/>
            <a:ext cx="28969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위치 정보의 가치 상승으로</a:t>
            </a:r>
            <a:endParaRPr lang="en-US" altLang="ko-KR" dirty="0" smtClean="0"/>
          </a:p>
          <a:p>
            <a:r>
              <a:rPr lang="ko-KR" altLang="en-US" dirty="0" smtClean="0"/>
              <a:t>각국에서 경쟁적으로</a:t>
            </a:r>
            <a:endParaRPr lang="en-US" altLang="ko-KR" dirty="0" smtClean="0"/>
          </a:p>
          <a:p>
            <a:r>
              <a:rPr lang="ko-KR" altLang="en-US" dirty="0" smtClean="0"/>
              <a:t>위성항법 시스템 개발 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5367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Android LBS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484671"/>
            <a:ext cx="8229600" cy="5180533"/>
          </a:xfrm>
        </p:spPr>
        <p:txBody>
          <a:bodyPr/>
          <a:lstStyle/>
          <a:p>
            <a:r>
              <a:rPr lang="en-US" altLang="ko-KR" dirty="0" smtClean="0"/>
              <a:t>Location Manager</a:t>
            </a:r>
          </a:p>
          <a:p>
            <a:pPr lvl="1"/>
            <a:r>
              <a:rPr lang="en-US" altLang="ko-KR" dirty="0" err="1" smtClean="0"/>
              <a:t>android.Location</a:t>
            </a:r>
            <a:r>
              <a:rPr lang="en-US" altLang="ko-KR" dirty="0" smtClean="0"/>
              <a:t> </a:t>
            </a:r>
            <a:r>
              <a:rPr lang="ko-KR" altLang="en-US" dirty="0" smtClean="0"/>
              <a:t>패키지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requestLocationUpdates</a:t>
            </a:r>
            <a:r>
              <a:rPr lang="en-US" altLang="ko-KR" dirty="0" smtClean="0"/>
              <a:t>(String </a:t>
            </a:r>
            <a:r>
              <a:rPr lang="en-US" altLang="ko-KR" dirty="0"/>
              <a:t>provider, long </a:t>
            </a:r>
            <a:r>
              <a:rPr lang="en-US" altLang="ko-KR" dirty="0" err="1"/>
              <a:t>minTime</a:t>
            </a:r>
            <a:r>
              <a:rPr lang="en-US" altLang="ko-KR" dirty="0"/>
              <a:t>, float </a:t>
            </a:r>
            <a:r>
              <a:rPr lang="en-US" altLang="ko-KR" dirty="0" err="1"/>
              <a:t>minDistance</a:t>
            </a:r>
            <a:r>
              <a:rPr lang="en-US" altLang="ko-KR" dirty="0"/>
              <a:t>, listener</a:t>
            </a:r>
            <a:r>
              <a:rPr lang="en-US" altLang="ko-KR" dirty="0" smtClean="0"/>
              <a:t>)</a:t>
            </a:r>
          </a:p>
          <a:p>
            <a:pPr lvl="2"/>
            <a:r>
              <a:rPr lang="ko-KR" altLang="en-US" dirty="0" smtClean="0">
                <a:solidFill>
                  <a:srgbClr val="008000"/>
                </a:solidFill>
              </a:rPr>
              <a:t>시간과 </a:t>
            </a:r>
            <a:r>
              <a:rPr lang="ko-KR" altLang="en-US" dirty="0">
                <a:solidFill>
                  <a:srgbClr val="008000"/>
                </a:solidFill>
              </a:rPr>
              <a:t>거리 차이에 따른 갱신 주기를 설정</a:t>
            </a:r>
            <a:r>
              <a:rPr lang="ko-KR" altLang="en-US" dirty="0"/>
              <a:t>하고 </a:t>
            </a:r>
            <a:r>
              <a:rPr lang="ko-KR" altLang="en-US" dirty="0" err="1">
                <a:solidFill>
                  <a:srgbClr val="008000"/>
                </a:solidFill>
              </a:rPr>
              <a:t>리스너를</a:t>
            </a:r>
            <a:r>
              <a:rPr lang="ko-KR" altLang="en-US" dirty="0">
                <a:solidFill>
                  <a:srgbClr val="008000"/>
                </a:solidFill>
              </a:rPr>
              <a:t> </a:t>
            </a:r>
            <a:r>
              <a:rPr lang="ko-KR" altLang="en-US" dirty="0" smtClean="0">
                <a:solidFill>
                  <a:srgbClr val="008000"/>
                </a:solidFill>
              </a:rPr>
              <a:t>부착</a:t>
            </a:r>
            <a:endParaRPr lang="en-US" altLang="ko-KR" dirty="0">
              <a:solidFill>
                <a:srgbClr val="008000"/>
              </a:solidFill>
            </a:endParaRPr>
          </a:p>
          <a:p>
            <a:pPr lvl="1"/>
            <a:r>
              <a:rPr lang="en-US" altLang="ko-KR" dirty="0" err="1"/>
              <a:t>onLocationChanged</a:t>
            </a:r>
            <a:r>
              <a:rPr lang="en-US" altLang="ko-KR" dirty="0"/>
              <a:t>(Location location</a:t>
            </a:r>
            <a:r>
              <a:rPr lang="en-US" altLang="ko-KR" dirty="0" smtClean="0"/>
              <a:t>)</a:t>
            </a:r>
          </a:p>
          <a:p>
            <a:pPr lvl="2"/>
            <a:r>
              <a:rPr lang="ko-KR" altLang="en-US" dirty="0" smtClean="0"/>
              <a:t>위치가 갱신될 때 </a:t>
            </a:r>
            <a:r>
              <a:rPr lang="ko-KR" altLang="en-US" dirty="0" err="1" smtClean="0"/>
              <a:t>콜백되는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리스너</a:t>
            </a:r>
            <a:r>
              <a:rPr lang="ko-KR" altLang="en-US" dirty="0" smtClean="0"/>
              <a:t> 함수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getLastKnownLocation</a:t>
            </a:r>
            <a:r>
              <a:rPr lang="en-US" altLang="ko-KR" dirty="0" smtClean="0"/>
              <a:t>()</a:t>
            </a:r>
          </a:p>
          <a:p>
            <a:pPr lvl="2"/>
            <a:r>
              <a:rPr lang="ko-KR" altLang="en-US" dirty="0" smtClean="0"/>
              <a:t>가장 최근에 갱신된 정보를 빠르게 얻기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위치 정보를 직접 수신하여 사용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r>
              <a:rPr lang="en-US" altLang="ko-KR" dirty="0" err="1" smtClean="0"/>
              <a:t>MapView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com.google.android.maps</a:t>
            </a:r>
            <a:r>
              <a:rPr lang="en-US" altLang="ko-KR" dirty="0" smtClean="0"/>
              <a:t> </a:t>
            </a:r>
            <a:r>
              <a:rPr lang="ko-KR" altLang="en-US" dirty="0" smtClean="0"/>
              <a:t>패키지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서드파티</a:t>
            </a:r>
            <a:r>
              <a:rPr lang="ko-KR" altLang="en-US" dirty="0" smtClean="0"/>
              <a:t> 패키지</a:t>
            </a:r>
            <a:r>
              <a:rPr lang="en-US" altLang="ko-KR" dirty="0" smtClean="0"/>
              <a:t>)</a:t>
            </a:r>
          </a:p>
          <a:p>
            <a:pPr lvl="1"/>
            <a:r>
              <a:rPr lang="en-US" altLang="ko-KR" dirty="0" smtClean="0"/>
              <a:t>Google Maps API Key </a:t>
            </a:r>
            <a:r>
              <a:rPr lang="ko-KR" altLang="en-US" dirty="0" smtClean="0"/>
              <a:t>등록 필수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MapActivity</a:t>
            </a:r>
            <a:r>
              <a:rPr lang="en-US" altLang="ko-KR" dirty="0" smtClean="0"/>
              <a:t> </a:t>
            </a:r>
            <a:r>
              <a:rPr lang="ko-KR" altLang="en-US" dirty="0" smtClean="0"/>
              <a:t>안에서 사용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구글맵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위젯</a:t>
            </a:r>
            <a:endParaRPr lang="en-US" altLang="ko-KR" dirty="0" smtClean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455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400" dirty="0" smtClean="0"/>
              <a:t>위치관리자</a:t>
            </a:r>
            <a:r>
              <a:rPr lang="en-US" altLang="ko-KR" sz="4400" dirty="0" smtClean="0"/>
              <a:t>: Location Manager</a:t>
            </a:r>
            <a:endParaRPr lang="ko-KR" altLang="en-US" sz="4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 smtClean="0"/>
              <a:t>LocationManager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장비에서 </a:t>
            </a:r>
            <a:r>
              <a:rPr lang="ko-KR" altLang="en-US" dirty="0" smtClean="0">
                <a:solidFill>
                  <a:srgbClr val="00B0F0"/>
                </a:solidFill>
              </a:rPr>
              <a:t>사용 가능한 위치 제공자의 목록</a:t>
            </a:r>
            <a:r>
              <a:rPr lang="ko-KR" altLang="en-US" dirty="0" smtClean="0"/>
              <a:t>을 관리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액티비티의 아래 메서드를 사용하여 획득</a:t>
            </a:r>
            <a:r>
              <a:rPr lang="en-US" altLang="ko-KR" dirty="0" smtClean="0"/>
              <a:t>: </a:t>
            </a:r>
            <a:r>
              <a:rPr lang="en-US" altLang="ko-KR" dirty="0" err="1" smtClean="0"/>
              <a:t>LocationManager</a:t>
            </a:r>
            <a:r>
              <a:rPr lang="en-US" altLang="ko-KR" dirty="0" smtClean="0"/>
              <a:t> </a:t>
            </a:r>
            <a:r>
              <a:rPr lang="ko-KR" altLang="en-US" dirty="0" smtClean="0"/>
              <a:t>타입으로 변환</a:t>
            </a:r>
            <a:endParaRPr lang="en-US" altLang="ko-KR" dirty="0" smtClean="0"/>
          </a:p>
          <a:p>
            <a:pPr marL="457200" lvl="1" indent="0">
              <a:buNone/>
            </a:pPr>
            <a:r>
              <a:rPr lang="en-US" altLang="ko-KR" dirty="0" smtClean="0"/>
              <a:t>	</a:t>
            </a:r>
            <a:r>
              <a:rPr lang="en-US" altLang="ko-KR" dirty="0" smtClean="0">
                <a:solidFill>
                  <a:srgbClr val="00B0F0"/>
                </a:solidFill>
              </a:rPr>
              <a:t>Object </a:t>
            </a:r>
            <a:r>
              <a:rPr lang="en-US" altLang="ko-KR" dirty="0" err="1" smtClean="0">
                <a:solidFill>
                  <a:srgbClr val="00B0F0"/>
                </a:solidFill>
              </a:rPr>
              <a:t>Context.getSystemService</a:t>
            </a:r>
            <a:r>
              <a:rPr lang="en-US" altLang="ko-KR" dirty="0" smtClean="0">
                <a:solidFill>
                  <a:srgbClr val="00B0F0"/>
                </a:solidFill>
              </a:rPr>
              <a:t>(</a:t>
            </a:r>
            <a:r>
              <a:rPr lang="en-US" altLang="ko-KR" dirty="0" err="1" smtClean="0">
                <a:solidFill>
                  <a:srgbClr val="00B0F0"/>
                </a:solidFill>
              </a:rPr>
              <a:t>Context.LOCATION_SERVICE</a:t>
            </a:r>
            <a:r>
              <a:rPr lang="en-US" altLang="ko-KR" dirty="0" smtClean="0">
                <a:solidFill>
                  <a:srgbClr val="00B0F0"/>
                </a:solidFill>
              </a:rPr>
              <a:t>);</a:t>
            </a:r>
          </a:p>
          <a:p>
            <a:pPr lvl="1"/>
            <a:endParaRPr lang="en-US" altLang="ko-KR" dirty="0" smtClean="0"/>
          </a:p>
          <a:p>
            <a:pPr lvl="1"/>
            <a:r>
              <a:rPr lang="ko-KR" altLang="en-US" dirty="0" smtClean="0"/>
              <a:t>위치 </a:t>
            </a:r>
            <a:r>
              <a:rPr lang="ko-KR" altLang="en-US" dirty="0"/>
              <a:t>제공자의 목록 </a:t>
            </a:r>
            <a:r>
              <a:rPr lang="ko-KR" altLang="en-US" dirty="0" smtClean="0"/>
              <a:t>조사</a:t>
            </a:r>
            <a:endParaRPr lang="en-US" altLang="ko-KR" dirty="0" smtClean="0"/>
          </a:p>
          <a:p>
            <a:pPr lvl="2"/>
            <a:r>
              <a:rPr lang="ko-KR" altLang="en-US" dirty="0"/>
              <a:t>모든 제공자 </a:t>
            </a:r>
            <a:r>
              <a:rPr lang="ko-KR" altLang="en-US" dirty="0" smtClean="0"/>
              <a:t>목록</a:t>
            </a:r>
            <a:r>
              <a:rPr lang="en-US" altLang="ko-KR" dirty="0" smtClean="0"/>
              <a:t>: </a:t>
            </a:r>
          </a:p>
          <a:p>
            <a:pPr marL="914400" lvl="2" indent="0">
              <a:buNone/>
            </a:pPr>
            <a:r>
              <a:rPr lang="en-US" altLang="ko-KR" dirty="0" smtClean="0"/>
              <a:t>	List&lt;String&gt; </a:t>
            </a:r>
            <a:r>
              <a:rPr lang="en-US" altLang="ko-KR" dirty="0" err="1" smtClean="0"/>
              <a:t>getAllProviders</a:t>
            </a:r>
            <a:r>
              <a:rPr lang="en-US" altLang="ko-KR" dirty="0" smtClean="0"/>
              <a:t>()</a:t>
            </a:r>
            <a:endParaRPr lang="en-US" altLang="ko-KR" dirty="0"/>
          </a:p>
          <a:p>
            <a:pPr lvl="2"/>
            <a:r>
              <a:rPr lang="ko-KR" altLang="en-US" dirty="0" smtClean="0"/>
              <a:t>사용권한이 </a:t>
            </a:r>
            <a:r>
              <a:rPr lang="ko-KR" altLang="en-US" dirty="0"/>
              <a:t>있는 제공자 </a:t>
            </a:r>
            <a:r>
              <a:rPr lang="ko-KR" altLang="en-US" dirty="0" smtClean="0"/>
              <a:t>목록</a:t>
            </a:r>
            <a:r>
              <a:rPr lang="en-US" altLang="ko-KR" dirty="0" smtClean="0"/>
              <a:t>: </a:t>
            </a:r>
          </a:p>
          <a:p>
            <a:pPr marL="914400" lvl="2" indent="0">
              <a:buNone/>
            </a:pPr>
            <a:r>
              <a:rPr lang="en-US" altLang="ko-KR" dirty="0" smtClean="0"/>
              <a:t>	List&lt;String&gt; </a:t>
            </a:r>
            <a:r>
              <a:rPr lang="en-US" altLang="ko-KR" dirty="0" err="1" smtClean="0"/>
              <a:t>getProviders</a:t>
            </a:r>
            <a:r>
              <a:rPr lang="en-US" altLang="ko-KR" dirty="0" smtClean="0"/>
              <a:t>([Criteria criteria], </a:t>
            </a:r>
            <a:r>
              <a:rPr lang="en-US" altLang="ko-KR" dirty="0" err="1" smtClean="0"/>
              <a:t>boolean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enabledOnly</a:t>
            </a:r>
            <a:r>
              <a:rPr lang="en-US" altLang="ko-KR" dirty="0" smtClean="0"/>
              <a:t>)</a:t>
            </a:r>
          </a:p>
          <a:p>
            <a:pPr lvl="2"/>
            <a:r>
              <a:rPr lang="ko-KR" altLang="en-US" dirty="0" smtClean="0"/>
              <a:t>기준에 부합되는 하나를 선택</a:t>
            </a:r>
            <a:r>
              <a:rPr lang="en-US" altLang="ko-KR" dirty="0" smtClean="0"/>
              <a:t>: </a:t>
            </a:r>
          </a:p>
          <a:p>
            <a:pPr marL="914400" lvl="2" indent="0">
              <a:buNone/>
            </a:pPr>
            <a:r>
              <a:rPr lang="en-US" altLang="ko-KR" dirty="0" smtClean="0"/>
              <a:t>	String </a:t>
            </a:r>
            <a:r>
              <a:rPr lang="en-US" altLang="ko-KR" dirty="0" err="1" smtClean="0"/>
              <a:t>getBestProvider</a:t>
            </a:r>
            <a:r>
              <a:rPr lang="en-US" altLang="ko-KR" dirty="0" smtClean="0"/>
              <a:t> ([Criteria criteria], </a:t>
            </a:r>
            <a:r>
              <a:rPr lang="en-US" altLang="ko-KR" dirty="0" err="1" smtClean="0"/>
              <a:t>boolean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enabledOnly</a:t>
            </a:r>
            <a:r>
              <a:rPr lang="en-US" altLang="ko-KR" dirty="0" smtClean="0"/>
              <a:t>);</a:t>
            </a:r>
          </a:p>
          <a:p>
            <a:pPr lvl="1"/>
            <a:endParaRPr lang="en-US" altLang="ko-KR" dirty="0" smtClean="0"/>
          </a:p>
          <a:p>
            <a:pPr lvl="1"/>
            <a:r>
              <a:rPr lang="ko-KR" altLang="en-US" dirty="0" smtClean="0"/>
              <a:t>선택 기준</a:t>
            </a:r>
            <a:r>
              <a:rPr lang="en-US" altLang="ko-KR" dirty="0" smtClean="0"/>
              <a:t>: Criteria </a:t>
            </a:r>
            <a:r>
              <a:rPr lang="ko-KR" altLang="en-US" dirty="0" smtClean="0"/>
              <a:t>클레스의 메서드를 사용하여 지정</a:t>
            </a:r>
            <a:endParaRPr lang="en-US" altLang="ko-KR" dirty="0" smtClean="0"/>
          </a:p>
          <a:p>
            <a:pPr lvl="2"/>
            <a:r>
              <a:rPr lang="en-US" altLang="ko-KR" dirty="0" err="1" smtClean="0"/>
              <a:t>setAltitudeRequired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setSpeedRequired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setPowerRequirement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setAccuracy</a:t>
            </a:r>
            <a:r>
              <a:rPr lang="en-US" altLang="ko-KR" dirty="0" smtClean="0"/>
              <a:t>, etc.</a:t>
            </a:r>
          </a:p>
          <a:p>
            <a:pPr lvl="1"/>
            <a:endParaRPr lang="en-US" altLang="ko-KR" dirty="0" smtClean="0"/>
          </a:p>
          <a:p>
            <a:pPr marL="457200" lvl="1" indent="0"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452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400" dirty="0" smtClean="0"/>
              <a:t>위치관리자</a:t>
            </a:r>
            <a:r>
              <a:rPr lang="en-US" altLang="ko-KR" sz="4400" dirty="0" smtClean="0"/>
              <a:t>: Location Manager</a:t>
            </a:r>
            <a:endParaRPr lang="ko-KR" altLang="en-US" sz="4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사용 가능한 위치 제공자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public static final String GPS_PROVIDER : “</a:t>
            </a:r>
            <a:r>
              <a:rPr lang="en-US" altLang="ko-KR" dirty="0" err="1" smtClean="0"/>
              <a:t>gps</a:t>
            </a:r>
            <a:r>
              <a:rPr lang="en-US" altLang="ko-KR" dirty="0" smtClean="0"/>
              <a:t>”</a:t>
            </a:r>
          </a:p>
          <a:p>
            <a:pPr lvl="1"/>
            <a:r>
              <a:rPr lang="en-US" altLang="ko-KR" dirty="0" smtClean="0"/>
              <a:t>public static final String NETWORK_PROVIDER : “network”</a:t>
            </a:r>
          </a:p>
          <a:p>
            <a:pPr lvl="1"/>
            <a:r>
              <a:rPr lang="en-US" altLang="ko-KR" dirty="0" smtClean="0"/>
              <a:t>public static final String PASSIVE_PROVIDER: “passive”</a:t>
            </a:r>
          </a:p>
          <a:p>
            <a:pPr lvl="1"/>
            <a:endParaRPr lang="en-US" altLang="ko-KR" dirty="0"/>
          </a:p>
          <a:p>
            <a:r>
              <a:rPr lang="en-US" altLang="ko-KR" dirty="0" smtClean="0"/>
              <a:t>Provider </a:t>
            </a:r>
            <a:r>
              <a:rPr lang="ko-KR" altLang="en-US" dirty="0" smtClean="0"/>
              <a:t>사용 가능 여부 확인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LocationManager</a:t>
            </a:r>
            <a:r>
              <a:rPr lang="ko-KR" altLang="en-US" dirty="0" smtClean="0"/>
              <a:t>의 </a:t>
            </a:r>
            <a:r>
              <a:rPr lang="en-US" altLang="ko-KR" dirty="0" err="1" smtClean="0"/>
              <a:t>isProviderEnabled</a:t>
            </a:r>
            <a:r>
              <a:rPr lang="en-US" altLang="ko-KR" dirty="0"/>
              <a:t> </a:t>
            </a:r>
            <a:r>
              <a:rPr lang="ko-KR" altLang="en-US" dirty="0" smtClean="0"/>
              <a:t>메서드 사용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marL="457200" lvl="1" indent="0"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21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116780" y="3952663"/>
            <a:ext cx="6109365" cy="267765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locationManager.isProviderEnabled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LocationManager.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NETWORK_PROVIDER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) )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Toast.makeText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LocationManager.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NETWORK_PROVIDER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+ 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 </a:t>
            </a:r>
            <a:r>
              <a:rPr lang="ko-KR" altLang="en-US" sz="1400" dirty="0">
                <a:solidFill>
                  <a:srgbClr val="2A00FF"/>
                </a:solidFill>
                <a:latin typeface="돋움체"/>
                <a:ea typeface="돋움체"/>
              </a:rPr>
              <a:t>작동 중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Toast.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LENGTH_SHORT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).show();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locationManager.isProviderEnabled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LocationManager.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GPS_PROVIDER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) )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Toast.makeText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LocationManager.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GPS_PROVIDER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+ 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 </a:t>
            </a:r>
            <a:r>
              <a:rPr lang="ko-KR" altLang="en-US" sz="1400" dirty="0">
                <a:solidFill>
                  <a:srgbClr val="2A00FF"/>
                </a:solidFill>
                <a:latin typeface="돋움체"/>
                <a:ea typeface="돋움체"/>
              </a:rPr>
              <a:t>작동 중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Toast.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LENGTH_SHORT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).show();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88050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400" dirty="0"/>
              <a:t>위치관리자</a:t>
            </a:r>
            <a:r>
              <a:rPr lang="en-US" altLang="ko-KR" sz="4400" dirty="0"/>
              <a:t>: Location Manager</a:t>
            </a:r>
            <a:endParaRPr lang="ko-KR" altLang="en-US" sz="4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Criteria </a:t>
            </a:r>
            <a:r>
              <a:rPr lang="ko-KR" altLang="en-US" dirty="0" smtClean="0"/>
              <a:t>클래스 활용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사용가능한</a:t>
            </a:r>
            <a:r>
              <a:rPr lang="ko-KR" altLang="en-US" dirty="0" smtClean="0"/>
              <a:t> </a:t>
            </a:r>
            <a:r>
              <a:rPr lang="en-US" altLang="ko-KR" dirty="0" smtClean="0"/>
              <a:t>Provider </a:t>
            </a:r>
            <a:r>
              <a:rPr lang="ko-KR" altLang="en-US" dirty="0" smtClean="0"/>
              <a:t>중 가장 조건에 일치하는 </a:t>
            </a:r>
            <a:r>
              <a:rPr lang="en-US" altLang="ko-KR" dirty="0" smtClean="0"/>
              <a:t>Provider</a:t>
            </a:r>
            <a:r>
              <a:rPr lang="ko-KR" altLang="en-US" dirty="0" smtClean="0"/>
              <a:t>를 선택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조건에 맞는 </a:t>
            </a:r>
            <a:r>
              <a:rPr lang="en-US" altLang="ko-KR" dirty="0" smtClean="0"/>
              <a:t>Provider</a:t>
            </a:r>
            <a:r>
              <a:rPr lang="ko-KR" altLang="en-US" dirty="0" smtClean="0"/>
              <a:t>가 없더라도 차선책을 선택하여 반드시 하나의 </a:t>
            </a:r>
            <a:r>
              <a:rPr lang="en-US" altLang="ko-KR" dirty="0" smtClean="0"/>
              <a:t>Provider</a:t>
            </a:r>
            <a:r>
              <a:rPr lang="ko-KR" altLang="en-US" dirty="0" smtClean="0"/>
              <a:t>를 리턴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22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97230" y="2663091"/>
            <a:ext cx="7455887" cy="18158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Criteria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crit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Criteria();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crit.setAccuracy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Criteria.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ACCURACY_FINE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crit.setPowerRequirement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Criteria.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POWER_HIGH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crit.setAltitudeRequired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false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crit.setCostAllowed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false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String best =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locationManager.getBestProvider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crit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true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Toast.makeText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"Best provider: "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+ best,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Toast.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LENGTH_LONG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).show();</a:t>
            </a:r>
          </a:p>
        </p:txBody>
      </p:sp>
      <p:sp>
        <p:nvSpPr>
          <p:cNvPr id="6" name="Rectangle 5"/>
          <p:cNvSpPr/>
          <p:nvPr/>
        </p:nvSpPr>
        <p:spPr>
          <a:xfrm>
            <a:off x="1387736" y="2614111"/>
            <a:ext cx="4260029" cy="1269402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5841402" y="3474720"/>
            <a:ext cx="182880" cy="527125"/>
          </a:xfrm>
          <a:prstGeom prst="straightConnector1">
            <a:avLst/>
          </a:prstGeom>
          <a:noFill/>
          <a:ln w="25400">
            <a:solidFill>
              <a:srgbClr val="FF0000"/>
            </a:solidFill>
            <a:prstDash val="solid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647765" y="3248812"/>
            <a:ext cx="376517" cy="225908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549574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400" dirty="0" smtClean="0"/>
              <a:t>위치관리자</a:t>
            </a:r>
            <a:r>
              <a:rPr lang="en-US" altLang="ko-KR" sz="4400" dirty="0" smtClean="0"/>
              <a:t>: Location Manager</a:t>
            </a:r>
            <a:endParaRPr lang="ko-KR" altLang="en-US" sz="4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Provider </a:t>
            </a:r>
            <a:r>
              <a:rPr lang="ko-KR" altLang="en-US" dirty="0" smtClean="0"/>
              <a:t>선택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정밀도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marL="457200" lvl="1" indent="0"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23</a:t>
            </a:fld>
            <a:endParaRPr lang="ko-KR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996514"/>
              </p:ext>
            </p:extLst>
          </p:nvPr>
        </p:nvGraphicFramePr>
        <p:xfrm>
          <a:off x="996873" y="2139279"/>
          <a:ext cx="6770148" cy="39065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5074"/>
                <a:gridCol w="3385074"/>
              </a:tblGrid>
              <a:tr h="5580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상수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내용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5580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/>
                        <a:t>ACCURACY_FINE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정밀한 정밀도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5580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/>
                        <a:t>ACCURACY_COARSE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대충의 정밀도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5580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/>
                        <a:t>ACCURACY_HIGH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높은 정확도 </a:t>
                      </a:r>
                      <a:r>
                        <a:rPr lang="en-US" altLang="ko-KR" dirty="0" smtClean="0"/>
                        <a:t>(API9, 2.3 </a:t>
                      </a:r>
                      <a:r>
                        <a:rPr lang="ko-KR" altLang="en-US" dirty="0" smtClean="0"/>
                        <a:t>이상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5580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/>
                        <a:t>ACCURACY_MEDIUM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중간 정확도 </a:t>
                      </a:r>
                      <a:r>
                        <a:rPr lang="en-US" altLang="ko-KR" dirty="0" smtClean="0"/>
                        <a:t>(API9, 2.3 </a:t>
                      </a:r>
                      <a:r>
                        <a:rPr lang="ko-KR" altLang="en-US" dirty="0" smtClean="0"/>
                        <a:t>이상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5580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/>
                        <a:t>ACCURACY_LOW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낮은 정확도 </a:t>
                      </a:r>
                      <a:r>
                        <a:rPr lang="en-US" altLang="ko-KR" dirty="0" smtClean="0"/>
                        <a:t>(API9, 2.3 </a:t>
                      </a:r>
                      <a:r>
                        <a:rPr lang="ko-KR" altLang="en-US" dirty="0" smtClean="0"/>
                        <a:t>이상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5580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/>
                        <a:t>NO_REQUIREMENT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요구 사항 없음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5689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400" dirty="0" smtClean="0"/>
              <a:t>위치관리자</a:t>
            </a:r>
            <a:r>
              <a:rPr lang="en-US" altLang="ko-KR" sz="4400" dirty="0" smtClean="0"/>
              <a:t>: Location Manager</a:t>
            </a:r>
            <a:endParaRPr lang="ko-KR" altLang="en-US" sz="4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Provider </a:t>
            </a:r>
            <a:r>
              <a:rPr lang="ko-KR" altLang="en-US" dirty="0" smtClean="0"/>
              <a:t>선택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전원 소모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기타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고도 여부</a:t>
            </a:r>
            <a:r>
              <a:rPr lang="en-US" altLang="ko-KR" dirty="0" smtClean="0"/>
              <a:t>, </a:t>
            </a:r>
            <a:r>
              <a:rPr lang="ko-KR" altLang="en-US" dirty="0" smtClean="0"/>
              <a:t>속도 여부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marL="457200" lvl="1" indent="0"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24</a:t>
            </a:fld>
            <a:endParaRPr lang="ko-KR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595188"/>
              </p:ext>
            </p:extLst>
          </p:nvPr>
        </p:nvGraphicFramePr>
        <p:xfrm>
          <a:off x="996873" y="2081521"/>
          <a:ext cx="6770148" cy="27476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9668"/>
                <a:gridCol w="3840480"/>
              </a:tblGrid>
              <a:tr h="5580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상수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내용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5580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/>
                        <a:t>POWER_HIGH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배터리 사용량이 많아도 됨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5580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/>
                        <a:t>POWER_MEDIUM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배터리 사용량이 적당해야 함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5580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/>
                        <a:t>POWER_LOW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배터리를 조금만 사용해야 함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51535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/>
                        <a:t>NO_REQUIREMENT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요구 사항 없음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2235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400" dirty="0" smtClean="0"/>
              <a:t>위치관리자</a:t>
            </a:r>
            <a:r>
              <a:rPr lang="en-US" altLang="ko-KR" sz="4400" dirty="0" smtClean="0"/>
              <a:t>: Location Manager</a:t>
            </a:r>
            <a:endParaRPr lang="ko-KR" altLang="en-US" sz="4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 smtClean="0"/>
              <a:t>LocationListener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public void </a:t>
            </a:r>
            <a:r>
              <a:rPr lang="en-US" altLang="ko-KR" dirty="0" err="1" smtClean="0"/>
              <a:t>onLocationChanged</a:t>
            </a:r>
            <a:r>
              <a:rPr lang="en-US" altLang="ko-KR" dirty="0" smtClean="0"/>
              <a:t>(Location location)</a:t>
            </a:r>
          </a:p>
          <a:p>
            <a:pPr lvl="2"/>
            <a:r>
              <a:rPr lang="ko-KR" altLang="en-US" dirty="0" smtClean="0"/>
              <a:t>실제 위치가 갱신될 때마다 호출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public void </a:t>
            </a:r>
            <a:r>
              <a:rPr lang="en-US" altLang="ko-KR" dirty="0" err="1" smtClean="0"/>
              <a:t>onProviderDisabled</a:t>
            </a:r>
            <a:r>
              <a:rPr lang="en-US" altLang="ko-KR" dirty="0" smtClean="0"/>
              <a:t>(String provider)</a:t>
            </a:r>
          </a:p>
          <a:p>
            <a:pPr lvl="1"/>
            <a:r>
              <a:rPr lang="en-US" altLang="ko-KR" dirty="0" smtClean="0"/>
              <a:t>public void </a:t>
            </a:r>
            <a:r>
              <a:rPr lang="en-US" altLang="ko-KR" dirty="0" err="1" smtClean="0"/>
              <a:t>onProviderEnabled</a:t>
            </a:r>
            <a:r>
              <a:rPr lang="en-US" altLang="ko-KR" dirty="0" smtClean="0"/>
              <a:t>(String provider)</a:t>
            </a:r>
          </a:p>
          <a:p>
            <a:pPr lvl="2"/>
            <a:r>
              <a:rPr lang="ko-KR" altLang="en-US" dirty="0" smtClean="0"/>
              <a:t>제공자의 사용가능성이 변경될 때 호출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public void </a:t>
            </a:r>
            <a:r>
              <a:rPr lang="en-US" altLang="ko-KR" dirty="0" err="1" smtClean="0"/>
              <a:t>onStatusChanged</a:t>
            </a:r>
            <a:r>
              <a:rPr lang="en-US" altLang="ko-KR" dirty="0" smtClean="0"/>
              <a:t>(String provider, 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status, Bundle extras)</a:t>
            </a:r>
          </a:p>
          <a:p>
            <a:pPr lvl="2"/>
            <a:r>
              <a:rPr lang="ko-KR" altLang="en-US" dirty="0" smtClean="0"/>
              <a:t>제공자의 상태가 변경될 때마다 호출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marL="457200" lvl="1" indent="0"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25</a:t>
            </a:fld>
            <a:endParaRPr lang="ko-KR" alt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0584948"/>
              </p:ext>
            </p:extLst>
          </p:nvPr>
        </p:nvGraphicFramePr>
        <p:xfrm>
          <a:off x="1190515" y="4129438"/>
          <a:ext cx="667332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7399"/>
                <a:gridCol w="3065928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상태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내용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OUT_OF_SERVICE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사용할 수 없는 상태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TEMPORARILY_UNAVAILABLE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일시적으로 중지된 상태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AVAILABLE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사용 가능한 상태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8538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400" dirty="0" smtClean="0"/>
              <a:t>위치관리자</a:t>
            </a:r>
            <a:r>
              <a:rPr lang="en-US" altLang="ko-KR" sz="4400" dirty="0" smtClean="0"/>
              <a:t>: Location Manager</a:t>
            </a:r>
            <a:endParaRPr lang="ko-KR" altLang="en-US" sz="4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 smtClean="0"/>
              <a:t>LocationListener</a:t>
            </a:r>
            <a:endParaRPr lang="en-US" altLang="ko-KR" dirty="0"/>
          </a:p>
          <a:p>
            <a:pPr lvl="1"/>
            <a:r>
              <a:rPr lang="en-US" altLang="ko-KR" dirty="0"/>
              <a:t>public void </a:t>
            </a:r>
            <a:r>
              <a:rPr lang="en-US" altLang="ko-KR" dirty="0" err="1"/>
              <a:t>onLocationChanged</a:t>
            </a:r>
            <a:r>
              <a:rPr lang="en-US" altLang="ko-KR" dirty="0"/>
              <a:t>(Location location</a:t>
            </a:r>
            <a:r>
              <a:rPr lang="en-US" altLang="ko-KR" dirty="0" smtClean="0"/>
              <a:t>)</a:t>
            </a:r>
          </a:p>
          <a:p>
            <a:pPr lvl="1"/>
            <a:r>
              <a:rPr lang="en-US" altLang="ko-KR" dirty="0" smtClean="0"/>
              <a:t>Location </a:t>
            </a:r>
            <a:r>
              <a:rPr lang="ko-KR" altLang="en-US" dirty="0" smtClean="0"/>
              <a:t>객체</a:t>
            </a:r>
            <a:r>
              <a:rPr lang="en-US" altLang="ko-KR" dirty="0" smtClean="0"/>
              <a:t>:</a:t>
            </a:r>
          </a:p>
          <a:p>
            <a:pPr lvl="2"/>
            <a:r>
              <a:rPr lang="en-US" altLang="ko-KR" dirty="0" err="1" smtClean="0"/>
              <a:t>getProvider</a:t>
            </a:r>
            <a:r>
              <a:rPr lang="en-US" altLang="ko-KR" dirty="0" smtClean="0"/>
              <a:t>()</a:t>
            </a:r>
          </a:p>
          <a:p>
            <a:pPr lvl="2"/>
            <a:r>
              <a:rPr lang="en-US" altLang="ko-KR" dirty="0" err="1" smtClean="0"/>
              <a:t>getAccuracy</a:t>
            </a:r>
            <a:r>
              <a:rPr lang="en-US" altLang="ko-KR" dirty="0" smtClean="0"/>
              <a:t>()</a:t>
            </a:r>
          </a:p>
          <a:p>
            <a:pPr lvl="2"/>
            <a:r>
              <a:rPr lang="en-US" altLang="ko-KR" dirty="0" err="1" smtClean="0"/>
              <a:t>getLongitude</a:t>
            </a:r>
            <a:r>
              <a:rPr lang="en-US" altLang="ko-KR" dirty="0" smtClean="0"/>
              <a:t>()</a:t>
            </a:r>
          </a:p>
          <a:p>
            <a:pPr lvl="2"/>
            <a:r>
              <a:rPr lang="en-US" altLang="ko-KR" dirty="0" err="1" smtClean="0"/>
              <a:t>getLatitude</a:t>
            </a:r>
            <a:r>
              <a:rPr lang="en-US" altLang="ko-KR" dirty="0" smtClean="0"/>
              <a:t>()</a:t>
            </a:r>
          </a:p>
          <a:p>
            <a:pPr lvl="2"/>
            <a:r>
              <a:rPr lang="en-US" altLang="ko-KR" dirty="0" err="1" smtClean="0"/>
              <a:t>getAltitude</a:t>
            </a:r>
            <a:r>
              <a:rPr lang="en-US" altLang="ko-KR" dirty="0" smtClean="0"/>
              <a:t>()</a:t>
            </a:r>
          </a:p>
          <a:p>
            <a:pPr lvl="2"/>
            <a:r>
              <a:rPr lang="en-US" altLang="ko-KR" dirty="0" err="1" smtClean="0"/>
              <a:t>getTime</a:t>
            </a:r>
            <a:r>
              <a:rPr lang="en-US" altLang="ko-KR" dirty="0" smtClean="0"/>
              <a:t>()</a:t>
            </a:r>
          </a:p>
          <a:p>
            <a:pPr lvl="2"/>
            <a:r>
              <a:rPr lang="en-US" altLang="ko-KR" dirty="0" err="1" smtClean="0"/>
              <a:t>getBearing</a:t>
            </a:r>
            <a:r>
              <a:rPr lang="en-US" altLang="ko-KR" dirty="0" smtClean="0"/>
              <a:t>()</a:t>
            </a:r>
          </a:p>
          <a:p>
            <a:pPr lvl="2"/>
            <a:r>
              <a:rPr lang="en-US" altLang="ko-KR" dirty="0" err="1" smtClean="0"/>
              <a:t>getSpeed</a:t>
            </a:r>
            <a:r>
              <a:rPr lang="en-US" altLang="ko-KR" dirty="0" smtClean="0"/>
              <a:t>()</a:t>
            </a:r>
          </a:p>
          <a:p>
            <a:pPr lvl="2"/>
            <a:r>
              <a:rPr lang="en-US" altLang="ko-KR" dirty="0" err="1" smtClean="0"/>
              <a:t>getExtras</a:t>
            </a:r>
            <a:r>
              <a:rPr lang="en-US" altLang="ko-KR" dirty="0" smtClean="0"/>
              <a:t>()</a:t>
            </a:r>
          </a:p>
          <a:p>
            <a:pPr lvl="2"/>
            <a:r>
              <a:rPr lang="ko-KR" altLang="en-US" dirty="0" smtClean="0"/>
              <a:t>제공자가 지원하지 못하는 정보의 경우 </a:t>
            </a:r>
            <a:r>
              <a:rPr lang="en-US" altLang="ko-KR" dirty="0" smtClean="0"/>
              <a:t>0</a:t>
            </a:r>
            <a:r>
              <a:rPr lang="ko-KR" altLang="en-US" dirty="0" smtClean="0"/>
              <a:t>을 반환</a:t>
            </a:r>
            <a:endParaRPr lang="en-US" altLang="ko-KR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marL="457200" lvl="1" indent="0"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26</a:t>
            </a:fld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3872752" y="1920025"/>
            <a:ext cx="1527586" cy="312402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6085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400" dirty="0" smtClean="0"/>
              <a:t>위치관리자</a:t>
            </a:r>
            <a:r>
              <a:rPr lang="en-US" altLang="ko-KR" sz="4400" dirty="0" smtClean="0"/>
              <a:t>: Location Manager</a:t>
            </a:r>
            <a:endParaRPr lang="ko-KR" altLang="en-US" sz="4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484672"/>
            <a:ext cx="8229600" cy="4905370"/>
          </a:xfrm>
        </p:spPr>
        <p:txBody>
          <a:bodyPr>
            <a:normAutofit/>
          </a:bodyPr>
          <a:lstStyle/>
          <a:p>
            <a:r>
              <a:rPr lang="en-US" altLang="ko-KR" dirty="0" err="1" smtClean="0"/>
              <a:t>LocationListener</a:t>
            </a:r>
            <a:r>
              <a:rPr lang="ko-KR" altLang="en-US" dirty="0" smtClean="0"/>
              <a:t>의 등록</a:t>
            </a:r>
            <a:endParaRPr lang="en-US" altLang="ko-KR" dirty="0"/>
          </a:p>
          <a:p>
            <a:pPr lvl="1"/>
            <a:r>
              <a:rPr lang="en-US" altLang="ko-KR" dirty="0" smtClean="0"/>
              <a:t>void </a:t>
            </a:r>
            <a:r>
              <a:rPr lang="en-US" altLang="ko-KR" dirty="0" err="1" smtClean="0"/>
              <a:t>requestLocationUpdates</a:t>
            </a:r>
            <a:r>
              <a:rPr lang="en-US" altLang="ko-KR" dirty="0" smtClean="0"/>
              <a:t> (String provider, long </a:t>
            </a:r>
            <a:r>
              <a:rPr lang="en-US" altLang="ko-KR" b="1" dirty="0" err="1" smtClean="0"/>
              <a:t>minTime</a:t>
            </a:r>
            <a:r>
              <a:rPr lang="en-US" altLang="ko-KR" dirty="0" smtClean="0"/>
              <a:t>, float </a:t>
            </a:r>
            <a:r>
              <a:rPr lang="en-US" altLang="ko-KR" b="1" dirty="0" err="1" smtClean="0"/>
              <a:t>minDistance</a:t>
            </a:r>
            <a:r>
              <a:rPr lang="en-US" altLang="ko-KR" dirty="0" smtClean="0"/>
              <a:t>, 			</a:t>
            </a:r>
            <a:r>
              <a:rPr lang="en-US" altLang="ko-KR" dirty="0" err="1" smtClean="0"/>
              <a:t>LocationListener</a:t>
            </a:r>
            <a:r>
              <a:rPr lang="en-US" altLang="ko-KR" dirty="0" smtClean="0"/>
              <a:t> listener, [</a:t>
            </a:r>
            <a:r>
              <a:rPr lang="en-US" altLang="ko-KR" dirty="0" err="1" smtClean="0"/>
              <a:t>Looper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looper</a:t>
            </a:r>
            <a:r>
              <a:rPr lang="en-US" altLang="ko-KR" dirty="0" smtClean="0"/>
              <a:t>])</a:t>
            </a:r>
          </a:p>
          <a:p>
            <a:pPr lvl="1"/>
            <a:r>
              <a:rPr lang="en-US" altLang="ko-KR" dirty="0" smtClean="0"/>
              <a:t>void </a:t>
            </a:r>
            <a:r>
              <a:rPr lang="en-US" altLang="ko-KR" dirty="0" err="1" smtClean="0"/>
              <a:t>requestLocationUpdates</a:t>
            </a:r>
            <a:r>
              <a:rPr lang="en-US" altLang="ko-KR" dirty="0"/>
              <a:t> </a:t>
            </a:r>
            <a:r>
              <a:rPr lang="en-US" altLang="ko-KR" dirty="0" smtClean="0"/>
              <a:t>(String provider, ling </a:t>
            </a:r>
            <a:r>
              <a:rPr lang="en-US" altLang="ko-KR" b="1" dirty="0" err="1" smtClean="0"/>
              <a:t>minTime</a:t>
            </a:r>
            <a:r>
              <a:rPr lang="en-US" altLang="ko-KR" dirty="0" smtClean="0"/>
              <a:t>, float </a:t>
            </a:r>
            <a:r>
              <a:rPr lang="en-US" altLang="ko-KR" b="1" dirty="0" err="1" smtClean="0"/>
              <a:t>minDistance</a:t>
            </a:r>
            <a:r>
              <a:rPr lang="en-US" altLang="ko-KR" dirty="0" smtClean="0"/>
              <a:t>, 				</a:t>
            </a:r>
            <a:r>
              <a:rPr lang="en-US" altLang="ko-KR" dirty="0" err="1" smtClean="0"/>
              <a:t>PendingIntent</a:t>
            </a:r>
            <a:r>
              <a:rPr lang="en-US" altLang="ko-KR" dirty="0" smtClean="0"/>
              <a:t> intent)</a:t>
            </a:r>
          </a:p>
          <a:p>
            <a:pPr lvl="1"/>
            <a:r>
              <a:rPr lang="en-US" altLang="ko-KR" b="1" dirty="0" err="1" smtClean="0"/>
              <a:t>minTime</a:t>
            </a:r>
            <a:r>
              <a:rPr lang="en-US" altLang="ko-KR" dirty="0" smtClean="0"/>
              <a:t>: </a:t>
            </a:r>
            <a:r>
              <a:rPr lang="ko-KR" altLang="en-US" dirty="0" smtClean="0"/>
              <a:t>위치정보를 통보받을 최소 시간주기 </a:t>
            </a:r>
            <a:r>
              <a:rPr lang="en-US" altLang="ko-KR" dirty="0" smtClean="0"/>
              <a:t>(millisecond)</a:t>
            </a:r>
            <a:endParaRPr lang="en-US" altLang="ko-KR" dirty="0"/>
          </a:p>
          <a:p>
            <a:pPr lvl="1"/>
            <a:r>
              <a:rPr lang="en-US" altLang="ko-KR" b="1" dirty="0" err="1" smtClean="0"/>
              <a:t>minDistance</a:t>
            </a:r>
            <a:r>
              <a:rPr lang="en-US" altLang="ko-KR" dirty="0" smtClean="0"/>
              <a:t>: </a:t>
            </a:r>
            <a:r>
              <a:rPr lang="ko-KR" altLang="en-US" dirty="0" smtClean="0"/>
              <a:t>최소 이동거리 </a:t>
            </a:r>
            <a:r>
              <a:rPr lang="en-US" altLang="ko-KR" dirty="0" smtClean="0"/>
              <a:t>(meter)</a:t>
            </a:r>
          </a:p>
          <a:p>
            <a:pPr lvl="1"/>
            <a:endParaRPr lang="en-US" altLang="ko-KR" dirty="0" smtClean="0"/>
          </a:p>
          <a:p>
            <a:r>
              <a:rPr lang="en-US" altLang="ko-KR" dirty="0" err="1" smtClean="0"/>
              <a:t>LocationListener</a:t>
            </a:r>
            <a:r>
              <a:rPr lang="ko-KR" altLang="en-US" dirty="0" smtClean="0"/>
              <a:t>의 제거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void </a:t>
            </a:r>
            <a:r>
              <a:rPr lang="en-US" altLang="ko-KR" dirty="0" err="1" smtClean="0"/>
              <a:t>removeUpdates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LocationListener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listenser</a:t>
            </a:r>
            <a:r>
              <a:rPr lang="en-US" altLang="ko-KR" dirty="0" smtClean="0"/>
              <a:t>)</a:t>
            </a:r>
          </a:p>
          <a:p>
            <a:pPr lvl="1"/>
            <a:r>
              <a:rPr lang="en-US" altLang="ko-KR" dirty="0"/>
              <a:t>void </a:t>
            </a:r>
            <a:r>
              <a:rPr lang="en-US" altLang="ko-KR" dirty="0" err="1" smtClean="0"/>
              <a:t>removeUpdates</a:t>
            </a:r>
            <a:r>
              <a:rPr lang="en-US" altLang="ko-KR" dirty="0" smtClean="0"/>
              <a:t>(</a:t>
            </a:r>
            <a:r>
              <a:rPr lang="en-US" altLang="ko-KR" dirty="0" err="1"/>
              <a:t>PendingIntent</a:t>
            </a:r>
            <a:r>
              <a:rPr lang="en-US" altLang="ko-KR" dirty="0"/>
              <a:t> intent</a:t>
            </a:r>
            <a:r>
              <a:rPr lang="en-US" altLang="ko-KR" dirty="0" smtClean="0"/>
              <a:t>)</a:t>
            </a:r>
          </a:p>
          <a:p>
            <a:pPr lvl="1"/>
            <a:endParaRPr lang="en-US" altLang="ko-KR" dirty="0"/>
          </a:p>
          <a:p>
            <a:r>
              <a:rPr lang="ko-KR" altLang="en-US" dirty="0" smtClean="0"/>
              <a:t>상황에 따라 위치 정보 업데이트 여부 설정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onResume</a:t>
            </a:r>
            <a:r>
              <a:rPr lang="en-US" altLang="ko-KR" dirty="0" smtClean="0"/>
              <a:t>() </a:t>
            </a:r>
            <a:r>
              <a:rPr lang="ko-KR" altLang="en-US" dirty="0" smtClean="0"/>
              <a:t>에서 등록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onPause</a:t>
            </a:r>
            <a:r>
              <a:rPr lang="en-US" altLang="ko-KR" dirty="0" smtClean="0"/>
              <a:t>()</a:t>
            </a:r>
            <a:r>
              <a:rPr lang="ko-KR" altLang="en-US" dirty="0" smtClean="0"/>
              <a:t>에서 해제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945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400" dirty="0" smtClean="0"/>
              <a:t>위치관리자</a:t>
            </a:r>
            <a:r>
              <a:rPr lang="en-US" altLang="ko-KR" sz="4400" dirty="0" smtClean="0"/>
              <a:t>: Location Manager</a:t>
            </a:r>
            <a:endParaRPr lang="ko-KR" altLang="en-US" sz="4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이전 위치정보의 사용</a:t>
            </a:r>
            <a:endParaRPr lang="en-US" altLang="ko-KR" dirty="0"/>
          </a:p>
          <a:p>
            <a:pPr lvl="1"/>
            <a:r>
              <a:rPr lang="en-US" altLang="ko-KR" dirty="0" smtClean="0"/>
              <a:t>Location </a:t>
            </a:r>
            <a:r>
              <a:rPr lang="en-US" altLang="ko-KR" dirty="0" err="1" smtClean="0"/>
              <a:t>LocationManager.</a:t>
            </a:r>
            <a:r>
              <a:rPr lang="en-US" altLang="ko-KR" b="1" dirty="0" err="1" smtClean="0"/>
              <a:t>getLastKnownLocation</a:t>
            </a:r>
            <a:r>
              <a:rPr lang="en-US" altLang="ko-KR" dirty="0" smtClean="0"/>
              <a:t>(String provider)</a:t>
            </a:r>
          </a:p>
          <a:p>
            <a:pPr lvl="1"/>
            <a:r>
              <a:rPr lang="ko-KR" altLang="en-US" dirty="0" smtClean="0"/>
              <a:t>최후에 조사된 위치정보를 반환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한번도 조사한 적이 없는 경우 </a:t>
            </a:r>
            <a:r>
              <a:rPr lang="en-US" altLang="ko-KR" dirty="0" smtClean="0"/>
              <a:t>null</a:t>
            </a:r>
            <a:r>
              <a:rPr lang="ko-KR" altLang="en-US" dirty="0" smtClean="0"/>
              <a:t>을 반환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marL="457200" lvl="1" indent="0"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28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97230" y="2883930"/>
            <a:ext cx="7962436" cy="33239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LocationManager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locationManager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=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   (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LocationManager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this.getSystemService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Context.LOCATION_SERVICE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// </a:t>
            </a:r>
            <a:r>
              <a:rPr lang="en-US" altLang="ko-KR" sz="1400" dirty="0" smtClean="0">
                <a:solidFill>
                  <a:srgbClr val="3F7F5F"/>
                </a:solidFill>
                <a:latin typeface="돋움체"/>
                <a:ea typeface="돋움체"/>
              </a:rPr>
              <a:t>Fast Initialization</a:t>
            </a:r>
            <a:endParaRPr lang="en-US" altLang="ko-KR" sz="1400" dirty="0">
              <a:solidFill>
                <a:srgbClr val="3F7F5F"/>
              </a:solidFill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Location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lastKnownLocation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=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locationManager.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getLastKnownLocation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LocationManager.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GPS_PROVIDER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lastKnownLocation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!=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showNewLocation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lastKnownLocation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); 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// </a:t>
            </a:r>
            <a:r>
              <a:rPr lang="ko-KR" altLang="en-US" sz="1400" dirty="0">
                <a:solidFill>
                  <a:srgbClr val="3F7F5F"/>
                </a:solidFill>
                <a:latin typeface="돋움체"/>
                <a:ea typeface="돋움체"/>
              </a:rPr>
              <a:t>위치정보 출력</a:t>
            </a:r>
            <a:endParaRPr lang="en-US" altLang="ko-KR" sz="1400" dirty="0">
              <a:solidFill>
                <a:srgbClr val="3F7F5F"/>
              </a:solidFill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}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else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lastKnownLocation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=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locationManager.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getLastKnownLocation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LocationManager.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NETWORK_PROVIDER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lastKnownLocation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!=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showNewLocation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lastKnownLocation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); 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// </a:t>
            </a:r>
            <a:r>
              <a:rPr lang="ko-KR" altLang="en-US" sz="1400" dirty="0">
                <a:solidFill>
                  <a:srgbClr val="3F7F5F"/>
                </a:solidFill>
                <a:latin typeface="돋움체"/>
                <a:ea typeface="돋움체"/>
              </a:rPr>
              <a:t>위치정보 출력</a:t>
            </a:r>
            <a:endParaRPr lang="en-US" altLang="ko-KR" sz="1400" dirty="0">
              <a:solidFill>
                <a:srgbClr val="3F7F5F"/>
              </a:solidFill>
              <a:latin typeface="돋움체"/>
              <a:ea typeface="돋움체"/>
            </a:endParaRP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}        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03557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400" dirty="0" smtClean="0"/>
              <a:t>좌표의</a:t>
            </a:r>
            <a:r>
              <a:rPr lang="en-US" altLang="ko-KR" sz="4400" dirty="0" smtClean="0"/>
              <a:t> </a:t>
            </a:r>
            <a:r>
              <a:rPr lang="ko-KR" altLang="en-US" sz="4400" dirty="0" smtClean="0"/>
              <a:t>변환</a:t>
            </a:r>
            <a:endParaRPr lang="ko-KR" altLang="en-US" sz="4400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static String convert (double coordinate, 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outputType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 smtClean="0"/>
              <a:t>실수 </a:t>
            </a:r>
            <a:r>
              <a:rPr lang="ko-KR" altLang="en-US" dirty="0"/>
              <a:t>→</a:t>
            </a:r>
            <a:r>
              <a:rPr lang="ko-KR" altLang="en-US" dirty="0" smtClean="0"/>
              <a:t> 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초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static double convert(String coordinate) </a:t>
            </a:r>
          </a:p>
          <a:p>
            <a:pPr lvl="1"/>
            <a:r>
              <a:rPr lang="ko-KR" altLang="en-US" dirty="0" smtClean="0"/>
              <a:t>도</a:t>
            </a:r>
            <a:r>
              <a:rPr lang="en-US" altLang="ko-KR" dirty="0" smtClean="0"/>
              <a:t>,</a:t>
            </a:r>
            <a:r>
              <a:rPr lang="ko-KR" altLang="en-US" dirty="0" smtClean="0"/>
              <a:t>분</a:t>
            </a:r>
            <a:r>
              <a:rPr lang="en-US" altLang="ko-KR" dirty="0" smtClean="0"/>
              <a:t>,</a:t>
            </a:r>
            <a:r>
              <a:rPr lang="ko-KR" altLang="en-US" dirty="0" smtClean="0"/>
              <a:t>초 → 실수</a:t>
            </a:r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29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707988" y="2332305"/>
            <a:ext cx="5828840" cy="28931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// Longitude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txt = (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EditText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findViewById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(R.id.editText3);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double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x =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location.getLongitude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String X = (x &gt; 0 ? 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400" dirty="0">
                <a:solidFill>
                  <a:srgbClr val="2A00FF"/>
                </a:solidFill>
                <a:latin typeface="돋움체"/>
                <a:ea typeface="돋움체"/>
              </a:rPr>
              <a:t>동경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: 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400" dirty="0">
                <a:solidFill>
                  <a:srgbClr val="2A00FF"/>
                </a:solidFill>
                <a:latin typeface="돋움체"/>
                <a:ea typeface="돋움체"/>
              </a:rPr>
              <a:t>서경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 + 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 "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    +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Location.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convert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(x,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Location.</a:t>
            </a:r>
            <a:r>
              <a:rPr lang="en-US" altLang="ko-KR" sz="1400" u="sng" dirty="0" err="1">
                <a:solidFill>
                  <a:srgbClr val="0000C0"/>
                </a:solidFill>
                <a:latin typeface="돋움체"/>
                <a:ea typeface="돋움체"/>
              </a:rPr>
              <a:t>FORMAT_SECONDS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txt.setText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 "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+ x + 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"\n"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+ X);</a:t>
            </a:r>
          </a:p>
          <a:p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// Latitude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txt = (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EditText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findViewById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(R.id.editText4);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double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y =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location.getLatitude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String Y = (y &gt; 0 ? 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400" dirty="0">
                <a:solidFill>
                  <a:srgbClr val="2A00FF"/>
                </a:solidFill>
                <a:latin typeface="돋움체"/>
                <a:ea typeface="돋움체"/>
              </a:rPr>
              <a:t>북위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: 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ko-KR" altLang="en-US" sz="1400" dirty="0">
                <a:solidFill>
                  <a:srgbClr val="2A00FF"/>
                </a:solidFill>
                <a:latin typeface="돋움체"/>
                <a:ea typeface="돋움체"/>
              </a:rPr>
              <a:t>남위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 + 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 "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    +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Location.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convert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(y,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Location.</a:t>
            </a:r>
            <a:r>
              <a:rPr lang="en-US" altLang="ko-KR" sz="1400" u="sng" dirty="0" err="1">
                <a:solidFill>
                  <a:srgbClr val="0000C0"/>
                </a:solidFill>
                <a:latin typeface="돋움체"/>
                <a:ea typeface="돋움체"/>
              </a:rPr>
              <a:t>FORMAT_SECONDS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txt.setText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 "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+ y + 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"\n"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+ Y);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7230" y="6105788"/>
            <a:ext cx="4583306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</a:t>
            </a:r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double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x =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Location.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convert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"128:36:31"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double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y =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Location.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convert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"35:53:12"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939493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400" dirty="0" smtClean="0"/>
              <a:t>거리의 계산</a:t>
            </a:r>
            <a:endParaRPr lang="ko-KR" altLang="en-US" sz="4400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두 지점의 거리 계산</a:t>
            </a:r>
            <a:endParaRPr lang="en-US" altLang="ko-KR" dirty="0" smtClean="0"/>
          </a:p>
          <a:p>
            <a:pPr lvl="1"/>
            <a:r>
              <a:rPr lang="en-US" altLang="ko-KR" dirty="0" err="1"/>
              <a:t>distanceBetween</a:t>
            </a:r>
            <a:r>
              <a:rPr lang="en-US" altLang="ko-KR" dirty="0"/>
              <a:t>(double </a:t>
            </a:r>
            <a:r>
              <a:rPr lang="en-US" altLang="ko-KR" dirty="0" err="1"/>
              <a:t>startLatitude</a:t>
            </a:r>
            <a:r>
              <a:rPr lang="en-US" altLang="ko-KR" dirty="0"/>
              <a:t>, double </a:t>
            </a:r>
            <a:r>
              <a:rPr lang="en-US" altLang="ko-KR" dirty="0" err="1"/>
              <a:t>startLongitude</a:t>
            </a:r>
            <a:r>
              <a:rPr lang="en-US" altLang="ko-KR" dirty="0"/>
              <a:t>, double </a:t>
            </a:r>
            <a:r>
              <a:rPr lang="en-US" altLang="ko-KR" dirty="0" err="1"/>
              <a:t>endLatitude</a:t>
            </a:r>
            <a:r>
              <a:rPr lang="en-US" altLang="ko-KR" dirty="0"/>
              <a:t>, double </a:t>
            </a:r>
            <a:r>
              <a:rPr lang="en-US" altLang="ko-KR" dirty="0" err="1"/>
              <a:t>endLongitude</a:t>
            </a:r>
            <a:r>
              <a:rPr lang="en-US" altLang="ko-KR" dirty="0"/>
              <a:t>, float[] results</a:t>
            </a:r>
            <a:r>
              <a:rPr lang="en-US" altLang="ko-KR" dirty="0" smtClean="0"/>
              <a:t>)</a:t>
            </a:r>
          </a:p>
          <a:p>
            <a:pPr lvl="2"/>
            <a:r>
              <a:rPr lang="ko-KR" altLang="en-US" dirty="0" smtClean="0"/>
              <a:t>시작과 끝의 경도</a:t>
            </a:r>
            <a:r>
              <a:rPr lang="en-US" altLang="ko-KR" dirty="0" smtClean="0"/>
              <a:t>,</a:t>
            </a:r>
            <a:r>
              <a:rPr lang="ko-KR" altLang="en-US" dirty="0" smtClean="0"/>
              <a:t>위도를 입력하여 거리를 계산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result[0] : </a:t>
            </a:r>
            <a:r>
              <a:rPr lang="ko-KR" altLang="en-US" dirty="0" smtClean="0"/>
              <a:t>두 지점의 거리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result[1] : </a:t>
            </a:r>
            <a:r>
              <a:rPr lang="ko-KR" altLang="en-US" dirty="0" smtClean="0"/>
              <a:t>시작</a:t>
            </a:r>
            <a:r>
              <a:rPr lang="en-US" altLang="ko-KR" dirty="0" smtClean="0"/>
              <a:t> </a:t>
            </a:r>
            <a:r>
              <a:rPr lang="ko-KR" altLang="en-US" dirty="0" smtClean="0"/>
              <a:t>지점에서 끝 지점을 바라본 방향 </a:t>
            </a:r>
            <a:r>
              <a:rPr lang="en-US" altLang="ko-KR" dirty="0" smtClean="0"/>
              <a:t>(Optional)</a:t>
            </a:r>
          </a:p>
          <a:p>
            <a:pPr lvl="2"/>
            <a:r>
              <a:rPr lang="en-US" altLang="ko-KR" dirty="0" smtClean="0"/>
              <a:t>result[2] : </a:t>
            </a:r>
            <a:r>
              <a:rPr lang="ko-KR" altLang="en-US" dirty="0" smtClean="0"/>
              <a:t>끝</a:t>
            </a:r>
            <a:r>
              <a:rPr lang="en-US" altLang="ko-KR" dirty="0" smtClean="0"/>
              <a:t> </a:t>
            </a:r>
            <a:r>
              <a:rPr lang="ko-KR" altLang="en-US" dirty="0" smtClean="0"/>
              <a:t>지점에서 시작 지점을 바라본 방향</a:t>
            </a:r>
            <a:r>
              <a:rPr lang="ko-KR" altLang="en-US" dirty="0"/>
              <a:t> </a:t>
            </a:r>
            <a:r>
              <a:rPr lang="en-US" altLang="ko-KR" dirty="0"/>
              <a:t>(Optional</a:t>
            </a:r>
            <a:r>
              <a:rPr lang="en-US" altLang="ko-KR" dirty="0" smtClean="0"/>
              <a:t>)</a:t>
            </a:r>
          </a:p>
          <a:p>
            <a:pPr lvl="1"/>
            <a:endParaRPr lang="en-US" altLang="ko-KR" dirty="0" smtClean="0"/>
          </a:p>
          <a:p>
            <a:pPr lvl="1"/>
            <a:r>
              <a:rPr lang="en-US" altLang="ko-KR" dirty="0" smtClean="0"/>
              <a:t>float </a:t>
            </a:r>
            <a:r>
              <a:rPr lang="en-US" altLang="ko-KR" dirty="0" err="1" smtClean="0"/>
              <a:t>distanceTo</a:t>
            </a:r>
            <a:r>
              <a:rPr lang="en-US" altLang="ko-KR" dirty="0" smtClean="0"/>
              <a:t> </a:t>
            </a:r>
            <a:r>
              <a:rPr lang="en-US" altLang="ko-KR" dirty="0"/>
              <a:t>(Location </a:t>
            </a:r>
            <a:r>
              <a:rPr lang="en-US" altLang="ko-KR" dirty="0" err="1"/>
              <a:t>dest</a:t>
            </a:r>
            <a:r>
              <a:rPr lang="en-US" altLang="ko-KR" dirty="0" smtClean="0"/>
              <a:t>)</a:t>
            </a:r>
          </a:p>
          <a:p>
            <a:pPr lvl="2"/>
            <a:r>
              <a:rPr lang="ko-KR" altLang="en-US" dirty="0" smtClean="0"/>
              <a:t>현재 지점에서 주어진 지점까지의 거리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r>
              <a:rPr lang="en-US" altLang="ko-KR" dirty="0" smtClean="0"/>
              <a:t>float </a:t>
            </a:r>
            <a:r>
              <a:rPr lang="en-US" altLang="ko-KR" dirty="0" err="1"/>
              <a:t>bearingTo</a:t>
            </a:r>
            <a:r>
              <a:rPr lang="en-US" altLang="ko-KR" dirty="0"/>
              <a:t> (Location </a:t>
            </a:r>
            <a:r>
              <a:rPr lang="en-US" altLang="ko-KR" dirty="0" err="1" smtClean="0"/>
              <a:t>dest</a:t>
            </a:r>
            <a:r>
              <a:rPr lang="en-US" altLang="ko-KR" dirty="0" smtClean="0"/>
              <a:t>)</a:t>
            </a:r>
          </a:p>
          <a:p>
            <a:pPr lvl="2"/>
            <a:r>
              <a:rPr lang="ko-KR" altLang="en-US" dirty="0" smtClean="0"/>
              <a:t>현재 지점에서 주어진 지점을 바라본 방향</a:t>
            </a:r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5900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400" dirty="0" smtClean="0"/>
              <a:t>도착 알림</a:t>
            </a:r>
            <a:endParaRPr lang="ko-KR" altLang="en-US" sz="4400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특정 지점에 도달했을 때 알림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LocationManager</a:t>
            </a:r>
            <a:r>
              <a:rPr lang="ko-KR" altLang="en-US" dirty="0" smtClean="0"/>
              <a:t>에 한번 등록해 두면 시스템이 알아서 감시</a:t>
            </a:r>
            <a:endParaRPr lang="fr-FR" altLang="ko-KR" dirty="0" smtClean="0"/>
          </a:p>
          <a:p>
            <a:pPr lvl="1"/>
            <a:r>
              <a:rPr lang="fr-FR" altLang="ko-KR" dirty="0" err="1" smtClean="0"/>
              <a:t>void</a:t>
            </a:r>
            <a:r>
              <a:rPr lang="fr-FR" altLang="ko-KR" dirty="0" smtClean="0"/>
              <a:t> </a:t>
            </a:r>
            <a:r>
              <a:rPr lang="fr-FR" altLang="ko-KR" dirty="0" err="1" smtClean="0"/>
              <a:t>addProximityAlert</a:t>
            </a:r>
            <a:r>
              <a:rPr lang="fr-FR" altLang="ko-KR" dirty="0" smtClean="0"/>
              <a:t>(double </a:t>
            </a:r>
            <a:r>
              <a:rPr lang="fr-FR" altLang="ko-KR" dirty="0"/>
              <a:t>latitude, double longitude, </a:t>
            </a:r>
            <a:r>
              <a:rPr lang="fr-FR" altLang="ko-KR" dirty="0" err="1"/>
              <a:t>float</a:t>
            </a:r>
            <a:r>
              <a:rPr lang="fr-FR" altLang="ko-KR" dirty="0"/>
              <a:t> radius, long expiration, </a:t>
            </a:r>
            <a:r>
              <a:rPr lang="fr-FR" altLang="ko-KR" dirty="0" err="1"/>
              <a:t>PendingIntent</a:t>
            </a:r>
            <a:r>
              <a:rPr lang="fr-FR" altLang="ko-KR" dirty="0"/>
              <a:t> </a:t>
            </a:r>
            <a:r>
              <a:rPr lang="fr-FR" altLang="ko-KR" dirty="0" err="1"/>
              <a:t>intent</a:t>
            </a:r>
            <a:r>
              <a:rPr lang="fr-FR" altLang="ko-KR" dirty="0" smtClean="0"/>
              <a:t>)</a:t>
            </a:r>
          </a:p>
          <a:p>
            <a:pPr lvl="2"/>
            <a:r>
              <a:rPr lang="ko-KR" altLang="en-US" dirty="0" smtClean="0"/>
              <a:t>위치 알림 등록</a:t>
            </a:r>
            <a:endParaRPr lang="fr-FR" altLang="ko-KR" dirty="0" smtClean="0"/>
          </a:p>
          <a:p>
            <a:pPr lvl="1"/>
            <a:r>
              <a:rPr lang="en-US" altLang="ko-KR" dirty="0" smtClean="0"/>
              <a:t>void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removeProximityAlert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PendingIntent</a:t>
            </a:r>
            <a:r>
              <a:rPr lang="en-US" altLang="ko-KR" dirty="0" smtClean="0"/>
              <a:t> </a:t>
            </a:r>
            <a:r>
              <a:rPr lang="en-US" altLang="ko-KR" dirty="0"/>
              <a:t>intent</a:t>
            </a:r>
            <a:r>
              <a:rPr lang="en-US" altLang="ko-KR" dirty="0" smtClean="0"/>
              <a:t>)</a:t>
            </a:r>
          </a:p>
          <a:p>
            <a:pPr lvl="2"/>
            <a:r>
              <a:rPr lang="ko-KR" altLang="en-US" dirty="0" smtClean="0"/>
              <a:t>위치 알림 </a:t>
            </a:r>
            <a:r>
              <a:rPr lang="ko-KR" altLang="en-US" dirty="0" smtClean="0"/>
              <a:t>해제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지정된</a:t>
            </a:r>
            <a:r>
              <a:rPr lang="en-US" altLang="ko-KR" dirty="0" smtClean="0"/>
              <a:t> </a:t>
            </a:r>
            <a:r>
              <a:rPr lang="ko-KR" altLang="en-US" dirty="0" smtClean="0"/>
              <a:t>지점의 반경 내에 들어갈 경우 </a:t>
            </a:r>
            <a:r>
              <a:rPr lang="ko-KR" altLang="en-US" dirty="0" err="1" smtClean="0"/>
              <a:t>인텐트</a:t>
            </a:r>
            <a:r>
              <a:rPr lang="ko-KR" altLang="en-US" dirty="0" smtClean="0"/>
              <a:t> 발송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Activity</a:t>
            </a:r>
            <a:r>
              <a:rPr lang="ko-KR" altLang="en-US" dirty="0" smtClean="0"/>
              <a:t>가 활성 되어 있을 때만 감시하려면</a:t>
            </a:r>
            <a:r>
              <a:rPr lang="en-US" altLang="ko-KR" dirty="0" smtClean="0"/>
              <a:t>,</a:t>
            </a:r>
            <a:br>
              <a:rPr lang="en-US" altLang="ko-KR" dirty="0" smtClean="0"/>
            </a:br>
            <a:r>
              <a:rPr lang="en-US" altLang="ko-KR" dirty="0" err="1" smtClean="0"/>
              <a:t>onResume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add</a:t>
            </a:r>
            <a:r>
              <a:rPr lang="ko-KR" altLang="en-US" dirty="0" smtClean="0"/>
              <a:t>하고 </a:t>
            </a:r>
            <a:r>
              <a:rPr lang="en-US" altLang="ko-KR" dirty="0" err="1" smtClean="0"/>
              <a:t>onPause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remove</a:t>
            </a:r>
          </a:p>
          <a:p>
            <a:pPr lvl="1"/>
            <a:r>
              <a:rPr lang="ko-KR" altLang="en-US" dirty="0" smtClean="0"/>
              <a:t>등록만 하면 바로 동작</a:t>
            </a:r>
            <a:r>
              <a:rPr lang="en-US" altLang="ko-KR" dirty="0" smtClean="0"/>
              <a:t>, </a:t>
            </a:r>
            <a:r>
              <a:rPr lang="ko-KR" altLang="en-US" dirty="0" smtClean="0"/>
              <a:t>위치 정보를 읽기 위한 어떠한 코드도 필요하지 않음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위치 정보 접근 권한은 필요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즉각적이고 실시간 접근이 필요한 경우에 적합하지 않음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장치가 </a:t>
            </a:r>
            <a:r>
              <a:rPr lang="en-US" altLang="ko-KR" dirty="0" smtClean="0"/>
              <a:t>Sleep </a:t>
            </a:r>
            <a:r>
              <a:rPr lang="ko-KR" altLang="en-US" dirty="0" smtClean="0"/>
              <a:t>중일 때는 대략 </a:t>
            </a:r>
            <a:r>
              <a:rPr lang="en-US" altLang="ko-KR" dirty="0" smtClean="0"/>
              <a:t>4</a:t>
            </a:r>
            <a:r>
              <a:rPr lang="ko-KR" altLang="en-US" dirty="0" smtClean="0"/>
              <a:t>분에 한번 꼴로 위치 조사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4</a:t>
            </a:r>
            <a:r>
              <a:rPr lang="ko-KR" altLang="en-US" dirty="0" smtClean="0"/>
              <a:t>분 내에 지정된 위치를 통과할 경우 알림이 발생하지 않음</a:t>
            </a:r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5029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32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LocationManager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3737433" cy="45243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rgbClr val="008080"/>
                </a:solidFill>
                <a:latin typeface="맑은 고딕"/>
              </a:rPr>
              <a:t>    &lt;</a:t>
            </a:r>
            <a:r>
              <a:rPr lang="en-US" altLang="ko-KR" sz="1200" dirty="0" err="1">
                <a:solidFill>
                  <a:srgbClr val="3F7F7F"/>
                </a:solidFill>
                <a:latin typeface="맑은 고딕"/>
              </a:rPr>
              <a:t>TableLayout</a:t>
            </a:r>
            <a:endParaRPr lang="en-US" altLang="ko-KR" sz="1200" dirty="0">
              <a:solidFill>
                <a:srgbClr val="3F7F7F"/>
              </a:solidFill>
              <a:latin typeface="맑은 고딕"/>
            </a:endParaRPr>
          </a:p>
          <a:p>
            <a:r>
              <a:rPr lang="en-US" altLang="ko-KR" sz="1200" dirty="0"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"@+id/tableLayout1"</a:t>
            </a:r>
          </a:p>
          <a:p>
            <a:r>
              <a:rPr lang="en-US" altLang="ko-KR" sz="1200" dirty="0" smtClean="0"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200" i="1" dirty="0" smtClean="0">
                <a:solidFill>
                  <a:srgbClr val="2A00FF"/>
                </a:solidFill>
                <a:latin typeface="맑은 고딕"/>
              </a:rPr>
              <a:t>"</a:t>
            </a:r>
            <a:endParaRPr lang="en-US" altLang="ko-KR" sz="1200" dirty="0" smtClean="0">
              <a:solidFill>
                <a:srgbClr val="008080"/>
              </a:solidFill>
              <a:latin typeface="맑은 고딕"/>
            </a:endParaRPr>
          </a:p>
          <a:p>
            <a:r>
              <a:rPr lang="en-US" altLang="ko-KR" sz="1200" dirty="0" smtClean="0"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200" i="1" dirty="0" smtClean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&gt;</a:t>
            </a:r>
            <a:endParaRPr lang="en-US" altLang="ko-KR" sz="1200" i="1" dirty="0">
              <a:solidFill>
                <a:srgbClr val="2A00FF"/>
              </a:solidFill>
              <a:latin typeface="맑은 고딕"/>
            </a:endParaRPr>
          </a:p>
          <a:p>
            <a:r>
              <a:rPr lang="en-US" altLang="ko-KR" sz="1200" dirty="0" smtClean="0">
                <a:solidFill>
                  <a:srgbClr val="000000"/>
                </a:solidFill>
                <a:latin typeface="맑은 고딕"/>
              </a:rPr>
              <a:t>        </a:t>
            </a:r>
            <a:r>
              <a:rPr lang="en-US" altLang="ko-KR" sz="1200" dirty="0" smtClean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200" dirty="0" err="1" smtClean="0">
                <a:solidFill>
                  <a:srgbClr val="3F7F7F"/>
                </a:solidFill>
                <a:latin typeface="맑은 고딕"/>
              </a:rPr>
              <a:t>TableRow</a:t>
            </a:r>
            <a:endParaRPr lang="en-US" altLang="ko-KR" sz="1200" dirty="0" smtClean="0">
              <a:solidFill>
                <a:srgbClr val="3F7F7F"/>
              </a:solidFill>
              <a:latin typeface="맑은 고딕"/>
            </a:endParaRPr>
          </a:p>
          <a:p>
            <a:r>
              <a:rPr lang="en-US" altLang="ko-KR" sz="1200" dirty="0" smtClean="0">
                <a:solidFill>
                  <a:srgbClr val="7F007F"/>
                </a:solidFill>
                <a:latin typeface="맑은 고딕"/>
              </a:rPr>
              <a:t>        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endParaRPr lang="en-US" altLang="ko-KR" sz="1200" i="1" dirty="0" smtClean="0">
              <a:solidFill>
                <a:srgbClr val="2A00FF"/>
              </a:solidFill>
              <a:latin typeface="맑은 고딕"/>
            </a:endParaRPr>
          </a:p>
          <a:p>
            <a:r>
              <a:rPr lang="en-US" altLang="ko-KR" sz="1200" dirty="0" smtClean="0">
                <a:latin typeface="맑은 고딕"/>
              </a:rPr>
              <a:t>        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200" dirty="0" smtClean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 smtClean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 smtClean="0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200" i="1" dirty="0" smtClean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dirty="0" smtClean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맑은 고딕"/>
              </a:rPr>
              <a:t>            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200" dirty="0" err="1">
                <a:solidFill>
                  <a:srgbClr val="3F7F7F"/>
                </a:solidFill>
                <a:latin typeface="맑은 고딕"/>
              </a:rPr>
              <a:t>TextView</a:t>
            </a:r>
            <a:endParaRPr lang="en-US" altLang="ko-KR" sz="1200" dirty="0">
              <a:solidFill>
                <a:srgbClr val="3F7F7F"/>
              </a:solidFill>
              <a:latin typeface="맑은 고딕"/>
            </a:endParaRPr>
          </a:p>
          <a:p>
            <a:r>
              <a:rPr lang="en-US" altLang="ko-KR" sz="1200" dirty="0">
                <a:latin typeface="맑은 고딕"/>
              </a:rPr>
              <a:t>        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"@+id/textView1"</a:t>
            </a:r>
          </a:p>
          <a:p>
            <a:r>
              <a:rPr lang="en-US" altLang="ko-KR" sz="1200" dirty="0">
                <a:latin typeface="맑은 고딕"/>
              </a:rPr>
              <a:t>        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"Provider"</a:t>
            </a:r>
          </a:p>
          <a:p>
            <a:r>
              <a:rPr lang="en-US" altLang="ko-KR" sz="1200" dirty="0" smtClean="0">
                <a:latin typeface="맑은 고딕"/>
              </a:rPr>
              <a:t>        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endParaRPr lang="en-US" altLang="ko-KR" sz="1200" i="1" dirty="0" smtClean="0">
              <a:solidFill>
                <a:srgbClr val="2A00FF"/>
              </a:solidFill>
              <a:latin typeface="맑은 고딕"/>
            </a:endParaRPr>
          </a:p>
          <a:p>
            <a:r>
              <a:rPr lang="en-US" altLang="ko-KR" sz="1200" dirty="0" smtClean="0">
                <a:latin typeface="맑은 고딕"/>
              </a:rPr>
              <a:t>                </a:t>
            </a:r>
            <a:r>
              <a:rPr lang="en-US" altLang="ko-KR" sz="1200" dirty="0" err="1" smtClean="0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200" dirty="0" smtClean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 smtClean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 smtClean="0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200" i="1" dirty="0" smtClean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200" dirty="0" smtClean="0">
                <a:latin typeface="맑은 고딕"/>
              </a:rPr>
              <a:t>                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/&gt;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            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200" dirty="0" err="1">
                <a:solidFill>
                  <a:srgbClr val="3F7F7F"/>
                </a:solidFill>
                <a:latin typeface="맑은 고딕"/>
              </a:rPr>
              <a:t>EditText</a:t>
            </a:r>
            <a:endParaRPr lang="en-US" altLang="ko-KR" sz="1200" dirty="0">
              <a:solidFill>
                <a:srgbClr val="3F7F7F"/>
              </a:solidFill>
              <a:latin typeface="맑은 고딕"/>
            </a:endParaRPr>
          </a:p>
          <a:p>
            <a:r>
              <a:rPr lang="en-US" altLang="ko-KR" sz="1200" dirty="0">
                <a:latin typeface="맑은 고딕"/>
              </a:rPr>
              <a:t>        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"@+id/editText1"</a:t>
            </a:r>
          </a:p>
          <a:p>
            <a:r>
              <a:rPr lang="en-US" altLang="ko-KR" sz="1200" dirty="0">
                <a:latin typeface="맑은 고딕"/>
              </a:rPr>
              <a:t>        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""</a:t>
            </a:r>
          </a:p>
          <a:p>
            <a:r>
              <a:rPr lang="en-US" altLang="ko-KR" sz="1200" dirty="0" smtClean="0">
                <a:latin typeface="맑은 고딕"/>
              </a:rPr>
              <a:t>        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 smtClean="0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200" i="1" dirty="0" smtClean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200" dirty="0" smtClean="0">
                <a:latin typeface="맑은 고딕"/>
              </a:rPr>
              <a:t>        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ko-KR" altLang="en-US" sz="1200" dirty="0">
                <a:latin typeface="맑은 고딕"/>
              </a:rPr>
              <a:t>                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/&gt;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        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sz="1200" dirty="0" err="1">
                <a:solidFill>
                  <a:srgbClr val="3F7F7F"/>
                </a:solidFill>
                <a:latin typeface="맑은 고딕"/>
              </a:rPr>
              <a:t>TableRow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        </a:t>
            </a:r>
            <a:r>
              <a:rPr lang="en-US" altLang="ko-KR" sz="12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200" dirty="0" err="1" smtClean="0">
                <a:solidFill>
                  <a:srgbClr val="3F7F7F"/>
                </a:solidFill>
                <a:latin typeface="맑은 고딕"/>
              </a:rPr>
              <a:t>TableRow</a:t>
            </a:r>
            <a:r>
              <a:rPr lang="en-US" altLang="ko-KR" sz="1200" dirty="0" smtClean="0">
                <a:solidFill>
                  <a:srgbClr val="3F7F7F"/>
                </a:solidFill>
                <a:latin typeface="맑은 고딕"/>
              </a:rPr>
              <a:t> …</a:t>
            </a:r>
          </a:p>
          <a:p>
            <a:r>
              <a:rPr lang="en-US" altLang="ko-KR" sz="1200" dirty="0">
                <a:solidFill>
                  <a:srgbClr val="3F7F7F"/>
                </a:solidFill>
                <a:latin typeface="맑은 고딕"/>
              </a:rPr>
              <a:t> </a:t>
            </a:r>
            <a:r>
              <a:rPr lang="en-US" altLang="ko-KR" sz="1200" dirty="0" smtClean="0">
                <a:solidFill>
                  <a:srgbClr val="3F7F7F"/>
                </a:solidFill>
                <a:latin typeface="맑은 고딕"/>
              </a:rPr>
              <a:t>           …</a:t>
            </a:r>
          </a:p>
          <a:p>
            <a:r>
              <a:rPr lang="en-US" altLang="ko-KR" sz="1200" dirty="0">
                <a:solidFill>
                  <a:srgbClr val="3F7F7F"/>
                </a:solidFill>
                <a:latin typeface="맑은 고딕"/>
                <a:ea typeface="돋움체"/>
              </a:rPr>
              <a:t> </a:t>
            </a:r>
            <a:r>
              <a:rPr lang="en-US" altLang="ko-KR" sz="1200" dirty="0" smtClean="0">
                <a:solidFill>
                  <a:srgbClr val="3F7F7F"/>
                </a:solidFill>
                <a:latin typeface="맑은 고딕"/>
                <a:ea typeface="돋움체"/>
              </a:rPr>
              <a:t>       &lt;/</a:t>
            </a:r>
            <a:r>
              <a:rPr lang="en-US" altLang="ko-KR" sz="1200" dirty="0" err="1" smtClean="0">
                <a:solidFill>
                  <a:srgbClr val="3F7F7F"/>
                </a:solidFill>
                <a:latin typeface="맑은 고딕"/>
                <a:ea typeface="돋움체"/>
              </a:rPr>
              <a:t>TableRow</a:t>
            </a:r>
            <a:r>
              <a:rPr lang="en-US" altLang="ko-KR" sz="1200" dirty="0" smtClean="0">
                <a:solidFill>
                  <a:srgbClr val="3F7F7F"/>
                </a:solidFill>
                <a:latin typeface="맑은 고딕"/>
                <a:ea typeface="돋움체"/>
              </a:rPr>
              <a:t>&gt;</a:t>
            </a:r>
          </a:p>
          <a:p>
            <a:r>
              <a:rPr lang="en-US" altLang="ko-KR" sz="1200" dirty="0">
                <a:solidFill>
                  <a:srgbClr val="3F7F7F"/>
                </a:solidFill>
                <a:latin typeface="맑은 고딕"/>
                <a:ea typeface="돋움체"/>
              </a:rPr>
              <a:t> </a:t>
            </a:r>
            <a:r>
              <a:rPr lang="en-US" altLang="ko-KR" sz="1200" dirty="0" smtClean="0">
                <a:solidFill>
                  <a:srgbClr val="3F7F7F"/>
                </a:solidFill>
                <a:latin typeface="맑은 고딕"/>
                <a:ea typeface="돋움체"/>
              </a:rPr>
              <a:t>   &lt;/</a:t>
            </a:r>
            <a:r>
              <a:rPr lang="en-US" altLang="ko-KR" sz="1200" dirty="0" err="1" smtClean="0">
                <a:solidFill>
                  <a:srgbClr val="3F7F7F"/>
                </a:solidFill>
                <a:latin typeface="맑은 고딕"/>
                <a:ea typeface="돋움체"/>
              </a:rPr>
              <a:t>TableLayout</a:t>
            </a:r>
            <a:r>
              <a:rPr lang="en-US" altLang="ko-KR" sz="1200" dirty="0" smtClean="0">
                <a:solidFill>
                  <a:srgbClr val="3F7F7F"/>
                </a:solidFill>
                <a:latin typeface="맑은 고딕"/>
                <a:ea typeface="돋움체"/>
              </a:rPr>
              <a:t>&gt;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3199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GPS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smtClean="0">
                <a:solidFill>
                  <a:prstClr val="black"/>
                </a:solidFill>
              </a:rPr>
              <a:t>res/layout/</a:t>
            </a:r>
            <a:r>
              <a:rPr lang="en-US" altLang="ko-KR" dirty="0" smtClean="0">
                <a:solidFill>
                  <a:prstClr val="black"/>
                </a:solidFill>
              </a:rPr>
              <a:t>activity_</a:t>
            </a:r>
            <a:r>
              <a:rPr lang="en-US" altLang="ko-KR" dirty="0" smtClean="0">
                <a:solidFill>
                  <a:prstClr val="black"/>
                </a:solidFill>
              </a:rPr>
              <a:t>main.xml</a:t>
            </a:r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733" y="1280160"/>
            <a:ext cx="3044958" cy="541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269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33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Permission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97230" y="1280160"/>
            <a:ext cx="24261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GPS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926491"/>
            <a:ext cx="8312658" cy="455509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0080"/>
                </a:solidFill>
              </a:rPr>
              <a:t>static final Integer APP_PERMISSION = 1;</a:t>
            </a:r>
          </a:p>
          <a:p>
            <a:r>
              <a:rPr lang="en-US" sz="1200" b="1" dirty="0" smtClean="0">
                <a:solidFill>
                  <a:srgbClr val="000080"/>
                </a:solidFill>
              </a:rPr>
              <a:t>private </a:t>
            </a:r>
            <a:r>
              <a:rPr lang="en-US" sz="1200" b="1" dirty="0">
                <a:solidFill>
                  <a:srgbClr val="000080"/>
                </a:solidFill>
              </a:rPr>
              <a:t>void </a:t>
            </a:r>
            <a:r>
              <a:rPr lang="en-US" sz="1200" dirty="0" err="1"/>
              <a:t>askForPermission</a:t>
            </a:r>
            <a:r>
              <a:rPr lang="en-US" sz="1200" dirty="0"/>
              <a:t>(String permission, Integer </a:t>
            </a:r>
            <a:r>
              <a:rPr lang="en-US" sz="1200" dirty="0" err="1"/>
              <a:t>requestCode</a:t>
            </a:r>
            <a:r>
              <a:rPr lang="en-US" sz="1200" dirty="0"/>
              <a:t>)</a:t>
            </a:r>
            <a:br>
              <a:rPr lang="en-US" sz="1200" dirty="0"/>
            </a:br>
            <a:r>
              <a:rPr lang="en-US" sz="1200" dirty="0"/>
              <a:t>{</a:t>
            </a:r>
            <a:br>
              <a:rPr lang="en-US" sz="1200" dirty="0"/>
            </a:br>
            <a:r>
              <a:rPr lang="en-US" sz="1200" dirty="0"/>
              <a:t>    </a:t>
            </a:r>
            <a:r>
              <a:rPr lang="en-US" sz="1200" b="1" dirty="0">
                <a:solidFill>
                  <a:srgbClr val="000080"/>
                </a:solidFill>
              </a:rPr>
              <a:t>if</a:t>
            </a:r>
            <a:r>
              <a:rPr lang="en-US" sz="1200" dirty="0"/>
              <a:t>(</a:t>
            </a:r>
            <a:r>
              <a:rPr lang="en-US" sz="1200" dirty="0" err="1"/>
              <a:t>ContextCompat.</a:t>
            </a:r>
            <a:r>
              <a:rPr lang="en-US" sz="1200" i="1" dirty="0" err="1"/>
              <a:t>checkSelfPermission</a:t>
            </a:r>
            <a:r>
              <a:rPr lang="en-US" sz="1200" dirty="0"/>
              <a:t>(</a:t>
            </a:r>
            <a:r>
              <a:rPr lang="en-US" sz="1200" dirty="0" err="1"/>
              <a:t>MainActivity.</a:t>
            </a:r>
            <a:r>
              <a:rPr lang="en-US" sz="1200" b="1" dirty="0" err="1">
                <a:solidFill>
                  <a:srgbClr val="000080"/>
                </a:solidFill>
              </a:rPr>
              <a:t>this</a:t>
            </a:r>
            <a:r>
              <a:rPr lang="en-US" sz="1200" dirty="0"/>
              <a:t>, permission)</a:t>
            </a:r>
            <a:br>
              <a:rPr lang="en-US" sz="1200" dirty="0"/>
            </a:br>
            <a:r>
              <a:rPr lang="en-US" sz="1200" dirty="0"/>
              <a:t>            != </a:t>
            </a:r>
            <a:r>
              <a:rPr lang="en-US" sz="1200" dirty="0" err="1"/>
              <a:t>PackageManager.</a:t>
            </a:r>
            <a:r>
              <a:rPr lang="en-US" sz="1200" b="1" i="1" dirty="0" err="1">
                <a:solidFill>
                  <a:srgbClr val="660E7A"/>
                </a:solidFill>
              </a:rPr>
              <a:t>PERMISSION_GRANTED</a:t>
            </a:r>
            <a:r>
              <a:rPr lang="en-US" sz="1200" dirty="0"/>
              <a:t>) {</a:t>
            </a:r>
            <a:br>
              <a:rPr lang="en-US" sz="1200" dirty="0"/>
            </a:br>
            <a:r>
              <a:rPr lang="en-US" sz="1200" dirty="0"/>
              <a:t>        </a:t>
            </a:r>
            <a:r>
              <a:rPr lang="en-US" sz="1200" b="1" dirty="0">
                <a:solidFill>
                  <a:srgbClr val="000080"/>
                </a:solidFill>
              </a:rPr>
              <a:t>if </a:t>
            </a:r>
            <a:r>
              <a:rPr lang="en-US" sz="1200" dirty="0"/>
              <a:t>(</a:t>
            </a:r>
            <a:r>
              <a:rPr lang="en-US" sz="1200" dirty="0" err="1"/>
              <a:t>ActivityCompat.</a:t>
            </a:r>
            <a:r>
              <a:rPr lang="en-US" sz="1200" i="1" dirty="0" err="1"/>
              <a:t>shouldShowRequestPermissionRationale</a:t>
            </a:r>
            <a:r>
              <a:rPr lang="en-US" sz="1200" dirty="0"/>
              <a:t>(</a:t>
            </a:r>
            <a:r>
              <a:rPr lang="en-US" sz="1200" dirty="0" err="1"/>
              <a:t>MainActivity.</a:t>
            </a:r>
            <a:r>
              <a:rPr lang="en-US" sz="1200" b="1" dirty="0" err="1">
                <a:solidFill>
                  <a:srgbClr val="000080"/>
                </a:solidFill>
              </a:rPr>
              <a:t>this</a:t>
            </a:r>
            <a:r>
              <a:rPr lang="en-US" sz="1200" dirty="0"/>
              <a:t>, permission)) {</a:t>
            </a:r>
            <a:br>
              <a:rPr lang="en-US" sz="1200" dirty="0"/>
            </a:br>
            <a:r>
              <a:rPr lang="en-US" sz="1200" dirty="0"/>
              <a:t>            </a:t>
            </a:r>
            <a:r>
              <a:rPr lang="en-US" sz="1200" dirty="0" err="1"/>
              <a:t>ActivityCompat.</a:t>
            </a:r>
            <a:r>
              <a:rPr lang="en-US" sz="1200" i="1" dirty="0" err="1"/>
              <a:t>requestPermissions</a:t>
            </a:r>
            <a:r>
              <a:rPr lang="en-US" sz="1200" dirty="0"/>
              <a:t>(</a:t>
            </a:r>
            <a:r>
              <a:rPr lang="en-US" sz="1200" dirty="0" err="1"/>
              <a:t>MainActivity.</a:t>
            </a:r>
            <a:r>
              <a:rPr lang="en-US" sz="1200" b="1" dirty="0" err="1">
                <a:solidFill>
                  <a:srgbClr val="000080"/>
                </a:solidFill>
              </a:rPr>
              <a:t>this</a:t>
            </a:r>
            <a:r>
              <a:rPr lang="en-US" sz="1200" dirty="0"/>
              <a:t>, </a:t>
            </a:r>
            <a:r>
              <a:rPr lang="en-US" sz="1200" b="1" dirty="0">
                <a:solidFill>
                  <a:srgbClr val="000080"/>
                </a:solidFill>
              </a:rPr>
              <a:t>new </a:t>
            </a:r>
            <a:r>
              <a:rPr lang="en-US" sz="1200" dirty="0"/>
              <a:t>String[]{permission}, </a:t>
            </a:r>
            <a:r>
              <a:rPr lang="en-US" sz="1200" dirty="0" err="1"/>
              <a:t>requestCode</a:t>
            </a:r>
            <a:r>
              <a:rPr lang="en-US" sz="1200" dirty="0"/>
              <a:t>);</a:t>
            </a:r>
            <a:br>
              <a:rPr lang="en-US" sz="1200" dirty="0"/>
            </a:br>
            <a:r>
              <a:rPr lang="en-US" sz="1200" dirty="0"/>
              <a:t>        } </a:t>
            </a:r>
            <a:r>
              <a:rPr lang="en-US" sz="1200" b="1" dirty="0">
                <a:solidFill>
                  <a:srgbClr val="000080"/>
                </a:solidFill>
              </a:rPr>
              <a:t>else </a:t>
            </a:r>
            <a:r>
              <a:rPr lang="en-US" sz="1200" dirty="0"/>
              <a:t>{</a:t>
            </a:r>
            <a:br>
              <a:rPr lang="en-US" sz="1200" dirty="0"/>
            </a:br>
            <a:r>
              <a:rPr lang="en-US" sz="1200" dirty="0"/>
              <a:t>            </a:t>
            </a:r>
            <a:r>
              <a:rPr lang="en-US" sz="1200" dirty="0" err="1"/>
              <a:t>ActivityCompat.</a:t>
            </a:r>
            <a:r>
              <a:rPr lang="en-US" sz="1200" i="1" dirty="0" err="1"/>
              <a:t>requestPermissions</a:t>
            </a:r>
            <a:r>
              <a:rPr lang="en-US" sz="1200" dirty="0"/>
              <a:t>(</a:t>
            </a:r>
            <a:r>
              <a:rPr lang="en-US" sz="1200" dirty="0" err="1"/>
              <a:t>MainActivity.</a:t>
            </a:r>
            <a:r>
              <a:rPr lang="en-US" sz="1200" b="1" dirty="0" err="1">
                <a:solidFill>
                  <a:srgbClr val="000080"/>
                </a:solidFill>
              </a:rPr>
              <a:t>this</a:t>
            </a:r>
            <a:r>
              <a:rPr lang="en-US" sz="1200" dirty="0"/>
              <a:t>, </a:t>
            </a:r>
            <a:r>
              <a:rPr lang="en-US" sz="1200" b="1" dirty="0">
                <a:solidFill>
                  <a:srgbClr val="000080"/>
                </a:solidFill>
              </a:rPr>
              <a:t>new </a:t>
            </a:r>
            <a:r>
              <a:rPr lang="en-US" sz="1200" dirty="0"/>
              <a:t>String[]{permission}, </a:t>
            </a:r>
            <a:r>
              <a:rPr lang="en-US" sz="1200" dirty="0" err="1"/>
              <a:t>requestCode</a:t>
            </a:r>
            <a:r>
              <a:rPr lang="en-US" sz="1200" dirty="0"/>
              <a:t>);</a:t>
            </a:r>
            <a:br>
              <a:rPr lang="en-US" sz="1200" dirty="0"/>
            </a:br>
            <a:r>
              <a:rPr lang="en-US" sz="1200" dirty="0"/>
              <a:t>        }</a:t>
            </a:r>
            <a:br>
              <a:rPr lang="en-US" sz="1200" dirty="0"/>
            </a:br>
            <a:r>
              <a:rPr lang="en-US" sz="1200" dirty="0"/>
              <a:t>    } </a:t>
            </a:r>
            <a:r>
              <a:rPr lang="en-US" sz="1200" b="1" dirty="0">
                <a:solidFill>
                  <a:srgbClr val="000080"/>
                </a:solidFill>
              </a:rPr>
              <a:t>else </a:t>
            </a:r>
            <a:r>
              <a:rPr lang="en-US" sz="1200" dirty="0"/>
              <a:t>{</a:t>
            </a:r>
            <a:br>
              <a:rPr lang="en-US" sz="1200" dirty="0"/>
            </a:br>
            <a:r>
              <a:rPr lang="en-US" sz="1200" dirty="0"/>
              <a:t>        </a:t>
            </a:r>
            <a:r>
              <a:rPr lang="en-US" sz="1200" dirty="0" err="1"/>
              <a:t>Toast.</a:t>
            </a:r>
            <a:r>
              <a:rPr lang="en-US" sz="1200" i="1" dirty="0" err="1"/>
              <a:t>makeText</a:t>
            </a:r>
            <a:r>
              <a:rPr lang="en-US" sz="1200" dirty="0"/>
              <a:t>(</a:t>
            </a:r>
            <a:r>
              <a:rPr lang="en-US" sz="1200" b="1" dirty="0">
                <a:solidFill>
                  <a:srgbClr val="000080"/>
                </a:solidFill>
              </a:rPr>
              <a:t>this</a:t>
            </a:r>
            <a:r>
              <a:rPr lang="en-US" sz="1200" dirty="0"/>
              <a:t>, </a:t>
            </a:r>
            <a:r>
              <a:rPr lang="en-US" sz="1200" b="1" dirty="0">
                <a:solidFill>
                  <a:srgbClr val="008000"/>
                </a:solidFill>
              </a:rPr>
              <a:t>"" </a:t>
            </a:r>
            <a:r>
              <a:rPr lang="en-US" sz="1200" dirty="0"/>
              <a:t>+ permission + </a:t>
            </a:r>
            <a:r>
              <a:rPr lang="en-US" sz="1200" b="1" dirty="0">
                <a:solidFill>
                  <a:srgbClr val="008000"/>
                </a:solidFill>
              </a:rPr>
              <a:t>" is already granted"</a:t>
            </a:r>
            <a:r>
              <a:rPr lang="en-US" sz="1200" dirty="0"/>
              <a:t>, </a:t>
            </a:r>
            <a:r>
              <a:rPr lang="en-US" sz="1200" dirty="0" err="1"/>
              <a:t>Toast.</a:t>
            </a:r>
            <a:r>
              <a:rPr lang="en-US" sz="1200" b="1" i="1" dirty="0" err="1">
                <a:solidFill>
                  <a:srgbClr val="660E7A"/>
                </a:solidFill>
              </a:rPr>
              <a:t>LENGTH_SHORT</a:t>
            </a:r>
            <a:r>
              <a:rPr lang="en-US" sz="1200" dirty="0"/>
              <a:t>).show();</a:t>
            </a:r>
            <a:br>
              <a:rPr lang="en-US" sz="1200" dirty="0"/>
            </a:br>
            <a:r>
              <a:rPr lang="en-US" sz="1200" dirty="0"/>
              <a:t>    }</a:t>
            </a:r>
            <a:br>
              <a:rPr lang="en-US" sz="1200" dirty="0"/>
            </a:br>
            <a:r>
              <a:rPr lang="en-US" sz="1200" dirty="0" smtClean="0"/>
              <a:t>}</a:t>
            </a:r>
          </a:p>
          <a:p>
            <a:r>
              <a:rPr lang="en-US" altLang="ko-KR" sz="1200" dirty="0">
                <a:solidFill>
                  <a:srgbClr val="808000"/>
                </a:solidFill>
              </a:rPr>
              <a:t>@Override</a:t>
            </a:r>
            <a:br>
              <a:rPr lang="en-US" altLang="ko-KR" sz="1200" dirty="0">
                <a:solidFill>
                  <a:srgbClr val="808000"/>
                </a:solidFill>
              </a:rPr>
            </a:br>
            <a:r>
              <a:rPr lang="en-US" altLang="ko-KR" sz="1200" b="1" dirty="0">
                <a:solidFill>
                  <a:srgbClr val="000080"/>
                </a:solidFill>
              </a:rPr>
              <a:t>public void </a:t>
            </a:r>
            <a:r>
              <a:rPr lang="en-US" altLang="ko-KR" sz="1200" dirty="0" err="1"/>
              <a:t>onRequestPermissionsResult</a:t>
            </a:r>
            <a:r>
              <a:rPr lang="en-US" altLang="ko-KR" sz="1200" dirty="0"/>
              <a:t>(</a:t>
            </a:r>
            <a:r>
              <a:rPr lang="en-US" altLang="ko-KR" sz="1200" b="1" dirty="0" err="1">
                <a:solidFill>
                  <a:srgbClr val="000080"/>
                </a:solidFill>
              </a:rPr>
              <a:t>int</a:t>
            </a:r>
            <a:r>
              <a:rPr lang="en-US" altLang="ko-KR" sz="1200" b="1" dirty="0">
                <a:solidFill>
                  <a:srgbClr val="000080"/>
                </a:solidFill>
              </a:rPr>
              <a:t> </a:t>
            </a:r>
            <a:r>
              <a:rPr lang="en-US" altLang="ko-KR" sz="1200" dirty="0" err="1"/>
              <a:t>requestCode</a:t>
            </a:r>
            <a:r>
              <a:rPr lang="en-US" altLang="ko-KR" sz="1200" dirty="0"/>
              <a:t>, String permissions[], </a:t>
            </a:r>
            <a:r>
              <a:rPr lang="en-US" altLang="ko-KR" sz="1200" b="1" dirty="0" err="1">
                <a:solidFill>
                  <a:srgbClr val="000080"/>
                </a:solidFill>
              </a:rPr>
              <a:t>int</a:t>
            </a:r>
            <a:r>
              <a:rPr lang="en-US" altLang="ko-KR" sz="1200" dirty="0"/>
              <a:t>[] </a:t>
            </a:r>
            <a:r>
              <a:rPr lang="en-US" altLang="ko-KR" sz="1200" dirty="0" err="1"/>
              <a:t>grantResults</a:t>
            </a:r>
            <a:r>
              <a:rPr lang="en-US" altLang="ko-KR" sz="1200" dirty="0"/>
              <a:t>) {</a:t>
            </a:r>
            <a:br>
              <a:rPr lang="en-US" altLang="ko-KR" sz="1200" dirty="0"/>
            </a:br>
            <a:r>
              <a:rPr lang="en-US" altLang="ko-KR" sz="1200" dirty="0"/>
              <a:t>    </a:t>
            </a:r>
            <a:r>
              <a:rPr lang="en-US" altLang="ko-KR" sz="1200" b="1" dirty="0" err="1">
                <a:solidFill>
                  <a:srgbClr val="000080"/>
                </a:solidFill>
              </a:rPr>
              <a:t>super</a:t>
            </a:r>
            <a:r>
              <a:rPr lang="en-US" altLang="ko-KR" sz="1200" dirty="0" err="1"/>
              <a:t>.onRequestPermissionsResult</a:t>
            </a:r>
            <a:r>
              <a:rPr lang="en-US" altLang="ko-KR" sz="1200" dirty="0"/>
              <a:t>(</a:t>
            </a:r>
            <a:r>
              <a:rPr lang="en-US" altLang="ko-KR" sz="1200" dirty="0" err="1"/>
              <a:t>requestCode</a:t>
            </a:r>
            <a:r>
              <a:rPr lang="en-US" altLang="ko-KR" sz="1200" dirty="0"/>
              <a:t>, permissions, </a:t>
            </a:r>
            <a:r>
              <a:rPr lang="en-US" altLang="ko-KR" sz="1200" dirty="0" err="1"/>
              <a:t>grantResults</a:t>
            </a:r>
            <a:r>
              <a:rPr lang="en-US" altLang="ko-KR" sz="1200" dirty="0"/>
              <a:t>);</a:t>
            </a:r>
            <a:br>
              <a:rPr lang="en-US" altLang="ko-KR" sz="1200" dirty="0"/>
            </a:br>
            <a:r>
              <a:rPr lang="en-US" altLang="ko-KR" sz="1200" dirty="0"/>
              <a:t>    </a:t>
            </a:r>
            <a:r>
              <a:rPr lang="en-US" altLang="ko-KR" sz="1200" b="1" dirty="0">
                <a:solidFill>
                  <a:srgbClr val="000080"/>
                </a:solidFill>
              </a:rPr>
              <a:t>if</a:t>
            </a:r>
            <a:r>
              <a:rPr lang="en-US" altLang="ko-KR" sz="1200" dirty="0"/>
              <a:t>(</a:t>
            </a:r>
            <a:r>
              <a:rPr lang="en-US" altLang="ko-KR" sz="1200" dirty="0" err="1"/>
              <a:t>ActivityCompat.</a:t>
            </a:r>
            <a:r>
              <a:rPr lang="en-US" altLang="ko-KR" sz="1200" i="1" dirty="0" err="1"/>
              <a:t>checkSelfPermission</a:t>
            </a:r>
            <a:r>
              <a:rPr lang="en-US" altLang="ko-KR" sz="1200" dirty="0"/>
              <a:t>(</a:t>
            </a:r>
            <a:r>
              <a:rPr lang="en-US" altLang="ko-KR" sz="1200" b="1" dirty="0">
                <a:solidFill>
                  <a:srgbClr val="000080"/>
                </a:solidFill>
              </a:rPr>
              <a:t>this</a:t>
            </a:r>
            <a:r>
              <a:rPr lang="en-US" altLang="ko-KR" sz="1200" dirty="0"/>
              <a:t>, permissions[</a:t>
            </a:r>
            <a:r>
              <a:rPr lang="en-US" altLang="ko-KR" sz="1200" dirty="0">
                <a:solidFill>
                  <a:srgbClr val="0000FF"/>
                </a:solidFill>
              </a:rPr>
              <a:t>0</a:t>
            </a:r>
            <a:r>
              <a:rPr lang="en-US" altLang="ko-KR" sz="1200" dirty="0"/>
              <a:t>]) == </a:t>
            </a:r>
            <a:r>
              <a:rPr lang="en-US" altLang="ko-KR" sz="1200" dirty="0" err="1"/>
              <a:t>PackageManager.</a:t>
            </a:r>
            <a:r>
              <a:rPr lang="en-US" altLang="ko-KR" sz="1200" b="1" i="1" dirty="0" err="1">
                <a:solidFill>
                  <a:srgbClr val="660E7A"/>
                </a:solidFill>
              </a:rPr>
              <a:t>PERMISSION_GRANTED</a:t>
            </a:r>
            <a:r>
              <a:rPr lang="en-US" altLang="ko-KR" sz="1200" dirty="0"/>
              <a:t>) {</a:t>
            </a:r>
            <a:br>
              <a:rPr lang="en-US" altLang="ko-KR" sz="1200" dirty="0"/>
            </a:br>
            <a:r>
              <a:rPr lang="en-US" altLang="ko-KR" sz="1200" dirty="0"/>
              <a:t>        </a:t>
            </a:r>
            <a:r>
              <a:rPr lang="en-US" altLang="ko-KR" sz="1200" dirty="0" err="1"/>
              <a:t>Toast.</a:t>
            </a:r>
            <a:r>
              <a:rPr lang="en-US" altLang="ko-KR" sz="1200" i="1" dirty="0" err="1"/>
              <a:t>makeText</a:t>
            </a:r>
            <a:r>
              <a:rPr lang="en-US" altLang="ko-KR" sz="1200" dirty="0"/>
              <a:t>(</a:t>
            </a:r>
            <a:r>
              <a:rPr lang="en-US" altLang="ko-KR" sz="1200" b="1" dirty="0">
                <a:solidFill>
                  <a:srgbClr val="000080"/>
                </a:solidFill>
              </a:rPr>
              <a:t>this</a:t>
            </a:r>
            <a:r>
              <a:rPr lang="en-US" altLang="ko-KR" sz="1200" dirty="0"/>
              <a:t>, </a:t>
            </a:r>
            <a:r>
              <a:rPr lang="en-US" altLang="ko-KR" sz="1200" b="1" dirty="0">
                <a:solidFill>
                  <a:srgbClr val="008000"/>
                </a:solidFill>
              </a:rPr>
              <a:t>"Permission granted"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Toast.</a:t>
            </a:r>
            <a:r>
              <a:rPr lang="en-US" altLang="ko-KR" sz="1200" b="1" i="1" dirty="0" err="1">
                <a:solidFill>
                  <a:srgbClr val="660E7A"/>
                </a:solidFill>
              </a:rPr>
              <a:t>LENGTH_SHORT</a:t>
            </a:r>
            <a:r>
              <a:rPr lang="en-US" altLang="ko-KR" sz="1200" dirty="0"/>
              <a:t>).show();</a:t>
            </a:r>
            <a:br>
              <a:rPr lang="en-US" altLang="ko-KR" sz="1200" dirty="0"/>
            </a:br>
            <a:r>
              <a:rPr lang="en-US" altLang="ko-KR" sz="1200" dirty="0"/>
              <a:t>    }</a:t>
            </a:r>
            <a:r>
              <a:rPr lang="en-US" altLang="ko-KR" sz="1200" b="1" dirty="0">
                <a:solidFill>
                  <a:srgbClr val="000080"/>
                </a:solidFill>
              </a:rPr>
              <a:t>else </a:t>
            </a:r>
            <a:r>
              <a:rPr lang="en-US" altLang="ko-KR" sz="1200" dirty="0"/>
              <a:t>{</a:t>
            </a:r>
            <a:br>
              <a:rPr lang="en-US" altLang="ko-KR" sz="1200" dirty="0"/>
            </a:br>
            <a:r>
              <a:rPr lang="en-US" altLang="ko-KR" sz="1200" dirty="0"/>
              <a:t>         </a:t>
            </a:r>
            <a:r>
              <a:rPr lang="en-US" altLang="ko-KR" sz="1200" dirty="0" err="1"/>
              <a:t>Toast.</a:t>
            </a:r>
            <a:r>
              <a:rPr lang="en-US" altLang="ko-KR" sz="1200" i="1" dirty="0" err="1"/>
              <a:t>makeText</a:t>
            </a:r>
            <a:r>
              <a:rPr lang="en-US" altLang="ko-KR" sz="1200" dirty="0"/>
              <a:t>(</a:t>
            </a:r>
            <a:r>
              <a:rPr lang="en-US" altLang="ko-KR" sz="1200" b="1" dirty="0">
                <a:solidFill>
                  <a:srgbClr val="000080"/>
                </a:solidFill>
              </a:rPr>
              <a:t>this</a:t>
            </a:r>
            <a:r>
              <a:rPr lang="en-US" altLang="ko-KR" sz="1200" dirty="0"/>
              <a:t>, </a:t>
            </a:r>
            <a:r>
              <a:rPr lang="en-US" altLang="ko-KR" sz="1200" b="1" dirty="0">
                <a:solidFill>
                  <a:srgbClr val="008000"/>
                </a:solidFill>
              </a:rPr>
              <a:t>"Permission denied"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Toast.</a:t>
            </a:r>
            <a:r>
              <a:rPr lang="en-US" altLang="ko-KR" sz="1200" b="1" i="1" dirty="0" err="1">
                <a:solidFill>
                  <a:srgbClr val="660E7A"/>
                </a:solidFill>
              </a:rPr>
              <a:t>LENGTH_SHORT</a:t>
            </a:r>
            <a:r>
              <a:rPr lang="en-US" altLang="ko-KR" sz="1200" dirty="0"/>
              <a:t>).show();</a:t>
            </a:r>
            <a:br>
              <a:rPr lang="en-US" altLang="ko-KR" sz="1200" dirty="0"/>
            </a:br>
            <a:r>
              <a:rPr lang="en-US" altLang="ko-KR" sz="1200" dirty="0"/>
              <a:t>    }</a:t>
            </a:r>
            <a:br>
              <a:rPr lang="en-US" altLang="ko-KR" sz="1200" dirty="0"/>
            </a:br>
            <a:r>
              <a:rPr lang="en-US" altLang="ko-KR" sz="1200" dirty="0"/>
              <a:t>}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  <a:p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606499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34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LocationManager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78230" y="1973144"/>
            <a:ext cx="7269939" cy="40934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public void </a:t>
            </a:r>
            <a:r>
              <a:rPr lang="en-US" altLang="ko-KR" sz="13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onCreate</a:t>
            </a:r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(Bundle </a:t>
            </a:r>
            <a:r>
              <a:rPr lang="en-US" altLang="ko-KR" sz="13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super.onCreate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setContentView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R.layout.main</a:t>
            </a:r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  <a:endParaRPr lang="en-US" altLang="ko-KR" sz="13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endParaRPr lang="en-US" altLang="ko-KR" sz="1300" dirty="0" smtClean="0">
              <a:latin typeface="돋움체"/>
              <a:ea typeface="돋움체"/>
            </a:endParaRPr>
          </a:p>
          <a:p>
            <a:r>
              <a:rPr lang="en-US" altLang="ko-KR" sz="1300" dirty="0">
                <a:latin typeface="돋움체"/>
                <a:ea typeface="돋움체"/>
              </a:rPr>
              <a:t>        </a:t>
            </a:r>
            <a:r>
              <a:rPr lang="en-US" altLang="ko-KR" sz="1300" dirty="0" err="1">
                <a:latin typeface="돋움체"/>
                <a:ea typeface="돋움체"/>
              </a:rPr>
              <a:t>askForPermission</a:t>
            </a:r>
            <a:r>
              <a:rPr lang="en-US" altLang="ko-KR" sz="1300" dirty="0">
                <a:latin typeface="돋움체"/>
                <a:ea typeface="돋움체"/>
              </a:rPr>
              <a:t>(</a:t>
            </a:r>
            <a:r>
              <a:rPr lang="en-US" altLang="ko-KR" sz="1300" dirty="0" err="1">
                <a:latin typeface="돋움체"/>
                <a:ea typeface="돋움체"/>
              </a:rPr>
              <a:t>Manifest.permission.ACCESS_FINE_LOCATION</a:t>
            </a:r>
            <a:r>
              <a:rPr lang="en-US" altLang="ko-KR" sz="1300" dirty="0">
                <a:latin typeface="돋움체"/>
                <a:ea typeface="돋움체"/>
              </a:rPr>
              <a:t>, APP_PERMISSION</a:t>
            </a:r>
            <a:r>
              <a:rPr lang="en-US" altLang="ko-KR" sz="1300" dirty="0" smtClean="0">
                <a:latin typeface="돋움체"/>
                <a:ea typeface="돋움체"/>
              </a:rPr>
              <a:t>);</a:t>
            </a:r>
          </a:p>
          <a:p>
            <a:endParaRPr lang="ko-KR" altLang="en-US" sz="1300" dirty="0">
              <a:latin typeface="돋움체"/>
              <a:ea typeface="돋움체"/>
            </a:endParaRP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3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LocationManager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300" dirty="0" err="1" smtClean="0">
                <a:solidFill>
                  <a:srgbClr val="000000"/>
                </a:solidFill>
                <a:latin typeface="돋움체"/>
                <a:ea typeface="돋움체"/>
              </a:rPr>
              <a:t>locationManager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=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(</a:t>
            </a:r>
            <a:r>
              <a:rPr lang="en-US" altLang="ko-KR" sz="1300" dirty="0" err="1" smtClean="0">
                <a:solidFill>
                  <a:srgbClr val="000000"/>
                </a:solidFill>
                <a:latin typeface="돋움체"/>
                <a:ea typeface="돋움체"/>
              </a:rPr>
              <a:t>LocationManager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  <a:r>
              <a:rPr lang="en-US" altLang="ko-KR" sz="1300" dirty="0" err="1" smtClean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sz="1300" dirty="0" err="1" smtClean="0">
                <a:solidFill>
                  <a:srgbClr val="000000"/>
                </a:solidFill>
                <a:latin typeface="돋움체"/>
                <a:ea typeface="돋움체"/>
              </a:rPr>
              <a:t>.getSystemService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300" dirty="0" err="1" smtClean="0">
                <a:solidFill>
                  <a:srgbClr val="000000"/>
                </a:solidFill>
                <a:latin typeface="돋움체"/>
                <a:ea typeface="돋움체"/>
              </a:rPr>
              <a:t>Context.</a:t>
            </a:r>
            <a:r>
              <a:rPr lang="en-US" altLang="ko-KR" sz="1300" u="sng" dirty="0" err="1" smtClean="0">
                <a:solidFill>
                  <a:srgbClr val="0000C0"/>
                </a:solidFill>
                <a:latin typeface="돋움체"/>
                <a:ea typeface="돋움체"/>
              </a:rPr>
              <a:t>LOCATION_SERVICE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endParaRPr lang="ko-KR" altLang="en-US" sz="1300" dirty="0" smtClean="0">
              <a:latin typeface="돋움체"/>
              <a:ea typeface="돋움체"/>
            </a:endParaRP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300" dirty="0" err="1" smtClean="0">
                <a:solidFill>
                  <a:srgbClr val="000000"/>
                </a:solidFill>
                <a:latin typeface="돋움체"/>
                <a:ea typeface="돋움체"/>
              </a:rPr>
              <a:t>LocationListener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300" dirty="0" err="1" smtClean="0">
                <a:solidFill>
                  <a:srgbClr val="000000"/>
                </a:solidFill>
                <a:latin typeface="돋움체"/>
                <a:ea typeface="돋움체"/>
              </a:rPr>
              <a:t>locationListener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300" dirty="0" smtClean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3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LocationListener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() {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300" dirty="0" smtClean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300" dirty="0" smtClean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3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onLocationChanged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(Location location) {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300" dirty="0" err="1" smtClean="0">
                <a:solidFill>
                  <a:srgbClr val="000000"/>
                </a:solidFill>
                <a:latin typeface="돋움체"/>
                <a:ea typeface="돋움체"/>
              </a:rPr>
              <a:t>showNewLocation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(location);</a:t>
            </a:r>
          </a:p>
          <a:p>
            <a:r>
              <a:rPr lang="ko-KR" altLang="en-US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300" dirty="0" smtClean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300" dirty="0" smtClean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300" dirty="0" err="1" smtClean="0">
                <a:solidFill>
                  <a:srgbClr val="000000"/>
                </a:solidFill>
                <a:latin typeface="돋움체"/>
                <a:ea typeface="돋움체"/>
              </a:rPr>
              <a:t>onStatusChanged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(String provider, </a:t>
            </a:r>
            <a:r>
              <a:rPr lang="en-US" altLang="ko-KR" sz="1300" dirty="0" err="1" smtClean="0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status, Bundle extras) {</a:t>
            </a:r>
          </a:p>
          <a:p>
            <a:r>
              <a:rPr lang="ko-KR" altLang="en-US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300" dirty="0" smtClean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300" dirty="0" smtClean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300" dirty="0" err="1" smtClean="0">
                <a:solidFill>
                  <a:srgbClr val="000000"/>
                </a:solidFill>
                <a:latin typeface="돋움체"/>
                <a:ea typeface="돋움체"/>
              </a:rPr>
              <a:t>onProviderEnabled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(String provider) {</a:t>
            </a:r>
          </a:p>
          <a:p>
            <a:r>
              <a:rPr lang="ko-KR" altLang="en-US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300" dirty="0" smtClean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300" dirty="0" smtClean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300" dirty="0" err="1" smtClean="0">
                <a:solidFill>
                  <a:srgbClr val="000000"/>
                </a:solidFill>
                <a:latin typeface="돋움체"/>
                <a:ea typeface="돋움체"/>
              </a:rPr>
              <a:t>onProviderDisabled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(String provider) {</a:t>
            </a:r>
          </a:p>
          <a:p>
            <a:r>
              <a:rPr lang="ko-KR" altLang="en-US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ko-KR" altLang="en-US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};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7230" y="1280160"/>
            <a:ext cx="2483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GPS</a:t>
            </a:r>
          </a:p>
          <a:p>
            <a:r>
              <a:rPr lang="en-US" altLang="ko-KR" dirty="0">
                <a:solidFill>
                  <a:prstClr val="black"/>
                </a:solidFill>
              </a:rPr>
              <a:t>/ </a:t>
            </a:r>
            <a:r>
              <a:rPr lang="en-US" altLang="ko-KR" dirty="0" err="1">
                <a:solidFill>
                  <a:prstClr val="black"/>
                </a:solidFill>
              </a:rPr>
              <a:t>src</a:t>
            </a:r>
            <a:r>
              <a:rPr lang="en-US" altLang="ko-KR" dirty="0">
                <a:solidFill>
                  <a:prstClr val="black"/>
                </a:solidFill>
              </a:rPr>
              <a:t>/MainActivity.java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7181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35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LocationManager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97230" y="1280160"/>
            <a:ext cx="2483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GPS</a:t>
            </a:r>
          </a:p>
          <a:p>
            <a:r>
              <a:rPr lang="en-US" altLang="ko-KR" dirty="0">
                <a:solidFill>
                  <a:prstClr val="black"/>
                </a:solidFill>
              </a:rPr>
              <a:t>/ </a:t>
            </a:r>
            <a:r>
              <a:rPr lang="en-US" altLang="ko-KR" dirty="0" err="1">
                <a:solidFill>
                  <a:prstClr val="black"/>
                </a:solidFill>
              </a:rPr>
              <a:t>src</a:t>
            </a:r>
            <a:r>
              <a:rPr lang="en-US" altLang="ko-KR" dirty="0">
                <a:solidFill>
                  <a:prstClr val="black"/>
                </a:solidFill>
              </a:rPr>
              <a:t>/MainActivity.java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0419" y="1926491"/>
            <a:ext cx="8458201" cy="33239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altLang="ko-KR" sz="1400" dirty="0">
              <a:latin typeface="돋움체" pitchFamily="49" charset="-127"/>
              <a:ea typeface="돋움체" pitchFamily="49" charset="-127"/>
            </a:endParaRPr>
          </a:p>
          <a:p>
            <a:r>
              <a:rPr lang="en-US" altLang="ko-KR" sz="1400" dirty="0" smtClean="0">
                <a:latin typeface="돋움체" pitchFamily="49" charset="-127"/>
                <a:ea typeface="돋움체" pitchFamily="49" charset="-127"/>
              </a:rPr>
              <a:t>	if </a:t>
            </a:r>
            <a:r>
              <a:rPr lang="en-US" altLang="ko-KR" sz="1400" dirty="0">
                <a:latin typeface="돋움체" pitchFamily="49" charset="-127"/>
                <a:ea typeface="돋움체" pitchFamily="49" charset="-127"/>
              </a:rPr>
              <a:t>(</a:t>
            </a:r>
            <a:r>
              <a:rPr lang="en-US" altLang="ko-KR" sz="1400" dirty="0" err="1">
                <a:latin typeface="돋움체" pitchFamily="49" charset="-127"/>
                <a:ea typeface="돋움체" pitchFamily="49" charset="-127"/>
              </a:rPr>
              <a:t>ActivityCompat.</a:t>
            </a:r>
            <a:r>
              <a:rPr lang="en-US" altLang="ko-KR" sz="1400" i="1" dirty="0" err="1">
                <a:latin typeface="돋움체" pitchFamily="49" charset="-127"/>
                <a:ea typeface="돋움체" pitchFamily="49" charset="-127"/>
              </a:rPr>
              <a:t>checkSelfPermission</a:t>
            </a:r>
            <a:r>
              <a:rPr lang="en-US" altLang="ko-KR" sz="1400" dirty="0">
                <a:latin typeface="돋움체" pitchFamily="49" charset="-127"/>
                <a:ea typeface="돋움체" pitchFamily="49" charset="-127"/>
              </a:rPr>
              <a:t>(this, </a:t>
            </a:r>
            <a:r>
              <a:rPr lang="en-US" altLang="ko-KR" sz="1400" dirty="0" smtClean="0">
                <a:latin typeface="돋움체" pitchFamily="49" charset="-127"/>
                <a:ea typeface="돋움체" pitchFamily="49" charset="-127"/>
              </a:rPr>
              <a:t>		</a:t>
            </a:r>
            <a:r>
              <a:rPr lang="en-US" altLang="ko-KR" sz="1400" dirty="0" err="1" smtClean="0">
                <a:latin typeface="돋움체" pitchFamily="49" charset="-127"/>
                <a:ea typeface="돋움체" pitchFamily="49" charset="-127"/>
              </a:rPr>
              <a:t>Manifest.permission.</a:t>
            </a:r>
            <a:r>
              <a:rPr lang="en-US" altLang="ko-KR" sz="1400" i="1" dirty="0" err="1" smtClean="0">
                <a:latin typeface="돋움체" pitchFamily="49" charset="-127"/>
                <a:ea typeface="돋움체" pitchFamily="49" charset="-127"/>
              </a:rPr>
              <a:t>ACCESS_FINE_LOCATION</a:t>
            </a:r>
            <a:r>
              <a:rPr lang="en-US" altLang="ko-KR" sz="1400" dirty="0">
                <a:latin typeface="돋움체" pitchFamily="49" charset="-127"/>
                <a:ea typeface="돋움체" pitchFamily="49" charset="-127"/>
              </a:rPr>
              <a:t>) != </a:t>
            </a:r>
            <a:r>
              <a:rPr lang="en-US" altLang="ko-KR" sz="1400" dirty="0" err="1">
                <a:latin typeface="돋움체" pitchFamily="49" charset="-127"/>
                <a:ea typeface="돋움체" pitchFamily="49" charset="-127"/>
              </a:rPr>
              <a:t>PackageManager.</a:t>
            </a:r>
            <a:r>
              <a:rPr lang="en-US" altLang="ko-KR" sz="1400" i="1" dirty="0" err="1">
                <a:latin typeface="돋움체" pitchFamily="49" charset="-127"/>
                <a:ea typeface="돋움체" pitchFamily="49" charset="-127"/>
              </a:rPr>
              <a:t>PERMISSION_GRANTED</a:t>
            </a:r>
            <a:r>
              <a:rPr lang="en-US" altLang="ko-KR" sz="1400" i="1" dirty="0">
                <a:latin typeface="돋움체" pitchFamily="49" charset="-127"/>
                <a:ea typeface="돋움체" pitchFamily="49" charset="-127"/>
              </a:rPr>
              <a:t/>
            </a:r>
            <a:br>
              <a:rPr lang="en-US" altLang="ko-KR" sz="1400" i="1" dirty="0">
                <a:latin typeface="돋움체" pitchFamily="49" charset="-127"/>
                <a:ea typeface="돋움체" pitchFamily="49" charset="-127"/>
              </a:rPr>
            </a:br>
            <a:r>
              <a:rPr lang="en-US" altLang="ko-KR" sz="1400" i="1" dirty="0" smtClean="0">
                <a:latin typeface="돋움체" pitchFamily="49" charset="-127"/>
                <a:ea typeface="돋움체" pitchFamily="49" charset="-127"/>
              </a:rPr>
              <a:t>	</a:t>
            </a:r>
            <a:r>
              <a:rPr lang="en-US" altLang="ko-KR" sz="1400" dirty="0" smtClean="0">
                <a:latin typeface="돋움체" pitchFamily="49" charset="-127"/>
                <a:ea typeface="돋움체" pitchFamily="49" charset="-127"/>
              </a:rPr>
              <a:t>&amp;&amp; </a:t>
            </a:r>
            <a:r>
              <a:rPr lang="en-US" altLang="ko-KR" sz="1400" dirty="0" err="1">
                <a:latin typeface="돋움체" pitchFamily="49" charset="-127"/>
                <a:ea typeface="돋움체" pitchFamily="49" charset="-127"/>
              </a:rPr>
              <a:t>ActivityCompat.</a:t>
            </a:r>
            <a:r>
              <a:rPr lang="en-US" altLang="ko-KR" sz="1400" i="1" dirty="0" err="1">
                <a:latin typeface="돋움체" pitchFamily="49" charset="-127"/>
                <a:ea typeface="돋움체" pitchFamily="49" charset="-127"/>
              </a:rPr>
              <a:t>checkSelfPermission</a:t>
            </a:r>
            <a:r>
              <a:rPr lang="en-US" altLang="ko-KR" sz="1400" dirty="0">
                <a:latin typeface="돋움체" pitchFamily="49" charset="-127"/>
                <a:ea typeface="돋움체" pitchFamily="49" charset="-127"/>
              </a:rPr>
              <a:t>(this, </a:t>
            </a:r>
            <a:r>
              <a:rPr lang="en-US" altLang="ko-KR" sz="1400" dirty="0" smtClean="0">
                <a:latin typeface="돋움체" pitchFamily="49" charset="-127"/>
                <a:ea typeface="돋움체" pitchFamily="49" charset="-127"/>
              </a:rPr>
              <a:t>	</a:t>
            </a:r>
            <a:r>
              <a:rPr lang="en-US" altLang="ko-KR" sz="1400" dirty="0" err="1" smtClean="0">
                <a:latin typeface="돋움체" pitchFamily="49" charset="-127"/>
                <a:ea typeface="돋움체" pitchFamily="49" charset="-127"/>
              </a:rPr>
              <a:t>Manifest.permission.</a:t>
            </a:r>
            <a:r>
              <a:rPr lang="en-US" altLang="ko-KR" sz="1400" i="1" dirty="0" err="1" smtClean="0">
                <a:latin typeface="돋움체" pitchFamily="49" charset="-127"/>
                <a:ea typeface="돋움체" pitchFamily="49" charset="-127"/>
              </a:rPr>
              <a:t>ACCESS_COARSE_LOCATION</a:t>
            </a:r>
            <a:r>
              <a:rPr lang="en-US" altLang="ko-KR" sz="1400" dirty="0">
                <a:latin typeface="돋움체" pitchFamily="49" charset="-127"/>
                <a:ea typeface="돋움체" pitchFamily="49" charset="-127"/>
              </a:rPr>
              <a:t>) != </a:t>
            </a:r>
            <a:r>
              <a:rPr lang="en-US" altLang="ko-KR" sz="1400" dirty="0" err="1">
                <a:latin typeface="돋움체" pitchFamily="49" charset="-127"/>
                <a:ea typeface="돋움체" pitchFamily="49" charset="-127"/>
              </a:rPr>
              <a:t>PackageManager.</a:t>
            </a:r>
            <a:r>
              <a:rPr lang="en-US" altLang="ko-KR" sz="1400" i="1" dirty="0" err="1">
                <a:latin typeface="돋움체" pitchFamily="49" charset="-127"/>
                <a:ea typeface="돋움체" pitchFamily="49" charset="-127"/>
              </a:rPr>
              <a:t>PERMISSION_GRANTED</a:t>
            </a:r>
            <a:r>
              <a:rPr lang="en-US" altLang="ko-KR" sz="1400" dirty="0">
                <a:latin typeface="돋움체" pitchFamily="49" charset="-127"/>
                <a:ea typeface="돋움체" pitchFamily="49" charset="-127"/>
              </a:rPr>
              <a:t>)</a:t>
            </a:r>
            <a:br>
              <a:rPr lang="en-US" altLang="ko-KR" sz="1400" dirty="0">
                <a:latin typeface="돋움체" pitchFamily="49" charset="-127"/>
                <a:ea typeface="돋움체" pitchFamily="49" charset="-127"/>
              </a:rPr>
            </a:br>
            <a:r>
              <a:rPr lang="en-US" altLang="ko-KR" sz="1400" dirty="0" smtClean="0">
                <a:latin typeface="돋움체" pitchFamily="49" charset="-127"/>
                <a:ea typeface="돋움체" pitchFamily="49" charset="-127"/>
              </a:rPr>
              <a:t>	    </a:t>
            </a:r>
            <a:r>
              <a:rPr lang="en-US" altLang="ko-KR" sz="1400" dirty="0">
                <a:latin typeface="돋움체" pitchFamily="49" charset="-127"/>
                <a:ea typeface="돋움체" pitchFamily="49" charset="-127"/>
              </a:rPr>
              <a:t>return;</a:t>
            </a:r>
            <a:br>
              <a:rPr lang="en-US" altLang="ko-KR" sz="1400" dirty="0">
                <a:latin typeface="돋움체" pitchFamily="49" charset="-127"/>
                <a:ea typeface="돋움체" pitchFamily="49" charset="-127"/>
              </a:rPr>
            </a:br>
            <a:r>
              <a:rPr lang="en-US" altLang="ko-KR" sz="1400" dirty="0">
                <a:latin typeface="돋움체" pitchFamily="49" charset="-127"/>
                <a:ea typeface="돋움체" pitchFamily="49" charset="-127"/>
              </a:rPr>
              <a:t/>
            </a:r>
            <a:br>
              <a:rPr lang="en-US" altLang="ko-KR" sz="1400" dirty="0">
                <a:latin typeface="돋움체" pitchFamily="49" charset="-127"/>
                <a:ea typeface="돋움체" pitchFamily="49" charset="-127"/>
              </a:rPr>
            </a:br>
            <a:r>
              <a:rPr lang="en-US" altLang="ko-KR" sz="1400" dirty="0" smtClean="0">
                <a:latin typeface="돋움체" pitchFamily="49" charset="-127"/>
                <a:ea typeface="돋움체" pitchFamily="49" charset="-127"/>
              </a:rPr>
              <a:t>	if </a:t>
            </a:r>
            <a:r>
              <a:rPr lang="en-US" altLang="ko-KR" sz="1400" dirty="0">
                <a:latin typeface="돋움체" pitchFamily="49" charset="-127"/>
                <a:ea typeface="돋움체" pitchFamily="49" charset="-127"/>
              </a:rPr>
              <a:t>(</a:t>
            </a:r>
            <a:r>
              <a:rPr lang="en-US" altLang="ko-KR" sz="1400" dirty="0" err="1">
                <a:latin typeface="돋움체" pitchFamily="49" charset="-127"/>
                <a:ea typeface="돋움체" pitchFamily="49" charset="-127"/>
              </a:rPr>
              <a:t>locationManager.getAllProviders</a:t>
            </a:r>
            <a:r>
              <a:rPr lang="en-US" altLang="ko-KR" sz="1400" dirty="0">
                <a:latin typeface="돋움체" pitchFamily="49" charset="-127"/>
                <a:ea typeface="돋움체" pitchFamily="49" charset="-127"/>
              </a:rPr>
              <a:t>().contains(</a:t>
            </a:r>
            <a:r>
              <a:rPr lang="en-US" altLang="ko-KR" sz="1400" dirty="0" err="1">
                <a:latin typeface="돋움체" pitchFamily="49" charset="-127"/>
                <a:ea typeface="돋움체" pitchFamily="49" charset="-127"/>
              </a:rPr>
              <a:t>LocationManager.</a:t>
            </a:r>
            <a:r>
              <a:rPr lang="en-US" altLang="ko-KR" sz="1400" i="1" dirty="0" err="1">
                <a:latin typeface="돋움체" pitchFamily="49" charset="-127"/>
                <a:ea typeface="돋움체" pitchFamily="49" charset="-127"/>
              </a:rPr>
              <a:t>NETWORK_PROVIDER</a:t>
            </a:r>
            <a:r>
              <a:rPr lang="en-US" altLang="ko-KR" sz="1400" dirty="0">
                <a:latin typeface="돋움체" pitchFamily="49" charset="-127"/>
                <a:ea typeface="돋움체" pitchFamily="49" charset="-127"/>
              </a:rPr>
              <a:t>))</a:t>
            </a:r>
            <a:br>
              <a:rPr lang="en-US" altLang="ko-KR" sz="1400" dirty="0">
                <a:latin typeface="돋움체" pitchFamily="49" charset="-127"/>
                <a:ea typeface="돋움체" pitchFamily="49" charset="-127"/>
              </a:rPr>
            </a:br>
            <a:r>
              <a:rPr lang="en-US" altLang="ko-KR" sz="1400" dirty="0" smtClean="0">
                <a:latin typeface="돋움체" pitchFamily="49" charset="-127"/>
                <a:ea typeface="돋움체" pitchFamily="49" charset="-127"/>
              </a:rPr>
              <a:t>	    </a:t>
            </a:r>
            <a:r>
              <a:rPr lang="en-US" altLang="ko-KR" sz="1400" dirty="0" err="1">
                <a:latin typeface="돋움체" pitchFamily="49" charset="-127"/>
                <a:ea typeface="돋움체" pitchFamily="49" charset="-127"/>
              </a:rPr>
              <a:t>locationManager.requestLocationUpdates</a:t>
            </a:r>
            <a:r>
              <a:rPr lang="en-US" altLang="ko-KR" sz="1400" dirty="0">
                <a:latin typeface="돋움체" pitchFamily="49" charset="-127"/>
                <a:ea typeface="돋움체" pitchFamily="49" charset="-127"/>
              </a:rPr>
              <a:t>(</a:t>
            </a:r>
            <a:r>
              <a:rPr lang="en-US" altLang="ko-KR" sz="1400" dirty="0" err="1">
                <a:latin typeface="돋움체" pitchFamily="49" charset="-127"/>
                <a:ea typeface="돋움체" pitchFamily="49" charset="-127"/>
              </a:rPr>
              <a:t>LocationManager.</a:t>
            </a:r>
            <a:r>
              <a:rPr lang="en-US" altLang="ko-KR" sz="1400" i="1" dirty="0" err="1">
                <a:latin typeface="돋움체" pitchFamily="49" charset="-127"/>
                <a:ea typeface="돋움체" pitchFamily="49" charset="-127"/>
              </a:rPr>
              <a:t>NETWORK_PROVIDER</a:t>
            </a:r>
            <a:r>
              <a:rPr lang="en-US" altLang="ko-KR" sz="1400" dirty="0">
                <a:latin typeface="돋움체" pitchFamily="49" charset="-127"/>
                <a:ea typeface="돋움체" pitchFamily="49" charset="-127"/>
              </a:rPr>
              <a:t>, 0, 0, </a:t>
            </a:r>
            <a:r>
              <a:rPr lang="en-US" altLang="ko-KR" sz="1400" dirty="0" smtClean="0">
                <a:latin typeface="돋움체" pitchFamily="49" charset="-127"/>
                <a:ea typeface="돋움체" pitchFamily="49" charset="-127"/>
              </a:rPr>
              <a:t>	</a:t>
            </a:r>
            <a:r>
              <a:rPr lang="en-US" altLang="ko-KR" sz="1400" dirty="0" err="1" smtClean="0">
                <a:latin typeface="돋움체" pitchFamily="49" charset="-127"/>
                <a:ea typeface="돋움체" pitchFamily="49" charset="-127"/>
              </a:rPr>
              <a:t>locationListener</a:t>
            </a:r>
            <a:r>
              <a:rPr lang="en-US" altLang="ko-KR" sz="1400" dirty="0">
                <a:latin typeface="돋움체" pitchFamily="49" charset="-127"/>
                <a:ea typeface="돋움체" pitchFamily="49" charset="-127"/>
              </a:rPr>
              <a:t>);</a:t>
            </a:r>
            <a:br>
              <a:rPr lang="en-US" altLang="ko-KR" sz="1400" dirty="0">
                <a:latin typeface="돋움체" pitchFamily="49" charset="-127"/>
                <a:ea typeface="돋움체" pitchFamily="49" charset="-127"/>
              </a:rPr>
            </a:br>
            <a:r>
              <a:rPr lang="en-US" altLang="ko-KR" sz="1400" dirty="0" smtClean="0">
                <a:latin typeface="돋움체" pitchFamily="49" charset="-127"/>
                <a:ea typeface="돋움체" pitchFamily="49" charset="-127"/>
              </a:rPr>
              <a:t>	if </a:t>
            </a:r>
            <a:r>
              <a:rPr lang="en-US" altLang="ko-KR" sz="1400" dirty="0">
                <a:latin typeface="돋움체" pitchFamily="49" charset="-127"/>
                <a:ea typeface="돋움체" pitchFamily="49" charset="-127"/>
              </a:rPr>
              <a:t>(</a:t>
            </a:r>
            <a:r>
              <a:rPr lang="en-US" altLang="ko-KR" sz="1400" dirty="0" err="1">
                <a:latin typeface="돋움체" pitchFamily="49" charset="-127"/>
                <a:ea typeface="돋움체" pitchFamily="49" charset="-127"/>
              </a:rPr>
              <a:t>locationManager.getAllProviders</a:t>
            </a:r>
            <a:r>
              <a:rPr lang="en-US" altLang="ko-KR" sz="1400" dirty="0">
                <a:latin typeface="돋움체" pitchFamily="49" charset="-127"/>
                <a:ea typeface="돋움체" pitchFamily="49" charset="-127"/>
              </a:rPr>
              <a:t>().contains(</a:t>
            </a:r>
            <a:r>
              <a:rPr lang="en-US" altLang="ko-KR" sz="1400" dirty="0" err="1">
                <a:latin typeface="돋움체" pitchFamily="49" charset="-127"/>
                <a:ea typeface="돋움체" pitchFamily="49" charset="-127"/>
              </a:rPr>
              <a:t>LocationManager.</a:t>
            </a:r>
            <a:r>
              <a:rPr lang="en-US" altLang="ko-KR" sz="1400" i="1" dirty="0" err="1">
                <a:latin typeface="돋움체" pitchFamily="49" charset="-127"/>
                <a:ea typeface="돋움체" pitchFamily="49" charset="-127"/>
              </a:rPr>
              <a:t>GPS_PROVIDER</a:t>
            </a:r>
            <a:r>
              <a:rPr lang="en-US" altLang="ko-KR" sz="1400" dirty="0">
                <a:latin typeface="돋움체" pitchFamily="49" charset="-127"/>
                <a:ea typeface="돋움체" pitchFamily="49" charset="-127"/>
              </a:rPr>
              <a:t>))</a:t>
            </a:r>
            <a:br>
              <a:rPr lang="en-US" altLang="ko-KR" sz="1400" dirty="0">
                <a:latin typeface="돋움체" pitchFamily="49" charset="-127"/>
                <a:ea typeface="돋움체" pitchFamily="49" charset="-127"/>
              </a:rPr>
            </a:br>
            <a:r>
              <a:rPr lang="en-US" altLang="ko-KR" sz="1400" dirty="0" smtClean="0">
                <a:latin typeface="돋움체" pitchFamily="49" charset="-127"/>
                <a:ea typeface="돋움체" pitchFamily="49" charset="-127"/>
              </a:rPr>
              <a:t>	    </a:t>
            </a:r>
            <a:r>
              <a:rPr lang="en-US" altLang="ko-KR" sz="1400" dirty="0" err="1">
                <a:latin typeface="돋움체" pitchFamily="49" charset="-127"/>
                <a:ea typeface="돋움체" pitchFamily="49" charset="-127"/>
              </a:rPr>
              <a:t>locationManager.requestLocationUpdates</a:t>
            </a:r>
            <a:r>
              <a:rPr lang="en-US" altLang="ko-KR" sz="1400" dirty="0">
                <a:latin typeface="돋움체" pitchFamily="49" charset="-127"/>
                <a:ea typeface="돋움체" pitchFamily="49" charset="-127"/>
              </a:rPr>
              <a:t>(</a:t>
            </a:r>
            <a:r>
              <a:rPr lang="en-US" altLang="ko-KR" sz="1400" dirty="0" err="1">
                <a:latin typeface="돋움체" pitchFamily="49" charset="-127"/>
                <a:ea typeface="돋움체" pitchFamily="49" charset="-127"/>
              </a:rPr>
              <a:t>LocationManager.</a:t>
            </a:r>
            <a:r>
              <a:rPr lang="en-US" altLang="ko-KR" sz="1400" i="1" dirty="0" err="1">
                <a:latin typeface="돋움체" pitchFamily="49" charset="-127"/>
                <a:ea typeface="돋움체" pitchFamily="49" charset="-127"/>
              </a:rPr>
              <a:t>GPS_PROVIDER</a:t>
            </a:r>
            <a:r>
              <a:rPr lang="en-US" altLang="ko-KR" sz="1400" dirty="0">
                <a:latin typeface="돋움체" pitchFamily="49" charset="-127"/>
                <a:ea typeface="돋움체" pitchFamily="49" charset="-127"/>
              </a:rPr>
              <a:t>, 0, 0, </a:t>
            </a:r>
            <a:r>
              <a:rPr lang="en-US" altLang="ko-KR" sz="1400" dirty="0" smtClean="0">
                <a:latin typeface="돋움체" pitchFamily="49" charset="-127"/>
                <a:ea typeface="돋움체" pitchFamily="49" charset="-127"/>
              </a:rPr>
              <a:t>		</a:t>
            </a:r>
            <a:r>
              <a:rPr lang="en-US" altLang="ko-KR" sz="1400" dirty="0" err="1" smtClean="0">
                <a:latin typeface="돋움체" pitchFamily="49" charset="-127"/>
                <a:ea typeface="돋움체" pitchFamily="49" charset="-127"/>
              </a:rPr>
              <a:t>locationListener</a:t>
            </a:r>
            <a:r>
              <a:rPr lang="en-US" altLang="ko-KR" sz="1400" dirty="0" smtClean="0">
                <a:latin typeface="돋움체" pitchFamily="49" charset="-127"/>
                <a:ea typeface="돋움체" pitchFamily="49" charset="-127"/>
              </a:rPr>
              <a:t>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 pitchFamily="49" charset="-127"/>
                <a:ea typeface="돋움체" pitchFamily="49" charset="-127"/>
              </a:rPr>
              <a:t>}</a:t>
            </a:r>
          </a:p>
          <a:p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돋움체" pitchFamily="49" charset="-127"/>
              <a:ea typeface="돋움체" pitchFamily="49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1962" y="5434082"/>
            <a:ext cx="2291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※ </a:t>
            </a:r>
            <a:r>
              <a:rPr lang="en-US" altLang="ko-KR" dirty="0" smtClean="0">
                <a:solidFill>
                  <a:srgbClr val="FF0000"/>
                </a:solidFill>
              </a:rPr>
              <a:t>Permission</a:t>
            </a:r>
            <a:r>
              <a:rPr lang="ko-KR" altLang="en-US" dirty="0" smtClean="0">
                <a:solidFill>
                  <a:srgbClr val="FF0000"/>
                </a:solidFill>
              </a:rPr>
              <a:t> 추가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3562" y="5322696"/>
            <a:ext cx="5897336" cy="121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108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36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LocationManager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73480" y="2002691"/>
            <a:ext cx="5750292" cy="46166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showNewLocation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(Location location)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// Provider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EditText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txt = 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EditText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findViewById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(R.id.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editText1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txt.setText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location.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getProvider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());</a:t>
            </a: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// Accuracy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txt = 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EditText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findViewById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(R.id.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editText2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location.</a:t>
            </a:r>
            <a:r>
              <a:rPr lang="en-US" altLang="ko-KR" sz="1400" u="sng" dirty="0" err="1">
                <a:solidFill>
                  <a:srgbClr val="000000"/>
                </a:solidFill>
                <a:latin typeface="돋움체"/>
                <a:ea typeface="돋움체"/>
              </a:rPr>
              <a:t>hasAccuracy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())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txt.setText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 "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+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location.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getAccuracy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}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else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txt.setText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"Unknown"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// Longitude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txt = 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EditText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findViewById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(R.id.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editText3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txt.setText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 "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+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location.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getLongitude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());</a:t>
            </a: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// Latitude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txt = 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EditText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findViewById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(R.id.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editText4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txt.setText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 "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+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location.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getLatitude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());</a:t>
            </a:r>
          </a:p>
          <a:p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7230" y="1280160"/>
            <a:ext cx="2483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GPS</a:t>
            </a:r>
          </a:p>
          <a:p>
            <a:r>
              <a:rPr lang="en-US" altLang="ko-KR" dirty="0">
                <a:solidFill>
                  <a:prstClr val="black"/>
                </a:solidFill>
              </a:rPr>
              <a:t>/ </a:t>
            </a:r>
            <a:r>
              <a:rPr lang="en-US" altLang="ko-KR" dirty="0" err="1">
                <a:solidFill>
                  <a:prstClr val="black"/>
                </a:solidFill>
              </a:rPr>
              <a:t>src</a:t>
            </a:r>
            <a:r>
              <a:rPr lang="en-US" altLang="ko-KR" dirty="0">
                <a:solidFill>
                  <a:prstClr val="black"/>
                </a:solidFill>
              </a:rPr>
              <a:t>/MainActivity.java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350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37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LocationManager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83005" y="1974116"/>
            <a:ext cx="5703570" cy="440120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// Altitude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txt = 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EditText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findViewById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(R.id.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editText5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location.</a:t>
            </a:r>
            <a:r>
              <a:rPr lang="en-US" altLang="ko-KR" sz="1400" u="sng" dirty="0" err="1">
                <a:solidFill>
                  <a:srgbClr val="000000"/>
                </a:solidFill>
                <a:latin typeface="돋움체"/>
                <a:ea typeface="돋움체"/>
              </a:rPr>
              <a:t>hasAltitude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())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txt.setText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 "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+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location.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getAltitude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}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else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txt.setText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"Unknown"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// Time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txt = 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EditText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findViewById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(R.id.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editText6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txt.setText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 "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+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location.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getTime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());</a:t>
            </a: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// Bearing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txt = 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EditText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findViewById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(R.id.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editText7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location.</a:t>
            </a:r>
            <a:r>
              <a:rPr lang="en-US" altLang="ko-KR" sz="1400" u="sng" dirty="0" err="1">
                <a:solidFill>
                  <a:srgbClr val="000000"/>
                </a:solidFill>
                <a:latin typeface="돋움체"/>
                <a:ea typeface="돋움체"/>
              </a:rPr>
              <a:t>hasBearing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())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txt.setText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 "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+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location.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getBearing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}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else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txt.setText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"Unknown"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7230" y="1280160"/>
            <a:ext cx="2483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GPS</a:t>
            </a:r>
          </a:p>
          <a:p>
            <a:r>
              <a:rPr lang="en-US" altLang="ko-KR" dirty="0">
                <a:solidFill>
                  <a:prstClr val="black"/>
                </a:solidFill>
              </a:rPr>
              <a:t>/ </a:t>
            </a:r>
            <a:r>
              <a:rPr lang="en-US" altLang="ko-KR" dirty="0" err="1">
                <a:solidFill>
                  <a:prstClr val="black"/>
                </a:solidFill>
              </a:rPr>
              <a:t>src</a:t>
            </a:r>
            <a:r>
              <a:rPr lang="en-US" altLang="ko-KR" dirty="0">
                <a:solidFill>
                  <a:prstClr val="black"/>
                </a:solidFill>
              </a:rPr>
              <a:t>/MainActivity.java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4169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38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LocationManager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92530" y="1982212"/>
            <a:ext cx="5722620" cy="35394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// Speed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txt = 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EditText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findViewById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(R.id.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editText8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location.</a:t>
            </a:r>
            <a:r>
              <a:rPr lang="en-US" altLang="ko-KR" sz="1400" u="sng" dirty="0" err="1">
                <a:solidFill>
                  <a:srgbClr val="000000"/>
                </a:solidFill>
                <a:latin typeface="돋움체"/>
                <a:ea typeface="돋움체"/>
              </a:rPr>
              <a:t>hasSpeed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())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txt.setText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 "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+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location.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getSpeed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}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else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txt.setText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>
                <a:solidFill>
                  <a:srgbClr val="2A00FF"/>
                </a:solidFill>
                <a:latin typeface="돋움체"/>
                <a:ea typeface="돋움체"/>
              </a:rPr>
              <a:t>"Unknown"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// Extras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txt = 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EditText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findViewById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(R.id.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editText9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location.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getExtras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 !=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txt.setText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location.getExtras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().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toString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}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else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{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txt.setText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("</a:t>
            </a:r>
            <a:r>
              <a:rPr lang="en-US" altLang="ko-KR" sz="1400" dirty="0" smtClean="0">
                <a:solidFill>
                  <a:srgbClr val="2A00FF"/>
                </a:solidFill>
                <a:latin typeface="돋움체"/>
                <a:ea typeface="돋움체"/>
              </a:rPr>
              <a:t>None"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7230" y="1280160"/>
            <a:ext cx="2483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GPS</a:t>
            </a:r>
          </a:p>
          <a:p>
            <a:r>
              <a:rPr lang="en-US" altLang="ko-KR" dirty="0">
                <a:solidFill>
                  <a:prstClr val="black"/>
                </a:solidFill>
              </a:rPr>
              <a:t>/ </a:t>
            </a:r>
            <a:r>
              <a:rPr lang="en-US" altLang="ko-KR" dirty="0" err="1">
                <a:solidFill>
                  <a:prstClr val="black"/>
                </a:solidFill>
              </a:rPr>
              <a:t>src</a:t>
            </a:r>
            <a:r>
              <a:rPr lang="en-US" altLang="ko-KR" dirty="0">
                <a:solidFill>
                  <a:prstClr val="black"/>
                </a:solidFill>
              </a:rPr>
              <a:t>/MainActivity.java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223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39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위치 정보 확인</a:t>
            </a:r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852" y="1307689"/>
            <a:ext cx="2861223" cy="5240493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5730" y="1307689"/>
            <a:ext cx="2861223" cy="524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917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Faster, Better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457200" y="1540618"/>
            <a:ext cx="8229600" cy="1625600"/>
          </a:xfrm>
        </p:spPr>
        <p:txBody>
          <a:bodyPr/>
          <a:lstStyle/>
          <a:p>
            <a:r>
              <a:rPr lang="ko-KR" altLang="en-US" dirty="0" smtClean="0"/>
              <a:t>정확도 향상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위치 정보 제공자의 종류와 정확도를 이용하여 좀 더 정확한 위치를 선택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40</a:t>
            </a:fld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07988" y="3056081"/>
            <a:ext cx="5750292" cy="28931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private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Location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bestLocation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public void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showNewLocation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(Location location) {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(</a:t>
            </a:r>
            <a:r>
              <a:rPr lang="en-US" altLang="ko-KR" sz="1400" b="1" u="sng" dirty="0" err="1">
                <a:solidFill>
                  <a:srgbClr val="000000"/>
                </a:solidFill>
                <a:latin typeface="돋움체"/>
                <a:ea typeface="돋움체"/>
              </a:rPr>
              <a:t>isBetterLocation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(location,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bestLocation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)) {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bestLocation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= location;</a:t>
            </a:r>
          </a:p>
          <a:p>
            <a:r>
              <a:rPr lang="ko-KR" altLang="en-US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location =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bestLocation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endParaRPr lang="ko-KR" altLang="en-US" sz="1400" dirty="0" smtClean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// Provider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EditText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txt = (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EditText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findViewById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(R.id.editText1);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txt.setText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location.getProvider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());</a:t>
            </a:r>
          </a:p>
          <a:p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7988" y="2409750"/>
            <a:ext cx="2483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GPS</a:t>
            </a:r>
          </a:p>
          <a:p>
            <a:r>
              <a:rPr lang="en-US" altLang="ko-KR" dirty="0">
                <a:solidFill>
                  <a:prstClr val="black"/>
                </a:solidFill>
              </a:rPr>
              <a:t>/ </a:t>
            </a:r>
            <a:r>
              <a:rPr lang="en-US" altLang="ko-KR" dirty="0" err="1">
                <a:solidFill>
                  <a:prstClr val="black"/>
                </a:solidFill>
              </a:rPr>
              <a:t>src</a:t>
            </a:r>
            <a:r>
              <a:rPr lang="en-US" altLang="ko-KR" dirty="0">
                <a:solidFill>
                  <a:prstClr val="black"/>
                </a:solidFill>
              </a:rPr>
              <a:t>/MainActivity.java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9687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41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Faster, Better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7494359" cy="489364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private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static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final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 smtClean="0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smtClean="0">
                <a:solidFill>
                  <a:srgbClr val="0000C0"/>
                </a:solidFill>
                <a:latin typeface="돋움체"/>
                <a:ea typeface="돋움체"/>
              </a:rPr>
              <a:t>TWO_MINUTES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= 1000 * 60 * 2;</a:t>
            </a:r>
          </a:p>
          <a:p>
            <a:endParaRPr lang="ko-KR" altLang="en-US" sz="1200" dirty="0" smtClean="0"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protected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 smtClean="0">
                <a:solidFill>
                  <a:srgbClr val="7F0055"/>
                </a:solidFill>
                <a:latin typeface="돋움체"/>
                <a:ea typeface="돋움체"/>
              </a:rPr>
              <a:t>boolean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isBetterLocation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(Location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location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, Location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currentBestLocation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if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(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currentBestLocation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== </a:t>
            </a:r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return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true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endParaRPr lang="ko-KR" altLang="en-US" sz="1200" dirty="0" smtClean="0"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long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timeDelta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location.getTime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() -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currentBestLocation.getTime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rgbClr val="7F0055"/>
                </a:solidFill>
                <a:latin typeface="돋움체"/>
                <a:ea typeface="돋움체"/>
              </a:rPr>
              <a:t>boolean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isSignificantlyNewer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timeDelta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&gt; </a:t>
            </a:r>
            <a:r>
              <a:rPr lang="en-US" altLang="ko-KR" sz="1200" dirty="0" smtClean="0">
                <a:solidFill>
                  <a:srgbClr val="0000C0"/>
                </a:solidFill>
                <a:latin typeface="돋움체"/>
                <a:ea typeface="돋움체"/>
              </a:rPr>
              <a:t>TWO_MINUTES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rgbClr val="7F0055"/>
                </a:solidFill>
                <a:latin typeface="돋움체"/>
                <a:ea typeface="돋움체"/>
              </a:rPr>
              <a:t>boolean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isSignificantlyOlder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timeDelta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&lt; -</a:t>
            </a:r>
            <a:r>
              <a:rPr lang="en-US" altLang="ko-KR" sz="1200" dirty="0" smtClean="0">
                <a:solidFill>
                  <a:srgbClr val="0000C0"/>
                </a:solidFill>
                <a:latin typeface="돋움체"/>
                <a:ea typeface="돋움체"/>
              </a:rPr>
              <a:t>TWO_MINUTES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rgbClr val="7F0055"/>
                </a:solidFill>
                <a:latin typeface="돋움체"/>
                <a:ea typeface="돋움체"/>
              </a:rPr>
              <a:t>boolean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isNewer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timeDelta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&gt; 0;</a:t>
            </a:r>
          </a:p>
          <a:p>
            <a:endParaRPr lang="ko-KR" altLang="en-US" sz="1200" dirty="0" smtClean="0"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if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(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isSignificantlyNewer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return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true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} </a:t>
            </a:r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else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if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(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isSignificantlyOlder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return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false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ko-KR" altLang="en-US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endParaRPr lang="ko-KR" altLang="en-US" sz="1200" dirty="0" smtClean="0"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accuracyDelta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= (</a:t>
            </a:r>
            <a:r>
              <a:rPr lang="en-US" altLang="ko-KR" sz="12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 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location.getAccuracy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() -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currentBestLocation.getAccuracy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());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rgbClr val="7F0055"/>
                </a:solidFill>
                <a:latin typeface="돋움체"/>
                <a:ea typeface="돋움체"/>
              </a:rPr>
              <a:t>boolean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isLessAccurate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accuracyDelta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&gt; 0;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rgbClr val="7F0055"/>
                </a:solidFill>
                <a:latin typeface="돋움체"/>
                <a:ea typeface="돋움체"/>
              </a:rPr>
              <a:t>boolean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isMoreAccurate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accuracyDelta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&lt; 0;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rgbClr val="7F0055"/>
                </a:solidFill>
                <a:latin typeface="돋움체"/>
                <a:ea typeface="돋움체"/>
              </a:rPr>
              <a:t>boolean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isSignificantlyLessAccurate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accuracyDelta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&gt; 200;</a:t>
            </a:r>
          </a:p>
          <a:p>
            <a:endParaRPr lang="ko-KR" altLang="en-US" sz="1200" dirty="0"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rgbClr val="7F0055"/>
                </a:solidFill>
                <a:latin typeface="돋움체"/>
                <a:ea typeface="돋움체"/>
              </a:rPr>
              <a:t>boolean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isFromSameProvider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isSameProvider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location.getProvider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(),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currentBestLocation.getProvider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());</a:t>
            </a:r>
            <a:endParaRPr lang="en-US" altLang="ko-KR" sz="1200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2483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GPS</a:t>
            </a:r>
          </a:p>
          <a:p>
            <a:r>
              <a:rPr lang="en-US" altLang="ko-KR" dirty="0">
                <a:solidFill>
                  <a:prstClr val="black"/>
                </a:solidFill>
              </a:rPr>
              <a:t>/ </a:t>
            </a:r>
            <a:r>
              <a:rPr lang="en-US" altLang="ko-KR" dirty="0" err="1">
                <a:solidFill>
                  <a:prstClr val="black"/>
                </a:solidFill>
              </a:rPr>
              <a:t>src</a:t>
            </a:r>
            <a:r>
              <a:rPr lang="en-US" altLang="ko-KR" dirty="0">
                <a:solidFill>
                  <a:prstClr val="black"/>
                </a:solidFill>
              </a:rPr>
              <a:t>/MainActivity.java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33948" y="3143385"/>
            <a:ext cx="6723530" cy="9886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795594" y="2804831"/>
            <a:ext cx="12618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시간을 비교</a:t>
            </a:r>
            <a:endParaRPr lang="ko-KR" alt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1333947" y="5273040"/>
            <a:ext cx="6723531" cy="7942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6795594" y="4934486"/>
            <a:ext cx="12618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정밀도 비교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522031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42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Faster, Better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29" y="1920538"/>
            <a:ext cx="7414037" cy="323165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ko-KR" altLang="en-US" sz="1200" dirty="0"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if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isMoreAccurate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return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true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}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else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if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isNewer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&amp;&amp; !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isLessAccurate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return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true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}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else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if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(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isNewer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&amp;&amp; !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isSignificantlyLessAccurate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&amp;&amp;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isFromSameProvider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return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true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return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false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endParaRPr lang="ko-KR" altLang="en-US" sz="1200" dirty="0"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private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7F0055"/>
                </a:solidFill>
                <a:latin typeface="돋움체"/>
                <a:ea typeface="돋움체"/>
              </a:rPr>
              <a:t>boolean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isSameProvider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(String provider1, String provider2) 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if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(provider1 ==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return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provider2 ==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return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provider1.equals(provider2);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2483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GPS</a:t>
            </a:r>
          </a:p>
          <a:p>
            <a:r>
              <a:rPr lang="en-US" altLang="ko-KR" dirty="0">
                <a:solidFill>
                  <a:prstClr val="black"/>
                </a:solidFill>
              </a:rPr>
              <a:t>/ </a:t>
            </a:r>
            <a:r>
              <a:rPr lang="en-US" altLang="ko-KR" dirty="0" err="1">
                <a:solidFill>
                  <a:prstClr val="black"/>
                </a:solidFill>
              </a:rPr>
              <a:t>src</a:t>
            </a:r>
            <a:r>
              <a:rPr lang="en-US" altLang="ko-KR" dirty="0">
                <a:solidFill>
                  <a:prstClr val="black"/>
                </a:solidFill>
              </a:rPr>
              <a:t>/MainActivity.java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182" y="5966936"/>
            <a:ext cx="8422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3"/>
              </a:rPr>
              <a:t>http://</a:t>
            </a:r>
            <a:r>
              <a:rPr lang="en-US" altLang="ko-KR" dirty="0" smtClean="0">
                <a:hlinkClick r:id="rId3"/>
              </a:rPr>
              <a:t>developer.android.com/guide/topics/location/obtaining-user-location.html</a:t>
            </a:r>
            <a:endParaRPr lang="ko-KR" altLang="en-US" dirty="0"/>
          </a:p>
        </p:txBody>
      </p:sp>
      <p:sp>
        <p:nvSpPr>
          <p:cNvPr id="7" name="Rectangle 6"/>
          <p:cNvSpPr/>
          <p:nvPr/>
        </p:nvSpPr>
        <p:spPr>
          <a:xfrm>
            <a:off x="1183340" y="2088776"/>
            <a:ext cx="6755803" cy="155806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081371" y="2129737"/>
            <a:ext cx="28793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시간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정밀도</a:t>
            </a:r>
            <a:r>
              <a:rPr lang="en-US" altLang="ko-KR" sz="1600" dirty="0" smtClean="0"/>
              <a:t>, Provider</a:t>
            </a:r>
            <a:r>
              <a:rPr lang="ko-KR" altLang="en-US" sz="1600" dirty="0" smtClean="0"/>
              <a:t>에 따라</a:t>
            </a:r>
            <a:endParaRPr lang="en-US" altLang="ko-KR" sz="1600" dirty="0" smtClean="0"/>
          </a:p>
          <a:p>
            <a:r>
              <a:rPr lang="ko-KR" altLang="en-US" sz="1600" dirty="0" smtClean="0"/>
              <a:t>더 좋은 위치정보인지를 판단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562309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43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Call Maps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3199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Map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smtClean="0">
                <a:solidFill>
                  <a:prstClr val="black"/>
                </a:solidFill>
              </a:rPr>
              <a:t>res/layout/activity_main.xml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00428" y="2086148"/>
            <a:ext cx="3805657" cy="31085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&lt;?xml version=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"1.0" encoding="utf-8"?&gt;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&lt;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LinearLayout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xmlns:android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4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…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android:orientation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4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"vertical"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android:layout_width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4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“</a:t>
            </a:r>
            <a:r>
              <a:rPr lang="en-US" altLang="ko-KR" sz="1400" i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match_parent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android:layout_height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400" i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match_parent</a:t>
            </a:r>
            <a:r>
              <a:rPr lang="en-US" altLang="ko-KR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</a:p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&gt;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sz="1400" dirty="0">
                <a:solidFill>
                  <a:srgbClr val="3F7F7F"/>
                </a:solidFill>
                <a:latin typeface="맑은 고딕"/>
              </a:rPr>
              <a:t>Button</a:t>
            </a:r>
          </a:p>
          <a:p>
            <a:r>
              <a:rPr lang="en-US" altLang="ko-KR" sz="1400" dirty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android:id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"@+id/button1"</a:t>
            </a:r>
          </a:p>
          <a:p>
            <a:r>
              <a:rPr lang="en-US" altLang="ko-KR" sz="1400" dirty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android:text</a:t>
            </a:r>
            <a:r>
              <a:rPr lang="en-US" altLang="ko-KR" sz="1400" dirty="0" smtClean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 smtClean="0">
                <a:solidFill>
                  <a:srgbClr val="2A00FF"/>
                </a:solidFill>
                <a:latin typeface="맑은 고딕"/>
              </a:rPr>
              <a:t>“</a:t>
            </a:r>
            <a:r>
              <a:rPr lang="ko-KR" altLang="en-US" sz="1400" i="1" dirty="0" err="1" smtClean="0">
                <a:solidFill>
                  <a:srgbClr val="2A00FF"/>
                </a:solidFill>
                <a:latin typeface="맑은 고딕"/>
              </a:rPr>
              <a:t>모바일앱</a:t>
            </a:r>
            <a:r>
              <a:rPr lang="ko-KR" altLang="en-US" sz="1400" i="1" dirty="0" smtClean="0">
                <a:solidFill>
                  <a:srgbClr val="2A00FF"/>
                </a:solidFill>
                <a:latin typeface="맑은 고딕"/>
              </a:rPr>
              <a:t> 실습실</a:t>
            </a:r>
            <a:r>
              <a:rPr lang="en-US" altLang="ko-KR" sz="1400" i="1" dirty="0" smtClean="0">
                <a:solidFill>
                  <a:srgbClr val="2A00FF"/>
                </a:solidFill>
                <a:latin typeface="맑은 고딕"/>
              </a:rPr>
              <a:t>"</a:t>
            </a:r>
            <a:endParaRPr lang="en-US" altLang="ko-KR" sz="1400" i="1" dirty="0">
              <a:solidFill>
                <a:srgbClr val="2A00FF"/>
              </a:solidFill>
              <a:latin typeface="맑은 고딕"/>
            </a:endParaRPr>
          </a:p>
          <a:p>
            <a:r>
              <a:rPr lang="en-US" altLang="ko-KR" sz="1400" dirty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match_parent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400" dirty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android:layout_height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i="1" dirty="0" err="1">
                <a:solidFill>
                  <a:srgbClr val="2A00FF"/>
                </a:solidFill>
                <a:latin typeface="맑은 고딕"/>
              </a:rPr>
              <a:t>wrap_content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</a:p>
          <a:p>
            <a:r>
              <a:rPr lang="en-US" altLang="ko-KR" sz="1400" dirty="0">
                <a:latin typeface="맑은 고딕"/>
              </a:rPr>
              <a:t>        </a:t>
            </a:r>
            <a:r>
              <a:rPr lang="en-US" altLang="ko-KR" sz="1400" dirty="0" err="1">
                <a:solidFill>
                  <a:srgbClr val="7F007F"/>
                </a:solidFill>
                <a:latin typeface="맑은 고딕"/>
              </a:rPr>
              <a:t>android:onClick</a:t>
            </a:r>
            <a:r>
              <a:rPr lang="en-US" altLang="ko-KR" sz="14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400" i="1" dirty="0">
                <a:solidFill>
                  <a:srgbClr val="2A00FF"/>
                </a:solidFill>
                <a:latin typeface="맑은 고딕"/>
              </a:rPr>
              <a:t>"</a:t>
            </a:r>
            <a:r>
              <a:rPr lang="en-US" altLang="ko-KR" sz="1400" b="1" i="1" dirty="0" err="1" smtClean="0">
                <a:solidFill>
                  <a:srgbClr val="2A00FF"/>
                </a:solidFill>
                <a:latin typeface="맑은 고딕"/>
              </a:rPr>
              <a:t>showLocation</a:t>
            </a:r>
            <a:r>
              <a:rPr lang="en-US" altLang="ko-KR" sz="1400" i="1" dirty="0" smtClean="0">
                <a:solidFill>
                  <a:srgbClr val="2A00FF"/>
                </a:solidFill>
                <a:latin typeface="맑은 고딕"/>
              </a:rPr>
              <a:t>"</a:t>
            </a:r>
            <a:endParaRPr lang="en-US" altLang="ko-KR" sz="1400" i="1" dirty="0">
              <a:solidFill>
                <a:srgbClr val="2A00FF"/>
              </a:solidFill>
              <a:latin typeface="맑은 고딕"/>
            </a:endParaRPr>
          </a:p>
          <a:p>
            <a:r>
              <a:rPr lang="ko-KR" altLang="en-US" sz="1400" dirty="0">
                <a:latin typeface="맑은 고딕"/>
              </a:rPr>
              <a:t>        </a:t>
            </a:r>
            <a:r>
              <a:rPr lang="en-US" altLang="ko-KR" sz="1400" dirty="0">
                <a:solidFill>
                  <a:srgbClr val="008080"/>
                </a:solidFill>
                <a:latin typeface="맑은 고딕"/>
              </a:rPr>
              <a:t>/&gt;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&lt;/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LinearLayout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043610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44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Call Maps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60088" y="1955519"/>
            <a:ext cx="7879080" cy="447814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public class Act1 extends </a:t>
            </a:r>
            <a:r>
              <a:rPr lang="en-US" altLang="ko-KR" sz="15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AppCompatActivity</a:t>
            </a:r>
            <a:r>
              <a:rPr lang="en-US" altLang="ko-KR" sz="15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{</a:t>
            </a:r>
          </a:p>
          <a:p>
            <a:r>
              <a:rPr lang="en-US" altLang="ko-KR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/** Called when the activity is first created. */</a:t>
            </a:r>
          </a:p>
          <a:p>
            <a:r>
              <a:rPr lang="en-US" altLang="ko-KR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@Override</a:t>
            </a:r>
          </a:p>
          <a:p>
            <a:r>
              <a:rPr lang="en-US" altLang="ko-KR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public void </a:t>
            </a:r>
            <a:r>
              <a:rPr lang="en-US" altLang="ko-KR" sz="15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onCreate</a:t>
            </a:r>
            <a:r>
              <a:rPr lang="en-US" altLang="ko-KR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(Bundle </a:t>
            </a:r>
            <a:r>
              <a:rPr lang="en-US" altLang="ko-KR" sz="15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5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super.onCreate</a:t>
            </a:r>
            <a:r>
              <a:rPr lang="en-US" altLang="ko-KR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5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5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setContentView</a:t>
            </a:r>
            <a:r>
              <a:rPr lang="en-US" altLang="ko-KR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5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R.layout.main</a:t>
            </a:r>
            <a:r>
              <a:rPr lang="en-US" altLang="ko-KR" sz="15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5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}</a:t>
            </a:r>
            <a:endParaRPr lang="en-US" altLang="ko-KR" sz="15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ko-KR" alt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</a:t>
            </a:r>
          </a:p>
          <a:p>
            <a:r>
              <a:rPr lang="en-US" altLang="ko-KR" sz="15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500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5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5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5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500" dirty="0" err="1" smtClean="0">
                <a:solidFill>
                  <a:srgbClr val="000000"/>
                </a:solidFill>
                <a:latin typeface="돋움체"/>
                <a:ea typeface="돋움체"/>
              </a:rPr>
              <a:t>showLocation</a:t>
            </a:r>
            <a:r>
              <a:rPr lang="en-US" altLang="ko-KR" sz="1500" dirty="0" smtClean="0">
                <a:solidFill>
                  <a:srgbClr val="000000"/>
                </a:solidFill>
                <a:latin typeface="돋움체"/>
                <a:ea typeface="돋움체"/>
              </a:rPr>
              <a:t>(View </a:t>
            </a:r>
            <a:r>
              <a:rPr lang="en-US" altLang="ko-KR" sz="1500" dirty="0">
                <a:solidFill>
                  <a:srgbClr val="000000"/>
                </a:solidFill>
                <a:latin typeface="돋움체"/>
                <a:ea typeface="돋움체"/>
              </a:rPr>
              <a:t>v) {</a:t>
            </a:r>
          </a:p>
          <a:p>
            <a:r>
              <a:rPr lang="en-US" altLang="ko-KR" sz="15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500" dirty="0">
                <a:solidFill>
                  <a:srgbClr val="7F0055"/>
                </a:solidFill>
                <a:latin typeface="돋움체"/>
                <a:ea typeface="돋움체"/>
              </a:rPr>
              <a:t>double</a:t>
            </a:r>
            <a:r>
              <a:rPr lang="en-US" altLang="ko-KR" sz="1500" dirty="0">
                <a:solidFill>
                  <a:srgbClr val="000000"/>
                </a:solidFill>
                <a:latin typeface="돋움체"/>
                <a:ea typeface="돋움체"/>
              </a:rPr>
              <a:t> longitude = </a:t>
            </a:r>
            <a:r>
              <a:rPr lang="en-US" altLang="ko-KR" sz="1500" dirty="0" smtClean="0">
                <a:solidFill>
                  <a:srgbClr val="000000"/>
                </a:solidFill>
                <a:latin typeface="돋움체"/>
                <a:ea typeface="돋움체"/>
              </a:rPr>
              <a:t>128.608625; </a:t>
            </a:r>
            <a:endParaRPr lang="en-US" altLang="ko-KR" sz="15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5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500" dirty="0">
                <a:solidFill>
                  <a:srgbClr val="7F0055"/>
                </a:solidFill>
                <a:latin typeface="돋움체"/>
                <a:ea typeface="돋움체"/>
              </a:rPr>
              <a:t>double</a:t>
            </a:r>
            <a:r>
              <a:rPr lang="en-US" altLang="ko-KR" sz="1500" dirty="0">
                <a:solidFill>
                  <a:srgbClr val="000000"/>
                </a:solidFill>
                <a:latin typeface="돋움체"/>
                <a:ea typeface="돋움체"/>
              </a:rPr>
              <a:t> latitude  = 35.886892;</a:t>
            </a:r>
          </a:p>
          <a:p>
            <a:r>
              <a:rPr lang="en-US" altLang="ko-KR" sz="15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5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500" dirty="0">
                <a:solidFill>
                  <a:srgbClr val="000000"/>
                </a:solidFill>
                <a:latin typeface="돋움체"/>
                <a:ea typeface="돋움체"/>
              </a:rPr>
              <a:t> zoom = 18;</a:t>
            </a:r>
          </a:p>
          <a:p>
            <a:r>
              <a:rPr lang="ko-KR" altLang="en-US" sz="15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</a:p>
          <a:p>
            <a:r>
              <a:rPr lang="en-US" altLang="ko-KR" sz="1500" dirty="0">
                <a:solidFill>
                  <a:srgbClr val="000000"/>
                </a:solidFill>
                <a:latin typeface="돋움체"/>
                <a:ea typeface="돋움체"/>
              </a:rPr>
              <a:t>        String </a:t>
            </a:r>
            <a:r>
              <a:rPr lang="en-US" altLang="ko-KR" sz="1500" dirty="0" err="1">
                <a:solidFill>
                  <a:srgbClr val="000000"/>
                </a:solidFill>
                <a:latin typeface="돋움체"/>
                <a:ea typeface="돋움체"/>
              </a:rPr>
              <a:t>pos</a:t>
            </a:r>
            <a:r>
              <a:rPr lang="en-US" altLang="ko-KR" sz="15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500" dirty="0" err="1">
                <a:solidFill>
                  <a:srgbClr val="000000"/>
                </a:solidFill>
                <a:latin typeface="돋움체"/>
                <a:ea typeface="돋움체"/>
              </a:rPr>
              <a:t>String.format</a:t>
            </a:r>
            <a:r>
              <a:rPr lang="en-US" altLang="ko-KR" sz="15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500" dirty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500" u="sng" dirty="0">
                <a:solidFill>
                  <a:srgbClr val="2A00FF"/>
                </a:solidFill>
                <a:latin typeface="돋움체"/>
                <a:ea typeface="돋움체"/>
              </a:rPr>
              <a:t>geo:</a:t>
            </a:r>
            <a:r>
              <a:rPr lang="en-US" altLang="ko-KR" sz="1500" dirty="0">
                <a:solidFill>
                  <a:srgbClr val="2A00FF"/>
                </a:solidFill>
                <a:latin typeface="돋움체"/>
                <a:ea typeface="돋움체"/>
              </a:rPr>
              <a:t>%f,%</a:t>
            </a:r>
            <a:r>
              <a:rPr lang="en-US" altLang="ko-KR" sz="1500" dirty="0" err="1">
                <a:solidFill>
                  <a:srgbClr val="2A00FF"/>
                </a:solidFill>
                <a:latin typeface="돋움체"/>
                <a:ea typeface="돋움체"/>
              </a:rPr>
              <a:t>f?z</a:t>
            </a:r>
            <a:r>
              <a:rPr lang="en-US" altLang="ko-KR" sz="1500" dirty="0">
                <a:solidFill>
                  <a:srgbClr val="2A00FF"/>
                </a:solidFill>
                <a:latin typeface="돋움체"/>
                <a:ea typeface="돋움체"/>
              </a:rPr>
              <a:t>=%d"</a:t>
            </a:r>
            <a:r>
              <a:rPr lang="en-US" altLang="ko-KR" sz="1500" dirty="0">
                <a:solidFill>
                  <a:srgbClr val="000000"/>
                </a:solidFill>
                <a:latin typeface="돋움체"/>
                <a:ea typeface="돋움체"/>
              </a:rPr>
              <a:t>, latitude, longitude, zoom);</a:t>
            </a:r>
          </a:p>
          <a:p>
            <a:r>
              <a:rPr lang="en-US" altLang="ko-KR" sz="1500" dirty="0">
                <a:solidFill>
                  <a:srgbClr val="000000"/>
                </a:solidFill>
                <a:latin typeface="돋움체"/>
                <a:ea typeface="돋움체"/>
              </a:rPr>
              <a:t>        Uri </a:t>
            </a:r>
            <a:r>
              <a:rPr lang="en-US" altLang="ko-KR" sz="1500" dirty="0" smtClean="0">
                <a:solidFill>
                  <a:srgbClr val="000000"/>
                </a:solidFill>
                <a:latin typeface="돋움체"/>
                <a:ea typeface="돋움체"/>
              </a:rPr>
              <a:t>geo </a:t>
            </a:r>
            <a:r>
              <a:rPr lang="en-US" altLang="ko-KR" sz="15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500" dirty="0" err="1">
                <a:solidFill>
                  <a:srgbClr val="000000"/>
                </a:solidFill>
                <a:latin typeface="돋움체"/>
                <a:ea typeface="돋움체"/>
              </a:rPr>
              <a:t>Uri.parse</a:t>
            </a:r>
            <a:r>
              <a:rPr lang="en-US" altLang="ko-KR" sz="15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500" dirty="0" err="1">
                <a:solidFill>
                  <a:srgbClr val="000000"/>
                </a:solidFill>
                <a:latin typeface="돋움체"/>
                <a:ea typeface="돋움체"/>
              </a:rPr>
              <a:t>pos</a:t>
            </a:r>
            <a:r>
              <a:rPr lang="en-US" altLang="ko-KR" sz="15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500" dirty="0">
                <a:solidFill>
                  <a:srgbClr val="000000"/>
                </a:solidFill>
                <a:latin typeface="돋움체"/>
                <a:ea typeface="돋움체"/>
              </a:rPr>
              <a:t>        Intent </a:t>
            </a:r>
            <a:r>
              <a:rPr lang="en-US" altLang="ko-KR" sz="1500" dirty="0" err="1">
                <a:solidFill>
                  <a:srgbClr val="000000"/>
                </a:solidFill>
                <a:latin typeface="돋움체"/>
                <a:ea typeface="돋움체"/>
              </a:rPr>
              <a:t>intent</a:t>
            </a:r>
            <a:r>
              <a:rPr lang="en-US" altLang="ko-KR" sz="15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5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500" dirty="0">
                <a:solidFill>
                  <a:srgbClr val="000000"/>
                </a:solidFill>
                <a:latin typeface="돋움체"/>
                <a:ea typeface="돋움체"/>
              </a:rPr>
              <a:t> Intent(</a:t>
            </a:r>
            <a:r>
              <a:rPr lang="en-US" altLang="ko-KR" sz="1500" dirty="0" err="1">
                <a:solidFill>
                  <a:srgbClr val="000000"/>
                </a:solidFill>
                <a:latin typeface="돋움체"/>
                <a:ea typeface="돋움체"/>
              </a:rPr>
              <a:t>Intent.</a:t>
            </a:r>
            <a:r>
              <a:rPr lang="en-US" altLang="ko-KR" sz="1500" dirty="0" err="1">
                <a:solidFill>
                  <a:srgbClr val="0000C0"/>
                </a:solidFill>
                <a:latin typeface="돋움체"/>
                <a:ea typeface="돋움체"/>
              </a:rPr>
              <a:t>ACTION_VIEW</a:t>
            </a:r>
            <a:r>
              <a:rPr lang="en-US" altLang="ko-KR" sz="15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500" dirty="0" smtClean="0">
                <a:solidFill>
                  <a:srgbClr val="000000"/>
                </a:solidFill>
                <a:latin typeface="돋움체"/>
                <a:ea typeface="돋움체"/>
              </a:rPr>
              <a:t>geo);</a:t>
            </a:r>
            <a:endParaRPr lang="en-US" altLang="ko-KR" sz="15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5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500" dirty="0" err="1">
                <a:solidFill>
                  <a:srgbClr val="000000"/>
                </a:solidFill>
                <a:latin typeface="돋움체"/>
                <a:ea typeface="돋움체"/>
              </a:rPr>
              <a:t>startActivity</a:t>
            </a:r>
            <a:r>
              <a:rPr lang="en-US" altLang="ko-KR" sz="1500" dirty="0">
                <a:solidFill>
                  <a:srgbClr val="000000"/>
                </a:solidFill>
                <a:latin typeface="돋움체"/>
                <a:ea typeface="돋움체"/>
              </a:rPr>
              <a:t>(intent);</a:t>
            </a:r>
          </a:p>
          <a:p>
            <a:r>
              <a:rPr lang="ko-KR" altLang="en-US" sz="15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5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en-US" altLang="ko-KR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7230" y="1280160"/>
            <a:ext cx="24261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Map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7649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45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Call Maps</a:t>
            </a:r>
            <a:endParaRPr lang="ko-KR" altLang="en-US" dirty="0"/>
          </a:p>
        </p:txBody>
      </p:sp>
      <p:sp>
        <p:nvSpPr>
          <p:cNvPr id="6" name="내용 개체 틀 5"/>
          <p:cNvSpPr txBox="1">
            <a:spLocks/>
          </p:cNvSpPr>
          <p:nvPr/>
        </p:nvSpPr>
        <p:spPr>
          <a:xfrm>
            <a:off x="5087256" y="2025315"/>
            <a:ext cx="3327399" cy="122951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ko-KR" altLang="en-US" b="1" dirty="0" smtClean="0"/>
              <a:t>지도 중심</a:t>
            </a:r>
            <a:r>
              <a:rPr lang="en-US" altLang="ko-KR" b="1" dirty="0" smtClean="0"/>
              <a:t> </a:t>
            </a:r>
            <a:r>
              <a:rPr lang="en-US" altLang="ko-KR" sz="2000" b="1" dirty="0" smtClean="0"/>
              <a:t>( </a:t>
            </a:r>
            <a:r>
              <a:rPr lang="ko-KR" altLang="en-US" sz="2000" b="1" dirty="0" smtClean="0"/>
              <a:t>실습실 </a:t>
            </a:r>
            <a:r>
              <a:rPr lang="en-US" altLang="ko-KR" sz="2000" b="1" dirty="0" smtClean="0"/>
              <a:t>)</a:t>
            </a:r>
          </a:p>
          <a:p>
            <a:pPr lvl="1"/>
            <a:r>
              <a:rPr lang="en-US" altLang="ko-KR" b="1" dirty="0" smtClean="0">
                <a:latin typeface="+mn-ea"/>
              </a:rPr>
              <a:t>Longitude = 128.608625</a:t>
            </a:r>
          </a:p>
          <a:p>
            <a:pPr lvl="1"/>
            <a:r>
              <a:rPr lang="en-US" altLang="ko-KR" b="1" dirty="0" smtClean="0">
                <a:latin typeface="+mn-ea"/>
              </a:rPr>
              <a:t>Latitude  </a:t>
            </a:r>
            <a:r>
              <a:rPr lang="en-US" altLang="ko-KR" b="1" dirty="0">
                <a:latin typeface="+mn-ea"/>
              </a:rPr>
              <a:t>= 35.886892</a:t>
            </a:r>
            <a:endParaRPr lang="en-US" altLang="ko-KR" b="1" dirty="0" smtClean="0">
              <a:latin typeface="+mn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688" y="1606325"/>
            <a:ext cx="2774580" cy="493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038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46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8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45441</TotalTime>
  <Words>3200</Words>
  <Application>Microsoft Office PowerPoint</Application>
  <PresentationFormat>화면 슬라이드 쇼(4:3)</PresentationFormat>
  <Paragraphs>766</Paragraphs>
  <Slides>46</Slides>
  <Notes>46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6" baseType="lpstr">
      <vt:lpstr>HY중고딕</vt:lpstr>
      <vt:lpstr>돋움체</vt:lpstr>
      <vt:lpstr>맑은 고딕</vt:lpstr>
      <vt:lpstr>휴먼엑스포</vt:lpstr>
      <vt:lpstr>Arial</vt:lpstr>
      <vt:lpstr>Calibri</vt:lpstr>
      <vt:lpstr>Century Gothic</vt:lpstr>
      <vt:lpstr>Courier New</vt:lpstr>
      <vt:lpstr>Palatino Linotype</vt:lpstr>
      <vt:lpstr>Executive</vt:lpstr>
      <vt:lpstr>위치기반서비스</vt:lpstr>
      <vt:lpstr>위치기반서비스</vt:lpstr>
      <vt:lpstr>시작</vt:lpstr>
      <vt:lpstr>시작</vt:lpstr>
      <vt:lpstr>발전</vt:lpstr>
      <vt:lpstr>구성 요소</vt:lpstr>
      <vt:lpstr>측위 기술</vt:lpstr>
      <vt:lpstr>이동통신 기지국 기반</vt:lpstr>
      <vt:lpstr>Wi-Fi 네트워크 기반</vt:lpstr>
      <vt:lpstr>GPS 기반</vt:lpstr>
      <vt:lpstr>A-GPS</vt:lpstr>
      <vt:lpstr>위치 처리 플랫폼</vt:lpstr>
      <vt:lpstr>위치 응용 서비스</vt:lpstr>
      <vt:lpstr>위치기반서비스</vt:lpstr>
      <vt:lpstr>위치기반서비스</vt:lpstr>
      <vt:lpstr>Google LBS</vt:lpstr>
      <vt:lpstr>Android LBS</vt:lpstr>
      <vt:lpstr>Android LBS</vt:lpstr>
      <vt:lpstr>Android LBS</vt:lpstr>
      <vt:lpstr>위치관리자: Location Manager</vt:lpstr>
      <vt:lpstr>위치관리자: Location Manager</vt:lpstr>
      <vt:lpstr>위치관리자: Location Manager</vt:lpstr>
      <vt:lpstr>위치관리자: Location Manager</vt:lpstr>
      <vt:lpstr>위치관리자: Location Manager</vt:lpstr>
      <vt:lpstr>위치관리자: Location Manager</vt:lpstr>
      <vt:lpstr>위치관리자: Location Manager</vt:lpstr>
      <vt:lpstr>위치관리자: Location Manager</vt:lpstr>
      <vt:lpstr>위치관리자: Location Manager</vt:lpstr>
      <vt:lpstr>좌표의 변환</vt:lpstr>
      <vt:lpstr>거리의 계산</vt:lpstr>
      <vt:lpstr>도착 알림</vt:lpstr>
      <vt:lpstr>LocationManager</vt:lpstr>
      <vt:lpstr>Permission</vt:lpstr>
      <vt:lpstr>LocationManager</vt:lpstr>
      <vt:lpstr>LocationManager</vt:lpstr>
      <vt:lpstr>LocationManager</vt:lpstr>
      <vt:lpstr>LocationManager</vt:lpstr>
      <vt:lpstr>LocationManager</vt:lpstr>
      <vt:lpstr>위치 정보 확인</vt:lpstr>
      <vt:lpstr>Faster, Better</vt:lpstr>
      <vt:lpstr>Faster, Better</vt:lpstr>
      <vt:lpstr>Faster, Better</vt:lpstr>
      <vt:lpstr>Call Maps</vt:lpstr>
      <vt:lpstr>Call Maps</vt:lpstr>
      <vt:lpstr>Call Maps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정기숙</cp:lastModifiedBy>
  <cp:revision>2110</cp:revision>
  <cp:lastPrinted>2011-04-25T22:15:32Z</cp:lastPrinted>
  <dcterms:created xsi:type="dcterms:W3CDTF">2010-10-12T07:50:15Z</dcterms:created>
  <dcterms:modified xsi:type="dcterms:W3CDTF">2017-11-28T04:47:28Z</dcterms:modified>
</cp:coreProperties>
</file>