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11"/>
  </p:notesMasterIdLst>
  <p:sldIdLst>
    <p:sldId id="620" r:id="rId2"/>
    <p:sldId id="621" r:id="rId3"/>
    <p:sldId id="623" r:id="rId4"/>
    <p:sldId id="624" r:id="rId5"/>
    <p:sldId id="625" r:id="rId6"/>
    <p:sldId id="626" r:id="rId7"/>
    <p:sldId id="627" r:id="rId8"/>
    <p:sldId id="628" r:id="rId9"/>
    <p:sldId id="294" r:id="rId10"/>
  </p:sldIdLst>
  <p:sldSz cx="9144000" cy="6858000" type="screen4x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CBC"/>
    <a:srgbClr val="FFCCFF"/>
    <a:srgbClr val="0066FF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18" autoAdjust="0"/>
    <p:restoredTop sz="81892" autoAdjust="0"/>
  </p:normalViewPr>
  <p:slideViewPr>
    <p:cSldViewPr snapToGrid="0">
      <p:cViewPr varScale="1">
        <p:scale>
          <a:sx n="72" d="100"/>
          <a:sy n="72" d="100"/>
        </p:scale>
        <p:origin x="1925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-1062" y="-96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9687" cy="3840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79" tIns="47540" rIns="95079" bIns="4754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</p:spPr>
        <p:txBody>
          <a:bodyPr vert="horz" lIns="95079" tIns="47540" rIns="95079" bIns="4754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633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83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163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766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391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848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9765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왼쪽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실제로 안드로이드 기기</a:t>
            </a:r>
            <a:r>
              <a:rPr lang="en-US" altLang="ko-KR" dirty="0" smtClean="0"/>
              <a:t>(Phone)</a:t>
            </a:r>
            <a:r>
              <a:rPr lang="ko-KR" altLang="en-US" dirty="0" smtClean="0"/>
              <a:t>를 연결하여 테스트 한 결과 </a:t>
            </a:r>
            <a:r>
              <a:rPr lang="en-US" altLang="ko-KR" dirty="0" smtClean="0"/>
              <a:t>(15</a:t>
            </a:r>
            <a:r>
              <a:rPr lang="ko-KR" altLang="en-US" dirty="0" smtClean="0"/>
              <a:t>년 자료</a:t>
            </a:r>
            <a:r>
              <a:rPr lang="en-US" altLang="ko-KR" dirty="0" smtClean="0"/>
              <a:t>)</a:t>
            </a:r>
          </a:p>
          <a:p>
            <a:r>
              <a:rPr lang="ko-KR" altLang="en-US" dirty="0" smtClean="0"/>
              <a:t>오른쪽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에뮬로이터 결과값 </a:t>
            </a:r>
            <a:r>
              <a:rPr lang="en-US" altLang="ko-KR" dirty="0" smtClean="0"/>
              <a:t>(16</a:t>
            </a:r>
            <a:r>
              <a:rPr lang="ko-KR" altLang="en-US" dirty="0" smtClean="0"/>
              <a:t>년 자료</a:t>
            </a:r>
            <a:r>
              <a:rPr lang="en-US" altLang="ko-KR" smtClean="0"/>
              <a:t>) -&gt; </a:t>
            </a:r>
            <a:r>
              <a:rPr lang="ko-KR" altLang="en-US" smtClean="0"/>
              <a:t>삭제함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873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295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53976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73978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34068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4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590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App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센서응용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Gi</a:t>
            </a:r>
            <a:r>
              <a:rPr lang="en-US" altLang="ko-KR" dirty="0"/>
              <a:t> Sook Jung, </a:t>
            </a:r>
            <a:r>
              <a:rPr lang="en-US" altLang="ko-KR" dirty="0" err="1"/>
              <a:t>Ph.D</a:t>
            </a:r>
            <a:endParaRPr lang="en-US" altLang="ko-KR" dirty="0"/>
          </a:p>
          <a:p>
            <a:r>
              <a:rPr lang="en-US" altLang="ko-KR" dirty="0" smtClean="0"/>
              <a:t>School </a:t>
            </a:r>
            <a:r>
              <a:rPr lang="en-US" altLang="ko-KR" dirty="0" smtClean="0"/>
              <a:t>of Computer Science and Engineering</a:t>
            </a:r>
          </a:p>
          <a:p>
            <a:r>
              <a:rPr lang="en-US" altLang="ko-KR" dirty="0" smtClean="0"/>
              <a:t>College of IT Engineering, KNU</a:t>
            </a:r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365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만보계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84672"/>
            <a:ext cx="8229600" cy="5267002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가속도 센서를 이용한 아주 간단한 </a:t>
            </a:r>
            <a:r>
              <a:rPr lang="ko-KR" altLang="en-US" dirty="0" err="1" smtClean="0"/>
              <a:t>만보계</a:t>
            </a:r>
            <a:r>
              <a:rPr lang="ko-KR" altLang="en-US" dirty="0" smtClean="0"/>
              <a:t> 작성</a:t>
            </a:r>
            <a:endParaRPr lang="en-US" altLang="ko-KR" dirty="0"/>
          </a:p>
          <a:p>
            <a:pPr lvl="1"/>
            <a:r>
              <a:rPr lang="en-US" altLang="ko-KR" dirty="0" smtClean="0"/>
              <a:t>Y</a:t>
            </a:r>
            <a:r>
              <a:rPr lang="ko-KR" altLang="en-US" dirty="0" smtClean="0"/>
              <a:t>축 방향의 값의 변화를 계산하여 걸음 수를 계산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sz="800" dirty="0" smtClean="0"/>
          </a:p>
          <a:p>
            <a:r>
              <a:rPr lang="en-US" altLang="ko-KR" dirty="0" smtClean="0"/>
              <a:t>Pedometer </a:t>
            </a:r>
            <a:r>
              <a:rPr lang="ko-KR" altLang="en-US" dirty="0" smtClean="0"/>
              <a:t>프로젝트를 생성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334" y="2814371"/>
            <a:ext cx="5208096" cy="36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4326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Layout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3199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Pedometer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/res</a:t>
            </a:r>
            <a:r>
              <a:rPr lang="en-US" altLang="ko-KR" dirty="0" smtClean="0"/>
              <a:t>/layout</a:t>
            </a:r>
            <a:r>
              <a:rPr lang="en-US" altLang="ko-KR" dirty="0" smtClean="0">
                <a:solidFill>
                  <a:prstClr val="black"/>
                </a:solidFill>
              </a:rPr>
              <a:t>/activity_main.xml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44409" y="1877750"/>
            <a:ext cx="8479856" cy="452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&lt;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RelativeLayout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xmlns: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"http://schemas.android.com/apk/res/android"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xmlns: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tools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"http://schemas.android.com/tools"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:layout_width=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"match_parent"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:layout_height=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"match_parent"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:paddingLeft=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"@dimen/activity_horizontal_margin"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:paddingRight=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"@dimen/activity_horizontal_margin"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:paddingTop=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"@dimen/activity_vertical_margin"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:paddingBottom=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"@dimen/activity_vertical_margin"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tools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:context=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".MainActivity"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&gt;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&lt;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TextView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:layout_width=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"wrap_content"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:layout_height=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"wrap_content"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:text=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"0"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:id=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"@+id/steps"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:layout_centerVertical=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"true"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:layout_centerHorizontal=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"true" </a:t>
            </a:r>
            <a:endParaRPr kumimoji="0" lang="en-US" altLang="ko-KR" sz="1200" b="1" i="0" u="none" strike="noStrike" cap="none" normalizeH="0" baseline="0" dirty="0" smtClean="0">
              <a:ln>
                <a:noFill/>
              </a:ln>
              <a:solidFill>
                <a:srgbClr val="008000"/>
              </a:solidFill>
              <a:effectLst/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 smtClean="0">
                <a:solidFill>
                  <a:srgbClr val="008000"/>
                </a:solidFill>
                <a:latin typeface="+mn-ea"/>
              </a:rPr>
              <a:t>        </a:t>
            </a:r>
            <a:r>
              <a:rPr lang="ko-KR" altLang="ko-KR" sz="1200" b="1" dirty="0" smtClean="0">
                <a:solidFill>
                  <a:srgbClr val="660E7A"/>
                </a:solidFill>
                <a:latin typeface="+mn-ea"/>
              </a:rPr>
              <a:t>android</a:t>
            </a:r>
            <a:r>
              <a:rPr lang="ko-KR" altLang="ko-KR" sz="1200" b="1" dirty="0" smtClean="0">
                <a:solidFill>
                  <a:srgbClr val="0000FF"/>
                </a:solidFill>
                <a:latin typeface="+mn-ea"/>
              </a:rPr>
              <a:t>:</a:t>
            </a:r>
            <a:r>
              <a:rPr lang="en-US" altLang="ko-KR" sz="1200" b="1" dirty="0" err="1" smtClean="0">
                <a:solidFill>
                  <a:srgbClr val="0000FF"/>
                </a:solidFill>
                <a:latin typeface="+mn-ea"/>
              </a:rPr>
              <a:t>textSize</a:t>
            </a:r>
            <a:r>
              <a:rPr lang="ko-KR" altLang="ko-KR" sz="1200" b="1" dirty="0" smtClean="0">
                <a:solidFill>
                  <a:srgbClr val="0000FF"/>
                </a:solidFill>
                <a:latin typeface="+mn-ea"/>
              </a:rPr>
              <a:t>=</a:t>
            </a:r>
            <a:r>
              <a:rPr lang="ko-KR" altLang="ko-KR" sz="1200" b="1" dirty="0" smtClean="0">
                <a:solidFill>
                  <a:srgbClr val="008000"/>
                </a:solidFill>
                <a:latin typeface="+mn-ea"/>
              </a:rPr>
              <a:t>“</a:t>
            </a:r>
            <a:r>
              <a:rPr lang="en-US" altLang="ko-KR" sz="1200" b="1" dirty="0" smtClean="0">
                <a:solidFill>
                  <a:srgbClr val="008000"/>
                </a:solidFill>
                <a:latin typeface="+mn-ea"/>
              </a:rPr>
              <a:t>200dp</a:t>
            </a:r>
            <a:r>
              <a:rPr lang="ko-KR" altLang="ko-KR" sz="1200" b="1" dirty="0" smtClean="0">
                <a:solidFill>
                  <a:srgbClr val="008000"/>
                </a:solidFill>
                <a:latin typeface="+mn-ea"/>
              </a:rPr>
              <a:t>" </a:t>
            </a:r>
            <a:r>
              <a:rPr lang="en-US" altLang="ko-KR" sz="1200" b="1" dirty="0" smtClean="0">
                <a:solidFill>
                  <a:srgbClr val="008000"/>
                </a:solidFill>
                <a:latin typeface="+mn-ea"/>
              </a:rPr>
              <a:t>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/&gt;</a:t>
            </a: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&lt;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TextView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:layout_width=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"wrap_content"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:layout_height=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"wrap_content"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:text=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"gx"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:id=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"@+id/gx"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:layout_alignParentBottom=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"true"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:layout_alignParentLeft=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"true"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:layout_alignParentStart=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"true"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/&gt;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endParaRPr kumimoji="0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73113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Layout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3199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Pedometer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/res</a:t>
            </a:r>
            <a:r>
              <a:rPr lang="en-US" altLang="ko-KR" dirty="0" smtClean="0"/>
              <a:t>/layout</a:t>
            </a:r>
            <a:r>
              <a:rPr lang="en-US" altLang="ko-KR" dirty="0" smtClean="0">
                <a:solidFill>
                  <a:prstClr val="black"/>
                </a:solidFill>
              </a:rPr>
              <a:t>/activity_main.xml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57200" y="2230046"/>
            <a:ext cx="8248851" cy="36009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&lt;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TextView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:layout_width=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"wrap_content"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:layout_height=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"wrap_content"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:text=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"gy"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:id=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"@+id/gy"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:layout_alignParentBottom=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"true"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:layout_centerHorizontal=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"true"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/&gt;</a:t>
            </a: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&lt;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TextView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:layout_width=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"wrap_content"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:layout_height=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"wrap_content"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:text=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"gz"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:id=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"@+id/gz"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:layout_alignParentBottom=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"true"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:layout_alignParentRight=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"true"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:layout_alignParentEnd=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"true"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/&gt;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&lt;/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RelativeLayout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&gt;</a:t>
            </a:r>
            <a:endParaRPr kumimoji="0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2834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만보계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39479" y="1548273"/>
            <a:ext cx="19868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Pedometer</a:t>
            </a:r>
            <a:endParaRPr lang="en-US" altLang="ko-KR" b="1" dirty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976964" y="2322379"/>
            <a:ext cx="7190071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public class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MainActivity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extends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AppCompatActivity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private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TextView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gx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gy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gz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private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TextView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stepsTextView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private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SensorManager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sensorManager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private  float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previousY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currentY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private  int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steps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int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threshold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endParaRPr kumimoji="0" lang="ko-KR" altLang="ko-KR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87529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만보계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39479" y="1548273"/>
            <a:ext cx="19868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Pedometer</a:t>
            </a:r>
            <a:endParaRPr lang="en-US" altLang="ko-KR" b="1" dirty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57200" y="2194604"/>
            <a:ext cx="8614611" cy="41857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+mn-ea"/>
              </a:rPr>
              <a:t>@Override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+mn-ea"/>
              </a:rPr>
            </a:b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protected void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onCreate(Bundle savedInstanceState) {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super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.onCreate(savedInstanceState);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setContentView(R.layout.</a:t>
            </a:r>
            <a:r>
              <a:rPr kumimoji="0" lang="ko-KR" altLang="ko-KR" sz="14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activity_main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gx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(TextView) findViewById(R.id.</a:t>
            </a:r>
            <a:r>
              <a:rPr kumimoji="0" lang="ko-KR" altLang="ko-KR" sz="14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gx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gy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(TextView) findViewById(R.id.</a:t>
            </a:r>
            <a:r>
              <a:rPr kumimoji="0" lang="ko-KR" altLang="ko-KR" sz="14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gy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gz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(TextView) findViewById(R.id.</a:t>
            </a:r>
            <a:r>
              <a:rPr kumimoji="0" lang="ko-KR" altLang="ko-KR" sz="14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gz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stepsTextView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(TextView) findViewById(R.id.</a:t>
            </a:r>
            <a:r>
              <a:rPr kumimoji="0" lang="ko-KR" altLang="ko-KR" sz="14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steps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threshold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10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previousY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currentY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steps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0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sensorManager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(SensorManager) getSystemService(</a:t>
            </a:r>
            <a:r>
              <a:rPr kumimoji="0" lang="ko-KR" altLang="ko-KR" sz="14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SENSOR_SERVICE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sensorManager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.registerListener(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stepDetector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,</a:t>
            </a:r>
            <a:endParaRPr kumimoji="0" lang="en-US" altLang="ko-KR" sz="1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             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sensorManager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.getDefaultSensor(Sensor.</a:t>
            </a:r>
            <a:r>
              <a:rPr kumimoji="0" lang="ko-KR" altLang="ko-KR" sz="14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TYPE_ACCELEROMETER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),</a:t>
            </a:r>
            <a:r>
              <a:rPr kumimoji="0" lang="en-US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400" dirty="0" smtClean="0">
                <a:solidFill>
                  <a:srgbClr val="000000"/>
                </a:solidFill>
                <a:latin typeface="+mn-ea"/>
              </a:rPr>
              <a:t>                           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SensorManager.</a:t>
            </a:r>
            <a:r>
              <a:rPr kumimoji="0" lang="ko-KR" altLang="ko-KR" sz="14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SENSOR_DELAY_NORMAL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}</a:t>
            </a:r>
            <a:endParaRPr kumimoji="0" lang="ko-KR" altLang="ko-K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32230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만보계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50562" y="1225107"/>
            <a:ext cx="19868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Pedometer</a:t>
            </a:r>
            <a:endParaRPr lang="en-US" altLang="ko-KR" b="1" dirty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50562" y="1871438"/>
            <a:ext cx="7892716" cy="48936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private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SensorEventListener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stepDetector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new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SensorEventListener()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+mn-ea"/>
              </a:rPr>
              <a:t>@Override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+mn-ea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public void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onSensorChanged(SensorEvent </a:t>
            </a:r>
            <a:r>
              <a:rPr kumimoji="0" lang="en-US" altLang="ko-K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sensorE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vent)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float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x = </a:t>
            </a:r>
            <a:r>
              <a:rPr lang="en-US" altLang="ko-KR" sz="1200" dirty="0" err="1">
                <a:solidFill>
                  <a:srgbClr val="000000"/>
                </a:solidFill>
                <a:latin typeface="+mn-ea"/>
              </a:rPr>
              <a:t>sensorE</a:t>
            </a:r>
            <a:r>
              <a:rPr lang="ko-KR" altLang="ko-KR" sz="1200" dirty="0">
                <a:solidFill>
                  <a:srgbClr val="000000"/>
                </a:solidFill>
                <a:latin typeface="+mn-ea"/>
              </a:rPr>
              <a:t>vent.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values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[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0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];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float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y = </a:t>
            </a:r>
            <a:r>
              <a:rPr lang="en-US" altLang="ko-KR" sz="1200" dirty="0" err="1">
                <a:solidFill>
                  <a:srgbClr val="000000"/>
                </a:solidFill>
                <a:latin typeface="+mn-ea"/>
              </a:rPr>
              <a:t>sensorE</a:t>
            </a:r>
            <a:r>
              <a:rPr lang="ko-KR" altLang="ko-KR" sz="1200" dirty="0">
                <a:solidFill>
                  <a:srgbClr val="000000"/>
                </a:solidFill>
                <a:latin typeface="+mn-ea"/>
              </a:rPr>
              <a:t>vent.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values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[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1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];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float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z = </a:t>
            </a:r>
            <a:r>
              <a:rPr lang="en-US" altLang="ko-KR" sz="1200" dirty="0" err="1">
                <a:solidFill>
                  <a:srgbClr val="000000"/>
                </a:solidFill>
                <a:latin typeface="+mn-ea"/>
              </a:rPr>
              <a:t>sensorE</a:t>
            </a:r>
            <a:r>
              <a:rPr lang="ko-KR" altLang="ko-KR" sz="1200" dirty="0">
                <a:solidFill>
                  <a:srgbClr val="000000"/>
                </a:solidFill>
                <a:latin typeface="+mn-ea"/>
              </a:rPr>
              <a:t>vent.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values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[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2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];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currentY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y;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if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(Math.</a:t>
            </a: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abs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currentY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-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previousY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 &gt;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threshold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steps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++;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stepsTextView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.setText(String.</a:t>
            </a: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valueOf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steps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gx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.setText(String.</a:t>
            </a: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valueOf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(x));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gy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.setText(String.</a:t>
            </a: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valueOf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(y));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gz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.setText(String.</a:t>
            </a: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valueOf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(z));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previousY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y;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+mn-ea"/>
              </a:rPr>
              <a:t>@Override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+mn-ea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public void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onAccuracyChanged(Sensor sensor,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int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accuracy)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};</a:t>
            </a:r>
            <a:endParaRPr kumimoji="0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00856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만보계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44071" y="1219200"/>
            <a:ext cx="7664824" cy="5532474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실행결과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796" y="1598725"/>
            <a:ext cx="3888001" cy="2430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797" y="4028725"/>
            <a:ext cx="3888000" cy="2430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45959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9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48086</TotalTime>
  <Words>127</Words>
  <Application>Microsoft Office PowerPoint</Application>
  <PresentationFormat>화면 슬라이드 쇼(4:3)</PresentationFormat>
  <Paragraphs>55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HY중고딕</vt:lpstr>
      <vt:lpstr>맑은 고딕</vt:lpstr>
      <vt:lpstr>Arial</vt:lpstr>
      <vt:lpstr>Calibri</vt:lpstr>
      <vt:lpstr>Century Gothic</vt:lpstr>
      <vt:lpstr>Courier New</vt:lpstr>
      <vt:lpstr>Palatino Linotype</vt:lpstr>
      <vt:lpstr>Executive</vt:lpstr>
      <vt:lpstr>센서응용</vt:lpstr>
      <vt:lpstr>만보계</vt:lpstr>
      <vt:lpstr>Layout</vt:lpstr>
      <vt:lpstr>Layout</vt:lpstr>
      <vt:lpstr>만보계</vt:lpstr>
      <vt:lpstr>만보계</vt:lpstr>
      <vt:lpstr>만보계</vt:lpstr>
      <vt:lpstr>만보계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정기숙</cp:lastModifiedBy>
  <cp:revision>2133</cp:revision>
  <cp:lastPrinted>2011-05-09T07:52:42Z</cp:lastPrinted>
  <dcterms:created xsi:type="dcterms:W3CDTF">2010-10-12T07:50:15Z</dcterms:created>
  <dcterms:modified xsi:type="dcterms:W3CDTF">2017-11-28T04:51:11Z</dcterms:modified>
</cp:coreProperties>
</file>