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9" r:id="rId2"/>
    <p:sldId id="261" r:id="rId3"/>
    <p:sldId id="257" r:id="rId4"/>
    <p:sldId id="258" r:id="rId5"/>
    <p:sldId id="262" r:id="rId6"/>
    <p:sldId id="260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7" d="100"/>
          <a:sy n="117" d="100"/>
        </p:scale>
        <p:origin x="-1464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E57895-F066-442A-A854-361858B8C8FC}" type="datetimeFigureOut">
              <a:rPr lang="ko-KR" altLang="en-US" smtClean="0"/>
              <a:t>2017-09-11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12551-A654-4EA5-822B-A849B01E1C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497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layout_weight</a:t>
            </a:r>
            <a:r>
              <a:rPr lang="en-US" altLang="ko-KR" dirty="0" smtClean="0"/>
              <a:t>: </a:t>
            </a:r>
            <a:r>
              <a:rPr lang="ko-KR" altLang="en-US" dirty="0" smtClean="0"/>
              <a:t>부모 레이아웃의 남은 영역을 얼마나 차지할 것인가를 결정하는 비율</a:t>
            </a:r>
            <a:endParaRPr lang="en-US" altLang="ko-KR" dirty="0" smtClean="0"/>
          </a:p>
          <a:p>
            <a:r>
              <a:rPr lang="ko-KR" altLang="en-US" dirty="0" smtClean="0"/>
              <a:t>차일드 뷰의 비중</a:t>
            </a:r>
            <a:r>
              <a:rPr lang="en-US" altLang="ko-KR" dirty="0" smtClean="0"/>
              <a:t>, </a:t>
            </a:r>
            <a:r>
              <a:rPr lang="ko-KR" altLang="en-US" dirty="0" smtClean="0"/>
              <a:t>중요도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값이 높을수록 많은 영역을 차지함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r>
              <a:rPr lang="en-US" altLang="ko-KR" dirty="0" err="1" smtClean="0"/>
              <a:t>Layout_weight</a:t>
            </a:r>
            <a:r>
              <a:rPr lang="ko-KR" altLang="en-US" dirty="0" smtClean="0"/>
              <a:t>를 지정할때 같은 방향의 크기는 </a:t>
            </a:r>
            <a:r>
              <a:rPr lang="en-US" altLang="ko-KR" dirty="0" smtClean="0"/>
              <a:t>0</a:t>
            </a:r>
            <a:r>
              <a:rPr lang="ko-KR" altLang="en-US" dirty="0" smtClean="0"/>
              <a:t>으로 지정해야한다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9632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Android:orientation</a:t>
            </a:r>
            <a:r>
              <a:rPr lang="en-US" altLang="ko-KR" dirty="0" smtClean="0"/>
              <a:t>=“vertical”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역시 </a:t>
            </a:r>
            <a:r>
              <a:rPr lang="en-US" altLang="ko-KR" dirty="0" smtClean="0"/>
              <a:t>weight</a:t>
            </a:r>
            <a:r>
              <a:rPr lang="ko-KR" altLang="en-US" dirty="0" smtClean="0"/>
              <a:t>를 사용할 경우</a:t>
            </a:r>
            <a:r>
              <a:rPr lang="en-US" altLang="ko-KR" dirty="0" smtClean="0"/>
              <a:t>,</a:t>
            </a:r>
            <a:r>
              <a:rPr lang="en-US" altLang="ko-KR" baseline="0" dirty="0" smtClean="0"/>
              <a:t> vertical </a:t>
            </a:r>
            <a:r>
              <a:rPr lang="ko-KR" altLang="en-US" baseline="0" dirty="0" smtClean="0"/>
              <a:t>방향의 길이</a:t>
            </a:r>
            <a:r>
              <a:rPr lang="en-US" altLang="ko-KR" baseline="0" dirty="0" smtClean="0"/>
              <a:t>, </a:t>
            </a:r>
            <a:r>
              <a:rPr lang="ko-KR" altLang="en-US" baseline="0" dirty="0" smtClean="0"/>
              <a:t>즉 </a:t>
            </a:r>
            <a:r>
              <a:rPr lang="en-US" altLang="ko-KR" baseline="0" dirty="0" smtClean="0"/>
              <a:t>height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0</a:t>
            </a:r>
            <a:r>
              <a:rPr lang="ko-KR" altLang="en-US" baseline="0" dirty="0" smtClean="0"/>
              <a:t>으로 설정되어야한다</a:t>
            </a:r>
            <a:r>
              <a:rPr lang="en-US" altLang="ko-KR" baseline="0" dirty="0" smtClean="0"/>
              <a:t>. </a:t>
            </a: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798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xmlns:android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"http://schemas.android.com/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apk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/res/android"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xmlns:tools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"http://schemas.android.com/tools"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android:orientation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"vertical"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tools:context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com.example.testing.MainActivity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"@+id/textView11"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wrap_content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"2014XXXXX </a:t>
            </a:r>
            <a:r>
              <a:rPr lang="ko-KR" altLang="en-US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홍길동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 /&gt;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android:background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"#0f0"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"Text View1" /&gt;</a:t>
            </a:r>
          </a:p>
          <a:p>
            <a:endParaRPr lang="ko-KR" alt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android:background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"#00f"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"Text View2" /&gt;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&lt;Button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"Button"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"@+id/button1"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"2" /&gt;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"@+id/linearLayout2"</a:t>
            </a:r>
          </a:p>
          <a:p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"0dp"</a:t>
            </a:r>
          </a:p>
          <a:p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"2"</a:t>
            </a:r>
          </a:p>
          <a:p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android:orientation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"horizontal"  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"@+id/textView3"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android:layout_weight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android:background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"#f00"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endParaRPr lang="en-US" altLang="ko-K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TextView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"@+id/textView4"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android:background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"#ff0"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&lt;Button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u="sng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android:text</a:t>
            </a:r>
            <a:r>
              <a:rPr lang="en-US" altLang="ko-KR" sz="1200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u="sng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"Button"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android:id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"@+id/button2"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android:layout_width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"0dp"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android:layout_height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r>
              <a:rPr lang="en-US" altLang="ko-K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match_parent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android:layout_weight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</a:t>
            </a:r>
            <a:r>
              <a:rPr lang="en-US" altLang="ko-K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"1"</a:t>
            </a:r>
          </a:p>
          <a:p>
            <a:r>
              <a:rPr lang="ko-KR" alt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/&gt;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&lt;/</a:t>
            </a:r>
            <a:r>
              <a:rPr lang="en-US" altLang="ko-K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LinearLayout</a:t>
            </a:r>
            <a:r>
              <a:rPr lang="en-US" altLang="ko-K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0195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&lt;</a:t>
            </a:r>
            <a:r>
              <a:rPr lang="en-US" altLang="ko-KR" dirty="0" err="1" smtClean="0"/>
              <a:t>LinearLayout</a:t>
            </a:r>
            <a:endParaRPr lang="en-US" altLang="ko-KR" dirty="0" smtClean="0"/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="@+id/linearLayout1"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</a:t>
            </a:r>
            <a:r>
              <a:rPr lang="en-US" altLang="ko-KR" dirty="0" err="1" smtClean="0"/>
              <a:t>android:orientation</a:t>
            </a:r>
            <a:r>
              <a:rPr lang="en-US" altLang="ko-KR" dirty="0" smtClean="0"/>
              <a:t>="vertical"</a:t>
            </a:r>
          </a:p>
          <a:p>
            <a:r>
              <a:rPr lang="en-US" altLang="ko-KR" dirty="0" smtClean="0"/>
              <a:t>    &gt;</a:t>
            </a:r>
          </a:p>
          <a:p>
            <a:r>
              <a:rPr lang="en-US" altLang="ko-KR" dirty="0" smtClean="0"/>
              <a:t>    &lt;</a:t>
            </a:r>
            <a:r>
              <a:rPr lang="en-US" altLang="ko-KR" dirty="0" err="1" smtClean="0"/>
              <a:t>LinearLayout</a:t>
            </a:r>
            <a:endParaRPr lang="en-US" altLang="ko-KR" dirty="0" smtClean="0"/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="@+id/linearLayout2"</a:t>
            </a:r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="0dp"</a:t>
            </a:r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android:layout_weight</a:t>
            </a:r>
            <a:r>
              <a:rPr lang="en-US" altLang="ko-KR" dirty="0" smtClean="0"/>
              <a:t>="1"</a:t>
            </a:r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android:orientation</a:t>
            </a:r>
            <a:r>
              <a:rPr lang="en-US" altLang="ko-KR" dirty="0" smtClean="0"/>
              <a:t>="horizontal"</a:t>
            </a:r>
          </a:p>
          <a:p>
            <a:r>
              <a:rPr lang="en-US" altLang="ko-KR" dirty="0" smtClean="0"/>
              <a:t>        &gt;</a:t>
            </a:r>
          </a:p>
          <a:p>
            <a:r>
              <a:rPr lang="en-US" altLang="ko-KR" dirty="0" smtClean="0"/>
              <a:t>        &lt;</a:t>
            </a:r>
            <a:r>
              <a:rPr lang="en-US" altLang="ko-KR" dirty="0" err="1" smtClean="0"/>
              <a:t>TextView</a:t>
            </a:r>
            <a:endParaRPr lang="en-US" altLang="ko-KR" dirty="0" smtClean="0"/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</a:t>
            </a:r>
            <a:r>
              <a:rPr lang="ko-KR" altLang="en-US" dirty="0" smtClean="0"/>
              <a:t>정승대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="@+id/textView1"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="0dp"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android:layout_weight</a:t>
            </a:r>
            <a:r>
              <a:rPr lang="en-US" altLang="ko-KR" dirty="0" smtClean="0"/>
              <a:t>="2"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android:background</a:t>
            </a:r>
            <a:r>
              <a:rPr lang="en-US" altLang="ko-KR" dirty="0" smtClean="0"/>
              <a:t>="#0f0"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android:textColor</a:t>
            </a:r>
            <a:r>
              <a:rPr lang="en-US" altLang="ko-KR" dirty="0" smtClean="0"/>
              <a:t>="#000"</a:t>
            </a:r>
          </a:p>
          <a:p>
            <a:r>
              <a:rPr lang="en-US" altLang="ko-KR" dirty="0" smtClean="0"/>
              <a:t>            /&gt;</a:t>
            </a:r>
          </a:p>
          <a:p>
            <a:r>
              <a:rPr lang="en-US" altLang="ko-KR" dirty="0" smtClean="0"/>
              <a:t>        &lt;</a:t>
            </a:r>
            <a:r>
              <a:rPr lang="en-US" altLang="ko-KR" dirty="0" err="1" smtClean="0"/>
              <a:t>TextView</a:t>
            </a:r>
            <a:endParaRPr lang="en-US" altLang="ko-KR" dirty="0" smtClean="0"/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="Layout"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="@+id/textView2"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="0dp"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android:layout_weight</a:t>
            </a:r>
            <a:r>
              <a:rPr lang="en-US" altLang="ko-KR" dirty="0" smtClean="0"/>
              <a:t>="1"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android:background</a:t>
            </a:r>
            <a:r>
              <a:rPr lang="en-US" altLang="ko-KR" dirty="0" smtClean="0"/>
              <a:t>="#00f"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android:textColor</a:t>
            </a:r>
            <a:r>
              <a:rPr lang="en-US" altLang="ko-KR" dirty="0" smtClean="0"/>
              <a:t>="#000"</a:t>
            </a:r>
          </a:p>
          <a:p>
            <a:r>
              <a:rPr lang="en-US" altLang="ko-KR" dirty="0" smtClean="0"/>
              <a:t>            /&gt;</a:t>
            </a:r>
          </a:p>
          <a:p>
            <a:r>
              <a:rPr lang="en-US" altLang="ko-KR" dirty="0" smtClean="0"/>
              <a:t>        &lt;</a:t>
            </a:r>
            <a:r>
              <a:rPr lang="en-US" altLang="ko-KR" dirty="0" err="1" smtClean="0"/>
              <a:t>TextView</a:t>
            </a:r>
            <a:endParaRPr lang="en-US" altLang="ko-KR" dirty="0" smtClean="0"/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="Test"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="@+id/textView3"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="0dp"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android:layout_weight</a:t>
            </a:r>
            <a:r>
              <a:rPr lang="en-US" altLang="ko-KR" dirty="0" smtClean="0"/>
              <a:t>="1"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android:background</a:t>
            </a:r>
            <a:r>
              <a:rPr lang="en-US" altLang="ko-KR" dirty="0" smtClean="0"/>
              <a:t>="#f00"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android:textColor</a:t>
            </a:r>
            <a:r>
              <a:rPr lang="en-US" altLang="ko-KR" dirty="0" smtClean="0"/>
              <a:t>="#000"</a:t>
            </a:r>
          </a:p>
          <a:p>
            <a:r>
              <a:rPr lang="en-US" altLang="ko-KR" dirty="0" smtClean="0"/>
              <a:t>            /&gt;</a:t>
            </a:r>
          </a:p>
          <a:p>
            <a:r>
              <a:rPr lang="en-US" altLang="ko-KR" dirty="0" smtClean="0"/>
              <a:t>    &lt;/</a:t>
            </a:r>
            <a:r>
              <a:rPr lang="en-US" altLang="ko-KR" dirty="0" err="1" smtClean="0"/>
              <a:t>LinearLayout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    &lt;</a:t>
            </a:r>
            <a:r>
              <a:rPr lang="en-US" altLang="ko-KR" dirty="0" err="1" smtClean="0"/>
              <a:t>RelativeLayout</a:t>
            </a:r>
            <a:endParaRPr lang="en-US" altLang="ko-KR" dirty="0" smtClean="0"/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="@+id/relativeLayout1"</a:t>
            </a:r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="0dp"</a:t>
            </a:r>
          </a:p>
          <a:p>
            <a:r>
              <a:rPr lang="en-US" altLang="ko-KR" dirty="0" smtClean="0"/>
              <a:t>        </a:t>
            </a:r>
            <a:r>
              <a:rPr lang="en-US" altLang="ko-KR" dirty="0" err="1" smtClean="0"/>
              <a:t>android:layout_weight</a:t>
            </a:r>
            <a:r>
              <a:rPr lang="en-US" altLang="ko-KR" dirty="0" smtClean="0"/>
              <a:t>="2"</a:t>
            </a:r>
          </a:p>
          <a:p>
            <a:r>
              <a:rPr lang="en-US" altLang="ko-KR" dirty="0" smtClean="0"/>
              <a:t>        &gt;</a:t>
            </a:r>
          </a:p>
          <a:p>
            <a:r>
              <a:rPr lang="en-US" altLang="ko-KR" dirty="0" smtClean="0"/>
              <a:t>        &lt;</a:t>
            </a:r>
            <a:r>
              <a:rPr lang="en-US" altLang="ko-KR" dirty="0" err="1" smtClean="0"/>
              <a:t>TableLayout</a:t>
            </a:r>
            <a:endParaRPr lang="en-US" altLang="ko-KR" dirty="0" smtClean="0"/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="@+id/tableLayout1"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</a:t>
            </a:r>
            <a:r>
              <a:rPr lang="en-US" altLang="ko-KR" dirty="0" err="1" smtClean="0"/>
              <a:t>android:layout_centerInParent</a:t>
            </a:r>
            <a:r>
              <a:rPr lang="en-US" altLang="ko-KR" dirty="0" smtClean="0"/>
              <a:t>="true"</a:t>
            </a:r>
          </a:p>
          <a:p>
            <a:r>
              <a:rPr lang="en-US" altLang="ko-KR" dirty="0" smtClean="0"/>
              <a:t>            &gt;</a:t>
            </a:r>
          </a:p>
          <a:p>
            <a:r>
              <a:rPr lang="en-US" altLang="ko-KR" dirty="0" smtClean="0"/>
              <a:t>            &lt;</a:t>
            </a:r>
            <a:r>
              <a:rPr lang="en-US" altLang="ko-KR" dirty="0" err="1" smtClean="0"/>
              <a:t>TableRow</a:t>
            </a:r>
            <a:endParaRPr lang="en-US" altLang="ko-KR" dirty="0" smtClean="0"/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="@+id/tableRow1"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&gt;</a:t>
            </a:r>
          </a:p>
          <a:p>
            <a:r>
              <a:rPr lang="en-US" altLang="ko-KR" dirty="0" smtClean="0"/>
              <a:t>                &lt;</a:t>
            </a:r>
            <a:r>
              <a:rPr lang="en-US" altLang="ko-KR" dirty="0" err="1" smtClean="0"/>
              <a:t>TextView</a:t>
            </a:r>
            <a:endParaRPr lang="en-US" altLang="ko-KR" dirty="0" smtClean="0"/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="Hello World!"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="@+id/textView4"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android:background</a:t>
            </a:r>
            <a:r>
              <a:rPr lang="en-US" altLang="ko-KR" dirty="0" smtClean="0"/>
              <a:t>="#ff0"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android:textColor</a:t>
            </a:r>
            <a:r>
              <a:rPr lang="en-US" altLang="ko-KR" dirty="0" smtClean="0"/>
              <a:t>="#000"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android:gravity</a:t>
            </a:r>
            <a:r>
              <a:rPr lang="en-US" altLang="ko-KR" dirty="0" smtClean="0"/>
              <a:t>="center"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android:layout_span</a:t>
            </a:r>
            <a:r>
              <a:rPr lang="en-US" altLang="ko-KR" dirty="0" smtClean="0"/>
              <a:t>="2"</a:t>
            </a:r>
          </a:p>
          <a:p>
            <a:r>
              <a:rPr lang="en-US" altLang="ko-KR" dirty="0" smtClean="0"/>
              <a:t>                    /&gt;</a:t>
            </a:r>
          </a:p>
          <a:p>
            <a:r>
              <a:rPr lang="en-US" altLang="ko-KR" dirty="0" smtClean="0"/>
              <a:t>            &lt;/</a:t>
            </a:r>
            <a:r>
              <a:rPr lang="en-US" altLang="ko-KR" dirty="0" err="1" smtClean="0"/>
              <a:t>TableRow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            &lt;</a:t>
            </a:r>
            <a:r>
              <a:rPr lang="en-US" altLang="ko-KR" dirty="0" err="1" smtClean="0"/>
              <a:t>TableRow</a:t>
            </a:r>
            <a:endParaRPr lang="en-US" altLang="ko-KR" dirty="0" smtClean="0"/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="@+id/tableRow2"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&gt;</a:t>
            </a:r>
          </a:p>
          <a:p>
            <a:r>
              <a:rPr lang="en-US" altLang="ko-KR" dirty="0" smtClean="0"/>
              <a:t>                &lt;</a:t>
            </a:r>
            <a:r>
              <a:rPr lang="en-US" altLang="ko-KR" dirty="0" err="1" smtClean="0"/>
              <a:t>TextView</a:t>
            </a:r>
            <a:endParaRPr lang="en-US" altLang="ko-KR" dirty="0" smtClean="0"/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</a:t>
            </a:r>
            <a:r>
              <a:rPr lang="ko-KR" altLang="en-US" dirty="0" smtClean="0"/>
              <a:t>아이디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="@+id/textView5"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/&gt;</a:t>
            </a:r>
          </a:p>
          <a:p>
            <a:r>
              <a:rPr lang="en-US" altLang="ko-KR" dirty="0" smtClean="0"/>
              <a:t>                &lt;</a:t>
            </a:r>
            <a:r>
              <a:rPr lang="en-US" altLang="ko-KR" dirty="0" err="1" smtClean="0"/>
              <a:t>EditText</a:t>
            </a:r>
            <a:endParaRPr lang="en-US" altLang="ko-KR" dirty="0" smtClean="0"/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="@+id/editText1"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="150dp"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/&gt;</a:t>
            </a:r>
          </a:p>
          <a:p>
            <a:r>
              <a:rPr lang="en-US" altLang="ko-KR" dirty="0" smtClean="0"/>
              <a:t>            &lt;/</a:t>
            </a:r>
            <a:r>
              <a:rPr lang="en-US" altLang="ko-KR" dirty="0" err="1" smtClean="0"/>
              <a:t>TableRow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            &lt;</a:t>
            </a:r>
            <a:r>
              <a:rPr lang="en-US" altLang="ko-KR" dirty="0" err="1" smtClean="0"/>
              <a:t>TableRow</a:t>
            </a:r>
            <a:endParaRPr lang="en-US" altLang="ko-KR" dirty="0" smtClean="0"/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="@+id/tableRow3"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match_parent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&gt;</a:t>
            </a:r>
          </a:p>
          <a:p>
            <a:r>
              <a:rPr lang="en-US" altLang="ko-KR" dirty="0" smtClean="0"/>
              <a:t>                &lt;</a:t>
            </a:r>
            <a:r>
              <a:rPr lang="en-US" altLang="ko-KR" dirty="0" err="1" smtClean="0"/>
              <a:t>TextView</a:t>
            </a:r>
            <a:endParaRPr lang="en-US" altLang="ko-KR" dirty="0" smtClean="0"/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</a:t>
            </a:r>
            <a:r>
              <a:rPr lang="ko-KR" altLang="en-US" dirty="0" smtClean="0"/>
              <a:t>암호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="@+id/textView6"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/&gt;</a:t>
            </a:r>
          </a:p>
          <a:p>
            <a:r>
              <a:rPr lang="en-US" altLang="ko-KR" dirty="0" smtClean="0"/>
              <a:t>                &lt;</a:t>
            </a:r>
            <a:r>
              <a:rPr lang="en-US" altLang="ko-KR" dirty="0" err="1" smtClean="0"/>
              <a:t>EditText</a:t>
            </a:r>
            <a:endParaRPr lang="en-US" altLang="ko-KR" dirty="0" smtClean="0"/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android:text</a:t>
            </a:r>
            <a:r>
              <a:rPr lang="en-US" altLang="ko-KR" dirty="0" smtClean="0"/>
              <a:t>=""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android:id</a:t>
            </a:r>
            <a:r>
              <a:rPr lang="en-US" altLang="ko-KR" dirty="0" smtClean="0"/>
              <a:t>="@+id/editText2"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android:layout_width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</a:t>
            </a:r>
            <a:r>
              <a:rPr lang="en-US" altLang="ko-KR" dirty="0" err="1" smtClean="0"/>
              <a:t>android:layout_height</a:t>
            </a:r>
            <a:r>
              <a:rPr lang="en-US" altLang="ko-KR" dirty="0" smtClean="0"/>
              <a:t>="</a:t>
            </a:r>
            <a:r>
              <a:rPr lang="en-US" altLang="ko-KR" dirty="0" err="1" smtClean="0"/>
              <a:t>wrap_content</a:t>
            </a:r>
            <a:r>
              <a:rPr lang="en-US" altLang="ko-KR" dirty="0" smtClean="0"/>
              <a:t>"</a:t>
            </a:r>
          </a:p>
          <a:p>
            <a:r>
              <a:rPr lang="en-US" altLang="ko-KR" dirty="0" smtClean="0"/>
              <a:t>                    /&gt;</a:t>
            </a:r>
          </a:p>
          <a:p>
            <a:r>
              <a:rPr lang="en-US" altLang="ko-KR" dirty="0" smtClean="0"/>
              <a:t>            &lt;/</a:t>
            </a:r>
            <a:r>
              <a:rPr lang="en-US" altLang="ko-KR" dirty="0" err="1" smtClean="0"/>
              <a:t>TableRow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        &lt;/</a:t>
            </a:r>
            <a:r>
              <a:rPr lang="en-US" altLang="ko-KR" dirty="0" err="1" smtClean="0"/>
              <a:t>TableLayout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    &lt;/</a:t>
            </a:r>
            <a:r>
              <a:rPr lang="en-US" altLang="ko-KR" dirty="0" err="1" smtClean="0"/>
              <a:t>RelativeLayout</a:t>
            </a:r>
            <a:r>
              <a:rPr lang="en-US" altLang="ko-KR" dirty="0" smtClean="0"/>
              <a:t>&gt;</a:t>
            </a:r>
          </a:p>
          <a:p>
            <a:r>
              <a:rPr lang="en-US" altLang="ko-KR" dirty="0" smtClean="0"/>
              <a:t>&lt;/</a:t>
            </a:r>
            <a:r>
              <a:rPr lang="en-US" altLang="ko-KR" dirty="0" err="1" smtClean="0"/>
              <a:t>LinearLayout</a:t>
            </a:r>
            <a:r>
              <a:rPr lang="en-US" altLang="ko-KR" dirty="0" smtClean="0"/>
              <a:t>&gt;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089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0321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4325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814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72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647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26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350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055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243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01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13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2017-09-11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782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300"/>
              </a:lnSpc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</a:t>
              </a: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A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419005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376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Weight in </a:t>
            </a:r>
            <a:r>
              <a:rPr lang="en-US" altLang="ko-KR" dirty="0" err="1" smtClean="0"/>
              <a:t>LinearLayout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85308" y="1259311"/>
            <a:ext cx="3304174" cy="39703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glow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"@+id/linearLayout1"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"1"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"@+id/textView1"</a:t>
            </a:r>
          </a:p>
          <a:p>
            <a:r>
              <a:rPr lang="en-US" altLang="ko-KR" sz="1200" dirty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“0dp"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"1"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android:background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"#f00"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"2"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"@+id/textView2"</a:t>
            </a:r>
          </a:p>
          <a:p>
            <a:r>
              <a:rPr lang="en-US" altLang="ko-KR" sz="1200" dirty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"0dp"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r>
              <a:rPr lang="en-US" altLang="ko-KR" sz="1200" dirty="0"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"1"</a:t>
            </a:r>
          </a:p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android:background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"#0f0"</a:t>
            </a:r>
          </a:p>
          <a:p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5711" y="1259311"/>
            <a:ext cx="3304174" cy="32316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glow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635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"3"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"@+id/textView3"</a:t>
            </a:r>
          </a:p>
          <a:p>
            <a:pPr lvl="0"/>
            <a:r>
              <a:rPr lang="en-US" altLang="ko-KR" sz="1200" dirty="0">
                <a:solidFill>
                  <a:prstClr val="black"/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"0dp"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pPr lvl="0"/>
            <a:r>
              <a:rPr lang="en-US" altLang="ko-KR" sz="1200" dirty="0">
                <a:solidFill>
                  <a:prstClr val="black"/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"1"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android:background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"#00f"</a:t>
            </a:r>
          </a:p>
          <a:p>
            <a:pPr lvl="0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&lt;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TextView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/>
            </a:endParaRP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android:text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"4"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android:id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"@+id/textView4"</a:t>
            </a:r>
          </a:p>
          <a:p>
            <a:pPr lvl="0"/>
            <a:r>
              <a:rPr lang="en-US" altLang="ko-KR" sz="1200" dirty="0">
                <a:solidFill>
                  <a:prstClr val="black"/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"0dp"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android:layout_height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  <a:r>
              <a:rPr lang="en-US" altLang="ko-KR" sz="12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match_parent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</a:t>
            </a:r>
          </a:p>
          <a:p>
            <a:pPr lvl="0"/>
            <a:r>
              <a:rPr lang="en-US" altLang="ko-KR" sz="1200" dirty="0">
                <a:solidFill>
                  <a:prstClr val="black"/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맑은 고딕"/>
              </a:rPr>
              <a:t>android:layout_weight</a:t>
            </a:r>
            <a:r>
              <a:rPr lang="en-US" altLang="ko-KR" sz="1200" dirty="0">
                <a:solidFill>
                  <a:srgbClr val="000000"/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맑은 고딕"/>
              </a:rPr>
              <a:t>"1"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android:background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=</a:t>
            </a:r>
            <a:r>
              <a:rPr lang="en-US" altLang="ko-KR" sz="12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"#ff0"</a:t>
            </a:r>
          </a:p>
          <a:p>
            <a:pPr lvl="0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       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/&gt;</a:t>
            </a:r>
          </a:p>
          <a:p>
            <a:pPr lvl="0"/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&lt;/</a:t>
            </a:r>
            <a:r>
              <a:rPr lang="en-US" altLang="ko-KR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LinearLayout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/>
              </a:rPr>
              <a:t>&gt;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9" b="48276"/>
          <a:stretch/>
        </p:blipFill>
        <p:spPr bwMode="auto">
          <a:xfrm>
            <a:off x="4705544" y="4575872"/>
            <a:ext cx="2964508" cy="2161538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2"/>
            </a:outerShdw>
            <a:softEdge rad="127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17108" y="2767561"/>
            <a:ext cx="2097592" cy="215153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Rectangle 7"/>
          <p:cNvSpPr/>
          <p:nvPr/>
        </p:nvSpPr>
        <p:spPr>
          <a:xfrm>
            <a:off x="1213069" y="3136893"/>
            <a:ext cx="1990165" cy="215153"/>
          </a:xfrm>
          <a:prstGeom prst="rect">
            <a:avLst/>
          </a:prstGeom>
          <a:noFill/>
          <a:ln w="635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618710" y="5333475"/>
            <a:ext cx="4142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00B050"/>
                </a:solidFill>
                <a:latin typeface="맑은 고딕"/>
              </a:rPr>
              <a:t>고정 된 </a:t>
            </a:r>
            <a:r>
              <a:rPr lang="en-US" altLang="ko-KR" b="1" dirty="0" smtClean="0">
                <a:solidFill>
                  <a:srgbClr val="00B050"/>
                </a:solidFill>
                <a:latin typeface="맑은 고딕"/>
              </a:rPr>
              <a:t>width </a:t>
            </a:r>
            <a:r>
              <a:rPr lang="ko-KR" altLang="en-US" b="1" dirty="0" smtClean="0">
                <a:solidFill>
                  <a:srgbClr val="00B050"/>
                </a:solidFill>
                <a:latin typeface="맑은 고딕"/>
              </a:rPr>
              <a:t>를 사용하지 않고</a:t>
            </a:r>
            <a:endParaRPr lang="en-US" altLang="ko-KR" b="1" dirty="0" smtClean="0">
              <a:solidFill>
                <a:srgbClr val="00B050"/>
              </a:solidFill>
              <a:latin typeface="맑은 고딕"/>
            </a:endParaRPr>
          </a:p>
          <a:p>
            <a:r>
              <a:rPr lang="ko-KR" altLang="en-US" b="1" dirty="0" smtClean="0">
                <a:solidFill>
                  <a:srgbClr val="00B050"/>
                </a:solidFill>
                <a:latin typeface="맑은 고딕"/>
              </a:rPr>
              <a:t> </a:t>
            </a:r>
            <a:r>
              <a:rPr lang="en-US" altLang="ko-KR" b="1" dirty="0" err="1" smtClean="0">
                <a:solidFill>
                  <a:srgbClr val="00B050"/>
                </a:solidFill>
                <a:latin typeface="맑은 고딕"/>
              </a:rPr>
              <a:t>layout_weight</a:t>
            </a:r>
            <a:r>
              <a:rPr lang="ko-KR" altLang="en-US" b="1" dirty="0" smtClean="0">
                <a:solidFill>
                  <a:srgbClr val="00B050"/>
                </a:solidFill>
                <a:latin typeface="맑은 고딕"/>
              </a:rPr>
              <a:t>만큼</a:t>
            </a:r>
            <a:r>
              <a:rPr lang="en-US" altLang="ko-KR" b="1" dirty="0">
                <a:solidFill>
                  <a:srgbClr val="00B050"/>
                </a:solidFill>
                <a:latin typeface="맑은 고딕"/>
              </a:rPr>
              <a:t> </a:t>
            </a:r>
            <a:r>
              <a:rPr lang="ko-KR" altLang="en-US" b="1" dirty="0" smtClean="0">
                <a:solidFill>
                  <a:srgbClr val="00B050"/>
                </a:solidFill>
                <a:latin typeface="맑은 고딕"/>
              </a:rPr>
              <a:t>부모 </a:t>
            </a:r>
            <a:r>
              <a:rPr lang="en-US" altLang="ko-KR" b="1" dirty="0" smtClean="0">
                <a:solidFill>
                  <a:srgbClr val="00B050"/>
                </a:solidFill>
                <a:latin typeface="맑은 고딕"/>
              </a:rPr>
              <a:t>width</a:t>
            </a:r>
            <a:r>
              <a:rPr lang="ko-KR" altLang="en-US" b="1" dirty="0" smtClean="0">
                <a:solidFill>
                  <a:srgbClr val="00B050"/>
                </a:solidFill>
                <a:latin typeface="맑은 고딕"/>
              </a:rPr>
              <a:t> 차지</a:t>
            </a:r>
            <a:r>
              <a:rPr lang="en-US" altLang="ko-KR" b="1" dirty="0" smtClean="0">
                <a:solidFill>
                  <a:srgbClr val="00B050"/>
                </a:solidFill>
                <a:latin typeface="맑은 고딕"/>
              </a:rPr>
              <a:t> </a:t>
            </a:r>
          </a:p>
        </p:txBody>
      </p:sp>
      <p:cxnSp>
        <p:nvCxnSpPr>
          <p:cNvPr id="18" name="구부러진 연결선 17"/>
          <p:cNvCxnSpPr>
            <a:stCxn id="8" idx="1"/>
          </p:cNvCxnSpPr>
          <p:nvPr/>
        </p:nvCxnSpPr>
        <p:spPr>
          <a:xfrm rot="10800000" flipV="1">
            <a:off x="785309" y="3244470"/>
            <a:ext cx="427761" cy="2165730"/>
          </a:xfrm>
          <a:prstGeom prst="curvedConnector2">
            <a:avLst/>
          </a:prstGeom>
          <a:ln w="635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282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7"/>
          <a:stretch/>
        </p:blipFill>
        <p:spPr bwMode="auto">
          <a:xfrm>
            <a:off x="3217124" y="2209800"/>
            <a:ext cx="2913749" cy="4237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Practice #3.1</a:t>
            </a:r>
            <a:endParaRPr lang="ko-KR" altLang="en-US" dirty="0"/>
          </a:p>
        </p:txBody>
      </p:sp>
      <p:sp>
        <p:nvSpPr>
          <p:cNvPr id="11" name="내용 개체 틀 3"/>
          <p:cNvSpPr txBox="1">
            <a:spLocks/>
          </p:cNvSpPr>
          <p:nvPr/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2" name="내용 개체 틀 1"/>
          <p:cNvSpPr txBox="1">
            <a:spLocks/>
          </p:cNvSpPr>
          <p:nvPr/>
        </p:nvSpPr>
        <p:spPr>
          <a:xfrm>
            <a:off x="609600" y="1319572"/>
            <a:ext cx="8229600" cy="464149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r>
              <a:rPr lang="ko-KR" altLang="en-US" dirty="0" smtClean="0"/>
              <a:t>앞 장의 예제를 다음과 같이 변경</a:t>
            </a:r>
            <a:r>
              <a:rPr lang="en-US" altLang="ko-KR" dirty="0" smtClean="0"/>
              <a:t>(orientation::</a:t>
            </a:r>
            <a:r>
              <a:rPr lang="en-US" altLang="ko-KR" dirty="0" smtClean="0">
                <a:solidFill>
                  <a:srgbClr val="00B050"/>
                </a:solidFill>
              </a:rPr>
              <a:t>vertical</a:t>
            </a:r>
            <a:r>
              <a:rPr lang="en-US" altLang="ko-KR" dirty="0" smtClean="0"/>
              <a:t>)</a:t>
            </a:r>
          </a:p>
          <a:p>
            <a:pPr marL="457200" lvl="1" indent="0">
              <a:buNone/>
            </a:pPr>
            <a:endParaRPr lang="en-US" altLang="ko-KR" sz="200" dirty="0" smtClean="0"/>
          </a:p>
          <a:p>
            <a:pPr lvl="1"/>
            <a:r>
              <a:rPr lang="en-US" altLang="ko-KR" dirty="0" smtClean="0"/>
              <a:t>4</a:t>
            </a:r>
            <a:r>
              <a:rPr lang="ko-KR" altLang="en-US" dirty="0" smtClean="0"/>
              <a:t>개의 </a:t>
            </a:r>
            <a:r>
              <a:rPr lang="en-US" altLang="ko-KR" dirty="0" err="1" smtClean="0"/>
              <a:t>TextView</a:t>
            </a:r>
            <a:r>
              <a:rPr lang="en-US" altLang="ko-KR" dirty="0" smtClean="0"/>
              <a:t> , </a:t>
            </a:r>
            <a:r>
              <a:rPr lang="ko-KR" altLang="en-US" dirty="0" smtClean="0"/>
              <a:t>부모의 </a:t>
            </a:r>
            <a:r>
              <a:rPr lang="en-US" altLang="ko-KR" dirty="0" smtClean="0"/>
              <a:t>height </a:t>
            </a:r>
            <a:r>
              <a:rPr lang="ko-KR" altLang="en-US" dirty="0" smtClean="0"/>
              <a:t>의 모든 영역을 채움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734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#3.2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아래 화면과 같이 </a:t>
            </a:r>
            <a:r>
              <a:rPr lang="en-US" altLang="ko-KR" dirty="0" err="1" smtClean="0"/>
              <a:t>LinearLayout</a:t>
            </a:r>
            <a:r>
              <a:rPr lang="ko-KR" altLang="en-US" dirty="0" smtClean="0"/>
              <a:t>을 구성해 봅니다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 smtClean="0"/>
              <a:t>LinearLayout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TextView</a:t>
            </a:r>
            <a:r>
              <a:rPr lang="en-US" altLang="ko-KR" dirty="0" smtClean="0"/>
              <a:t>, Button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grpSp>
        <p:nvGrpSpPr>
          <p:cNvPr id="9" name="Group 8"/>
          <p:cNvGrpSpPr/>
          <p:nvPr/>
        </p:nvGrpSpPr>
        <p:grpSpPr>
          <a:xfrm>
            <a:off x="4482414" y="2755093"/>
            <a:ext cx="1957700" cy="307933"/>
            <a:chOff x="5200029" y="2144233"/>
            <a:chExt cx="1957700" cy="307933"/>
          </a:xfrm>
        </p:grpSpPr>
        <p:sp>
          <p:nvSpPr>
            <p:cNvPr id="7" name="Left Arrow 6"/>
            <p:cNvSpPr/>
            <p:nvPr/>
          </p:nvSpPr>
          <p:spPr>
            <a:xfrm>
              <a:off x="5200029" y="2144233"/>
              <a:ext cx="288650" cy="296334"/>
            </a:xfrm>
            <a:prstGeom prst="leftArrow">
              <a:avLst/>
            </a:prstGeom>
            <a:solidFill>
              <a:srgbClr val="00B050"/>
            </a:solidFill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57572" y="2175167"/>
              <a:ext cx="17001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 smtClean="0"/>
                <a:t>자신의 학번</a:t>
              </a:r>
              <a:r>
                <a:rPr lang="en-US" altLang="ko-KR" sz="1200" dirty="0" smtClean="0"/>
                <a:t>/</a:t>
              </a:r>
              <a:r>
                <a:rPr lang="ko-KR" altLang="en-US" sz="1200" dirty="0" smtClean="0"/>
                <a:t>이름 추가</a:t>
              </a:r>
              <a:endParaRPr lang="ko-KR" altLang="en-US" sz="1200" dirty="0"/>
            </a:p>
          </p:txBody>
        </p:sp>
      </p:grpSp>
      <p:pic>
        <p:nvPicPr>
          <p:cNvPr id="1028" name="Picture 4" descr="D:\[Download]\ScreenShot\layout-2015-08-27-195145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" b="6784"/>
          <a:stretch/>
        </p:blipFill>
        <p:spPr bwMode="auto">
          <a:xfrm>
            <a:off x="1789951" y="2575026"/>
            <a:ext cx="2549797" cy="3951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8406" y="3199885"/>
            <a:ext cx="2785100" cy="33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2453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Practice </a:t>
            </a:r>
            <a:r>
              <a:rPr lang="en-US" altLang="ko-KR" dirty="0" smtClean="0"/>
              <a:t>#3.3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아래 화면과 같이 </a:t>
            </a:r>
            <a:r>
              <a:rPr lang="en-US" altLang="ko-KR" dirty="0" smtClean="0"/>
              <a:t>Layout</a:t>
            </a:r>
            <a:r>
              <a:rPr lang="ko-KR" altLang="en-US" dirty="0" smtClean="0"/>
              <a:t>을 구성해 봅니다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err="1" smtClean="0"/>
              <a:t>LinearLayout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RelativeLayout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TableLayout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39"/>
          <a:stretch/>
        </p:blipFill>
        <p:spPr bwMode="auto">
          <a:xfrm>
            <a:off x="1497433" y="2339163"/>
            <a:ext cx="2898552" cy="43399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706" y="2339163"/>
            <a:ext cx="3715953" cy="4343482"/>
          </a:xfrm>
          <a:prstGeom prst="rect">
            <a:avLst/>
          </a:prstGeom>
          <a:noFill/>
          <a:ln w="9525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1"/>
          <p:cNvSpPr/>
          <p:nvPr/>
        </p:nvSpPr>
        <p:spPr>
          <a:xfrm>
            <a:off x="1415789" y="2274457"/>
            <a:ext cx="1093494" cy="23574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979182" y="2835117"/>
            <a:ext cx="299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rgbClr val="00B050"/>
                </a:solidFill>
              </a:rPr>
              <a:t>// </a:t>
            </a:r>
            <a:r>
              <a:rPr lang="ko-KR" altLang="en-US" b="1" dirty="0" smtClean="0">
                <a:solidFill>
                  <a:srgbClr val="00B050"/>
                </a:solidFill>
              </a:rPr>
              <a:t>본인 학번 </a:t>
            </a:r>
            <a:r>
              <a:rPr lang="en-US" altLang="ko-KR" b="1" dirty="0" smtClean="0">
                <a:solidFill>
                  <a:srgbClr val="00B050"/>
                </a:solidFill>
              </a:rPr>
              <a:t>, </a:t>
            </a:r>
            <a:r>
              <a:rPr lang="ko-KR" altLang="en-US" b="1" dirty="0" smtClean="0">
                <a:solidFill>
                  <a:srgbClr val="00B050"/>
                </a:solidFill>
              </a:rPr>
              <a:t>이름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5885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53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>
    <a:lnDef>
      <a:spPr>
        <a:ln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1053</Words>
  <Application>Microsoft Office PowerPoint</Application>
  <PresentationFormat>화면 슬라이드 쇼(4:3)</PresentationFormat>
  <Paragraphs>245</Paragraphs>
  <Slides>6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Executive</vt:lpstr>
      <vt:lpstr>실습</vt:lpstr>
      <vt:lpstr>Weight in LinearLayout</vt:lpstr>
      <vt:lpstr>Practice #3.1</vt:lpstr>
      <vt:lpstr>Practice #3.2</vt:lpstr>
      <vt:lpstr>Practice #3.3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실습</dc:title>
  <dc:creator>Yongbin</dc:creator>
  <cp:lastModifiedBy>OWNER</cp:lastModifiedBy>
  <cp:revision>3</cp:revision>
  <dcterms:created xsi:type="dcterms:W3CDTF">2015-09-14T03:31:33Z</dcterms:created>
  <dcterms:modified xsi:type="dcterms:W3CDTF">2017-09-11T06:19:40Z</dcterms:modified>
</cp:coreProperties>
</file>