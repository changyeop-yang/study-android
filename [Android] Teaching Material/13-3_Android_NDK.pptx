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  <p:sldMasterId id="2147483840" r:id="rId2"/>
  </p:sldMasterIdLst>
  <p:notesMasterIdLst>
    <p:notesMasterId r:id="rId29"/>
  </p:notesMasterIdLst>
  <p:sldIdLst>
    <p:sldId id="256" r:id="rId3"/>
    <p:sldId id="576" r:id="rId4"/>
    <p:sldId id="577" r:id="rId5"/>
    <p:sldId id="578" r:id="rId6"/>
    <p:sldId id="581" r:id="rId7"/>
    <p:sldId id="579" r:id="rId8"/>
    <p:sldId id="580" r:id="rId9"/>
    <p:sldId id="582" r:id="rId10"/>
    <p:sldId id="583" r:id="rId11"/>
    <p:sldId id="584" r:id="rId12"/>
    <p:sldId id="585" r:id="rId13"/>
    <p:sldId id="586" r:id="rId14"/>
    <p:sldId id="651" r:id="rId15"/>
    <p:sldId id="712" r:id="rId16"/>
    <p:sldId id="713" r:id="rId17"/>
    <p:sldId id="761" r:id="rId18"/>
    <p:sldId id="762" r:id="rId19"/>
    <p:sldId id="763" r:id="rId20"/>
    <p:sldId id="764" r:id="rId21"/>
    <p:sldId id="765" r:id="rId22"/>
    <p:sldId id="766" r:id="rId23"/>
    <p:sldId id="767" r:id="rId24"/>
    <p:sldId id="768" r:id="rId25"/>
    <p:sldId id="769" r:id="rId26"/>
    <p:sldId id="770" r:id="rId27"/>
    <p:sldId id="760" r:id="rId28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BC"/>
    <a:srgbClr val="005BE2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48" autoAdjust="0"/>
    <p:restoredTop sz="76842" autoAdjust="0"/>
  </p:normalViewPr>
  <p:slideViewPr>
    <p:cSldViewPr snapToGrid="0">
      <p:cViewPr varScale="1">
        <p:scale>
          <a:sx n="68" d="100"/>
          <a:sy n="68" d="100"/>
        </p:scale>
        <p:origin x="160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-3756" y="-102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9687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79" tIns="47540" rIns="95079" bIns="4754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vert="horz" lIns="95079" tIns="47540" rIns="95079" bIns="4754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054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974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448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463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986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596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434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4724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524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128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7534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212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2074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4995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2046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6903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완료하고 나면 </a:t>
            </a:r>
            <a:r>
              <a:rPr lang="en-US" altLang="ko-KR" dirty="0" smtClean="0"/>
              <a:t>Hello JNI </a:t>
            </a:r>
            <a:r>
              <a:rPr lang="ko-KR" altLang="en-US" dirty="0" smtClean="0"/>
              <a:t>프로젝트가 생성된다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위치는 </a:t>
            </a:r>
            <a:r>
              <a:rPr lang="en-US" altLang="ko-KR" dirty="0" smtClean="0"/>
              <a:t>Android Project </a:t>
            </a:r>
            <a:r>
              <a:rPr lang="ko-KR" altLang="en-US" dirty="0" smtClean="0"/>
              <a:t>폴더 안이다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8519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92773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4619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Armeabi-v7a </a:t>
            </a:r>
            <a:r>
              <a:rPr lang="ko-KR" altLang="en-US" dirty="0" smtClean="0"/>
              <a:t>버전에서 실행이 되므로 다른 에뮬레이터 설치가 필요하다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화면은 </a:t>
            </a:r>
            <a:r>
              <a:rPr lang="en-US" altLang="ko-KR" dirty="0" smtClean="0"/>
              <a:t>AVD Manager</a:t>
            </a:r>
            <a:r>
              <a:rPr lang="ko-KR" altLang="en-US" dirty="0" smtClean="0"/>
              <a:t>다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기본 휴대폰 사이즈에서 </a:t>
            </a:r>
            <a:r>
              <a:rPr lang="en-US" altLang="ko-KR" dirty="0" smtClean="0"/>
              <a:t>responding </a:t>
            </a:r>
            <a:r>
              <a:rPr lang="ko-KR" altLang="en-US" dirty="0" smtClean="0"/>
              <a:t>관련 에러가 발생하여 </a:t>
            </a:r>
            <a:r>
              <a:rPr lang="en-US" altLang="ko-KR" dirty="0" smtClean="0"/>
              <a:t>800</a:t>
            </a:r>
            <a:r>
              <a:rPr lang="en-US" altLang="ko-KR" baseline="0" dirty="0" smtClean="0"/>
              <a:t>x600</a:t>
            </a:r>
            <a:r>
              <a:rPr lang="ko-KR" altLang="en-US" baseline="0" dirty="0" smtClean="0"/>
              <a:t>의 사이즈로</a:t>
            </a:r>
            <a:endParaRPr lang="en-US" altLang="ko-KR" baseline="0" dirty="0" smtClean="0"/>
          </a:p>
          <a:p>
            <a:r>
              <a:rPr lang="ko-KR" altLang="en-US" baseline="0" dirty="0" smtClean="0"/>
              <a:t>기기를 생성하였다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결과화면은 우측에 표시한 버전으로 실행하였다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867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문제점</a:t>
            </a:r>
            <a:endParaRPr lang="en-US" altLang="ko-KR" dirty="0" smtClean="0"/>
          </a:p>
          <a:p>
            <a:pPr marL="228600" indent="-228600">
              <a:buAutoNum type="arabicPeriod"/>
            </a:pPr>
            <a:r>
              <a:rPr lang="ko-KR" altLang="en-US" dirty="0" smtClean="0"/>
              <a:t>조교용 </a:t>
            </a:r>
            <a:r>
              <a:rPr lang="en-US" altLang="ko-KR" dirty="0" smtClean="0"/>
              <a:t>Mac</a:t>
            </a:r>
            <a:r>
              <a:rPr lang="ko-KR" altLang="en-US" dirty="0" smtClean="0"/>
              <a:t>에서 실행 시 </a:t>
            </a:r>
            <a:r>
              <a:rPr lang="en-US" altLang="ko-KR" dirty="0" smtClean="0"/>
              <a:t>10</a:t>
            </a:r>
            <a:r>
              <a:rPr lang="ko-KR" altLang="en-US" dirty="0" smtClean="0"/>
              <a:t>분 가량 소요 </a:t>
            </a:r>
            <a:r>
              <a:rPr lang="en-US" altLang="ko-KR" dirty="0" smtClean="0"/>
              <a:t>(8~9</a:t>
            </a:r>
            <a:r>
              <a:rPr lang="ko-KR" altLang="en-US" dirty="0" smtClean="0"/>
              <a:t>분 쯤 </a:t>
            </a:r>
            <a:r>
              <a:rPr lang="en-US" altLang="ko-KR" dirty="0" smtClean="0"/>
              <a:t>responding</a:t>
            </a:r>
            <a:r>
              <a:rPr lang="en-US" altLang="ko-KR" baseline="0" dirty="0" smtClean="0"/>
              <a:t> error</a:t>
            </a:r>
            <a:r>
              <a:rPr lang="ko-KR" altLang="en-US" baseline="0" dirty="0" smtClean="0"/>
              <a:t> 메세지와 함께 </a:t>
            </a:r>
            <a:r>
              <a:rPr lang="en-US" altLang="ko-KR" baseline="0" dirty="0" smtClean="0"/>
              <a:t>wait or close</a:t>
            </a:r>
          </a:p>
          <a:p>
            <a:pPr marL="0" indent="0">
              <a:buNone/>
            </a:pPr>
            <a:r>
              <a:rPr lang="en-US" altLang="ko-KR" baseline="0" dirty="0" smtClean="0"/>
              <a:t>    </a:t>
            </a:r>
            <a:r>
              <a:rPr lang="ko-KR" altLang="en-US" baseline="0" dirty="0" smtClean="0"/>
              <a:t>가 표시 </a:t>
            </a:r>
            <a:r>
              <a:rPr lang="en-US" altLang="ko-KR" baseline="0" dirty="0" smtClean="0"/>
              <a:t>-&gt; Wait </a:t>
            </a:r>
            <a:r>
              <a:rPr lang="ko-KR" altLang="en-US" baseline="0" dirty="0" smtClean="0"/>
              <a:t>로 선택하니 조금 있다가 결과화면 표시 됨</a:t>
            </a:r>
            <a:r>
              <a:rPr lang="en-US" altLang="ko-KR" baseline="0" dirty="0" smtClean="0"/>
              <a:t>.</a:t>
            </a:r>
          </a:p>
          <a:p>
            <a:pPr marL="0" indent="0">
              <a:buNone/>
            </a:pPr>
            <a:endParaRPr lang="en-US" altLang="ko-KR" baseline="0" dirty="0" smtClean="0"/>
          </a:p>
          <a:p>
            <a:pPr marL="0" indent="0">
              <a:buNone/>
            </a:pPr>
            <a:r>
              <a:rPr lang="en-US" altLang="ko-KR" baseline="0" dirty="0" smtClean="0"/>
              <a:t>2. </a:t>
            </a:r>
            <a:r>
              <a:rPr lang="ko-KR" altLang="en-US" baseline="0" dirty="0" smtClean="0"/>
              <a:t>기존 </a:t>
            </a:r>
            <a:r>
              <a:rPr lang="en-US" altLang="ko-KR" baseline="0" dirty="0" smtClean="0"/>
              <a:t>AVD</a:t>
            </a:r>
            <a:r>
              <a:rPr lang="ko-KR" altLang="en-US" baseline="0" dirty="0" smtClean="0"/>
              <a:t>가 너무 느려 지니모션을 설치 및 실행하여 보았으나 </a:t>
            </a:r>
            <a:r>
              <a:rPr lang="en-US" altLang="ko-KR" baseline="0" dirty="0" err="1" smtClean="0"/>
              <a:t>armeabi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지원이 안되었음</a:t>
            </a:r>
            <a:endParaRPr lang="en-US" altLang="ko-KR" baseline="0" dirty="0" smtClean="0"/>
          </a:p>
          <a:p>
            <a:pPr marL="0" indent="0">
              <a:buNone/>
            </a:pPr>
            <a:r>
              <a:rPr lang="en-US" altLang="ko-KR" baseline="0" dirty="0" smtClean="0"/>
              <a:t>    (Mac</a:t>
            </a:r>
            <a:r>
              <a:rPr lang="ko-KR" altLang="en-US" baseline="0" dirty="0" smtClean="0"/>
              <a:t>용 지니모션이 조교용 </a:t>
            </a:r>
            <a:r>
              <a:rPr lang="en-US" altLang="ko-KR" baseline="0" dirty="0" smtClean="0"/>
              <a:t>Mac</a:t>
            </a:r>
            <a:r>
              <a:rPr lang="ko-KR" altLang="en-US" baseline="0" dirty="0" smtClean="0"/>
              <a:t>에 설치되어 있음</a:t>
            </a:r>
            <a:r>
              <a:rPr lang="en-US" altLang="ko-KR" baseline="0" smtClean="0"/>
              <a:t>)</a:t>
            </a: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867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문제점</a:t>
            </a:r>
            <a:endParaRPr lang="en-US" altLang="ko-KR" dirty="0" smtClean="0"/>
          </a:p>
          <a:p>
            <a:pPr marL="228600" indent="-228600">
              <a:buAutoNum type="arabicPeriod"/>
            </a:pPr>
            <a:r>
              <a:rPr lang="ko-KR" altLang="en-US" dirty="0" smtClean="0"/>
              <a:t>조교용 </a:t>
            </a:r>
            <a:r>
              <a:rPr lang="en-US" altLang="ko-KR" dirty="0" smtClean="0"/>
              <a:t>Mac</a:t>
            </a:r>
            <a:r>
              <a:rPr lang="ko-KR" altLang="en-US" dirty="0" smtClean="0"/>
              <a:t>에서 실행 시 </a:t>
            </a:r>
            <a:r>
              <a:rPr lang="en-US" altLang="ko-KR" dirty="0" smtClean="0"/>
              <a:t>10</a:t>
            </a:r>
            <a:r>
              <a:rPr lang="ko-KR" altLang="en-US" dirty="0" smtClean="0"/>
              <a:t>분 가량 소요 </a:t>
            </a:r>
            <a:r>
              <a:rPr lang="en-US" altLang="ko-KR" dirty="0" smtClean="0"/>
              <a:t>(8~9</a:t>
            </a:r>
            <a:r>
              <a:rPr lang="ko-KR" altLang="en-US" dirty="0" smtClean="0"/>
              <a:t>분 쯤 </a:t>
            </a:r>
            <a:r>
              <a:rPr lang="en-US" altLang="ko-KR" dirty="0" smtClean="0"/>
              <a:t>responding</a:t>
            </a:r>
            <a:r>
              <a:rPr lang="en-US" altLang="ko-KR" baseline="0" dirty="0" smtClean="0"/>
              <a:t> error</a:t>
            </a:r>
            <a:r>
              <a:rPr lang="ko-KR" altLang="en-US" baseline="0" dirty="0" smtClean="0"/>
              <a:t> 메세지와 함께 </a:t>
            </a:r>
            <a:r>
              <a:rPr lang="en-US" altLang="ko-KR" baseline="0" dirty="0" smtClean="0"/>
              <a:t>wait or close</a:t>
            </a:r>
          </a:p>
          <a:p>
            <a:pPr marL="0" indent="0">
              <a:buNone/>
            </a:pPr>
            <a:r>
              <a:rPr lang="en-US" altLang="ko-KR" baseline="0" dirty="0" smtClean="0"/>
              <a:t>    </a:t>
            </a:r>
            <a:r>
              <a:rPr lang="ko-KR" altLang="en-US" baseline="0" dirty="0" smtClean="0"/>
              <a:t>가 표시 </a:t>
            </a:r>
            <a:r>
              <a:rPr lang="en-US" altLang="ko-KR" baseline="0" dirty="0" smtClean="0"/>
              <a:t>-&gt; Wait </a:t>
            </a:r>
            <a:r>
              <a:rPr lang="ko-KR" altLang="en-US" baseline="0" dirty="0" smtClean="0"/>
              <a:t>로 선택하니 조금 있다가 결과화면 표시 됨</a:t>
            </a:r>
            <a:r>
              <a:rPr lang="en-US" altLang="ko-KR" baseline="0" dirty="0" smtClean="0"/>
              <a:t>.</a:t>
            </a:r>
          </a:p>
          <a:p>
            <a:pPr marL="0" indent="0">
              <a:buNone/>
            </a:pPr>
            <a:endParaRPr lang="en-US" altLang="ko-KR" baseline="0" dirty="0" smtClean="0"/>
          </a:p>
          <a:p>
            <a:pPr marL="0" indent="0">
              <a:buNone/>
            </a:pPr>
            <a:r>
              <a:rPr lang="en-US" altLang="ko-KR" baseline="0" dirty="0" smtClean="0"/>
              <a:t>2. </a:t>
            </a:r>
            <a:r>
              <a:rPr lang="ko-KR" altLang="en-US" baseline="0" dirty="0" smtClean="0"/>
              <a:t>기존 </a:t>
            </a:r>
            <a:r>
              <a:rPr lang="en-US" altLang="ko-KR" baseline="0" dirty="0" smtClean="0"/>
              <a:t>AVD</a:t>
            </a:r>
            <a:r>
              <a:rPr lang="ko-KR" altLang="en-US" baseline="0" dirty="0" smtClean="0"/>
              <a:t>가 너무 느려 지니모션을 설치 및 실행하여 보았으나 </a:t>
            </a:r>
            <a:r>
              <a:rPr lang="en-US" altLang="ko-KR" baseline="0" dirty="0" err="1" smtClean="0"/>
              <a:t>armeabi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지원이 안되었음</a:t>
            </a:r>
            <a:endParaRPr lang="en-US" altLang="ko-KR" baseline="0" dirty="0" smtClean="0"/>
          </a:p>
          <a:p>
            <a:pPr marL="0" indent="0">
              <a:buNone/>
            </a:pPr>
            <a:r>
              <a:rPr lang="en-US" altLang="ko-KR" baseline="0" dirty="0" smtClean="0"/>
              <a:t>    (Mac</a:t>
            </a:r>
            <a:r>
              <a:rPr lang="ko-KR" altLang="en-US" baseline="0" dirty="0" smtClean="0"/>
              <a:t>용 지니모션이 조교용 </a:t>
            </a:r>
            <a:r>
              <a:rPr lang="en-US" altLang="ko-KR" baseline="0" dirty="0" smtClean="0"/>
              <a:t>Mac</a:t>
            </a:r>
            <a:r>
              <a:rPr lang="ko-KR" altLang="en-US" baseline="0" dirty="0" smtClean="0"/>
              <a:t>에 설치되어 있음</a:t>
            </a:r>
            <a:r>
              <a:rPr lang="en-US" altLang="ko-KR" baseline="0" dirty="0" smtClean="0"/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46650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문제점</a:t>
            </a:r>
            <a:endParaRPr lang="en-US" altLang="ko-KR" dirty="0" smtClean="0"/>
          </a:p>
          <a:p>
            <a:pPr marL="228600" indent="-228600">
              <a:buAutoNum type="arabicPeriod"/>
            </a:pPr>
            <a:r>
              <a:rPr lang="ko-KR" altLang="en-US" dirty="0" smtClean="0"/>
              <a:t>조교용 </a:t>
            </a:r>
            <a:r>
              <a:rPr lang="en-US" altLang="ko-KR" dirty="0" smtClean="0"/>
              <a:t>Mac</a:t>
            </a:r>
            <a:r>
              <a:rPr lang="ko-KR" altLang="en-US" dirty="0" smtClean="0"/>
              <a:t>에서 실행 시 </a:t>
            </a:r>
            <a:r>
              <a:rPr lang="en-US" altLang="ko-KR" dirty="0" smtClean="0"/>
              <a:t>10</a:t>
            </a:r>
            <a:r>
              <a:rPr lang="ko-KR" altLang="en-US" dirty="0" smtClean="0"/>
              <a:t>분 가량 소요 </a:t>
            </a:r>
            <a:r>
              <a:rPr lang="en-US" altLang="ko-KR" dirty="0" smtClean="0"/>
              <a:t>(8~9</a:t>
            </a:r>
            <a:r>
              <a:rPr lang="ko-KR" altLang="en-US" dirty="0" smtClean="0"/>
              <a:t>분 쯤 </a:t>
            </a:r>
            <a:r>
              <a:rPr lang="en-US" altLang="ko-KR" dirty="0" smtClean="0"/>
              <a:t>responding</a:t>
            </a:r>
            <a:r>
              <a:rPr lang="en-US" altLang="ko-KR" baseline="0" dirty="0" smtClean="0"/>
              <a:t> error</a:t>
            </a:r>
            <a:r>
              <a:rPr lang="ko-KR" altLang="en-US" baseline="0" dirty="0" smtClean="0"/>
              <a:t> 메세지와 함께 </a:t>
            </a:r>
            <a:r>
              <a:rPr lang="en-US" altLang="ko-KR" baseline="0" dirty="0" smtClean="0"/>
              <a:t>wait or close</a:t>
            </a:r>
          </a:p>
          <a:p>
            <a:pPr marL="0" indent="0">
              <a:buNone/>
            </a:pPr>
            <a:r>
              <a:rPr lang="en-US" altLang="ko-KR" baseline="0" dirty="0" smtClean="0"/>
              <a:t>    </a:t>
            </a:r>
            <a:r>
              <a:rPr lang="ko-KR" altLang="en-US" baseline="0" dirty="0" smtClean="0"/>
              <a:t>가 표시 </a:t>
            </a:r>
            <a:r>
              <a:rPr lang="en-US" altLang="ko-KR" baseline="0" dirty="0" smtClean="0"/>
              <a:t>-&gt; Wait </a:t>
            </a:r>
            <a:r>
              <a:rPr lang="ko-KR" altLang="en-US" baseline="0" dirty="0" smtClean="0"/>
              <a:t>로 선택하니 조금 있다가 결과화면 표시 됨</a:t>
            </a:r>
            <a:r>
              <a:rPr lang="en-US" altLang="ko-KR" baseline="0" dirty="0" smtClean="0"/>
              <a:t>.</a:t>
            </a:r>
          </a:p>
          <a:p>
            <a:pPr marL="0" indent="0">
              <a:buNone/>
            </a:pPr>
            <a:endParaRPr lang="en-US" altLang="ko-KR" baseline="0" dirty="0" smtClean="0"/>
          </a:p>
          <a:p>
            <a:pPr marL="0" indent="0">
              <a:buNone/>
            </a:pPr>
            <a:r>
              <a:rPr lang="en-US" altLang="ko-KR" baseline="0" dirty="0" smtClean="0"/>
              <a:t>2. </a:t>
            </a:r>
            <a:r>
              <a:rPr lang="ko-KR" altLang="en-US" baseline="0" dirty="0" smtClean="0"/>
              <a:t>기존 </a:t>
            </a:r>
            <a:r>
              <a:rPr lang="en-US" altLang="ko-KR" baseline="0" dirty="0" smtClean="0"/>
              <a:t>AVD</a:t>
            </a:r>
            <a:r>
              <a:rPr lang="ko-KR" altLang="en-US" baseline="0" dirty="0" smtClean="0"/>
              <a:t>가 너무 느려 지니모션을 설치 및 실행하여 보았으나 </a:t>
            </a:r>
            <a:r>
              <a:rPr lang="en-US" altLang="ko-KR" baseline="0" dirty="0" err="1" smtClean="0"/>
              <a:t>armeabi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지원이 안되었음</a:t>
            </a:r>
            <a:endParaRPr lang="en-US" altLang="ko-KR" baseline="0" dirty="0" smtClean="0"/>
          </a:p>
          <a:p>
            <a:pPr marL="0" indent="0">
              <a:buNone/>
            </a:pPr>
            <a:r>
              <a:rPr lang="en-US" altLang="ko-KR" baseline="0" dirty="0" smtClean="0"/>
              <a:t>    (Mac</a:t>
            </a:r>
            <a:r>
              <a:rPr lang="ko-KR" altLang="en-US" baseline="0" dirty="0" smtClean="0"/>
              <a:t>용 지니모션이 조교용 </a:t>
            </a:r>
            <a:r>
              <a:rPr lang="en-US" altLang="ko-KR" baseline="0" dirty="0" smtClean="0"/>
              <a:t>Mac</a:t>
            </a:r>
            <a:r>
              <a:rPr lang="ko-KR" altLang="en-US" baseline="0" dirty="0" smtClean="0"/>
              <a:t>에 설치되어 있음</a:t>
            </a:r>
            <a:r>
              <a:rPr lang="en-US" altLang="ko-KR" baseline="0" smtClean="0"/>
              <a:t>)</a:t>
            </a: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9765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957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2.bin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53976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73978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34068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4572000" y="0"/>
            <a:ext cx="3600450" cy="6858000"/>
          </a:xfrm>
          <a:prstGeom prst="rect">
            <a:avLst/>
          </a:prstGeom>
          <a:solidFill>
            <a:srgbClr val="669900"/>
          </a:solidFill>
          <a:ln w="127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b="1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6156325" y="0"/>
            <a:ext cx="1655763" cy="6858000"/>
          </a:xfrm>
          <a:prstGeom prst="rect">
            <a:avLst/>
          </a:prstGeom>
          <a:solidFill>
            <a:srgbClr val="FFD937"/>
          </a:solidFill>
          <a:ln w="127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b="1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0" y="71438"/>
            <a:ext cx="9144000" cy="674211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b="1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7" name="Picture 14" descr="그림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4343400"/>
            <a:ext cx="3203575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5"/>
          <p:cNvSpPr>
            <a:spLocks noChangeArrowheads="1"/>
          </p:cNvSpPr>
          <p:nvPr userDrawn="1"/>
        </p:nvSpPr>
        <p:spPr bwMode="auto">
          <a:xfrm>
            <a:off x="5580063" y="4103688"/>
            <a:ext cx="3563937" cy="2709862"/>
          </a:xfrm>
          <a:prstGeom prst="rect">
            <a:avLst/>
          </a:prstGeom>
          <a:solidFill>
            <a:schemeClr val="bg1">
              <a:alpha val="5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b="1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graphicFrame>
        <p:nvGraphicFramePr>
          <p:cNvPr id="9" name="Object 10"/>
          <p:cNvGraphicFramePr>
            <a:graphicFrameLocks noChangeAspect="1"/>
          </p:cNvGraphicFramePr>
          <p:nvPr userDrawn="1"/>
        </p:nvGraphicFramePr>
        <p:xfrm>
          <a:off x="0" y="6424613"/>
          <a:ext cx="241141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" name="Image" r:id="rId4" imgW="7873016" imgH="1269841" progId="Photoshop.Image.8">
                  <p:embed/>
                </p:oleObj>
              </mc:Choice>
              <mc:Fallback>
                <p:oleObj name="Image" r:id="rId4" imgW="7873016" imgH="1269841" progId="Photoshop.Imag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424613"/>
                        <a:ext cx="2411413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FF9900"/>
                                </a:gs>
                                <a:gs pos="100000">
                                  <a:srgbClr val="FF620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85800" y="1598613"/>
            <a:ext cx="7772400" cy="1470025"/>
          </a:xfrm>
        </p:spPr>
        <p:txBody>
          <a:bodyPr/>
          <a:lstStyle>
            <a:lvl1pPr>
              <a:defRPr sz="32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84538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010400" y="115888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>
              <a:solidFill>
                <a:srgbClr val="000000"/>
              </a:solidFill>
            </a:endParaRPr>
          </a:p>
        </p:txBody>
      </p:sp>
      <p:sp>
        <p:nvSpPr>
          <p:cNvPr id="11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37288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DFA6C-DC29-410A-98AD-E745B85062C5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10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DAFA5F-3690-4FE0-9945-91054F5209D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956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6F4739-1061-46F0-87BE-29137D38351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353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C0DED0-4351-4F4D-9D8D-04B38D58CAE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687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327C7-E6B6-46F6-9EE4-DD40FA25A1C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915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22BC2C-8F26-425F-8D7D-E76B8B6D5BB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3604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14BC7E-434E-47A6-A5A1-83D33510053B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4973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DBE4BC-6581-4400-AD6F-365675D9D7F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1835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79A02F-E0B9-4A98-AF94-6478BEBFE100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7484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8F19A-7C39-4100-965F-65238AE93B9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7384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628ADF-ADFB-47CB-852B-B81C1D21B3E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958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59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App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8"/>
          <p:cNvSpPr>
            <a:spLocks noChangeArrowheads="1"/>
          </p:cNvSpPr>
          <p:nvPr userDrawn="1"/>
        </p:nvSpPr>
        <p:spPr bwMode="auto">
          <a:xfrm>
            <a:off x="4572000" y="0"/>
            <a:ext cx="3600450" cy="6858000"/>
          </a:xfrm>
          <a:prstGeom prst="rect">
            <a:avLst/>
          </a:prstGeom>
          <a:solidFill>
            <a:srgbClr val="669900"/>
          </a:solidFill>
          <a:ln w="127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b="1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081" name="Rectangle 9"/>
          <p:cNvSpPr>
            <a:spLocks noChangeArrowheads="1"/>
          </p:cNvSpPr>
          <p:nvPr userDrawn="1"/>
        </p:nvSpPr>
        <p:spPr bwMode="auto">
          <a:xfrm>
            <a:off x="6156325" y="0"/>
            <a:ext cx="1655763" cy="6858000"/>
          </a:xfrm>
          <a:prstGeom prst="rect">
            <a:avLst/>
          </a:prstGeom>
          <a:solidFill>
            <a:srgbClr val="FFD937"/>
          </a:solidFill>
          <a:ln w="127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b="1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079" name="Rectangle 7"/>
          <p:cNvSpPr>
            <a:spLocks noChangeArrowheads="1"/>
          </p:cNvSpPr>
          <p:nvPr userDrawn="1"/>
        </p:nvSpPr>
        <p:spPr bwMode="auto">
          <a:xfrm>
            <a:off x="0" y="71438"/>
            <a:ext cx="9144000" cy="674211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b="1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D789E57-AA4D-4DB9-A627-96C817CF2E22}" type="slidenum">
              <a:rPr kumimoji="1" lang="en-US" altLang="ko-KR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000000"/>
              </a:solidFill>
            </a:endParaRPr>
          </a:p>
        </p:txBody>
      </p:sp>
      <p:graphicFrame>
        <p:nvGraphicFramePr>
          <p:cNvPr id="1026" name="Object 10"/>
          <p:cNvGraphicFramePr>
            <a:graphicFrameLocks noChangeAspect="1"/>
          </p:cNvGraphicFramePr>
          <p:nvPr userDrawn="1"/>
        </p:nvGraphicFramePr>
        <p:xfrm>
          <a:off x="0" y="6424613"/>
          <a:ext cx="241141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" name="Image" r:id="rId14" imgW="7873016" imgH="1269841" progId="Photoshop.Image.8">
                  <p:embed/>
                </p:oleObj>
              </mc:Choice>
              <mc:Fallback>
                <p:oleObj name="Image" r:id="rId14" imgW="7873016" imgH="1269841" progId="Photoshop.Imag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424613"/>
                        <a:ext cx="2411413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FF9900"/>
                                </a:gs>
                                <a:gs pos="100000">
                                  <a:srgbClr val="FF620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3" name="Picture 14" descr="그림1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4343400"/>
            <a:ext cx="3203575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7" name="Rectangle 15"/>
          <p:cNvSpPr>
            <a:spLocks noChangeArrowheads="1"/>
          </p:cNvSpPr>
          <p:nvPr userDrawn="1"/>
        </p:nvSpPr>
        <p:spPr bwMode="auto">
          <a:xfrm>
            <a:off x="5580063" y="4103688"/>
            <a:ext cx="3563937" cy="2709862"/>
          </a:xfrm>
          <a:prstGeom prst="rect">
            <a:avLst/>
          </a:prstGeom>
          <a:solidFill>
            <a:schemeClr val="bg1">
              <a:alpha val="5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b="1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07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>
              <a:solidFill>
                <a:srgbClr val="000000"/>
              </a:solidFill>
            </a:endParaRPr>
          </a:p>
        </p:txBody>
      </p:sp>
      <p:sp>
        <p:nvSpPr>
          <p:cNvPr id="3088" name="Rectangle 16"/>
          <p:cNvSpPr>
            <a:spLocks noChangeArrowheads="1"/>
          </p:cNvSpPr>
          <p:nvPr/>
        </p:nvSpPr>
        <p:spPr bwMode="auto">
          <a:xfrm>
            <a:off x="7010400" y="62372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DBF98BD3-2415-460B-9FC2-91789834B1DD}" type="slidenum">
              <a:rPr kumimoji="1" lang="en-US" altLang="ko-KR" sz="14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1400">
              <a:solidFill>
                <a:srgbClr val="000000"/>
              </a:solidFill>
            </a:endParaRPr>
          </a:p>
        </p:txBody>
      </p:sp>
      <p:grpSp>
        <p:nvGrpSpPr>
          <p:cNvPr id="2" name="Group 17"/>
          <p:cNvGrpSpPr>
            <a:grpSpLocks/>
          </p:cNvGrpSpPr>
          <p:nvPr userDrawn="1"/>
        </p:nvGrpSpPr>
        <p:grpSpPr bwMode="auto">
          <a:xfrm>
            <a:off x="0" y="0"/>
            <a:ext cx="395288" cy="1052513"/>
            <a:chOff x="0" y="0"/>
            <a:chExt cx="249" cy="663"/>
          </a:xfrm>
        </p:grpSpPr>
        <p:sp>
          <p:nvSpPr>
            <p:cNvPr id="3090" name="Rectangle 18"/>
            <p:cNvSpPr>
              <a:spLocks noChangeArrowheads="1"/>
            </p:cNvSpPr>
            <p:nvPr userDrawn="1"/>
          </p:nvSpPr>
          <p:spPr bwMode="auto">
            <a:xfrm>
              <a:off x="0" y="0"/>
              <a:ext cx="204" cy="663"/>
            </a:xfrm>
            <a:prstGeom prst="rect">
              <a:avLst/>
            </a:prstGeom>
            <a:solidFill>
              <a:srgbClr val="66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b="1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091" name="Rectangle 19"/>
            <p:cNvSpPr>
              <a:spLocks noChangeArrowheads="1"/>
            </p:cNvSpPr>
            <p:nvPr userDrawn="1"/>
          </p:nvSpPr>
          <p:spPr bwMode="auto">
            <a:xfrm>
              <a:off x="91" y="0"/>
              <a:ext cx="67" cy="663"/>
            </a:xfrm>
            <a:prstGeom prst="rect">
              <a:avLst/>
            </a:prstGeom>
            <a:solidFill>
              <a:srgbClr val="99CC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b="1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092" name="Rectangle 20"/>
            <p:cNvSpPr>
              <a:spLocks noChangeArrowheads="1"/>
            </p:cNvSpPr>
            <p:nvPr userDrawn="1"/>
          </p:nvSpPr>
          <p:spPr bwMode="auto">
            <a:xfrm>
              <a:off x="158" y="0"/>
              <a:ext cx="67" cy="663"/>
            </a:xfrm>
            <a:prstGeom prst="rect">
              <a:avLst/>
            </a:prstGeom>
            <a:solidFill>
              <a:srgbClr val="FFD937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b="1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093" name="Rectangle 21"/>
            <p:cNvSpPr>
              <a:spLocks noChangeArrowheads="1"/>
            </p:cNvSpPr>
            <p:nvPr userDrawn="1"/>
          </p:nvSpPr>
          <p:spPr bwMode="auto">
            <a:xfrm>
              <a:off x="0" y="527"/>
              <a:ext cx="249" cy="136"/>
            </a:xfrm>
            <a:prstGeom prst="rect">
              <a:avLst/>
            </a:prstGeom>
            <a:solidFill>
              <a:schemeClr val="bg1">
                <a:alpha val="39999"/>
              </a:schemeClr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b="1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705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0" grpId="0" animBg="1"/>
      <p:bldP spid="3081" grpId="0" animBg="1"/>
    </p:bldLst>
  </p:timing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HY강B" pitchFamily="18" charset="-127"/>
          <a:ea typeface="HY강B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HY강B" pitchFamily="18" charset="-127"/>
          <a:ea typeface="HY강B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HY강B" pitchFamily="18" charset="-127"/>
          <a:ea typeface="HY강B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HY강B" pitchFamily="18" charset="-127"/>
          <a:ea typeface="HY강B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HY강B" pitchFamily="18" charset="-127"/>
          <a:ea typeface="HY강B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HY강B" pitchFamily="18" charset="-127"/>
          <a:ea typeface="HY강B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HY강B" pitchFamily="18" charset="-127"/>
          <a:ea typeface="HY강B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HY강B" pitchFamily="18" charset="-127"/>
          <a:ea typeface="HY강B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clipse.or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cygwin.com/" TargetMode="External"/><Relationship Id="rId5" Type="http://schemas.openxmlformats.org/officeDocument/2006/relationships/hyperlink" Target="http://developer.android.com/sdk/ndk/index.html" TargetMode="External"/><Relationship Id="rId4" Type="http://schemas.openxmlformats.org/officeDocument/2006/relationships/hyperlink" Target="http://www.oracle.com/technetwork/java/javase/downloads/index.html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Android NDK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/>
          </a:p>
          <a:p>
            <a:r>
              <a:rPr lang="en-US" altLang="ko-KR" smtClean="0"/>
              <a:t>School </a:t>
            </a:r>
            <a:r>
              <a:rPr lang="en-US" altLang="ko-KR" dirty="0" smtClean="0"/>
              <a:t>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안드로이드</a:t>
            </a:r>
            <a:r>
              <a:rPr lang="ko-KR" altLang="en-US" dirty="0" smtClean="0"/>
              <a:t> 플랫폼 구성</a:t>
            </a:r>
            <a:endParaRPr lang="ko-KR" alt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2187651" y="2093552"/>
            <a:ext cx="5515704" cy="3501288"/>
            <a:chOff x="1213304" y="1339312"/>
            <a:chExt cx="7682598" cy="4876801"/>
          </a:xfrm>
        </p:grpSpPr>
        <p:pic>
          <p:nvPicPr>
            <p:cNvPr id="13" name="Picture 4" descr="http://isec.thoth.kr/files/attach/images/2407283/714/260/003/system-architecture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3304" y="1339312"/>
              <a:ext cx="6791325" cy="4876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오른쪽 대괄호 7"/>
            <p:cNvSpPr/>
            <p:nvPr/>
          </p:nvSpPr>
          <p:spPr>
            <a:xfrm>
              <a:off x="8044821" y="3386295"/>
              <a:ext cx="107461" cy="2829818"/>
            </a:xfrm>
            <a:prstGeom prst="rightBracket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오른쪽 대괄호 10"/>
            <p:cNvSpPr/>
            <p:nvPr/>
          </p:nvSpPr>
          <p:spPr>
            <a:xfrm>
              <a:off x="8044821" y="1339313"/>
              <a:ext cx="107461" cy="2004138"/>
            </a:xfrm>
            <a:prstGeom prst="rightBracket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279836" y="2130367"/>
              <a:ext cx="6160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/>
                <a:t>Java</a:t>
              </a:r>
              <a:endParaRPr lang="ko-KR" alt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279836" y="4539947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/>
                <a:t>C</a:t>
              </a:r>
              <a:endParaRPr lang="ko-KR" altLang="en-US" dirty="0"/>
            </a:p>
          </p:txBody>
        </p:sp>
        <p:cxnSp>
          <p:nvCxnSpPr>
            <p:cNvPr id="18" name="꺾인 연결선 12"/>
            <p:cNvCxnSpPr>
              <a:stCxn id="16" idx="2"/>
            </p:cNvCxnSpPr>
            <p:nvPr/>
          </p:nvCxnSpPr>
          <p:spPr>
            <a:xfrm rot="5400000">
              <a:off x="7231906" y="2492558"/>
              <a:ext cx="1348823" cy="1363104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9011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안드로이드</a:t>
            </a:r>
            <a:r>
              <a:rPr lang="ko-KR" altLang="en-US" dirty="0" smtClean="0"/>
              <a:t> 플랫폼 구성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ko-KR" altLang="en-US" dirty="0" err="1" smtClean="0"/>
              <a:t>리눅스</a:t>
            </a:r>
            <a:r>
              <a:rPr lang="ko-KR" altLang="en-US" dirty="0" smtClean="0"/>
              <a:t> 커널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태스크 간의 스케줄링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메모리</a:t>
            </a:r>
            <a:r>
              <a:rPr lang="en-US" altLang="ko-KR" dirty="0" smtClean="0"/>
              <a:t>, </a:t>
            </a:r>
            <a:r>
              <a:rPr lang="ko-KR" altLang="en-US" dirty="0" smtClean="0"/>
              <a:t>디스크</a:t>
            </a:r>
            <a:r>
              <a:rPr lang="en-US" altLang="ko-KR" dirty="0" smtClean="0"/>
              <a:t>, </a:t>
            </a:r>
            <a:r>
              <a:rPr lang="ko-KR" altLang="en-US" dirty="0" smtClean="0"/>
              <a:t>네트워크 등의 자원을 사용할 수 있는 시스템 콜 제공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안드로이드 응용프로그램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애플리케이션 프레임워크를 이용해 </a:t>
            </a:r>
            <a:r>
              <a:rPr lang="en-US" altLang="ko-KR" dirty="0" smtClean="0"/>
              <a:t>Java</a:t>
            </a:r>
            <a:r>
              <a:rPr lang="ko-KR" altLang="en-US" dirty="0" smtClean="0"/>
              <a:t>로 작성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애플리케이션 프레임워크</a:t>
            </a:r>
            <a:r>
              <a:rPr lang="en-US" altLang="ko-KR" dirty="0" smtClean="0"/>
              <a:t>(.jar</a:t>
            </a:r>
            <a:r>
              <a:rPr lang="ko-KR" altLang="en-US" dirty="0" smtClean="0"/>
              <a:t>형태의 </a:t>
            </a:r>
            <a:r>
              <a:rPr lang="en-US" altLang="ko-KR" dirty="0" smtClean="0"/>
              <a:t>java class)</a:t>
            </a:r>
            <a:r>
              <a:rPr lang="ko-KR" altLang="en-US" dirty="0" smtClean="0"/>
              <a:t>를 이용해 </a:t>
            </a:r>
            <a:r>
              <a:rPr lang="en-US" altLang="ko-KR" dirty="0" smtClean="0"/>
              <a:t>VM</a:t>
            </a:r>
            <a:r>
              <a:rPr lang="ko-KR" altLang="en-US" dirty="0" smtClean="0"/>
              <a:t>에서 제공하는 코어라이브러리 기능 사용</a:t>
            </a:r>
            <a:endParaRPr lang="en-US" altLang="ko-KR" dirty="0" smtClean="0"/>
          </a:p>
          <a:p>
            <a:pPr lvl="2"/>
            <a:r>
              <a:rPr lang="ko-KR" altLang="en-US" b="1" dirty="0" smtClean="0"/>
              <a:t>코어 라이브러리</a:t>
            </a:r>
            <a:r>
              <a:rPr lang="ko-KR" altLang="en-US" dirty="0" smtClean="0"/>
              <a:t>는 리눅스 커널 위에서 동작하는 다양한 </a:t>
            </a:r>
            <a:r>
              <a:rPr lang="en-US" altLang="ko-KR" dirty="0" smtClean="0"/>
              <a:t>C/C++ </a:t>
            </a:r>
            <a:r>
              <a:rPr lang="ko-KR" altLang="en-US" dirty="0" smtClean="0"/>
              <a:t>라이브러리를 호출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필요에 따라 리눅스 커널의 </a:t>
            </a:r>
            <a:r>
              <a:rPr lang="en-US" altLang="ko-KR" dirty="0" smtClean="0"/>
              <a:t>System Call</a:t>
            </a:r>
            <a:r>
              <a:rPr lang="ko-KR" altLang="en-US" dirty="0" smtClean="0"/>
              <a:t>을 호출</a:t>
            </a:r>
            <a:endParaRPr lang="en-US" altLang="ko-KR" dirty="0"/>
          </a:p>
          <a:p>
            <a:pPr lvl="1"/>
            <a:r>
              <a:rPr lang="ko-KR" altLang="en-US" dirty="0" smtClean="0"/>
              <a:t>안드로이드 런타임 계층과 라이브러리 계층을 연결하는 과정에서 추가적으로 </a:t>
            </a:r>
            <a:r>
              <a:rPr lang="en-US" altLang="ko-KR" dirty="0" smtClean="0"/>
              <a:t>C/C++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Java</a:t>
            </a:r>
            <a:r>
              <a:rPr lang="ko-KR" altLang="en-US" dirty="0" smtClean="0"/>
              <a:t>호출사이에 연결고리가 존재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이것으로 인해 안드로이드 프레임워크는 </a:t>
            </a:r>
            <a:r>
              <a:rPr lang="en-US" altLang="ko-KR" dirty="0" smtClean="0"/>
              <a:t>OS</a:t>
            </a:r>
            <a:r>
              <a:rPr lang="ko-KR" altLang="en-US" dirty="0" smtClean="0"/>
              <a:t>의 기능을 리눅스 커널로부터 가져다 쓸 수 있음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115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C/C++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Java</a:t>
            </a:r>
            <a:r>
              <a:rPr lang="ko-KR" altLang="en-US" dirty="0" smtClean="0"/>
              <a:t>의 연결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 smtClean="0"/>
              <a:t>Java Native Access(JNA)</a:t>
            </a:r>
          </a:p>
          <a:p>
            <a:pPr lvl="2"/>
            <a:r>
              <a:rPr lang="ko-KR" altLang="en-US" dirty="0" smtClean="0"/>
              <a:t>자바 코드에서 네이티브 코드와 같은 형태로 네이티브 함수를 호출하는 방식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기존 코드 최소 수정으로 최상의 방법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Dalvik</a:t>
            </a:r>
            <a:r>
              <a:rPr lang="en-US" altLang="ko-KR" dirty="0" smtClean="0"/>
              <a:t> VM</a:t>
            </a:r>
            <a:r>
              <a:rPr lang="ko-KR" altLang="en-US" dirty="0" smtClean="0"/>
              <a:t>에서는 지원하지 않음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Java Native Interface(JNI)</a:t>
            </a:r>
          </a:p>
          <a:p>
            <a:pPr lvl="2"/>
            <a:r>
              <a:rPr lang="en-US" altLang="ko-KR" dirty="0" smtClean="0"/>
              <a:t>Java </a:t>
            </a:r>
            <a:r>
              <a:rPr lang="ko-KR" altLang="en-US" dirty="0" smtClean="0"/>
              <a:t>초창기 부터 존재하는 방법</a:t>
            </a:r>
            <a:endParaRPr lang="en-US" altLang="ko-KR" dirty="0" smtClean="0"/>
          </a:p>
          <a:p>
            <a:pPr lvl="2"/>
            <a:r>
              <a:rPr lang="en-US" altLang="ko-KR" b="1" dirty="0" err="1" smtClean="0"/>
              <a:t>Dalvik</a:t>
            </a:r>
            <a:r>
              <a:rPr lang="en-US" altLang="ko-KR" b="1" dirty="0" smtClean="0"/>
              <a:t> VM</a:t>
            </a:r>
            <a:r>
              <a:rPr lang="ko-KR" altLang="en-US" b="1" dirty="0" smtClean="0"/>
              <a:t>에서 지원</a:t>
            </a:r>
            <a:endParaRPr lang="en-US" altLang="ko-KR" b="1" dirty="0" smtClean="0"/>
          </a:p>
          <a:p>
            <a:pPr lvl="2"/>
            <a:r>
              <a:rPr lang="ko-KR" altLang="en-US" dirty="0" smtClean="0"/>
              <a:t>안드로이드 플랫폼 소스 여러 부분에서 사용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개발 시간 소요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에러 발생 소요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Simplified Wrapper and Interface Generator(SWIG)</a:t>
            </a:r>
          </a:p>
          <a:p>
            <a:pPr lvl="2"/>
            <a:r>
              <a:rPr lang="en-US" altLang="ko-KR" dirty="0" smtClean="0"/>
              <a:t>JNI</a:t>
            </a:r>
            <a:r>
              <a:rPr lang="ko-KR" altLang="en-US" dirty="0" smtClean="0"/>
              <a:t>를 좀 더 쉽게 사용할 수 있도록 해주는 도구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C/C++ </a:t>
            </a:r>
            <a:r>
              <a:rPr lang="ko-KR" altLang="en-US" dirty="0" smtClean="0"/>
              <a:t>인터페이스를 정의한 파일을 입력 받아 </a:t>
            </a:r>
            <a:r>
              <a:rPr lang="en-US" altLang="ko-KR" dirty="0" smtClean="0"/>
              <a:t>C/C++ JNI wrapper </a:t>
            </a:r>
            <a:r>
              <a:rPr lang="ko-KR" altLang="en-US" dirty="0" smtClean="0"/>
              <a:t>코드를 생성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Dalvik</a:t>
            </a:r>
            <a:r>
              <a:rPr lang="en-US" altLang="ko-KR" dirty="0" smtClean="0"/>
              <a:t> VM</a:t>
            </a:r>
            <a:r>
              <a:rPr lang="ko-KR" altLang="en-US" dirty="0" smtClean="0"/>
              <a:t>과 호환성 문제가 존재</a:t>
            </a:r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3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JNI</a:t>
            </a:r>
            <a:r>
              <a:rPr lang="ko-KR" altLang="en-US" dirty="0"/>
              <a:t>의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JNI(Java Native Interface)</a:t>
            </a:r>
            <a:r>
              <a:rPr lang="ko-KR" altLang="en-US" dirty="0" smtClean="0"/>
              <a:t>란</a:t>
            </a:r>
            <a:r>
              <a:rPr lang="en-US" altLang="ko-KR" dirty="0" smtClean="0"/>
              <a:t>?</a:t>
            </a:r>
          </a:p>
          <a:p>
            <a:pPr lvl="1"/>
            <a:r>
              <a:rPr lang="ko-KR" altLang="en-US" dirty="0" smtClean="0"/>
              <a:t>자바와 자바 이외의 언어로 만들어진 애플리케이션이나 라이브러리가 상호 작용할 수 있도록 연결시켜 주는 인터페이스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grpSp>
        <p:nvGrpSpPr>
          <p:cNvPr id="5" name="그룹 16"/>
          <p:cNvGrpSpPr>
            <a:grpSpLocks/>
          </p:cNvGrpSpPr>
          <p:nvPr/>
        </p:nvGrpSpPr>
        <p:grpSpPr bwMode="auto">
          <a:xfrm>
            <a:off x="2051844" y="2613725"/>
            <a:ext cx="5040313" cy="3446462"/>
            <a:chOff x="395536" y="2142381"/>
            <a:chExt cx="5040560" cy="3446859"/>
          </a:xfrm>
        </p:grpSpPr>
        <p:sp>
          <p:nvSpPr>
            <p:cNvPr id="6" name="직사각형 4"/>
            <p:cNvSpPr/>
            <p:nvPr/>
          </p:nvSpPr>
          <p:spPr bwMode="auto">
            <a:xfrm>
              <a:off x="395536" y="2142381"/>
              <a:ext cx="5040560" cy="344685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7" name="직사각형 5"/>
            <p:cNvSpPr>
              <a:spLocks noChangeArrowheads="1"/>
            </p:cNvSpPr>
            <p:nvPr/>
          </p:nvSpPr>
          <p:spPr bwMode="auto">
            <a:xfrm>
              <a:off x="611560" y="2672916"/>
              <a:ext cx="1728192" cy="2736304"/>
            </a:xfrm>
            <a:prstGeom prst="rect">
              <a:avLst/>
            </a:prstGeom>
            <a:gradFill rotWithShape="1">
              <a:gsLst>
                <a:gs pos="0">
                  <a:srgbClr val="EA8C8C"/>
                </a:gs>
                <a:gs pos="50000">
                  <a:srgbClr val="F0BABA"/>
                </a:gs>
                <a:gs pos="100000">
                  <a:srgbClr val="F7DEDE"/>
                </a:gs>
              </a:gsLst>
              <a:lin ang="135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직사각형 6"/>
            <p:cNvSpPr>
              <a:spLocks noChangeArrowheads="1"/>
            </p:cNvSpPr>
            <p:nvPr/>
          </p:nvSpPr>
          <p:spPr bwMode="auto">
            <a:xfrm>
              <a:off x="3563888" y="2672916"/>
              <a:ext cx="1728192" cy="2736304"/>
            </a:xfrm>
            <a:prstGeom prst="rect">
              <a:avLst/>
            </a:prstGeom>
            <a:gradFill rotWithShape="1">
              <a:gsLst>
                <a:gs pos="0">
                  <a:srgbClr val="565A99"/>
                </a:gs>
                <a:gs pos="50000">
                  <a:srgbClr val="7F84DC"/>
                </a:gs>
                <a:gs pos="100000">
                  <a:srgbClr val="989EFF"/>
                </a:gs>
              </a:gsLst>
              <a:lin ang="135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직사각형 7"/>
            <p:cNvSpPr/>
            <p:nvPr/>
          </p:nvSpPr>
          <p:spPr bwMode="auto">
            <a:xfrm>
              <a:off x="2591780" y="3429000"/>
              <a:ext cx="720080" cy="1512168"/>
            </a:xfrm>
            <a:prstGeom prst="rect">
              <a:avLst/>
            </a:prstGeom>
            <a:solidFill>
              <a:srgbClr val="F4F4AA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perspectiveHeroicExtremeLeftFacing"/>
              <a:lightRig rig="threePt" dir="t"/>
            </a:scene3d>
            <a:sp3d>
              <a:bevelT/>
            </a:sp3d>
          </p:spPr>
          <p:txBody>
            <a:bodyPr vert="wordArtVertRtl" anchor="ctr" anchorCtr="1"/>
            <a:lstStyle/>
            <a:p>
              <a:pPr>
                <a:defRPr/>
              </a:pPr>
              <a:r>
                <a:rPr lang="en-US" altLang="ko-KR" dirty="0">
                  <a:latin typeface="굴림" pitchFamily="50" charset="-127"/>
                  <a:ea typeface="굴림" pitchFamily="50" charset="-127"/>
                </a:rPr>
                <a:t>JNI</a:t>
              </a:r>
              <a:endParaRPr lang="ko-KR" altLang="en-US" dirty="0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" name="TextBox 8"/>
            <p:cNvSpPr txBox="1">
              <a:spLocks noChangeArrowheads="1"/>
            </p:cNvSpPr>
            <p:nvPr/>
          </p:nvSpPr>
          <p:spPr bwMode="auto">
            <a:xfrm>
              <a:off x="827584" y="2852936"/>
              <a:ext cx="129614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/>
              <a:r>
                <a:rPr lang="en-US" altLang="ko-KR">
                  <a:solidFill>
                    <a:srgbClr val="FF0000"/>
                  </a:solidFill>
                </a:rPr>
                <a:t>C Side</a:t>
              </a:r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11" name="TextBox 9"/>
            <p:cNvSpPr txBox="1">
              <a:spLocks noChangeArrowheads="1"/>
            </p:cNvSpPr>
            <p:nvPr/>
          </p:nvSpPr>
          <p:spPr bwMode="auto">
            <a:xfrm>
              <a:off x="3779912" y="2852936"/>
              <a:ext cx="129614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/>
              <a:r>
                <a:rPr lang="en-US" altLang="ko-KR">
                  <a:solidFill>
                    <a:srgbClr val="0000FF"/>
                  </a:solidFill>
                </a:rPr>
                <a:t>Java Side</a:t>
              </a:r>
              <a:endParaRPr lang="ko-KR" altLang="en-US">
                <a:solidFill>
                  <a:srgbClr val="0000FF"/>
                </a:solidFill>
              </a:endParaRPr>
            </a:p>
          </p:txBody>
        </p:sp>
        <p:sp>
          <p:nvSpPr>
            <p:cNvPr id="12" name="직사각형 10"/>
            <p:cNvSpPr>
              <a:spLocks noChangeArrowheads="1"/>
            </p:cNvSpPr>
            <p:nvPr/>
          </p:nvSpPr>
          <p:spPr bwMode="auto">
            <a:xfrm>
              <a:off x="755656" y="3573016"/>
              <a:ext cx="1440000" cy="43204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pPr algn="ctr"/>
              <a:r>
                <a:rPr lang="en-US" altLang="ko-KR" sz="1400"/>
                <a:t>Functions</a:t>
              </a:r>
              <a:endParaRPr lang="ko-KR" altLang="en-US" sz="1400"/>
            </a:p>
          </p:txBody>
        </p:sp>
        <p:sp>
          <p:nvSpPr>
            <p:cNvPr id="13" name="직사각형 11"/>
            <p:cNvSpPr>
              <a:spLocks noChangeArrowheads="1"/>
            </p:cNvSpPr>
            <p:nvPr/>
          </p:nvSpPr>
          <p:spPr bwMode="auto">
            <a:xfrm>
              <a:off x="755656" y="4221088"/>
              <a:ext cx="1440000" cy="43204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pPr algn="ctr"/>
              <a:r>
                <a:rPr lang="en-US" altLang="ko-KR" sz="1400"/>
                <a:t>Libraries</a:t>
              </a:r>
              <a:endParaRPr lang="ko-KR" altLang="en-US" sz="1400"/>
            </a:p>
          </p:txBody>
        </p:sp>
        <p:sp>
          <p:nvSpPr>
            <p:cNvPr id="14" name="직사각형 12"/>
            <p:cNvSpPr>
              <a:spLocks noChangeArrowheads="1"/>
            </p:cNvSpPr>
            <p:nvPr/>
          </p:nvSpPr>
          <p:spPr bwMode="auto">
            <a:xfrm>
              <a:off x="3707984" y="3356992"/>
              <a:ext cx="1440000" cy="43204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0000FF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pPr algn="ctr"/>
              <a:r>
                <a:rPr lang="en-US" altLang="ko-KR" sz="1400"/>
                <a:t>Exceptions</a:t>
              </a:r>
              <a:endParaRPr lang="ko-KR" altLang="en-US" sz="1400"/>
            </a:p>
          </p:txBody>
        </p:sp>
        <p:sp>
          <p:nvSpPr>
            <p:cNvPr id="15" name="직사각형 13"/>
            <p:cNvSpPr>
              <a:spLocks noChangeArrowheads="1"/>
            </p:cNvSpPr>
            <p:nvPr/>
          </p:nvSpPr>
          <p:spPr bwMode="auto">
            <a:xfrm>
              <a:off x="3707984" y="3861048"/>
              <a:ext cx="1440000" cy="43204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0000FF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pPr algn="ctr"/>
              <a:r>
                <a:rPr lang="en-US" altLang="ko-KR" sz="1400" dirty="0"/>
                <a:t>Classes</a:t>
              </a:r>
              <a:endParaRPr lang="ko-KR" altLang="en-US" sz="1400" dirty="0"/>
            </a:p>
          </p:txBody>
        </p:sp>
        <p:sp>
          <p:nvSpPr>
            <p:cNvPr id="16" name="직사각형 14"/>
            <p:cNvSpPr>
              <a:spLocks noChangeArrowheads="1"/>
            </p:cNvSpPr>
            <p:nvPr/>
          </p:nvSpPr>
          <p:spPr bwMode="auto">
            <a:xfrm>
              <a:off x="3707984" y="4365104"/>
              <a:ext cx="1440000" cy="43204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rgbClr val="0000FF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pPr algn="ctr"/>
              <a:r>
                <a:rPr lang="en-US" altLang="ko-KR" sz="1400"/>
                <a:t>VM</a:t>
              </a:r>
              <a:endParaRPr lang="ko-KR" altLang="en-US" sz="1400"/>
            </a:p>
          </p:txBody>
        </p:sp>
        <p:sp>
          <p:nvSpPr>
            <p:cNvPr id="17" name="직사각형 15"/>
            <p:cNvSpPr>
              <a:spLocks noChangeArrowheads="1"/>
            </p:cNvSpPr>
            <p:nvPr/>
          </p:nvSpPr>
          <p:spPr bwMode="auto">
            <a:xfrm>
              <a:off x="2339752" y="2204864"/>
              <a:ext cx="1215672" cy="351656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pPr algn="ctr"/>
              <a:r>
                <a:rPr lang="en-US" altLang="ko-KR" sz="1400"/>
                <a:t>Application</a:t>
              </a:r>
              <a:endParaRPr lang="ko-KR" alt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87074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JNI</a:t>
            </a:r>
            <a:r>
              <a:rPr lang="ko-KR" altLang="en-US" dirty="0"/>
              <a:t>의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Android &amp; JNI</a:t>
            </a:r>
          </a:p>
          <a:p>
            <a:pPr lvl="1"/>
            <a:r>
              <a:rPr lang="ko-KR" altLang="en-US" dirty="0" smtClean="0"/>
              <a:t>안드로이드 프레임워크의 구조의 이해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안드로이드는 </a:t>
            </a:r>
            <a:r>
              <a:rPr lang="en-US" altLang="ko-KR" dirty="0" smtClean="0"/>
              <a:t>Java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C/C++</a:t>
            </a:r>
            <a:r>
              <a:rPr lang="ko-KR" altLang="en-US" dirty="0" smtClean="0"/>
              <a:t>로 이루어진 프레임워크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Java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C/C++ </a:t>
            </a:r>
            <a:r>
              <a:rPr lang="ko-KR" altLang="en-US" dirty="0" smtClean="0"/>
              <a:t>모듈을 연결해주는 매개체가 바로 </a:t>
            </a:r>
            <a:r>
              <a:rPr lang="en-US" altLang="ko-KR" dirty="0" smtClean="0"/>
              <a:t>JNI(Java Native Interface)</a:t>
            </a:r>
          </a:p>
          <a:p>
            <a:pPr lvl="2"/>
            <a:endParaRPr lang="en-US" altLang="ko-KR" dirty="0"/>
          </a:p>
          <a:p>
            <a:pPr lvl="1"/>
            <a:r>
              <a:rPr lang="ko-KR" altLang="en-US" dirty="0" smtClean="0"/>
              <a:t>안드로이드의 새로운 기능을 추가하고자 할 경우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기존 </a:t>
            </a:r>
            <a:r>
              <a:rPr lang="en-US" altLang="ko-KR" dirty="0" smtClean="0"/>
              <a:t>C/C++ </a:t>
            </a:r>
            <a:r>
              <a:rPr lang="ko-KR" altLang="en-US" dirty="0" smtClean="0"/>
              <a:t>코드의 재활용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새로운 서비스 추가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(ex </a:t>
            </a:r>
            <a:r>
              <a:rPr lang="ko-KR" altLang="en-US" dirty="0" smtClean="0"/>
              <a:t>리눅스 디바이스 드라이버 프로그래밍</a:t>
            </a:r>
            <a:r>
              <a:rPr lang="en-US" altLang="ko-KR" dirty="0" smtClean="0"/>
              <a:t>)</a:t>
            </a:r>
          </a:p>
          <a:p>
            <a:pPr lvl="2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792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JNI</a:t>
            </a:r>
            <a:r>
              <a:rPr lang="ko-KR" altLang="en-US" dirty="0"/>
              <a:t>의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672"/>
            <a:ext cx="8409398" cy="4641492"/>
          </a:xfrm>
        </p:spPr>
        <p:txBody>
          <a:bodyPr/>
          <a:lstStyle/>
          <a:p>
            <a:r>
              <a:rPr lang="en-US" altLang="ko-KR" dirty="0" smtClean="0"/>
              <a:t>JNI</a:t>
            </a:r>
            <a:r>
              <a:rPr lang="ko-KR" altLang="en-US" dirty="0" smtClean="0"/>
              <a:t>를 사용해야 하는 경우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속도 문제가 있는 계산 루틴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자바가 </a:t>
            </a:r>
            <a:r>
              <a:rPr lang="en-US" altLang="ko-KR" dirty="0" smtClean="0"/>
              <a:t>Native Code(</a:t>
            </a:r>
            <a:r>
              <a:rPr lang="ko-KR" altLang="en-US" dirty="0" smtClean="0"/>
              <a:t>플랫폼에 종속적인 기계어 코드</a:t>
            </a:r>
            <a:r>
              <a:rPr lang="en-US" altLang="ko-KR" dirty="0" smtClean="0"/>
              <a:t>)</a:t>
            </a:r>
            <a:r>
              <a:rPr lang="ko-KR" altLang="en-US" dirty="0" smtClean="0"/>
              <a:t>에 비해 느림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아주 빠른 처리가 요구되는 대량의 계산 작업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실시간</a:t>
            </a:r>
            <a:r>
              <a:rPr lang="en-US" altLang="ko-KR" dirty="0" smtClean="0"/>
              <a:t>(real time) </a:t>
            </a:r>
            <a:r>
              <a:rPr lang="ko-KR" altLang="en-US" dirty="0" smtClean="0"/>
              <a:t>처리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자바에서 하드웨어를 제어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특수한 목적으로 제작된 하드웨어를 제어 할 수 없음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자바에서는 동적으로 어드레스를 할당하기 때문에 특정번지를 할 당할 수 없음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자바에서 지원되지 않는 특정 운영체제 서비스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자바의 클래스 라이브러리는 방대하고 다양한 서비스를 제공하지만</a:t>
            </a:r>
            <a:r>
              <a:rPr lang="en-US" altLang="ko-KR" dirty="0" smtClean="0"/>
              <a:t>,  </a:t>
            </a:r>
            <a:r>
              <a:rPr lang="ko-KR" altLang="en-US" dirty="0" smtClean="0"/>
              <a:t>특정 플랫폼에서 제공하는 고유의 서비스의 기능을 모두 포함할 수는 없다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특히</a:t>
            </a:r>
            <a:r>
              <a:rPr lang="en-US" altLang="ko-KR" dirty="0" smtClean="0"/>
              <a:t>, </a:t>
            </a:r>
            <a:r>
              <a:rPr lang="ko-KR" altLang="en-US" dirty="0" smtClean="0"/>
              <a:t>특수한 목적으로 제작된 하드웨어를 자바에서 제어해야 할 필요가 있다고 한다면 자바만으로 해결하기는 힘들다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플랫폼에 따라 제공되는 서비스 이용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기존의 프로그램</a:t>
            </a:r>
            <a:r>
              <a:rPr lang="en-US" altLang="ko-KR" dirty="0" smtClean="0"/>
              <a:t>(C/C++)</a:t>
            </a:r>
            <a:r>
              <a:rPr lang="ko-KR" altLang="en-US" dirty="0" smtClean="0"/>
              <a:t>에서 자바가 제공하는 서비스를 이용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기존에 작성된 프로그램이나 기존의 시스템과의 연계 문제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032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NDK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84672"/>
            <a:ext cx="8347753" cy="4641492"/>
          </a:xfrm>
        </p:spPr>
        <p:txBody>
          <a:bodyPr/>
          <a:lstStyle/>
          <a:p>
            <a:r>
              <a:rPr lang="en-US" altLang="ko-KR" dirty="0" smtClean="0"/>
              <a:t>NDK(Native Development Kit)?</a:t>
            </a:r>
          </a:p>
          <a:p>
            <a:pPr lvl="1"/>
            <a:r>
              <a:rPr lang="ko-KR" altLang="en-US" dirty="0" smtClean="0"/>
              <a:t>안드로이드 애플리케이션에서 네이티브 코드</a:t>
            </a:r>
            <a:r>
              <a:rPr lang="en-US" altLang="ko-KR" dirty="0" smtClean="0"/>
              <a:t>(C/C++)</a:t>
            </a:r>
            <a:r>
              <a:rPr lang="ko-KR" altLang="en-US" dirty="0" smtClean="0"/>
              <a:t>를 사용하는 모듈 등을 추가하기 위해 개발자에게 제공되는 툴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NDK</a:t>
            </a:r>
            <a:r>
              <a:rPr lang="ko-KR" altLang="en-US" dirty="0" smtClean="0"/>
              <a:t>에서 제공되는 것들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C/C++ </a:t>
            </a:r>
            <a:r>
              <a:rPr lang="ko-KR" altLang="en-US" dirty="0" smtClean="0"/>
              <a:t>소스 코드로부터 네이티브 라이브러리를 생성하기 위한 각종 툴 및 빌드 파일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네이티브 라이브러리를 안드로이드 배포용 패키지 파일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apk</a:t>
            </a:r>
            <a:r>
              <a:rPr lang="en-US" altLang="ko-KR" dirty="0" smtClean="0"/>
              <a:t>)</a:t>
            </a:r>
            <a:r>
              <a:rPr lang="ko-KR" altLang="en-US" dirty="0" smtClean="0"/>
              <a:t>에 삽입하기 위한 방법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안드로이드 </a:t>
            </a:r>
            <a:r>
              <a:rPr lang="en-US" altLang="ko-KR" dirty="0" smtClean="0"/>
              <a:t>SDK</a:t>
            </a:r>
            <a:r>
              <a:rPr lang="ko-KR" altLang="en-US" dirty="0" smtClean="0"/>
              <a:t>를 지원하기 위한 시스템 헤더 및 라이브러리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문서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샘플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예제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977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NDK</a:t>
            </a:r>
          </a:p>
          <a:p>
            <a:pPr lvl="1"/>
            <a:r>
              <a:rPr lang="en-US" altLang="ko-KR" dirty="0" smtClean="0"/>
              <a:t>Linux, OS X, Windows </a:t>
            </a:r>
            <a:r>
              <a:rPr lang="ko-KR" altLang="en-US" dirty="0" smtClean="0"/>
              <a:t>플랫폼 상에서 </a:t>
            </a:r>
            <a:r>
              <a:rPr lang="en-US" altLang="ko-KR" dirty="0" smtClean="0"/>
              <a:t>native ARM binary</a:t>
            </a:r>
            <a:r>
              <a:rPr lang="ko-KR" altLang="en-US" dirty="0" smtClean="0"/>
              <a:t>를 생성 할 수 있는 </a:t>
            </a:r>
            <a:r>
              <a:rPr lang="en-US" altLang="ko-KR" dirty="0" smtClean="0"/>
              <a:t>cross-</a:t>
            </a:r>
            <a:r>
              <a:rPr lang="en-US" altLang="ko-KR" dirty="0" err="1" smtClean="0"/>
              <a:t>toolchain</a:t>
            </a:r>
            <a:r>
              <a:rPr lang="en-US" altLang="ko-KR" dirty="0" smtClean="0"/>
              <a:t> </a:t>
            </a:r>
            <a:r>
              <a:rPr lang="ko-KR" altLang="en-US" dirty="0" smtClean="0"/>
              <a:t>세트</a:t>
            </a:r>
            <a:r>
              <a:rPr lang="en-US" altLang="ko-KR" dirty="0" smtClean="0"/>
              <a:t>(</a:t>
            </a:r>
            <a:r>
              <a:rPr lang="ko-KR" altLang="en-US" dirty="0" smtClean="0"/>
              <a:t>컴파일러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링커</a:t>
            </a:r>
            <a:r>
              <a:rPr lang="en-US" altLang="ko-KR" dirty="0" smtClean="0"/>
              <a:t>)</a:t>
            </a:r>
            <a:r>
              <a:rPr lang="ko-KR" altLang="en-US" dirty="0" smtClean="0"/>
              <a:t>가 제공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Windows</a:t>
            </a:r>
            <a:r>
              <a:rPr lang="ko-KR" altLang="en-US" dirty="0" smtClean="0"/>
              <a:t>에서는 </a:t>
            </a:r>
            <a:r>
              <a:rPr lang="en-US" altLang="ko-KR" dirty="0" smtClean="0"/>
              <a:t>Cygwin</a:t>
            </a:r>
            <a:r>
              <a:rPr lang="ko-KR" altLang="en-US" dirty="0" smtClean="0"/>
              <a:t>을 설치하여 개발환경을 구축</a:t>
            </a:r>
            <a:r>
              <a:rPr lang="ko-KR" altLang="en-US" dirty="0"/>
              <a:t>함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Cygwin</a:t>
            </a:r>
          </a:p>
          <a:p>
            <a:pPr lvl="2"/>
            <a:r>
              <a:rPr lang="en-US" altLang="ko-KR" dirty="0" smtClean="0"/>
              <a:t>Unix</a:t>
            </a:r>
            <a:r>
              <a:rPr lang="ko-KR" altLang="en-US" dirty="0" smtClean="0"/>
              <a:t>계열 프로그램</a:t>
            </a:r>
            <a:r>
              <a:rPr lang="en-US" altLang="ko-KR" dirty="0" smtClean="0"/>
              <a:t>/</a:t>
            </a:r>
            <a:r>
              <a:rPr lang="ko-KR" altLang="en-US" dirty="0" smtClean="0"/>
              <a:t>유틸리티를</a:t>
            </a:r>
            <a:r>
              <a:rPr lang="en-US" altLang="ko-KR" dirty="0" smtClean="0"/>
              <a:t>  Windows</a:t>
            </a:r>
            <a:r>
              <a:rPr lang="ko-KR" altLang="en-US" dirty="0" smtClean="0"/>
              <a:t>에서 사용할 수 있도록 하는 커맨드 라인 인터페이스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시그윈을 </a:t>
            </a:r>
            <a:r>
              <a:rPr lang="en-US" altLang="ko-KR" dirty="0" smtClean="0"/>
              <a:t>Windows</a:t>
            </a:r>
            <a:r>
              <a:rPr lang="ko-KR" altLang="en-US" dirty="0" smtClean="0"/>
              <a:t>에 설치하면 </a:t>
            </a:r>
            <a:r>
              <a:rPr lang="en-US" altLang="ko-KR" dirty="0" err="1" smtClean="0"/>
              <a:t>grep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diff </a:t>
            </a:r>
            <a:r>
              <a:rPr lang="ko-KR" altLang="en-US" dirty="0" smtClean="0"/>
              <a:t>등</a:t>
            </a:r>
            <a:r>
              <a:rPr lang="en-US" altLang="ko-KR" dirty="0" smtClean="0"/>
              <a:t> </a:t>
            </a:r>
            <a:r>
              <a:rPr lang="ko-KR" altLang="en-US" dirty="0" smtClean="0"/>
              <a:t>리눅스</a:t>
            </a:r>
            <a:r>
              <a:rPr lang="en-US" altLang="ko-KR" dirty="0" smtClean="0"/>
              <a:t>/</a:t>
            </a:r>
            <a:r>
              <a:rPr lang="ko-KR" altLang="en-US" dirty="0" smtClean="0"/>
              <a:t>유닉스의 유명한 명령어들을 거의 모두 사용할 수 있음</a:t>
            </a:r>
            <a:endParaRPr lang="en-US" altLang="ko-KR" dirty="0" smtClean="0"/>
          </a:p>
          <a:p>
            <a:pPr lvl="2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82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Development Tools</a:t>
            </a:r>
          </a:p>
          <a:p>
            <a:pPr lvl="1"/>
            <a:r>
              <a:rPr lang="en-US" altLang="ko-KR" dirty="0" err="1"/>
              <a:t>libc</a:t>
            </a:r>
            <a:r>
              <a:rPr lang="en-US" altLang="ko-KR" dirty="0"/>
              <a:t> (C library) headers</a:t>
            </a:r>
          </a:p>
          <a:p>
            <a:pPr lvl="1"/>
            <a:r>
              <a:rPr lang="en-US" altLang="ko-KR" dirty="0" err="1"/>
              <a:t>libm</a:t>
            </a:r>
            <a:r>
              <a:rPr lang="en-US" altLang="ko-KR" dirty="0"/>
              <a:t> (math library) headers</a:t>
            </a:r>
          </a:p>
          <a:p>
            <a:pPr lvl="1"/>
            <a:r>
              <a:rPr lang="en-US" altLang="ko-KR" dirty="0"/>
              <a:t>JNI interface headers</a:t>
            </a:r>
          </a:p>
          <a:p>
            <a:pPr lvl="1"/>
            <a:r>
              <a:rPr lang="en-US" altLang="ko-KR" dirty="0" err="1"/>
              <a:t>libz</a:t>
            </a:r>
            <a:r>
              <a:rPr lang="en-US" altLang="ko-KR" dirty="0"/>
              <a:t> (</a:t>
            </a:r>
            <a:r>
              <a:rPr lang="en-US" altLang="ko-KR" dirty="0" err="1"/>
              <a:t>Zlib</a:t>
            </a:r>
            <a:r>
              <a:rPr lang="en-US" altLang="ko-KR" dirty="0"/>
              <a:t> compression) headers</a:t>
            </a:r>
          </a:p>
          <a:p>
            <a:pPr lvl="1"/>
            <a:r>
              <a:rPr lang="en-US" altLang="ko-KR" dirty="0" err="1"/>
              <a:t>liblog</a:t>
            </a:r>
            <a:r>
              <a:rPr lang="en-US" altLang="ko-KR" dirty="0"/>
              <a:t> (Android logging) header</a:t>
            </a:r>
          </a:p>
          <a:p>
            <a:pPr lvl="1"/>
            <a:r>
              <a:rPr lang="en-US" altLang="ko-KR" dirty="0"/>
              <a:t>OpenGL ES 1.1 and OpenGL ES 2.0 (3D graphics libraries) headers</a:t>
            </a:r>
          </a:p>
          <a:p>
            <a:pPr lvl="1"/>
            <a:r>
              <a:rPr lang="en-US" altLang="ko-KR" dirty="0" err="1"/>
              <a:t>libjnigraphics</a:t>
            </a:r>
            <a:r>
              <a:rPr lang="en-US" altLang="ko-KR" dirty="0"/>
              <a:t> (Pixel buffer access) header (for Android 2.2 and above).</a:t>
            </a:r>
          </a:p>
          <a:p>
            <a:pPr lvl="1"/>
            <a:r>
              <a:rPr lang="en-US" altLang="ko-KR" dirty="0"/>
              <a:t>A </a:t>
            </a:r>
            <a:r>
              <a:rPr lang="en-US" altLang="ko-KR" dirty="0" smtClean="0"/>
              <a:t>minimal </a:t>
            </a:r>
            <a:r>
              <a:rPr lang="en-US" altLang="ko-KR" dirty="0"/>
              <a:t>set of headers for C++ support</a:t>
            </a:r>
          </a:p>
          <a:p>
            <a:pPr lvl="1"/>
            <a:r>
              <a:rPr lang="en-US" altLang="ko-KR" dirty="0" err="1"/>
              <a:t>OpenSL</a:t>
            </a:r>
            <a:r>
              <a:rPr lang="en-US" altLang="ko-KR" dirty="0"/>
              <a:t> ES native audio libraries</a:t>
            </a:r>
          </a:p>
          <a:p>
            <a:pPr lvl="1"/>
            <a:r>
              <a:rPr lang="en-US" altLang="ko-KR" dirty="0"/>
              <a:t>Android native application APIS</a:t>
            </a:r>
          </a:p>
          <a:p>
            <a:pPr lvl="1"/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74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시스템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소프트웨어 요구사항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The Android SDK</a:t>
            </a:r>
          </a:p>
          <a:p>
            <a:pPr lvl="2"/>
            <a:r>
              <a:rPr lang="ko-KR" altLang="en-US" dirty="0" smtClean="0"/>
              <a:t>완전한 </a:t>
            </a:r>
            <a:r>
              <a:rPr lang="en-US" altLang="ko-KR" dirty="0" smtClean="0"/>
              <a:t>Android SDK</a:t>
            </a:r>
            <a:r>
              <a:rPr lang="ko-KR" altLang="en-US" dirty="0" smtClean="0"/>
              <a:t>의 설치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pPr lvl="1"/>
            <a:r>
              <a:rPr lang="en-US" altLang="ko-KR" dirty="0" smtClean="0"/>
              <a:t>Supported operating system</a:t>
            </a:r>
          </a:p>
          <a:p>
            <a:pPr lvl="2"/>
            <a:r>
              <a:rPr lang="en-US" altLang="ko-KR" dirty="0" smtClean="0"/>
              <a:t>Windows XP(32-bit) 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Vista(32 bit or 64 bit)</a:t>
            </a:r>
          </a:p>
          <a:p>
            <a:pPr lvl="2"/>
            <a:r>
              <a:rPr lang="en-US" altLang="ko-KR" dirty="0" smtClean="0"/>
              <a:t>Mac OS X 10.4.8 </a:t>
            </a:r>
            <a:r>
              <a:rPr lang="ko-KR" altLang="en-US" dirty="0" smtClean="0"/>
              <a:t>또는 이후 버전</a:t>
            </a:r>
            <a:r>
              <a:rPr lang="en-US" altLang="ko-KR" dirty="0" smtClean="0"/>
              <a:t>(x86)</a:t>
            </a:r>
          </a:p>
          <a:p>
            <a:pPr lvl="2"/>
            <a:r>
              <a:rPr lang="en-US" altLang="ko-KR" dirty="0" smtClean="0"/>
              <a:t>Linux(32bit or 64bit)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 smtClean="0"/>
              <a:t>Required Development tools</a:t>
            </a:r>
          </a:p>
          <a:p>
            <a:pPr lvl="2"/>
            <a:r>
              <a:rPr lang="ko-KR" altLang="en-US" dirty="0" smtClean="0"/>
              <a:t>모든 플랫폼에서 </a:t>
            </a:r>
            <a:r>
              <a:rPr lang="en-US" altLang="ko-KR" dirty="0" smtClean="0"/>
              <a:t>GNU make 3.81 </a:t>
            </a:r>
            <a:r>
              <a:rPr lang="ko-KR" altLang="en-US" dirty="0" smtClean="0"/>
              <a:t>또는 이후 버전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GNU make </a:t>
            </a:r>
            <a:r>
              <a:rPr lang="ko-KR" altLang="en-US" dirty="0" smtClean="0"/>
              <a:t>이전 버전은 동작 가능하지만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테스트되지 않음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Windows</a:t>
            </a:r>
            <a:r>
              <a:rPr lang="ko-KR" altLang="en-US" dirty="0" smtClean="0"/>
              <a:t>에서는 최신 </a:t>
            </a:r>
            <a:r>
              <a:rPr lang="en-US" altLang="ko-KR" dirty="0" smtClean="0"/>
              <a:t>Cygwin</a:t>
            </a:r>
            <a:r>
              <a:rPr lang="ko-KR" altLang="en-US" dirty="0" smtClean="0"/>
              <a:t>이 필요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88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Android NDK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Common</a:t>
            </a:r>
          </a:p>
          <a:p>
            <a:pPr lvl="1"/>
            <a:r>
              <a:rPr lang="en-US" altLang="ko-KR" dirty="0"/>
              <a:t>Eclipse </a:t>
            </a:r>
            <a:r>
              <a:rPr lang="en-US" altLang="ko-KR" sz="1400" dirty="0"/>
              <a:t>(</a:t>
            </a:r>
            <a:r>
              <a:rPr lang="en-US" altLang="ko-KR" sz="1400" dirty="0">
                <a:hlinkClick r:id="rId3"/>
              </a:rPr>
              <a:t>http://www.eclipse.org/</a:t>
            </a:r>
            <a:r>
              <a:rPr lang="en-US" altLang="ko-KR" sz="1400" dirty="0"/>
              <a:t>) </a:t>
            </a:r>
          </a:p>
          <a:p>
            <a:pPr lvl="1"/>
            <a:r>
              <a:rPr lang="en-US" altLang="ko-KR" dirty="0"/>
              <a:t>Java </a:t>
            </a:r>
            <a:r>
              <a:rPr lang="en-US" altLang="ko-KR" dirty="0" smtClean="0"/>
              <a:t>SDK </a:t>
            </a:r>
            <a:r>
              <a:rPr lang="ko-KR" altLang="en-US" dirty="0" smtClean="0"/>
              <a:t> </a:t>
            </a:r>
            <a:r>
              <a:rPr lang="en-US" altLang="ko-KR" sz="1400" dirty="0" smtClean="0"/>
              <a:t>(</a:t>
            </a:r>
            <a:r>
              <a:rPr lang="en-US" altLang="ko-KR" sz="1400" dirty="0">
                <a:hlinkClick r:id="rId4"/>
              </a:rPr>
              <a:t>http://www.oracle.com/technetwork/java/javase/downloads/index.html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Windows</a:t>
            </a:r>
          </a:p>
          <a:p>
            <a:pPr lvl="1"/>
            <a:r>
              <a:rPr lang="en-US" altLang="ko-KR" dirty="0" smtClean="0"/>
              <a:t>NDK</a:t>
            </a:r>
            <a:r>
              <a:rPr lang="ko-KR" altLang="en-US" dirty="0" smtClean="0"/>
              <a:t> </a:t>
            </a:r>
            <a:r>
              <a:rPr lang="en-US" altLang="ko-KR" dirty="0"/>
              <a:t>(</a:t>
            </a:r>
            <a:r>
              <a:rPr lang="ko-KR" altLang="en-US" dirty="0"/>
              <a:t> </a:t>
            </a:r>
            <a:r>
              <a:rPr lang="en-US" altLang="ko-KR" dirty="0"/>
              <a:t>Native Development kit )</a:t>
            </a:r>
          </a:p>
          <a:p>
            <a:pPr lvl="2"/>
            <a:r>
              <a:rPr lang="en-US" altLang="ko-KR" dirty="0"/>
              <a:t>Android NDK </a:t>
            </a:r>
            <a:r>
              <a:rPr lang="ko-KR" altLang="en-US" dirty="0"/>
              <a:t> </a:t>
            </a:r>
            <a:r>
              <a:rPr lang="en-US" altLang="ko-KR" sz="1400" dirty="0" smtClean="0"/>
              <a:t>( </a:t>
            </a:r>
            <a:r>
              <a:rPr lang="en-US" altLang="ko-KR" sz="1400" dirty="0" smtClean="0">
                <a:hlinkClick r:id="rId5"/>
              </a:rPr>
              <a:t>http</a:t>
            </a:r>
            <a:r>
              <a:rPr lang="en-US" altLang="ko-KR" sz="1400" dirty="0">
                <a:hlinkClick r:id="rId5"/>
              </a:rPr>
              <a:t>://</a:t>
            </a:r>
            <a:r>
              <a:rPr lang="en-US" altLang="ko-KR" sz="1400" dirty="0" smtClean="0">
                <a:hlinkClick r:id="rId5"/>
              </a:rPr>
              <a:t>developer.android.com/sdk/ndk/index.html</a:t>
            </a:r>
            <a:r>
              <a:rPr lang="en-US" altLang="ko-KR" sz="1400" dirty="0" smtClean="0"/>
              <a:t> )</a:t>
            </a:r>
          </a:p>
          <a:p>
            <a:pPr lvl="1"/>
            <a:r>
              <a:rPr lang="en-US" altLang="ko-KR" dirty="0" smtClean="0"/>
              <a:t>Cygwin</a:t>
            </a:r>
            <a:r>
              <a:rPr lang="ko-KR" altLang="en-US" dirty="0" smtClean="0"/>
              <a:t> </a:t>
            </a:r>
            <a:r>
              <a:rPr lang="en-US" altLang="ko-KR" dirty="0" smtClean="0"/>
              <a:t>( </a:t>
            </a:r>
            <a:r>
              <a:rPr lang="en-US" altLang="ko-KR" sz="1400" u="sng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Linux</a:t>
            </a:r>
            <a:r>
              <a:rPr lang="en-US" altLang="ko-KR" sz="14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 feeling - on </a:t>
            </a:r>
            <a:r>
              <a:rPr lang="en-US" altLang="ko-KR" sz="14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Windows </a:t>
            </a:r>
            <a:r>
              <a:rPr lang="en-US" altLang="ko-KR" dirty="0" smtClean="0"/>
              <a:t>)</a:t>
            </a:r>
          </a:p>
          <a:p>
            <a:pPr lvl="2"/>
            <a:r>
              <a:rPr lang="en-US" altLang="ko-KR" dirty="0" smtClean="0"/>
              <a:t>Cygwin (</a:t>
            </a:r>
            <a:r>
              <a:rPr lang="ko-KR" altLang="en-US" dirty="0" smtClean="0"/>
              <a:t> </a:t>
            </a:r>
            <a:r>
              <a:rPr lang="en-US" altLang="ko-KR" sz="1400" u="sng" dirty="0">
                <a:hlinkClick r:id="rId6"/>
              </a:rPr>
              <a:t>http://www.cygwin.com</a:t>
            </a:r>
            <a:r>
              <a:rPr lang="en-US" altLang="ko-KR" sz="1400" dirty="0"/>
              <a:t> </a:t>
            </a:r>
            <a:r>
              <a:rPr lang="en-US" altLang="ko-KR" sz="1400" dirty="0" smtClean="0"/>
              <a:t>)</a:t>
            </a:r>
            <a:endParaRPr lang="en-US" altLang="ko-KR" sz="1400" dirty="0"/>
          </a:p>
          <a:p>
            <a:pPr marL="914400" lvl="2" indent="0">
              <a:buNone/>
            </a:pPr>
            <a:endParaRPr lang="en-US" altLang="ko-KR" sz="1400" dirty="0" smtClean="0"/>
          </a:p>
          <a:p>
            <a:r>
              <a:rPr lang="en-US" altLang="ko-KR" dirty="0" smtClean="0"/>
              <a:t>Eclipse Plugin</a:t>
            </a:r>
          </a:p>
          <a:p>
            <a:pPr lvl="1"/>
            <a:r>
              <a:rPr lang="en-US" altLang="ko-KR" dirty="0" smtClean="0"/>
              <a:t>CDT ( C/C++ Development Tools ) (</a:t>
            </a:r>
            <a:r>
              <a:rPr lang="ko-KR" altLang="en-US" dirty="0" smtClean="0"/>
              <a:t>현 이클립스 버전은 </a:t>
            </a:r>
            <a:r>
              <a:rPr lang="en-US" altLang="ko-KR" dirty="0" smtClean="0"/>
              <a:t>Default</a:t>
            </a:r>
            <a:r>
              <a:rPr lang="ko-KR" altLang="en-US" dirty="0" smtClean="0"/>
              <a:t>로 설치 되어있음</a:t>
            </a:r>
            <a:r>
              <a:rPr lang="en-US" altLang="ko-KR" dirty="0" smtClean="0"/>
              <a:t>.)</a:t>
            </a:r>
          </a:p>
          <a:p>
            <a:endParaRPr lang="en-US" altLang="ko-KR" sz="1400" dirty="0"/>
          </a:p>
          <a:p>
            <a:pPr lvl="2"/>
            <a:endParaRPr lang="en-US" altLang="ko-KR" sz="1400" dirty="0"/>
          </a:p>
          <a:p>
            <a:pPr lvl="2"/>
            <a:endParaRPr lang="en-US" altLang="ko-KR" dirty="0"/>
          </a:p>
          <a:p>
            <a:pPr lvl="1"/>
            <a:endParaRPr lang="en-US" altLang="ko-KR" sz="1400" dirty="0"/>
          </a:p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07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Etc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NDK-build </a:t>
            </a:r>
            <a:r>
              <a:rPr lang="ko-KR" altLang="en-US" dirty="0" smtClean="0"/>
              <a:t>명령어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신규 빌드 작업 </a:t>
            </a:r>
            <a:r>
              <a:rPr lang="en-US" altLang="ko-KR" dirty="0" smtClean="0"/>
              <a:t> :  </a:t>
            </a:r>
            <a:r>
              <a:rPr lang="en-US" altLang="ko-KR" dirty="0" err="1" smtClean="0">
                <a:solidFill>
                  <a:srgbClr val="0066FF"/>
                </a:solidFill>
              </a:rPr>
              <a:t>ndk</a:t>
            </a:r>
            <a:r>
              <a:rPr lang="en-US" altLang="ko-KR" dirty="0" smtClean="0">
                <a:solidFill>
                  <a:srgbClr val="0066FF"/>
                </a:solidFill>
              </a:rPr>
              <a:t>-build</a:t>
            </a:r>
          </a:p>
          <a:p>
            <a:pPr lvl="1"/>
            <a:r>
              <a:rPr lang="ko-KR" altLang="en-US" dirty="0" smtClean="0"/>
              <a:t>신규 빌드 및 빌드 명령어 출력 </a:t>
            </a:r>
            <a:r>
              <a:rPr lang="en-US" altLang="ko-KR" dirty="0" smtClean="0"/>
              <a:t>: </a:t>
            </a:r>
            <a:r>
              <a:rPr lang="en-US" altLang="ko-KR" dirty="0" err="1" smtClean="0">
                <a:solidFill>
                  <a:srgbClr val="0066FF"/>
                </a:solidFill>
              </a:rPr>
              <a:t>ndk</a:t>
            </a:r>
            <a:r>
              <a:rPr lang="en-US" altLang="ko-KR" dirty="0" smtClean="0">
                <a:solidFill>
                  <a:srgbClr val="0066FF"/>
                </a:solidFill>
              </a:rPr>
              <a:t>-build V=1</a:t>
            </a:r>
          </a:p>
          <a:p>
            <a:pPr lvl="1"/>
            <a:r>
              <a:rPr lang="ko-KR" altLang="en-US" dirty="0" smtClean="0"/>
              <a:t>이전 바이너리 파일 삭제 </a:t>
            </a:r>
            <a:r>
              <a:rPr lang="en-US" altLang="ko-KR" dirty="0" smtClean="0"/>
              <a:t>: </a:t>
            </a:r>
            <a:r>
              <a:rPr lang="en-US" altLang="ko-KR" dirty="0" err="1" smtClean="0">
                <a:solidFill>
                  <a:srgbClr val="0066FF"/>
                </a:solidFill>
              </a:rPr>
              <a:t>ndk</a:t>
            </a:r>
            <a:r>
              <a:rPr lang="en-US" altLang="ko-KR" dirty="0" smtClean="0">
                <a:solidFill>
                  <a:srgbClr val="0066FF"/>
                </a:solidFill>
              </a:rPr>
              <a:t>-build clean</a:t>
            </a:r>
          </a:p>
          <a:p>
            <a:pPr lvl="1"/>
            <a:r>
              <a:rPr lang="ko-KR" altLang="en-US" dirty="0" smtClean="0"/>
              <a:t>강제 리빌드 작업 </a:t>
            </a:r>
            <a:r>
              <a:rPr lang="en-US" altLang="ko-KR" dirty="0" smtClean="0"/>
              <a:t>: </a:t>
            </a:r>
            <a:r>
              <a:rPr lang="en-US" altLang="ko-KR" dirty="0" err="1" smtClean="0">
                <a:solidFill>
                  <a:srgbClr val="0066FF"/>
                </a:solidFill>
              </a:rPr>
              <a:t>ndk</a:t>
            </a:r>
            <a:r>
              <a:rPr lang="en-US" altLang="ko-KR" dirty="0" smtClean="0">
                <a:solidFill>
                  <a:srgbClr val="0066FF"/>
                </a:solidFill>
              </a:rPr>
              <a:t>-build –B</a:t>
            </a:r>
          </a:p>
          <a:p>
            <a:pPr lvl="1"/>
            <a:r>
              <a:rPr lang="ko-KR" altLang="en-US" dirty="0" smtClean="0"/>
              <a:t>강제 리빌드 및 명령어 출력 </a:t>
            </a:r>
            <a:r>
              <a:rPr lang="en-US" altLang="ko-KR" dirty="0" smtClean="0"/>
              <a:t>: </a:t>
            </a:r>
            <a:r>
              <a:rPr lang="en-US" altLang="ko-KR" dirty="0" err="1" smtClean="0">
                <a:solidFill>
                  <a:srgbClr val="0066FF"/>
                </a:solidFill>
              </a:rPr>
              <a:t>ndk</a:t>
            </a:r>
            <a:r>
              <a:rPr lang="en-US" altLang="ko-KR" dirty="0" smtClean="0">
                <a:solidFill>
                  <a:srgbClr val="0066FF"/>
                </a:solidFill>
              </a:rPr>
              <a:t>-build –B V=1</a:t>
            </a:r>
          </a:p>
          <a:p>
            <a:pPr lvl="1"/>
            <a:r>
              <a:rPr lang="ko-KR" altLang="en-US" dirty="0" smtClean="0"/>
              <a:t>빌드 작업과 </a:t>
            </a:r>
            <a:r>
              <a:rPr lang="en-US" altLang="ko-KR" dirty="0" smtClean="0"/>
              <a:t>NDK </a:t>
            </a:r>
            <a:r>
              <a:rPr lang="ko-KR" altLang="en-US" dirty="0" smtClean="0"/>
              <a:t>로그 메시지 출력 </a:t>
            </a:r>
            <a:r>
              <a:rPr lang="en-US" altLang="ko-KR" dirty="0" smtClean="0"/>
              <a:t>: </a:t>
            </a:r>
            <a:r>
              <a:rPr lang="en-US" altLang="ko-KR" dirty="0" err="1" smtClean="0">
                <a:solidFill>
                  <a:srgbClr val="0066FF"/>
                </a:solidFill>
              </a:rPr>
              <a:t>ndk</a:t>
            </a:r>
            <a:r>
              <a:rPr lang="en-US" altLang="ko-KR" dirty="0" smtClean="0">
                <a:solidFill>
                  <a:srgbClr val="0066FF"/>
                </a:solidFill>
              </a:rPr>
              <a:t>-build NDK_LOG =1</a:t>
            </a:r>
            <a:endParaRPr lang="ko-KR" altLang="en-US" dirty="0">
              <a:solidFill>
                <a:srgbClr val="0066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79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 smtClean="0"/>
              <a:t>Install Android NDK</a:t>
            </a:r>
            <a:endParaRPr lang="ko-KR" altLang="en-US" sz="4400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JNI with NDK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326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Install Android NDK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SDK Manager </a:t>
            </a:r>
            <a:r>
              <a:rPr lang="ko-KR" altLang="en-US" dirty="0" smtClean="0"/>
              <a:t>실행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  <p:pic>
        <p:nvPicPr>
          <p:cNvPr id="3074" name="Picture 2" descr="C:\Users\GIBBS\Downloads\asasd\1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03" y="2078368"/>
            <a:ext cx="6952639" cy="4267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4"/>
          <p:cNvSpPr/>
          <p:nvPr/>
        </p:nvSpPr>
        <p:spPr>
          <a:xfrm>
            <a:off x="4349035" y="4897799"/>
            <a:ext cx="3048051" cy="3107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953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GIBBS\Downloads\asasd\1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21" y="1955279"/>
            <a:ext cx="7859239" cy="4448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Install Android NDK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[SDK Tools]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[Android NDK] </a:t>
            </a:r>
            <a:r>
              <a:rPr lang="ko-KR" altLang="en-US" dirty="0" smtClean="0"/>
              <a:t>선택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8" name="Rectangle 4"/>
          <p:cNvSpPr/>
          <p:nvPr/>
        </p:nvSpPr>
        <p:spPr>
          <a:xfrm>
            <a:off x="5065311" y="2712991"/>
            <a:ext cx="721340" cy="1572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Rectangle 4"/>
          <p:cNvSpPr/>
          <p:nvPr/>
        </p:nvSpPr>
        <p:spPr>
          <a:xfrm>
            <a:off x="2722650" y="5321157"/>
            <a:ext cx="5522190" cy="1241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Rectangle 4"/>
          <p:cNvSpPr/>
          <p:nvPr/>
        </p:nvSpPr>
        <p:spPr>
          <a:xfrm>
            <a:off x="7799090" y="6197943"/>
            <a:ext cx="521950" cy="1013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8710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GIBBS\Downloads\asasd\1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464" y="1828800"/>
            <a:ext cx="7773091" cy="475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Install Android NDK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설치가 완료되면 </a:t>
            </a:r>
            <a:r>
              <a:rPr lang="en-US" altLang="ko-KR" dirty="0" smtClean="0"/>
              <a:t>[Finish]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8" name="Rectangle 4"/>
          <p:cNvSpPr/>
          <p:nvPr/>
        </p:nvSpPr>
        <p:spPr>
          <a:xfrm>
            <a:off x="828524" y="4362107"/>
            <a:ext cx="1785136" cy="154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Rectangle 4"/>
          <p:cNvSpPr/>
          <p:nvPr/>
        </p:nvSpPr>
        <p:spPr>
          <a:xfrm>
            <a:off x="7529806" y="6324599"/>
            <a:ext cx="791234" cy="1928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450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GIBBS\Downloads\asasd\1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975" y="2157413"/>
            <a:ext cx="4895850" cy="383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Hello JNI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[Import Sample…]</a:t>
            </a:r>
            <a:r>
              <a:rPr lang="ko-KR" altLang="en-US" dirty="0" smtClean="0"/>
              <a:t>을 이용하여 </a:t>
            </a:r>
            <a:r>
              <a:rPr lang="en-US" altLang="ko-KR" dirty="0" smtClean="0"/>
              <a:t>[</a:t>
            </a:r>
            <a:r>
              <a:rPr lang="en-US" altLang="ko-KR" dirty="0" err="1" smtClean="0"/>
              <a:t>HelloJNI</a:t>
            </a:r>
            <a:r>
              <a:rPr lang="en-US" altLang="ko-KR" dirty="0" smtClean="0"/>
              <a:t> sample]</a:t>
            </a:r>
            <a:r>
              <a:rPr lang="ko-KR" altLang="en-US" dirty="0" smtClean="0"/>
              <a:t>을 실행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11" name="Rectangle 4"/>
          <p:cNvSpPr/>
          <p:nvPr/>
        </p:nvSpPr>
        <p:spPr>
          <a:xfrm>
            <a:off x="4184650" y="3460749"/>
            <a:ext cx="2543175" cy="2179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3273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GIBBS\Downloads\asasd\1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58" y="1841807"/>
            <a:ext cx="8248650" cy="461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Hello JNI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[</a:t>
            </a:r>
            <a:r>
              <a:rPr lang="en-US" altLang="ko-KR" dirty="0" err="1" smtClean="0"/>
              <a:t>Ndk</a:t>
            </a:r>
            <a:r>
              <a:rPr lang="en-US" altLang="ko-KR" dirty="0" smtClean="0"/>
              <a:t>] -&gt; [Hello JNI] </a:t>
            </a:r>
            <a:r>
              <a:rPr lang="ko-KR" altLang="en-US" dirty="0" smtClean="0"/>
              <a:t>를 선택하여 </a:t>
            </a:r>
            <a:r>
              <a:rPr lang="en-US" altLang="ko-KR" dirty="0" smtClean="0"/>
              <a:t>sample </a:t>
            </a:r>
            <a:r>
              <a:rPr lang="ko-KR" altLang="en-US" dirty="0" smtClean="0"/>
              <a:t>코드 생성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99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GIBBS\Downloads\asasd\2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66" y="1993498"/>
            <a:ext cx="4851289" cy="4175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Hello JNI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[</a:t>
            </a:r>
            <a:r>
              <a:rPr lang="en-US" altLang="ko-KR" dirty="0" err="1" smtClean="0"/>
              <a:t>cpp</a:t>
            </a:r>
            <a:r>
              <a:rPr lang="en-US" altLang="ko-KR" dirty="0" smtClean="0"/>
              <a:t>]</a:t>
            </a:r>
            <a:r>
              <a:rPr lang="ko-KR" altLang="en-US" dirty="0" smtClean="0"/>
              <a:t>폴더와 </a:t>
            </a:r>
            <a:r>
              <a:rPr lang="en-US" altLang="ko-KR" dirty="0" smtClean="0"/>
              <a:t>c </a:t>
            </a:r>
            <a:r>
              <a:rPr lang="ko-KR" altLang="en-US" dirty="0" smtClean="0"/>
              <a:t>파일이 생성된걸 볼 수 있음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7" name="Rectangle 4"/>
          <p:cNvSpPr/>
          <p:nvPr/>
        </p:nvSpPr>
        <p:spPr>
          <a:xfrm>
            <a:off x="1849900" y="4293401"/>
            <a:ext cx="3019280" cy="2808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2138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GIBBS\Downloads\asasd\2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949" y="1897040"/>
            <a:ext cx="7067551" cy="463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Hello JNI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코드의 아래쪽 텍스트가 실제 </a:t>
            </a:r>
            <a:r>
              <a:rPr lang="ko-KR" altLang="en-US" dirty="0" err="1" smtClean="0"/>
              <a:t>앱에</a:t>
            </a:r>
            <a:r>
              <a:rPr lang="ko-KR" altLang="en-US" dirty="0" smtClean="0"/>
              <a:t> 생성됨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7" name="Rectangle 4"/>
          <p:cNvSpPr/>
          <p:nvPr/>
        </p:nvSpPr>
        <p:spPr>
          <a:xfrm>
            <a:off x="1529113" y="5943600"/>
            <a:ext cx="5405087" cy="2016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3616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Hello JNI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에뮬레이터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armeabia</a:t>
            </a:r>
            <a:r>
              <a:rPr lang="en-US" altLang="ko-KR" dirty="0" smtClean="0"/>
              <a:t>-~ with Google ~)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22</a:t>
            </a:fld>
            <a:endParaRPr lang="ko-KR" altLang="en-US"/>
          </a:p>
        </p:txBody>
      </p:sp>
      <p:pic>
        <p:nvPicPr>
          <p:cNvPr id="11266" name="Picture 2" descr="C:\Users\GIBBS\Downloads\스크린샷 2016-11-27 오후 10.04.5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2" y="1973805"/>
            <a:ext cx="3982588" cy="4551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 descr="C:\Users\GIBBS\Downloads\스크린샷 2016-11-27 오후 10.05.1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101" y="1973804"/>
            <a:ext cx="4489900" cy="4551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/>
          <p:cNvSpPr/>
          <p:nvPr/>
        </p:nvSpPr>
        <p:spPr>
          <a:xfrm>
            <a:off x="2131394" y="3989506"/>
            <a:ext cx="1348644" cy="3787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Rectangle 4"/>
          <p:cNvSpPr/>
          <p:nvPr/>
        </p:nvSpPr>
        <p:spPr>
          <a:xfrm>
            <a:off x="4829175" y="2654868"/>
            <a:ext cx="2337038" cy="1893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1732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Hello JNI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실행화면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23</a:t>
            </a:fld>
            <a:endParaRPr lang="ko-KR" altLang="en-US"/>
          </a:p>
        </p:txBody>
      </p:sp>
      <p:pic>
        <p:nvPicPr>
          <p:cNvPr id="10242" name="Picture 2" descr="C:\Users\GIBBS\Downloads\2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722" y="1396438"/>
            <a:ext cx="3652269" cy="5127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0965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Hello JNI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Include C++ Support</a:t>
            </a:r>
            <a:r>
              <a:rPr lang="ko-KR" altLang="en-US" dirty="0" smtClean="0"/>
              <a:t>를 체크하고 들어가도 사용 가능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24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2" y="2154239"/>
            <a:ext cx="8067675" cy="397192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882588" y="4215503"/>
            <a:ext cx="1592132" cy="2852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48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Hello JNI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실행화면</a:t>
            </a:r>
            <a:r>
              <a:rPr lang="en-US" altLang="ko-KR" dirty="0" smtClean="0"/>
              <a:t>(Include C++ </a:t>
            </a:r>
            <a:r>
              <a:rPr lang="ko-KR" altLang="en-US" dirty="0" smtClean="0"/>
              <a:t>체크 시 </a:t>
            </a:r>
            <a:r>
              <a:rPr lang="en-US" altLang="ko-KR" dirty="0" smtClean="0"/>
              <a:t>Default </a:t>
            </a:r>
            <a:r>
              <a:rPr lang="ko-KR" altLang="en-US" dirty="0" smtClean="0"/>
              <a:t>화면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25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053" y="1972083"/>
            <a:ext cx="2673499" cy="474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8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26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09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HY강B"/>
        <a:ea typeface="HY강B"/>
        <a:cs typeface=""/>
      </a:majorFont>
      <a:minorFont>
        <a:latin typeface="HY강B"/>
        <a:ea typeface="HY강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47718</TotalTime>
  <Words>1162</Words>
  <Application>Microsoft Office PowerPoint</Application>
  <PresentationFormat>화면 슬라이드 쇼(4:3)</PresentationFormat>
  <Paragraphs>236</Paragraphs>
  <Slides>26</Slides>
  <Notes>25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9" baseType="lpstr">
      <vt:lpstr>Arial Unicode MS</vt:lpstr>
      <vt:lpstr>HY강B</vt:lpstr>
      <vt:lpstr>HY중고딕</vt:lpstr>
      <vt:lpstr>굴림</vt:lpstr>
      <vt:lpstr>맑은 고딕</vt:lpstr>
      <vt:lpstr>Arial</vt:lpstr>
      <vt:lpstr>Calibri</vt:lpstr>
      <vt:lpstr>Century Gothic</vt:lpstr>
      <vt:lpstr>Courier New</vt:lpstr>
      <vt:lpstr>Palatino Linotype</vt:lpstr>
      <vt:lpstr>Executive</vt:lpstr>
      <vt:lpstr>디자인 사용자 지정</vt:lpstr>
      <vt:lpstr>Image</vt:lpstr>
      <vt:lpstr>Android NDK</vt:lpstr>
      <vt:lpstr>안드로이드 플랫폼 구성</vt:lpstr>
      <vt:lpstr>안드로이드 플랫폼 구성</vt:lpstr>
      <vt:lpstr>C/C++와 Java의 연결</vt:lpstr>
      <vt:lpstr>JNI의 개요</vt:lpstr>
      <vt:lpstr>JNI의 개요</vt:lpstr>
      <vt:lpstr>JNI의 개요</vt:lpstr>
      <vt:lpstr>NDK</vt:lpstr>
      <vt:lpstr>NDK</vt:lpstr>
      <vt:lpstr>NDK</vt:lpstr>
      <vt:lpstr>NDK</vt:lpstr>
      <vt:lpstr>Android NDK Setting</vt:lpstr>
      <vt:lpstr>Etc</vt:lpstr>
      <vt:lpstr>Install Android NDK</vt:lpstr>
      <vt:lpstr>Install Android NDK</vt:lpstr>
      <vt:lpstr>Install Android NDK</vt:lpstr>
      <vt:lpstr>Install Android NDK</vt:lpstr>
      <vt:lpstr>Hello JNI</vt:lpstr>
      <vt:lpstr>Hello JNI</vt:lpstr>
      <vt:lpstr>Hello JNI</vt:lpstr>
      <vt:lpstr>Hello JNI</vt:lpstr>
      <vt:lpstr>Hello JNI</vt:lpstr>
      <vt:lpstr>Hello JNI</vt:lpstr>
      <vt:lpstr>Hello JNI</vt:lpstr>
      <vt:lpstr>Hello JNI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정기숙</cp:lastModifiedBy>
  <cp:revision>2213</cp:revision>
  <cp:lastPrinted>2011-04-25T22:15:32Z</cp:lastPrinted>
  <dcterms:created xsi:type="dcterms:W3CDTF">2010-10-12T07:50:15Z</dcterms:created>
  <dcterms:modified xsi:type="dcterms:W3CDTF">2017-11-28T04:53:34Z</dcterms:modified>
</cp:coreProperties>
</file>