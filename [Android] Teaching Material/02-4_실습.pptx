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37"/>
  </p:notesMasterIdLst>
  <p:sldIdLst>
    <p:sldId id="318" r:id="rId2"/>
    <p:sldId id="348" r:id="rId3"/>
    <p:sldId id="349" r:id="rId4"/>
    <p:sldId id="350" r:id="rId5"/>
    <p:sldId id="351" r:id="rId6"/>
    <p:sldId id="354" r:id="rId7"/>
    <p:sldId id="355" r:id="rId8"/>
    <p:sldId id="359" r:id="rId9"/>
    <p:sldId id="362" r:id="rId10"/>
    <p:sldId id="363" r:id="rId11"/>
    <p:sldId id="364" r:id="rId12"/>
    <p:sldId id="366" r:id="rId13"/>
    <p:sldId id="367" r:id="rId14"/>
    <p:sldId id="368" r:id="rId15"/>
    <p:sldId id="369" r:id="rId16"/>
    <p:sldId id="370" r:id="rId17"/>
    <p:sldId id="371" r:id="rId18"/>
    <p:sldId id="376" r:id="rId19"/>
    <p:sldId id="377" r:id="rId20"/>
    <p:sldId id="378" r:id="rId21"/>
    <p:sldId id="379" r:id="rId22"/>
    <p:sldId id="380" r:id="rId23"/>
    <p:sldId id="381" r:id="rId24"/>
    <p:sldId id="385" r:id="rId25"/>
    <p:sldId id="386" r:id="rId26"/>
    <p:sldId id="387" r:id="rId27"/>
    <p:sldId id="388" r:id="rId28"/>
    <p:sldId id="389" r:id="rId29"/>
    <p:sldId id="390" r:id="rId30"/>
    <p:sldId id="391" r:id="rId31"/>
    <p:sldId id="392" r:id="rId32"/>
    <p:sldId id="393" r:id="rId33"/>
    <p:sldId id="394" r:id="rId34"/>
    <p:sldId id="395" r:id="rId35"/>
    <p:sldId id="399" r:id="rId36"/>
  </p:sldIdLst>
  <p:sldSz cx="9144000" cy="6858000" type="screen4x3"/>
  <p:notesSz cx="6800850" cy="98726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10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4CBC"/>
    <a:srgbClr val="005B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19" autoAdjust="0"/>
    <p:restoredTop sz="78515" autoAdjust="0"/>
  </p:normalViewPr>
  <p:slideViewPr>
    <p:cSldViewPr snapToGrid="0">
      <p:cViewPr varScale="1">
        <p:scale>
          <a:sx n="89" d="100"/>
          <a:sy n="89" d="100"/>
        </p:scale>
        <p:origin x="-108" y="-32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110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241" y="0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689515"/>
            <a:ext cx="5440680" cy="444269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241" y="9377316"/>
            <a:ext cx="2947035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</a:t>
            </a:r>
            <a:r>
              <a:rPr lang="en-US" altLang="ko-KR" sz="1200" b="0" i="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Dalvik</a:t>
            </a:r>
            <a:r>
              <a:rPr lang="en-US" altLang="ko-KR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Debug Monitor Server ( </a:t>
            </a:r>
            <a:r>
              <a:rPr lang="en-US" altLang="ko-KR" sz="1200" b="1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DDMS 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68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941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2017-09-05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83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Debugging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Perspective</a:t>
            </a:r>
          </a:p>
          <a:p>
            <a:r>
              <a:rPr lang="en-US" altLang="ko-KR" dirty="0" err="1" smtClean="0"/>
              <a:t>LogCat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19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Debugging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Breaking Points</a:t>
            </a:r>
          </a:p>
          <a:p>
            <a:pPr lvl="1"/>
            <a:r>
              <a:rPr lang="ko-KR" altLang="en-US" dirty="0" smtClean="0"/>
              <a:t>소스 왼쪽의 빈 공간 </a:t>
            </a:r>
            <a:r>
              <a:rPr lang="ko-KR" altLang="en-US" dirty="0" err="1" smtClean="0"/>
              <a:t>좌클릭시</a:t>
            </a:r>
            <a:r>
              <a:rPr lang="ko-KR" altLang="en-US" dirty="0" smtClean="0"/>
              <a:t> </a:t>
            </a:r>
            <a:r>
              <a:rPr lang="en-US" altLang="ko-KR" dirty="0" smtClean="0"/>
              <a:t>Breaking Point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4" y="2443162"/>
            <a:ext cx="5493465" cy="140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5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Debugging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단축</a:t>
            </a:r>
            <a:r>
              <a:rPr lang="ko-KR" altLang="en-US" dirty="0"/>
              <a:t>키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953113"/>
              </p:ext>
            </p:extLst>
          </p:nvPr>
        </p:nvGraphicFramePr>
        <p:xfrm>
          <a:off x="973101" y="2107830"/>
          <a:ext cx="6942174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624"/>
                <a:gridCol w="516255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Shift</a:t>
                      </a:r>
                      <a:r>
                        <a:rPr lang="en-US" altLang="ko-KR" baseline="0" dirty="0" smtClean="0"/>
                        <a:t> + F9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디버깅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모드 시작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 smtClean="0"/>
                        <a:t>메서드</a:t>
                      </a:r>
                      <a:r>
                        <a:rPr lang="ko-KR" altLang="en-US" dirty="0" smtClean="0"/>
                        <a:t> 안으로 추적해 들어감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다음 명령문을 실행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F9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다음 중단점까지 진행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Ctrl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+ F8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중단점 </a:t>
                      </a:r>
                      <a:r>
                        <a:rPr lang="ko-KR" altLang="en-US" dirty="0" err="1" smtClean="0"/>
                        <a:t>토글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Ctrl + Shift + F8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중단점 보기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87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Debug Perspective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디버깅용 </a:t>
            </a:r>
            <a:r>
              <a:rPr lang="en-US" altLang="ko-KR" dirty="0"/>
              <a:t>Perspective Mode </a:t>
            </a:r>
            <a:r>
              <a:rPr lang="ko-KR" altLang="en-US" dirty="0"/>
              <a:t>전환</a:t>
            </a:r>
            <a:endParaRPr lang="en-US" altLang="ko-KR" dirty="0"/>
          </a:p>
          <a:p>
            <a:pPr lvl="1"/>
            <a:r>
              <a:rPr lang="en-US" altLang="ko-KR" dirty="0" smtClean="0">
                <a:solidFill>
                  <a:srgbClr val="00B0F0"/>
                </a:solidFill>
              </a:rPr>
              <a:t>Run &gt; Debug </a:t>
            </a:r>
            <a:r>
              <a:rPr lang="ko-KR" altLang="en-US" dirty="0" smtClean="0"/>
              <a:t>혹은 </a:t>
            </a:r>
            <a:r>
              <a:rPr lang="en-US" altLang="ko-KR" dirty="0" smtClean="0">
                <a:solidFill>
                  <a:srgbClr val="00B0F0"/>
                </a:solidFill>
              </a:rPr>
              <a:t>Debug</a:t>
            </a:r>
            <a:r>
              <a:rPr lang="ko-KR" altLang="en-US" dirty="0" smtClean="0">
                <a:solidFill>
                  <a:srgbClr val="00B0F0"/>
                </a:solidFill>
              </a:rPr>
              <a:t> 아이콘</a:t>
            </a:r>
            <a:r>
              <a:rPr lang="ko-KR" altLang="en-US" dirty="0" smtClean="0"/>
              <a:t> 실행</a:t>
            </a:r>
            <a:r>
              <a:rPr lang="en-US" altLang="ko-KR" dirty="0"/>
              <a:t> </a:t>
            </a:r>
            <a:r>
              <a:rPr lang="ko-KR" altLang="en-US" dirty="0" smtClean="0"/>
              <a:t>후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실행 </a:t>
            </a:r>
            <a:r>
              <a:rPr lang="ko-KR" altLang="en-US" dirty="0"/>
              <a:t>여부에 관계없이 </a:t>
            </a:r>
            <a:r>
              <a:rPr lang="ko-KR" altLang="en-US" dirty="0" smtClean="0"/>
              <a:t>좌측 하단의 </a:t>
            </a:r>
            <a:r>
              <a:rPr lang="ko-KR" altLang="en-US" dirty="0"/>
              <a:t>아이콘을 통해서 바로 전환 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1" y="2790617"/>
            <a:ext cx="8486775" cy="3667125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100" y="1222886"/>
            <a:ext cx="37719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686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DDMS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안드로이드</a:t>
            </a:r>
            <a:r>
              <a:rPr lang="ko-KR" altLang="en-US" dirty="0" smtClean="0"/>
              <a:t> </a:t>
            </a:r>
            <a:r>
              <a:rPr lang="en-US" altLang="ko-KR" dirty="0" smtClean="0"/>
              <a:t>DDMS(</a:t>
            </a:r>
            <a:r>
              <a:rPr lang="en-US" altLang="ko-KR" dirty="0" err="1" smtClean="0"/>
              <a:t>Dalvik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Debuging</a:t>
            </a:r>
            <a:r>
              <a:rPr lang="en-US" altLang="ko-KR" dirty="0" smtClean="0"/>
              <a:t> Monitor Server)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1026" name="Picture 2" descr="스크린샷 2016-08-26 오후 2.51.19.png 표시 중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2017931"/>
            <a:ext cx="6437586" cy="329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6484883" y="2017931"/>
            <a:ext cx="220717" cy="2312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8" name="Picture 4" descr="스크린샷 2016-08-26 오후 2.51.53.png 표시 중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2814" y="2964174"/>
            <a:ext cx="4441451" cy="3186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624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DDMS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4294967295"/>
          </p:nvPr>
        </p:nvSpPr>
        <p:spPr>
          <a:xfrm>
            <a:off x="0" y="1484313"/>
            <a:ext cx="8229600" cy="4641850"/>
          </a:xfrm>
        </p:spPr>
        <p:txBody>
          <a:bodyPr/>
          <a:lstStyle/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704849" y="1234376"/>
            <a:ext cx="77438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DDMS Perspective</a:t>
            </a:r>
          </a:p>
          <a:p>
            <a:pPr lvl="1"/>
            <a:r>
              <a:rPr lang="ko-KR" altLang="en-US" dirty="0"/>
              <a:t>단말기의 프로세스</a:t>
            </a:r>
            <a:r>
              <a:rPr lang="en-US" altLang="ko-KR" dirty="0"/>
              <a:t>, </a:t>
            </a:r>
            <a:r>
              <a:rPr lang="ko-KR" altLang="en-US" dirty="0" err="1"/>
              <a:t>쓰레드</a:t>
            </a:r>
            <a:r>
              <a:rPr lang="ko-KR" altLang="en-US" dirty="0"/>
              <a:t> 상태</a:t>
            </a:r>
            <a:r>
              <a:rPr lang="en-US" altLang="ko-KR" dirty="0"/>
              <a:t>, </a:t>
            </a:r>
            <a:r>
              <a:rPr lang="ko-KR" altLang="en-US" dirty="0" err="1"/>
              <a:t>힙</a:t>
            </a:r>
            <a:r>
              <a:rPr lang="en-US" altLang="ko-KR" dirty="0"/>
              <a:t>, </a:t>
            </a:r>
            <a:r>
              <a:rPr lang="ko-KR" altLang="en-US" dirty="0"/>
              <a:t>파일 등의 다양한 정보를 </a:t>
            </a:r>
            <a:r>
              <a:rPr lang="en-US" altLang="ko-KR" dirty="0"/>
              <a:t>Lookup</a:t>
            </a:r>
          </a:p>
          <a:p>
            <a:pPr lvl="1"/>
            <a:r>
              <a:rPr lang="ko-KR" altLang="en-US" dirty="0"/>
              <a:t>한번 등록해 두면 쉽게 전환 가능</a:t>
            </a:r>
          </a:p>
        </p:txBody>
      </p:sp>
      <p:pic>
        <p:nvPicPr>
          <p:cNvPr id="3074" name="Picture 2" descr="스크린샷 2016-08-26 오후 2.52.18.png 표시 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490" y="2157706"/>
            <a:ext cx="6136207" cy="460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44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LogCat</a:t>
            </a:r>
            <a:endParaRPr lang="ko-KR" altLang="en-US" dirty="0"/>
          </a:p>
        </p:txBody>
      </p:sp>
      <p:pic>
        <p:nvPicPr>
          <p:cNvPr id="4098" name="Picture 2" descr="스크린샷 2016-08-26 오후 3.12.56.png 표시 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998456"/>
            <a:ext cx="5334000" cy="3667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5152913" y="5292762"/>
            <a:ext cx="1387736" cy="172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2162287" y="2312894"/>
            <a:ext cx="613186" cy="1721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51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스크린샷 2016-08-26 오후 3.15.10.png 표시 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925" y="3805418"/>
            <a:ext cx="7476150" cy="2637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Log Output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Filter</a:t>
            </a:r>
          </a:p>
          <a:p>
            <a:pPr lvl="1"/>
            <a:r>
              <a:rPr lang="en-US" altLang="ko-KR" dirty="0" smtClean="0"/>
              <a:t>verbose: </a:t>
            </a:r>
            <a:r>
              <a:rPr lang="ko-KR" altLang="en-US" dirty="0" smtClean="0"/>
              <a:t>장황하게 자세한 출력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debug: </a:t>
            </a:r>
            <a:r>
              <a:rPr lang="ko-KR" altLang="en-US" dirty="0" smtClean="0"/>
              <a:t>디버깅 정보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info: </a:t>
            </a:r>
            <a:r>
              <a:rPr lang="ko-KR" altLang="en-US" dirty="0" smtClean="0"/>
              <a:t>단순한 정보 출력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warn: </a:t>
            </a:r>
            <a:r>
              <a:rPr lang="ko-KR" altLang="en-US" dirty="0" smtClean="0"/>
              <a:t>오류는 아니지만 문제의 소지가 있는 경고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error: </a:t>
            </a:r>
            <a:r>
              <a:rPr lang="ko-KR" altLang="en-US" dirty="0" smtClean="0"/>
              <a:t>어플리케이션 동작에 문제가 되는 심각한 오류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Assert:</a:t>
            </a:r>
          </a:p>
          <a:p>
            <a:pPr lvl="1"/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8" name="타원 5"/>
          <p:cNvSpPr/>
          <p:nvPr/>
        </p:nvSpPr>
        <p:spPr>
          <a:xfrm>
            <a:off x="3635200" y="3879008"/>
            <a:ext cx="999861" cy="120799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Straight Arrow Connector 9"/>
          <p:cNvCxnSpPr>
            <a:stCxn id="8" idx="6"/>
          </p:cNvCxnSpPr>
          <p:nvPr/>
        </p:nvCxnSpPr>
        <p:spPr>
          <a:xfrm flipV="1">
            <a:off x="4635061" y="3321269"/>
            <a:ext cx="2017987" cy="116173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 descr="본문 이미지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048" y="1775452"/>
            <a:ext cx="1743075" cy="145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04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Log Output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137" y="4019550"/>
            <a:ext cx="5686425" cy="19812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215" y="2309812"/>
            <a:ext cx="3930267" cy="1328738"/>
          </a:xfrm>
          <a:prstGeom prst="rect">
            <a:avLst/>
          </a:prstGeom>
        </p:spPr>
      </p:pic>
      <p:cxnSp>
        <p:nvCxnSpPr>
          <p:cNvPr id="8" name="직선 화살표 연결선 7"/>
          <p:cNvCxnSpPr/>
          <p:nvPr/>
        </p:nvCxnSpPr>
        <p:spPr>
          <a:xfrm>
            <a:off x="3619500" y="3276600"/>
            <a:ext cx="214312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53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스크린샷 2016-08-26 오후 3.16.13.png 표시 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7498" y="1247525"/>
            <a:ext cx="4651658" cy="2657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Log Output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>
          <a:xfrm>
            <a:off x="444844" y="1247525"/>
            <a:ext cx="8229600" cy="4641492"/>
          </a:xfrm>
        </p:spPr>
        <p:txBody>
          <a:bodyPr/>
          <a:lstStyle/>
          <a:p>
            <a:r>
              <a:rPr lang="en-US" altLang="ko-KR" dirty="0" smtClean="0"/>
              <a:t>Log </a:t>
            </a:r>
            <a:r>
              <a:rPr lang="ko-KR" altLang="en-US" dirty="0" smtClean="0"/>
              <a:t>출</a:t>
            </a:r>
            <a:r>
              <a:rPr lang="ko-KR" altLang="en-US" dirty="0"/>
              <a:t>력</a:t>
            </a:r>
            <a:r>
              <a:rPr lang="en-US" altLang="ko-KR" dirty="0" smtClean="0"/>
              <a:t> </a:t>
            </a:r>
            <a:r>
              <a:rPr lang="ko-KR" altLang="en-US" dirty="0" smtClean="0"/>
              <a:t>종</a:t>
            </a:r>
            <a:r>
              <a:rPr lang="ko-KR" altLang="en-US" dirty="0"/>
              <a:t>류</a:t>
            </a:r>
            <a:endParaRPr lang="en-US" altLang="ko-KR" dirty="0" smtClean="0"/>
          </a:p>
          <a:p>
            <a:pPr lvl="1"/>
            <a:r>
              <a:rPr lang="en-US" altLang="ko-KR" b="1" dirty="0" err="1" smtClean="0">
                <a:latin typeface="돋움체" pitchFamily="49" charset="-127"/>
                <a:ea typeface="돋움체" pitchFamily="49" charset="-127"/>
              </a:rPr>
              <a:t>Log.v</a:t>
            </a:r>
            <a:r>
              <a:rPr lang="en-US" altLang="ko-KR" b="1" dirty="0" smtClean="0">
                <a:latin typeface="돋움체" pitchFamily="49" charset="-127"/>
                <a:ea typeface="돋움체" pitchFamily="49" charset="-127"/>
              </a:rPr>
              <a:t>(tag, </a:t>
            </a:r>
            <a:r>
              <a:rPr lang="en-US" altLang="ko-KR" b="1" dirty="0" err="1" smtClean="0">
                <a:latin typeface="돋움체" pitchFamily="49" charset="-127"/>
                <a:ea typeface="돋움체" pitchFamily="49" charset="-127"/>
              </a:rPr>
              <a:t>msg</a:t>
            </a:r>
            <a:r>
              <a:rPr lang="en-US" altLang="ko-KR" b="1" dirty="0" smtClean="0">
                <a:latin typeface="돋움체" pitchFamily="49" charset="-127"/>
                <a:ea typeface="돋움체" pitchFamily="49" charset="-127"/>
              </a:rPr>
              <a:t>)</a:t>
            </a:r>
            <a:r>
              <a:rPr lang="en-US" altLang="ko-KR" dirty="0" smtClean="0"/>
              <a:t>: Verbose</a:t>
            </a:r>
            <a:endParaRPr lang="en-US" altLang="ko-KR" dirty="0"/>
          </a:p>
          <a:p>
            <a:pPr lvl="1"/>
            <a:r>
              <a:rPr lang="en-US" altLang="ko-KR" b="1" dirty="0" err="1" smtClean="0">
                <a:latin typeface="돋움체" pitchFamily="49" charset="-127"/>
                <a:ea typeface="돋움체" pitchFamily="49" charset="-127"/>
              </a:rPr>
              <a:t>Log.d</a:t>
            </a:r>
            <a:r>
              <a:rPr lang="en-US" altLang="ko-KR" b="1" dirty="0" smtClean="0">
                <a:latin typeface="돋움체" pitchFamily="49" charset="-127"/>
                <a:ea typeface="돋움체" pitchFamily="49" charset="-127"/>
              </a:rPr>
              <a:t>(tag</a:t>
            </a:r>
            <a:r>
              <a:rPr lang="en-US" altLang="ko-KR" b="1" dirty="0">
                <a:latin typeface="돋움체" pitchFamily="49" charset="-127"/>
                <a:ea typeface="돋움체" pitchFamily="49" charset="-127"/>
              </a:rPr>
              <a:t>, </a:t>
            </a:r>
            <a:r>
              <a:rPr lang="en-US" altLang="ko-KR" b="1" dirty="0" err="1">
                <a:latin typeface="돋움체" pitchFamily="49" charset="-127"/>
                <a:ea typeface="돋움체" pitchFamily="49" charset="-127"/>
              </a:rPr>
              <a:t>msg</a:t>
            </a:r>
            <a:r>
              <a:rPr lang="en-US" altLang="ko-KR" b="1" dirty="0">
                <a:latin typeface="돋움체" pitchFamily="49" charset="-127"/>
                <a:ea typeface="돋움체" pitchFamily="49" charset="-127"/>
              </a:rPr>
              <a:t>)</a:t>
            </a:r>
            <a:r>
              <a:rPr lang="en-US" altLang="ko-KR" dirty="0"/>
              <a:t>:</a:t>
            </a:r>
            <a:r>
              <a:rPr lang="ko-KR" altLang="en-US" dirty="0" smtClean="0"/>
              <a:t> </a:t>
            </a:r>
            <a:r>
              <a:rPr lang="en-US" altLang="ko-KR" dirty="0" smtClean="0"/>
              <a:t>Debug</a:t>
            </a:r>
          </a:p>
          <a:p>
            <a:pPr lvl="1"/>
            <a:r>
              <a:rPr lang="en-US" altLang="ko-KR" b="1" dirty="0" err="1" smtClean="0">
                <a:latin typeface="돋움체" pitchFamily="49" charset="-127"/>
                <a:ea typeface="돋움체" pitchFamily="49" charset="-127"/>
              </a:rPr>
              <a:t>Log.i</a:t>
            </a:r>
            <a:r>
              <a:rPr lang="en-US" altLang="ko-KR" b="1" dirty="0" smtClean="0">
                <a:latin typeface="돋움체" pitchFamily="49" charset="-127"/>
                <a:ea typeface="돋움체" pitchFamily="49" charset="-127"/>
              </a:rPr>
              <a:t>(tag</a:t>
            </a:r>
            <a:r>
              <a:rPr lang="en-US" altLang="ko-KR" b="1" dirty="0">
                <a:latin typeface="돋움체" pitchFamily="49" charset="-127"/>
                <a:ea typeface="돋움체" pitchFamily="49" charset="-127"/>
              </a:rPr>
              <a:t>, </a:t>
            </a:r>
            <a:r>
              <a:rPr lang="en-US" altLang="ko-KR" b="1" dirty="0" err="1">
                <a:latin typeface="돋움체" pitchFamily="49" charset="-127"/>
                <a:ea typeface="돋움체" pitchFamily="49" charset="-127"/>
              </a:rPr>
              <a:t>msg</a:t>
            </a:r>
            <a:r>
              <a:rPr lang="en-US" altLang="ko-KR" b="1" dirty="0">
                <a:latin typeface="돋움체" pitchFamily="49" charset="-127"/>
                <a:ea typeface="돋움체" pitchFamily="49" charset="-127"/>
              </a:rPr>
              <a:t>)</a:t>
            </a:r>
            <a:r>
              <a:rPr lang="en-US" altLang="ko-KR" dirty="0"/>
              <a:t>:</a:t>
            </a:r>
            <a:r>
              <a:rPr lang="ko-KR" altLang="en-US" dirty="0" smtClean="0"/>
              <a:t> </a:t>
            </a:r>
            <a:r>
              <a:rPr lang="en-US" altLang="ko-KR" dirty="0" smtClean="0"/>
              <a:t>Information</a:t>
            </a:r>
          </a:p>
          <a:p>
            <a:pPr lvl="1"/>
            <a:r>
              <a:rPr lang="en-US" altLang="ko-KR" b="1" dirty="0" err="1" smtClean="0">
                <a:latin typeface="돋움체" pitchFamily="49" charset="-127"/>
                <a:ea typeface="돋움체" pitchFamily="49" charset="-127"/>
              </a:rPr>
              <a:t>Log.w</a:t>
            </a:r>
            <a:r>
              <a:rPr lang="en-US" altLang="ko-KR" b="1" dirty="0" smtClean="0">
                <a:latin typeface="돋움체" pitchFamily="49" charset="-127"/>
                <a:ea typeface="돋움체" pitchFamily="49" charset="-127"/>
              </a:rPr>
              <a:t>(tag</a:t>
            </a:r>
            <a:r>
              <a:rPr lang="en-US" altLang="ko-KR" b="1" dirty="0">
                <a:latin typeface="돋움체" pitchFamily="49" charset="-127"/>
                <a:ea typeface="돋움체" pitchFamily="49" charset="-127"/>
              </a:rPr>
              <a:t>, </a:t>
            </a:r>
            <a:r>
              <a:rPr lang="en-US" altLang="ko-KR" b="1" dirty="0" err="1">
                <a:latin typeface="돋움체" pitchFamily="49" charset="-127"/>
                <a:ea typeface="돋움체" pitchFamily="49" charset="-127"/>
              </a:rPr>
              <a:t>msg</a:t>
            </a:r>
            <a:r>
              <a:rPr lang="en-US" altLang="ko-KR" b="1" dirty="0">
                <a:latin typeface="돋움체" pitchFamily="49" charset="-127"/>
                <a:ea typeface="돋움체" pitchFamily="49" charset="-127"/>
              </a:rPr>
              <a:t>)</a:t>
            </a:r>
            <a:r>
              <a:rPr lang="en-US" altLang="ko-KR" dirty="0"/>
              <a:t>:</a:t>
            </a:r>
            <a:r>
              <a:rPr lang="ko-KR" altLang="en-US" dirty="0" smtClean="0"/>
              <a:t> </a:t>
            </a:r>
            <a:r>
              <a:rPr lang="en-US" altLang="ko-KR" dirty="0" smtClean="0"/>
              <a:t>Warning</a:t>
            </a:r>
            <a:endParaRPr lang="en-US" altLang="ko-KR" dirty="0"/>
          </a:p>
          <a:p>
            <a:pPr lvl="1"/>
            <a:r>
              <a:rPr lang="en-US" altLang="ko-KR" b="1" dirty="0" err="1" smtClean="0">
                <a:latin typeface="돋움체" pitchFamily="49" charset="-127"/>
                <a:ea typeface="돋움체" pitchFamily="49" charset="-127"/>
              </a:rPr>
              <a:t>Log.e</a:t>
            </a:r>
            <a:r>
              <a:rPr lang="en-US" altLang="ko-KR" b="1" dirty="0" smtClean="0">
                <a:latin typeface="돋움체" pitchFamily="49" charset="-127"/>
                <a:ea typeface="돋움체" pitchFamily="49" charset="-127"/>
              </a:rPr>
              <a:t>(tag</a:t>
            </a:r>
            <a:r>
              <a:rPr lang="en-US" altLang="ko-KR" b="1" dirty="0">
                <a:latin typeface="돋움체" pitchFamily="49" charset="-127"/>
                <a:ea typeface="돋움체" pitchFamily="49" charset="-127"/>
              </a:rPr>
              <a:t>, </a:t>
            </a:r>
            <a:r>
              <a:rPr lang="en-US" altLang="ko-KR" b="1" dirty="0" err="1">
                <a:latin typeface="돋움체" pitchFamily="49" charset="-127"/>
                <a:ea typeface="돋움체" pitchFamily="49" charset="-127"/>
              </a:rPr>
              <a:t>msg</a:t>
            </a:r>
            <a:r>
              <a:rPr lang="en-US" altLang="ko-KR" b="1" dirty="0">
                <a:latin typeface="돋움체" pitchFamily="49" charset="-127"/>
                <a:ea typeface="돋움체" pitchFamily="49" charset="-127"/>
              </a:rPr>
              <a:t>)</a:t>
            </a:r>
            <a:r>
              <a:rPr lang="en-US" altLang="ko-KR" dirty="0"/>
              <a:t>:</a:t>
            </a:r>
            <a:r>
              <a:rPr lang="ko-KR" altLang="en-US" dirty="0" smtClean="0"/>
              <a:t> </a:t>
            </a:r>
            <a:r>
              <a:rPr lang="en-US" altLang="ko-KR" dirty="0" smtClean="0"/>
              <a:t>Error</a:t>
            </a:r>
          </a:p>
          <a:p>
            <a:pPr lvl="1"/>
            <a:r>
              <a:rPr lang="en-US" altLang="ko-KR" b="1" dirty="0" err="1" smtClean="0">
                <a:latin typeface="돋움체" pitchFamily="49" charset="-127"/>
                <a:ea typeface="돋움체" pitchFamily="49" charset="-127"/>
              </a:rPr>
              <a:t>Log.a</a:t>
            </a:r>
            <a:r>
              <a:rPr lang="en-US" altLang="ko-KR" b="1" dirty="0" smtClean="0">
                <a:latin typeface="돋움체" pitchFamily="49" charset="-127"/>
                <a:ea typeface="돋움체" pitchFamily="49" charset="-127"/>
              </a:rPr>
              <a:t>(tag</a:t>
            </a:r>
            <a:r>
              <a:rPr lang="en-US" altLang="ko-KR" b="1" dirty="0">
                <a:latin typeface="돋움체" pitchFamily="49" charset="-127"/>
                <a:ea typeface="돋움체" pitchFamily="49" charset="-127"/>
              </a:rPr>
              <a:t>, </a:t>
            </a:r>
            <a:r>
              <a:rPr lang="en-US" altLang="ko-KR" b="1" dirty="0" err="1">
                <a:latin typeface="돋움체" pitchFamily="49" charset="-127"/>
                <a:ea typeface="돋움체" pitchFamily="49" charset="-127"/>
              </a:rPr>
              <a:t>msg</a:t>
            </a:r>
            <a:r>
              <a:rPr lang="en-US" altLang="ko-KR" b="1" dirty="0">
                <a:latin typeface="돋움체" pitchFamily="49" charset="-127"/>
                <a:ea typeface="돋움체" pitchFamily="49" charset="-127"/>
              </a:rPr>
              <a:t>)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smtClean="0"/>
              <a:t>Assert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en-US" altLang="ko-KR" dirty="0" smtClean="0"/>
              <a:t>Custom Log Filter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11</a:t>
            </a:fld>
            <a:endParaRPr lang="ko-KR" altLang="en-US"/>
          </a:p>
        </p:txBody>
      </p:sp>
      <p:cxnSp>
        <p:nvCxnSpPr>
          <p:cNvPr id="7" name="직선 화살표 연결선 6"/>
          <p:cNvCxnSpPr/>
          <p:nvPr/>
        </p:nvCxnSpPr>
        <p:spPr>
          <a:xfrm flipH="1">
            <a:off x="8374406" y="1994338"/>
            <a:ext cx="600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8" name="Picture 4" descr="본문 이미지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256" y="4099034"/>
            <a:ext cx="4344150" cy="2312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65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#2.2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Activity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600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Lifecycle Log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54912" y="1339705"/>
            <a:ext cx="4403770" cy="544764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public class Act1 extends </a:t>
            </a:r>
            <a:r>
              <a:rPr lang="en-US" altLang="ko-KR" sz="1200" dirty="0" err="1"/>
              <a:t>AppCompatActivity</a:t>
            </a:r>
            <a:r>
              <a:rPr lang="en-US" altLang="ko-KR" sz="1200" dirty="0"/>
              <a:t> </a:t>
            </a:r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{</a:t>
            </a:r>
            <a:endParaRPr lang="en-US" altLang="ko-KR" sz="1200" b="1" dirty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/** Called when the activity is first created. */</a:t>
            </a: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@Override</a:t>
            </a:r>
          </a:p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protected void </a:t>
            </a:r>
            <a:r>
              <a:rPr lang="en-US" altLang="ko-KR" sz="1200" b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200" b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) </a:t>
            </a:r>
            <a:r>
              <a:rPr lang="en-US" altLang="ko-KR" sz="1200" b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{</a:t>
            </a:r>
          </a:p>
          <a:p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Log.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i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("Act1", "</a:t>
            </a:r>
            <a:r>
              <a:rPr lang="en-US" altLang="ko-KR" sz="1200" i="1" dirty="0" err="1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200" i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");</a:t>
            </a:r>
            <a:endParaRPr lang="en-US" altLang="ko-KR" sz="1200" i="1" dirty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b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b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2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2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R.layout.</a:t>
            </a:r>
            <a:r>
              <a:rPr lang="en-US" altLang="ko-KR" sz="1200" i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main</a:t>
            </a:r>
            <a:r>
              <a:rPr lang="en-US" altLang="ko-KR" sz="1200" i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}</a:t>
            </a:r>
          </a:p>
          <a:p>
            <a:endParaRPr lang="ko-KR" altLang="en-US" sz="1400" dirty="0"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646464"/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b="1" dirty="0" smtClean="0">
                <a:solidFill>
                  <a:srgbClr val="7F0055"/>
                </a:solidFill>
                <a:latin typeface="돋움체"/>
                <a:ea typeface="돋움체"/>
              </a:rPr>
              <a:t>protected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onStart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Log.</a:t>
            </a:r>
            <a:r>
              <a:rPr lang="en-US" altLang="ko-KR" sz="1400" i="1" dirty="0" err="1" smtClean="0">
                <a:solidFill>
                  <a:srgbClr val="000000"/>
                </a:solidFill>
                <a:latin typeface="돋움체"/>
                <a:ea typeface="돋움체"/>
              </a:rPr>
              <a:t>i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"Act1"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i="1" dirty="0" err="1" smtClean="0">
                <a:solidFill>
                  <a:srgbClr val="2A00FF"/>
                </a:solidFill>
                <a:latin typeface="돋움체"/>
                <a:ea typeface="돋움체"/>
              </a:rPr>
              <a:t>onStart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i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b="1" dirty="0" err="1" smtClean="0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.onStart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646464"/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b="1" dirty="0" smtClean="0">
                <a:solidFill>
                  <a:srgbClr val="7F0055"/>
                </a:solidFill>
                <a:latin typeface="돋움체"/>
                <a:ea typeface="돋움체"/>
              </a:rPr>
              <a:t>protected </a:t>
            </a:r>
            <a:r>
              <a:rPr lang="en-US" altLang="ko-KR" sz="1400" b="1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onPause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Log.</a:t>
            </a:r>
            <a:r>
              <a:rPr lang="en-US" altLang="ko-KR" sz="1400" i="1" dirty="0" err="1" smtClean="0">
                <a:solidFill>
                  <a:srgbClr val="000000"/>
                </a:solidFill>
                <a:latin typeface="돋움체"/>
                <a:ea typeface="돋움체"/>
              </a:rPr>
              <a:t>i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"Act1"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i="1" dirty="0" err="1" smtClean="0">
                <a:solidFill>
                  <a:srgbClr val="2A00FF"/>
                </a:solidFill>
                <a:latin typeface="돋움체"/>
                <a:ea typeface="돋움체"/>
              </a:rPr>
              <a:t>onPause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i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b="1" dirty="0" err="1" smtClean="0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.onPause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rgbClr val="646464"/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b="1" dirty="0" smtClean="0">
                <a:solidFill>
                  <a:srgbClr val="7F0055"/>
                </a:solidFill>
                <a:latin typeface="돋움체"/>
                <a:ea typeface="돋움체"/>
              </a:rPr>
              <a:t>protected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>
                <a:solidFill>
                  <a:srgbClr val="000000"/>
                </a:solidFill>
                <a:latin typeface="돋움체"/>
                <a:ea typeface="돋움체"/>
              </a:rPr>
              <a:t>onStop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Log.</a:t>
            </a:r>
            <a:r>
              <a:rPr lang="en-US" altLang="ko-KR" sz="1400" i="1" dirty="0" err="1" smtClean="0">
                <a:solidFill>
                  <a:srgbClr val="000000"/>
                </a:solidFill>
                <a:latin typeface="돋움체"/>
                <a:ea typeface="돋움체"/>
              </a:rPr>
              <a:t>i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"Act1"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i="1" dirty="0" err="1" smtClean="0">
                <a:solidFill>
                  <a:srgbClr val="2A00FF"/>
                </a:solidFill>
                <a:latin typeface="돋움체"/>
                <a:ea typeface="돋움체"/>
              </a:rPr>
              <a:t>onStop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400" i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b="1" dirty="0" err="1" smtClean="0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.onStop</a:t>
            </a:r>
            <a:r>
              <a:rPr lang="en-US" altLang="ko-KR" sz="1400" b="1" dirty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en-US" altLang="ko-KR" sz="1400" dirty="0">
              <a:solidFill>
                <a:srgbClr val="000000"/>
              </a:solidFill>
              <a:latin typeface="돋움체"/>
              <a:ea typeface="돋움체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28673" y="1967026"/>
            <a:ext cx="3326552" cy="418576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endParaRPr lang="ko-KR" altLang="en-US" sz="1400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646464"/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</a:t>
            </a:r>
            <a:r>
              <a:rPr lang="en-US" altLang="ko-KR" sz="1400" b="1" dirty="0" smtClean="0">
                <a:solidFill>
                  <a:srgbClr val="7F0055"/>
                </a:solidFill>
                <a:latin typeface="돋움체"/>
                <a:ea typeface="돋움체"/>
              </a:rPr>
              <a:t>protected </a:t>
            </a:r>
            <a:r>
              <a:rPr lang="en-US" altLang="ko-KR" sz="1400" b="1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onResume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Log.</a:t>
            </a:r>
            <a:r>
              <a:rPr lang="en-US" altLang="ko-KR" sz="1400" i="1" dirty="0" err="1" smtClean="0">
                <a:solidFill>
                  <a:srgbClr val="000000"/>
                </a:solidFill>
                <a:latin typeface="돋움체"/>
                <a:ea typeface="돋움체"/>
              </a:rPr>
              <a:t>i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"Act1"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i="1" dirty="0" err="1" smtClean="0">
                <a:solidFill>
                  <a:srgbClr val="2A00FF"/>
                </a:solidFill>
                <a:latin typeface="돋움체"/>
                <a:ea typeface="돋움체"/>
              </a:rPr>
              <a:t>onResume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b="1" dirty="0" err="1" smtClean="0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.onResume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646464"/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b="1" dirty="0" smtClean="0">
                <a:solidFill>
                  <a:srgbClr val="7F0055"/>
                </a:solidFill>
                <a:latin typeface="돋움체"/>
                <a:ea typeface="돋움체"/>
              </a:rPr>
              <a:t>protected </a:t>
            </a:r>
            <a:r>
              <a:rPr lang="en-US" altLang="ko-KR" sz="1400" b="1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onRestart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Log.</a:t>
            </a:r>
            <a:r>
              <a:rPr lang="en-US" altLang="ko-KR" sz="1400" i="1" dirty="0" err="1" smtClean="0">
                <a:solidFill>
                  <a:srgbClr val="000000"/>
                </a:solidFill>
                <a:latin typeface="돋움체"/>
                <a:ea typeface="돋움체"/>
              </a:rPr>
              <a:t>i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"Act1"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i="1" dirty="0" err="1" smtClean="0">
                <a:solidFill>
                  <a:srgbClr val="2A00FF"/>
                </a:solidFill>
                <a:latin typeface="돋움체"/>
                <a:ea typeface="돋움체"/>
              </a:rPr>
              <a:t>onRestart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b="1" dirty="0" err="1" smtClean="0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.onRestart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646464"/>
                </a:solidFill>
                <a:latin typeface="돋움체"/>
                <a:ea typeface="돋움체"/>
              </a:rPr>
              <a:t>@Override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</a:t>
            </a:r>
            <a:r>
              <a:rPr lang="en-US" altLang="ko-KR" sz="1400" b="1" dirty="0">
                <a:solidFill>
                  <a:srgbClr val="7F0055"/>
                </a:solidFill>
                <a:latin typeface="돋움체"/>
                <a:ea typeface="돋움체"/>
              </a:rPr>
              <a:t>protected void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onDestroy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돋움체"/>
                <a:ea typeface="돋움체"/>
              </a:rPr>
              <a:t>Log.</a:t>
            </a:r>
            <a:r>
              <a:rPr lang="en-US" altLang="ko-KR" sz="1400" i="1" dirty="0" err="1" smtClean="0">
                <a:solidFill>
                  <a:srgbClr val="000000"/>
                </a:solidFill>
                <a:latin typeface="돋움체"/>
                <a:ea typeface="돋움체"/>
              </a:rPr>
              <a:t>i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"Act1"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i="1" dirty="0" err="1" smtClean="0">
                <a:solidFill>
                  <a:srgbClr val="2A00FF"/>
                </a:solidFill>
                <a:latin typeface="돋움체"/>
                <a:ea typeface="돋움체"/>
              </a:rPr>
              <a:t>onDestroy</a:t>
            </a:r>
            <a:r>
              <a:rPr lang="en-US" altLang="ko-KR" sz="14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4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b="1" dirty="0" err="1" smtClean="0">
                <a:solidFill>
                  <a:srgbClr val="7F0055"/>
                </a:solidFill>
                <a:latin typeface="돋움체"/>
                <a:ea typeface="돋움체"/>
              </a:rPr>
              <a:t>super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돋움체"/>
                <a:ea typeface="돋움체"/>
              </a:rPr>
              <a:t>.onDestroy</a:t>
            </a:r>
            <a:r>
              <a:rPr lang="en-US" altLang="ko-KR" sz="1400" b="1" dirty="0" smtClean="0">
                <a:solidFill>
                  <a:srgbClr val="000000"/>
                </a:solidFill>
                <a:latin typeface="돋움체"/>
                <a:ea typeface="돋움체"/>
              </a:rPr>
              <a:t>();</a:t>
            </a:r>
          </a:p>
          <a:p>
            <a:r>
              <a:rPr lang="ko-KR" altLang="en-US" sz="1400" dirty="0" smtClean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7378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Activity Lifecycle Log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457200" y="1484672"/>
            <a:ext cx="4401879" cy="4641492"/>
          </a:xfrm>
        </p:spPr>
        <p:txBody>
          <a:bodyPr>
            <a:normAutofit lnSpcReduction="10000"/>
          </a:bodyPr>
          <a:lstStyle/>
          <a:p>
            <a:r>
              <a:rPr lang="en-US" altLang="ko-KR" dirty="0" err="1" smtClean="0"/>
              <a:t>AppTest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Home </a:t>
            </a:r>
            <a:r>
              <a:rPr lang="ko-KR" altLang="en-US" dirty="0" smtClean="0"/>
              <a:t>버튼을 눌렀을 때 </a:t>
            </a:r>
            <a:r>
              <a:rPr lang="en-US" altLang="ko-KR" dirty="0" smtClean="0"/>
              <a:t>Log </a:t>
            </a:r>
            <a:r>
              <a:rPr lang="ko-KR" altLang="en-US" dirty="0" smtClean="0"/>
              <a:t>결과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Back </a:t>
            </a:r>
            <a:r>
              <a:rPr lang="ko-KR" altLang="en-US" dirty="0" smtClean="0"/>
              <a:t>버튼을 눌렀을 때 </a:t>
            </a:r>
            <a:r>
              <a:rPr lang="en-US" altLang="ko-KR" dirty="0" smtClean="0"/>
              <a:t>Log </a:t>
            </a:r>
            <a:r>
              <a:rPr lang="ko-KR" altLang="en-US" dirty="0" smtClean="0"/>
              <a:t>결과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Settings</a:t>
            </a:r>
            <a:r>
              <a:rPr lang="ko-KR" altLang="en-US" dirty="0" smtClean="0"/>
              <a:t>에서 강제종료 시켰을 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Log </a:t>
            </a:r>
            <a:r>
              <a:rPr lang="ko-KR" altLang="en-US" dirty="0" smtClean="0"/>
              <a:t>결과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Home </a:t>
            </a:r>
            <a:r>
              <a:rPr lang="ko-KR" altLang="en-US" dirty="0" smtClean="0"/>
              <a:t>버튼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onStop</a:t>
            </a:r>
            <a:r>
              <a:rPr lang="ko-KR" altLang="en-US" dirty="0" smtClean="0"/>
              <a:t>까지 진행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AppTest</a:t>
            </a:r>
            <a:r>
              <a:rPr lang="ko-KR" altLang="en-US" dirty="0" smtClean="0"/>
              <a:t>는 종료되지 않고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메모리에 </a:t>
            </a:r>
            <a:r>
              <a:rPr lang="ko-KR" altLang="en-US" dirty="0" err="1" smtClean="0"/>
              <a:t>캐쉬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Back </a:t>
            </a:r>
            <a:r>
              <a:rPr lang="ko-KR" altLang="en-US" dirty="0" smtClean="0"/>
              <a:t>버튼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onDestroy</a:t>
            </a:r>
            <a:r>
              <a:rPr lang="ko-KR" altLang="en-US" dirty="0" smtClean="0"/>
              <a:t>까지 진행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AppTest</a:t>
            </a:r>
            <a:r>
              <a:rPr lang="ko-KR" altLang="en-US" dirty="0" smtClean="0"/>
              <a:t>에서의 업무가 완료되었다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판단하고 </a:t>
            </a:r>
            <a:r>
              <a:rPr lang="en-US" altLang="ko-KR" dirty="0" smtClean="0"/>
              <a:t>App</a:t>
            </a:r>
            <a:r>
              <a:rPr lang="ko-KR" altLang="en-US" dirty="0" smtClean="0"/>
              <a:t>을 완전히 종료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6" name="순서도: 수행의 시작/종료 5"/>
          <p:cNvSpPr/>
          <p:nvPr/>
        </p:nvSpPr>
        <p:spPr>
          <a:xfrm>
            <a:off x="6404344" y="1228414"/>
            <a:ext cx="1853184" cy="560832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Act1 </a:t>
            </a:r>
            <a:r>
              <a:rPr lang="ko-KR" altLang="en-US" sz="1400" dirty="0" smtClean="0"/>
              <a:t>시작</a:t>
            </a:r>
            <a:endParaRPr lang="ko-KR" altLang="en-US" sz="1400" dirty="0"/>
          </a:p>
        </p:txBody>
      </p:sp>
      <p:sp>
        <p:nvSpPr>
          <p:cNvPr id="7" name="순서도: 처리 6"/>
          <p:cNvSpPr/>
          <p:nvPr/>
        </p:nvSpPr>
        <p:spPr>
          <a:xfrm>
            <a:off x="6404344" y="1923358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onCreate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8" name="순서도: 처리 7"/>
          <p:cNvSpPr/>
          <p:nvPr/>
        </p:nvSpPr>
        <p:spPr>
          <a:xfrm>
            <a:off x="6404344" y="2508574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onStart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9" name="순서도: 처리 8"/>
          <p:cNvSpPr/>
          <p:nvPr/>
        </p:nvSpPr>
        <p:spPr>
          <a:xfrm>
            <a:off x="6404344" y="3063310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onResume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0" name="순서도: 수행의 시작/종료 9"/>
          <p:cNvSpPr/>
          <p:nvPr/>
        </p:nvSpPr>
        <p:spPr>
          <a:xfrm>
            <a:off x="6404344" y="3855790"/>
            <a:ext cx="1853184" cy="560832"/>
          </a:xfrm>
          <a:prstGeom prst="flowChartTerminator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다른 </a:t>
            </a:r>
            <a:r>
              <a:rPr lang="en-US" altLang="ko-KR" sz="1400" dirty="0" smtClean="0"/>
              <a:t>App </a:t>
            </a:r>
            <a:r>
              <a:rPr lang="ko-KR" altLang="en-US" sz="1400" dirty="0" smtClean="0"/>
              <a:t>활성</a:t>
            </a:r>
            <a:r>
              <a:rPr lang="ko-KR" altLang="en-US" sz="1400" dirty="0"/>
              <a:t>화</a:t>
            </a:r>
          </a:p>
        </p:txBody>
      </p:sp>
      <p:sp>
        <p:nvSpPr>
          <p:cNvPr id="11" name="순서도: 처리 10"/>
          <p:cNvSpPr/>
          <p:nvPr/>
        </p:nvSpPr>
        <p:spPr>
          <a:xfrm>
            <a:off x="6404344" y="4544638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onPause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2" name="순서도: 처리 11"/>
          <p:cNvSpPr/>
          <p:nvPr/>
        </p:nvSpPr>
        <p:spPr>
          <a:xfrm>
            <a:off x="6404344" y="5099374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onStop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3" name="순서도: 처리 12"/>
          <p:cNvSpPr/>
          <p:nvPr/>
        </p:nvSpPr>
        <p:spPr>
          <a:xfrm>
            <a:off x="6404344" y="5654110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onDestroy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sp>
        <p:nvSpPr>
          <p:cNvPr id="14" name="순서도: 수행의 시작/종료 13"/>
          <p:cNvSpPr/>
          <p:nvPr/>
        </p:nvSpPr>
        <p:spPr>
          <a:xfrm>
            <a:off x="6404344" y="6202750"/>
            <a:ext cx="1853184" cy="560832"/>
          </a:xfrm>
          <a:prstGeom prst="flowChartTerminator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Act1 </a:t>
            </a:r>
            <a:r>
              <a:rPr lang="ko-KR" altLang="en-US" sz="1400" dirty="0" smtClean="0"/>
              <a:t>종료</a:t>
            </a:r>
            <a:endParaRPr lang="ko-KR" altLang="en-US" sz="1400" dirty="0"/>
          </a:p>
        </p:txBody>
      </p:sp>
      <p:sp>
        <p:nvSpPr>
          <p:cNvPr id="15" name="순서도: 처리 14"/>
          <p:cNvSpPr/>
          <p:nvPr/>
        </p:nvSpPr>
        <p:spPr>
          <a:xfrm>
            <a:off x="4325607" y="2508574"/>
            <a:ext cx="1853184" cy="402336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onRestart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  <p:cxnSp>
        <p:nvCxnSpPr>
          <p:cNvPr id="16" name="직선 화살표 연결선 15"/>
          <p:cNvCxnSpPr>
            <a:stCxn id="6" idx="2"/>
            <a:endCxn id="7" idx="0"/>
          </p:cNvCxnSpPr>
          <p:nvPr/>
        </p:nvCxnSpPr>
        <p:spPr>
          <a:xfrm>
            <a:off x="7330936" y="1789246"/>
            <a:ext cx="0" cy="134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7" idx="2"/>
            <a:endCxn id="8" idx="0"/>
          </p:cNvCxnSpPr>
          <p:nvPr/>
        </p:nvCxnSpPr>
        <p:spPr>
          <a:xfrm>
            <a:off x="7330936" y="2325694"/>
            <a:ext cx="0" cy="1828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>
            <a:stCxn id="8" idx="2"/>
            <a:endCxn id="9" idx="0"/>
          </p:cNvCxnSpPr>
          <p:nvPr/>
        </p:nvCxnSpPr>
        <p:spPr>
          <a:xfrm>
            <a:off x="7330936" y="2910910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>
            <a:stCxn id="9" idx="2"/>
            <a:endCxn id="27" idx="0"/>
          </p:cNvCxnSpPr>
          <p:nvPr/>
        </p:nvCxnSpPr>
        <p:spPr>
          <a:xfrm>
            <a:off x="7330936" y="3465646"/>
            <a:ext cx="0" cy="1219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10" idx="2"/>
            <a:endCxn id="11" idx="0"/>
          </p:cNvCxnSpPr>
          <p:nvPr/>
        </p:nvCxnSpPr>
        <p:spPr>
          <a:xfrm>
            <a:off x="7330936" y="4416622"/>
            <a:ext cx="0" cy="128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>
            <a:stCxn id="11" idx="2"/>
            <a:endCxn id="12" idx="0"/>
          </p:cNvCxnSpPr>
          <p:nvPr/>
        </p:nvCxnSpPr>
        <p:spPr>
          <a:xfrm>
            <a:off x="7330936" y="4946974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12" idx="2"/>
            <a:endCxn id="13" idx="0"/>
          </p:cNvCxnSpPr>
          <p:nvPr/>
        </p:nvCxnSpPr>
        <p:spPr>
          <a:xfrm>
            <a:off x="7330936" y="5501710"/>
            <a:ext cx="0" cy="152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>
            <a:stCxn id="13" idx="2"/>
          </p:cNvCxnSpPr>
          <p:nvPr/>
        </p:nvCxnSpPr>
        <p:spPr>
          <a:xfrm>
            <a:off x="7330936" y="6056446"/>
            <a:ext cx="0" cy="1463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12" idx="1"/>
          </p:cNvCxnSpPr>
          <p:nvPr/>
        </p:nvCxnSpPr>
        <p:spPr>
          <a:xfrm rot="10800000">
            <a:off x="5252200" y="2910910"/>
            <a:ext cx="1152144" cy="238963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>
            <a:endCxn id="8" idx="1"/>
          </p:cNvCxnSpPr>
          <p:nvPr/>
        </p:nvCxnSpPr>
        <p:spPr>
          <a:xfrm>
            <a:off x="6178792" y="2709742"/>
            <a:ext cx="22555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11" idx="1"/>
            <a:endCxn id="9" idx="1"/>
          </p:cNvCxnSpPr>
          <p:nvPr/>
        </p:nvCxnSpPr>
        <p:spPr>
          <a:xfrm rot="10800000">
            <a:off x="6404344" y="3264478"/>
            <a:ext cx="12700" cy="1481328"/>
          </a:xfrm>
          <a:prstGeom prst="bentConnector3">
            <a:avLst>
              <a:gd name="adj1" fmla="val 180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순서도: 연결자 26"/>
          <p:cNvSpPr/>
          <p:nvPr/>
        </p:nvSpPr>
        <p:spPr>
          <a:xfrm>
            <a:off x="7215112" y="3587566"/>
            <a:ext cx="231648" cy="182880"/>
          </a:xfrm>
          <a:prstGeom prst="flowChartConnector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/>
          <p:cNvCxnSpPr>
            <a:stCxn id="27" idx="4"/>
            <a:endCxn id="10" idx="0"/>
          </p:cNvCxnSpPr>
          <p:nvPr/>
        </p:nvCxnSpPr>
        <p:spPr>
          <a:xfrm>
            <a:off x="7330936" y="3770446"/>
            <a:ext cx="0" cy="853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82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#2.2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아래의 상황에서의 </a:t>
            </a:r>
            <a:r>
              <a:rPr lang="en-US" altLang="ko-KR" dirty="0" smtClean="0"/>
              <a:t>Log </a:t>
            </a:r>
            <a:r>
              <a:rPr lang="ko-KR" altLang="en-US" dirty="0" smtClean="0"/>
              <a:t>출력을 확인합니다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Home </a:t>
            </a:r>
            <a:r>
              <a:rPr lang="ko-KR" altLang="en-US" dirty="0"/>
              <a:t>버튼을 눌렀을 때 </a:t>
            </a:r>
            <a:r>
              <a:rPr lang="en-US" altLang="ko-KR" dirty="0"/>
              <a:t>Log </a:t>
            </a:r>
            <a:r>
              <a:rPr lang="ko-KR" altLang="en-US" dirty="0"/>
              <a:t>결과</a:t>
            </a:r>
            <a:endParaRPr lang="en-US" altLang="ko-KR" dirty="0"/>
          </a:p>
          <a:p>
            <a:pPr lvl="1"/>
            <a:r>
              <a:rPr lang="en-US" altLang="ko-KR" dirty="0"/>
              <a:t>Back </a:t>
            </a:r>
            <a:r>
              <a:rPr lang="ko-KR" altLang="en-US" dirty="0"/>
              <a:t>버튼을 눌렀을 때 </a:t>
            </a:r>
            <a:r>
              <a:rPr lang="en-US" altLang="ko-KR" dirty="0"/>
              <a:t>Log </a:t>
            </a:r>
            <a:r>
              <a:rPr lang="ko-KR" altLang="en-US" dirty="0" smtClean="0"/>
              <a:t>결과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Settings</a:t>
            </a:r>
            <a:r>
              <a:rPr lang="ko-KR" altLang="en-US" dirty="0"/>
              <a:t>에서 강제종료 시켰을 </a:t>
            </a:r>
            <a:r>
              <a:rPr lang="ko-KR" altLang="en-US" dirty="0" smtClean="0"/>
              <a:t>때 </a:t>
            </a:r>
            <a:r>
              <a:rPr lang="en-US" altLang="ko-KR" dirty="0" smtClean="0"/>
              <a:t>Log </a:t>
            </a:r>
            <a:r>
              <a:rPr lang="ko-KR" altLang="en-US" dirty="0"/>
              <a:t>결과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r>
              <a:rPr lang="ko-KR" altLang="en-US" dirty="0" err="1" smtClean="0"/>
              <a:t>캡쳐하여</a:t>
            </a:r>
            <a:r>
              <a:rPr lang="ko-KR" altLang="en-US" dirty="0" smtClean="0"/>
              <a:t> 제출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추가로 자신의 이름을 로그로 출력합니다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각 상황을 구분하여 캡쳐합니다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본인의 과제 제출 저장소에 파일이름 </a:t>
            </a:r>
            <a:r>
              <a:rPr lang="en-US" altLang="ko-KR" dirty="0" smtClean="0"/>
              <a:t>Practice2.2_</a:t>
            </a:r>
            <a:r>
              <a:rPr lang="ko-KR" altLang="en-US" dirty="0"/>
              <a:t>학번</a:t>
            </a:r>
            <a:r>
              <a:rPr lang="en-US" altLang="ko-KR" dirty="0"/>
              <a:t>_</a:t>
            </a:r>
            <a:r>
              <a:rPr lang="ko-KR" altLang="en-US" dirty="0"/>
              <a:t>이름</a:t>
            </a:r>
            <a:r>
              <a:rPr lang="en-US" altLang="ko-KR" dirty="0"/>
              <a:t>.jpg</a:t>
            </a:r>
            <a:r>
              <a:rPr lang="ko-KR" altLang="en-US" dirty="0"/>
              <a:t>으로 저장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en-US" altLang="ko-KR" dirty="0" smtClean="0"/>
              <a:t>Advanced</a:t>
            </a:r>
          </a:p>
          <a:p>
            <a:pPr lvl="1"/>
            <a:r>
              <a:rPr lang="ko-KR" altLang="en-US" dirty="0"/>
              <a:t>실행 후 </a:t>
            </a:r>
            <a:r>
              <a:rPr lang="en-US" altLang="ko-KR" dirty="0"/>
              <a:t>Home </a:t>
            </a:r>
            <a:r>
              <a:rPr lang="ko-KR" altLang="en-US" dirty="0"/>
              <a:t>버튼을 누르고 다른 </a:t>
            </a:r>
            <a:r>
              <a:rPr lang="en-US" altLang="ko-KR" dirty="0"/>
              <a:t>App</a:t>
            </a:r>
            <a:r>
              <a:rPr lang="ko-KR" altLang="en-US" dirty="0"/>
              <a:t>을 실행한 후 다시 </a:t>
            </a:r>
            <a:r>
              <a:rPr lang="en-US" altLang="ko-KR" dirty="0" err="1"/>
              <a:t>AppTest</a:t>
            </a:r>
            <a:r>
              <a:rPr lang="ko-KR" altLang="en-US" dirty="0"/>
              <a:t>를 실행 했을 때의 결과도 확인해 봅니다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07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Example #2.3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Multiple Activity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84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1026" name="Picture 2" descr="스크린샷 2016-08-26 오후 4.38.54.png 표시 중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614" y="1484672"/>
            <a:ext cx="6626772" cy="4773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99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Act1 ~ Act4</a:t>
            </a:r>
          </a:p>
          <a:p>
            <a:pPr lvl="1"/>
            <a:r>
              <a:rPr lang="ko-KR" altLang="en-US" dirty="0" smtClean="0"/>
              <a:t>동일한 과정을 반복하여 </a:t>
            </a:r>
            <a:r>
              <a:rPr lang="en-US" altLang="ko-KR" dirty="0" smtClean="0"/>
              <a:t>Act3, Act4</a:t>
            </a:r>
            <a:r>
              <a:rPr lang="ko-KR" altLang="en-US" dirty="0" smtClean="0"/>
              <a:t>까지 생성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575" y="2676524"/>
            <a:ext cx="4505158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000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Design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문자열 리소스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/res/values/strings.xml </a:t>
            </a:r>
            <a:r>
              <a:rPr lang="ko-KR" altLang="en-US" dirty="0" smtClean="0"/>
              <a:t>편집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 </a:t>
            </a:r>
            <a:r>
              <a:rPr lang="en-US" altLang="ko-KR" dirty="0" smtClean="0"/>
              <a:t>Activity</a:t>
            </a:r>
            <a:r>
              <a:rPr lang="ko-KR" altLang="en-US" dirty="0" smtClean="0"/>
              <a:t>의 제목 추가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318436" y="2615617"/>
            <a:ext cx="5845255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&lt;resources&gt;</a:t>
            </a:r>
          </a:p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    &lt;string name=</a:t>
            </a:r>
            <a:r>
              <a:rPr lang="en-US" altLang="ko-KR" i="1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"hello"&gt;Hello World, Act1!&lt;/string&gt;</a:t>
            </a:r>
          </a:p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    &lt;string name=</a:t>
            </a:r>
            <a:r>
              <a:rPr lang="en-US" altLang="ko-KR" i="1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"</a:t>
            </a:r>
            <a:r>
              <a:rPr lang="en-US" altLang="ko-KR" i="1" dirty="0" err="1">
                <a:solidFill>
                  <a:schemeClr val="bg1">
                    <a:lumMod val="50000"/>
                  </a:schemeClr>
                </a:solidFill>
                <a:latin typeface="맑은 고딕"/>
              </a:rPr>
              <a:t>app_name</a:t>
            </a:r>
            <a:r>
              <a:rPr lang="en-US" altLang="ko-KR" i="1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"&gt;</a:t>
            </a:r>
            <a:r>
              <a:rPr lang="en-US" altLang="ko-KR" i="1" dirty="0" err="1">
                <a:solidFill>
                  <a:schemeClr val="bg1">
                    <a:lumMod val="50000"/>
                  </a:schemeClr>
                </a:solidFill>
                <a:latin typeface="맑은 고딕"/>
              </a:rPr>
              <a:t>AppTest</a:t>
            </a:r>
            <a:r>
              <a:rPr lang="en-US" altLang="ko-KR" i="1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&lt;/string&gt;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&lt;string name="title_activity_act1"&gt;Act1&lt;/string&gt;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    &lt;string name="title_activity_act2"&gt;Act2&lt;/string&gt;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    &lt;string name="title_activity_act3"&gt;Act3&lt;/string&gt;</a:t>
            </a:r>
          </a:p>
          <a:p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    &lt;string name="title_activity_act4"&gt;Act4&lt;/string</a:t>
            </a:r>
            <a:r>
              <a:rPr lang="en-US" altLang="ko-KR" dirty="0" smtClean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&lt;/resources&gt;</a:t>
            </a:r>
            <a:endParaRPr lang="en-US" altLang="ko-KR" dirty="0">
              <a:solidFill>
                <a:schemeClr val="bg1">
                  <a:lumMod val="50000"/>
                </a:schemeClr>
              </a:solidFill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680038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Design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문자열 리소스 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/res/values/strings.xml </a:t>
            </a:r>
            <a:r>
              <a:rPr lang="ko-KR" altLang="en-US" dirty="0" smtClean="0"/>
              <a:t>편집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Activity</a:t>
            </a:r>
            <a:r>
              <a:rPr lang="ko-KR" altLang="en-US" dirty="0" smtClean="0"/>
              <a:t>간 이동을 할 버튼 이름 추가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318436" y="2615617"/>
            <a:ext cx="5721438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 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   &lt;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string name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=</a:t>
            </a:r>
            <a:r>
              <a:rPr lang="en-US" altLang="ko-KR" i="1" dirty="0" smtClean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"act3"&gt;</a:t>
            </a:r>
            <a:r>
              <a:rPr lang="en-US" altLang="ko-KR" i="1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Activity 3 !&lt;/string&gt;</a:t>
            </a:r>
          </a:p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    &lt;string name</a:t>
            </a:r>
            <a:r>
              <a:rPr lang="en-US" altLang="ko-KR" dirty="0" smtClean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=</a:t>
            </a:r>
            <a:r>
              <a:rPr lang="en-US" altLang="ko-KR" i="1" dirty="0" smtClean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"act4"&gt;</a:t>
            </a:r>
            <a:r>
              <a:rPr lang="en-US" altLang="ko-KR" i="1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Activity 4 !&lt;/string&gt;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string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 smtClean="0">
                <a:solidFill>
                  <a:srgbClr val="2A00FF"/>
                </a:solidFill>
                <a:latin typeface="맑은 고딕"/>
              </a:rPr>
              <a:t>"go_act1"</a:t>
            </a:r>
            <a:r>
              <a:rPr lang="en-US" altLang="ko-KR" i="1" dirty="0" smtClean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Act1</a:t>
            </a:r>
            <a:r>
              <a:rPr lang="ko-KR" altLang="en-US" i="1" dirty="0">
                <a:solidFill>
                  <a:srgbClr val="000000"/>
                </a:solidFill>
                <a:latin typeface="맑은 고딕"/>
              </a:rPr>
              <a:t>로 이동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string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string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 smtClean="0">
                <a:solidFill>
                  <a:srgbClr val="2A00FF"/>
                </a:solidFill>
                <a:latin typeface="맑은 고딕"/>
              </a:rPr>
              <a:t>"go_act2"</a:t>
            </a:r>
            <a:r>
              <a:rPr lang="en-US" altLang="ko-KR" i="1" dirty="0" smtClean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Act2</a:t>
            </a:r>
            <a:r>
              <a:rPr lang="ko-KR" altLang="en-US" i="1" dirty="0">
                <a:solidFill>
                  <a:srgbClr val="000000"/>
                </a:solidFill>
                <a:latin typeface="맑은 고딕"/>
              </a:rPr>
              <a:t>로 이동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string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string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 smtClean="0">
                <a:solidFill>
                  <a:srgbClr val="2A00FF"/>
                </a:solidFill>
                <a:latin typeface="맑은 고딕"/>
              </a:rPr>
              <a:t>"go_act3"</a:t>
            </a:r>
            <a:r>
              <a:rPr lang="en-US" altLang="ko-KR" i="1" dirty="0" smtClean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Act3</a:t>
            </a:r>
            <a:r>
              <a:rPr lang="ko-KR" altLang="en-US" i="1" dirty="0">
                <a:solidFill>
                  <a:srgbClr val="000000"/>
                </a:solidFill>
                <a:latin typeface="맑은 고딕"/>
              </a:rPr>
              <a:t>으로 이동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string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맑은 고딕"/>
              </a:rPr>
              <a:t>    </a:t>
            </a:r>
            <a:r>
              <a:rPr lang="en-US" altLang="ko-KR" dirty="0">
                <a:solidFill>
                  <a:srgbClr val="008080"/>
                </a:solidFill>
                <a:latin typeface="맑은 고딕"/>
              </a:rPr>
              <a:t>&lt;</a:t>
            </a:r>
            <a:r>
              <a:rPr lang="en-US" altLang="ko-KR" dirty="0">
                <a:solidFill>
                  <a:srgbClr val="3F7F7F"/>
                </a:solidFill>
                <a:latin typeface="맑은 고딕"/>
              </a:rPr>
              <a:t>string </a:t>
            </a:r>
            <a:r>
              <a:rPr lang="en-US" altLang="ko-KR" dirty="0">
                <a:solidFill>
                  <a:srgbClr val="7F007F"/>
                </a:solidFill>
                <a:latin typeface="맑은 고딕"/>
              </a:rPr>
              <a:t>name</a:t>
            </a:r>
            <a:r>
              <a:rPr lang="en-US" altLang="ko-KR" dirty="0" smtClean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i="1" dirty="0" smtClean="0">
                <a:solidFill>
                  <a:srgbClr val="2A00FF"/>
                </a:solidFill>
                <a:latin typeface="맑은 고딕"/>
              </a:rPr>
              <a:t>"go_act4"</a:t>
            </a:r>
            <a:r>
              <a:rPr lang="en-US" altLang="ko-KR" i="1" dirty="0" smtClean="0">
                <a:solidFill>
                  <a:srgbClr val="008080"/>
                </a:solidFill>
                <a:latin typeface="맑은 고딕"/>
              </a:rPr>
              <a:t>&gt;</a:t>
            </a:r>
            <a:r>
              <a:rPr lang="en-US" altLang="ko-KR" i="1" dirty="0">
                <a:solidFill>
                  <a:srgbClr val="000000"/>
                </a:solidFill>
                <a:latin typeface="맑은 고딕"/>
              </a:rPr>
              <a:t>Act4</a:t>
            </a:r>
            <a:r>
              <a:rPr lang="ko-KR" altLang="en-US" i="1" dirty="0">
                <a:solidFill>
                  <a:srgbClr val="000000"/>
                </a:solidFill>
                <a:latin typeface="맑은 고딕"/>
              </a:rPr>
              <a:t>로 이동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&lt;/</a:t>
            </a:r>
            <a:r>
              <a:rPr lang="en-US" altLang="ko-KR" i="1" dirty="0">
                <a:solidFill>
                  <a:srgbClr val="3F7F7F"/>
                </a:solidFill>
                <a:latin typeface="맑은 고딕"/>
              </a:rPr>
              <a:t>string</a:t>
            </a:r>
            <a:r>
              <a:rPr lang="en-US" altLang="ko-KR" i="1" dirty="0">
                <a:solidFill>
                  <a:srgbClr val="008080"/>
                </a:solidFill>
                <a:latin typeface="맑은 고딕"/>
              </a:rPr>
              <a:t>&gt;</a:t>
            </a:r>
          </a:p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맑은 고딕"/>
              </a:rPr>
              <a:t>&lt;/resources&gt;</a:t>
            </a:r>
          </a:p>
        </p:txBody>
      </p:sp>
    </p:spTree>
    <p:extLst>
      <p:ext uri="{BB962C8B-B14F-4D97-AF65-F5344CB8AC3E}">
        <p14:creationId xmlns:p14="http://schemas.microsoft.com/office/powerpoint/2010/main" val="187701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Design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Activity Layout </a:t>
            </a:r>
            <a:r>
              <a:rPr lang="ko-KR" altLang="en-US" dirty="0" smtClean="0"/>
              <a:t>수정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/res/layout/main.xml</a:t>
            </a:r>
          </a:p>
          <a:p>
            <a:pPr lvl="1"/>
            <a:r>
              <a:rPr lang="en-US" altLang="ko-KR" dirty="0" err="1" smtClean="0"/>
              <a:t>TextView</a:t>
            </a:r>
            <a:r>
              <a:rPr lang="ko-KR" altLang="en-US" dirty="0" smtClean="0"/>
              <a:t>를 하나만 남기고 삭제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TextView</a:t>
            </a:r>
            <a:r>
              <a:rPr lang="ko-KR" altLang="en-US" dirty="0" smtClean="0"/>
              <a:t>의 텍스트를 </a:t>
            </a:r>
            <a:r>
              <a:rPr lang="en-US" altLang="ko-KR" dirty="0" smtClean="0"/>
              <a:t>‘act1’</a:t>
            </a:r>
            <a:r>
              <a:rPr lang="ko-KR" altLang="en-US" dirty="0" smtClean="0"/>
              <a:t>로 선택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3251200"/>
            <a:ext cx="2181225" cy="31051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685925"/>
            <a:ext cx="2876550" cy="546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0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Design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Activity Layout </a:t>
            </a:r>
            <a:r>
              <a:rPr lang="ko-KR" altLang="en-US" dirty="0" smtClean="0"/>
              <a:t>수정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/res/layout/main.xml</a:t>
            </a:r>
          </a:p>
          <a:p>
            <a:pPr lvl="1"/>
            <a:r>
              <a:rPr lang="en-US" altLang="ko-KR" dirty="0" smtClean="0"/>
              <a:t>Button</a:t>
            </a:r>
            <a:r>
              <a:rPr lang="ko-KR" altLang="en-US" dirty="0" smtClean="0"/>
              <a:t>을 </a:t>
            </a:r>
            <a:r>
              <a:rPr lang="en-US" altLang="ko-KR" dirty="0" err="1" smtClean="0"/>
              <a:t>Drag&amp;Drop</a:t>
            </a:r>
            <a:r>
              <a:rPr lang="ko-KR" altLang="en-US" dirty="0" smtClean="0"/>
              <a:t>으로 추가        </a:t>
            </a:r>
            <a:r>
              <a:rPr lang="en-US" altLang="ko-KR" dirty="0" smtClean="0"/>
              <a:t>-&gt;</a:t>
            </a:r>
            <a:endParaRPr lang="en-US" altLang="ko-KR" dirty="0"/>
          </a:p>
          <a:p>
            <a:pPr marL="2286000" lvl="5" indent="0">
              <a:buNone/>
            </a:pPr>
            <a:endParaRPr lang="en-US" altLang="ko-KR" dirty="0"/>
          </a:p>
          <a:p>
            <a:pPr lvl="1"/>
            <a:r>
              <a:rPr lang="ko-KR" altLang="en-US" dirty="0" smtClean="0"/>
              <a:t>크기 조절 ↓</a:t>
            </a:r>
            <a:r>
              <a:rPr lang="en-US" altLang="ko-KR" dirty="0" smtClean="0"/>
              <a:t>			                                           </a:t>
            </a:r>
            <a:r>
              <a:rPr lang="ko-KR" altLang="en-US" dirty="0" smtClean="0"/>
              <a:t>텍스트 선택</a:t>
            </a:r>
            <a:r>
              <a:rPr lang="ko-KR" altLang="en-US" dirty="0"/>
              <a:t> ↓</a:t>
            </a:r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22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54486"/>
            <a:ext cx="3581400" cy="1524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" y="3263900"/>
            <a:ext cx="2838450" cy="345757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350997"/>
            <a:ext cx="5715000" cy="315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66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Design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Activity Layout </a:t>
            </a:r>
            <a:r>
              <a:rPr lang="ko-KR" altLang="en-US" dirty="0" smtClean="0"/>
              <a:t>수정</a:t>
            </a:r>
          </a:p>
          <a:p>
            <a:pPr lvl="1"/>
            <a:r>
              <a:rPr lang="en-US" altLang="ko-KR" dirty="0" smtClean="0"/>
              <a:t>/res/layout/main.xml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661" y="2833687"/>
            <a:ext cx="7048678" cy="213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63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Design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Activity Layout </a:t>
            </a:r>
            <a:r>
              <a:rPr lang="ko-KR" altLang="en-US" dirty="0" smtClean="0"/>
              <a:t>수</a:t>
            </a:r>
            <a:r>
              <a:rPr lang="ko-KR" altLang="en-US" dirty="0"/>
              <a:t>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테마를 </a:t>
            </a:r>
            <a:r>
              <a:rPr lang="en-US" altLang="ko-KR" dirty="0" smtClean="0"/>
              <a:t>Android 4.4</a:t>
            </a:r>
            <a:r>
              <a:rPr lang="ko-KR" altLang="en-US" dirty="0" smtClean="0"/>
              <a:t>로 맞추기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935957" y="3819411"/>
            <a:ext cx="882826" cy="4080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25" y="2447925"/>
            <a:ext cx="775335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406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Design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Activity Layout </a:t>
            </a:r>
            <a:r>
              <a:rPr lang="ko-KR" altLang="en-US" dirty="0" smtClean="0"/>
              <a:t>수정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/res/layout/act2.xml</a:t>
            </a:r>
          </a:p>
          <a:p>
            <a:pPr lvl="1"/>
            <a:r>
              <a:rPr lang="ko-KR" altLang="en-US" dirty="0" smtClean="0"/>
              <a:t>레이아웃 형태를 </a:t>
            </a:r>
            <a:r>
              <a:rPr lang="en-US" altLang="ko-KR" b="1" dirty="0" smtClean="0"/>
              <a:t>Vertical Linear </a:t>
            </a:r>
            <a:r>
              <a:rPr lang="ko-KR" altLang="en-US" b="1" dirty="0" smtClean="0"/>
              <a:t>형식으로</a:t>
            </a:r>
            <a:endParaRPr lang="en-US" altLang="ko-KR" b="1" dirty="0" smtClean="0"/>
          </a:p>
          <a:p>
            <a:pPr lvl="1"/>
            <a:r>
              <a:rPr lang="en-US" altLang="ko-KR" dirty="0" err="1" smtClean="0"/>
              <a:t>TextView</a:t>
            </a:r>
            <a:r>
              <a:rPr lang="en-US" altLang="ko-KR" dirty="0" smtClean="0"/>
              <a:t> </a:t>
            </a:r>
            <a:r>
              <a:rPr lang="ko-KR" altLang="en-US" dirty="0" smtClean="0"/>
              <a:t>하나와 버튼 두 개 추가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각각의 폭과 텍스트를 설정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998" y="1865903"/>
            <a:ext cx="3352127" cy="431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491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Design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Activity Layout </a:t>
            </a:r>
            <a:r>
              <a:rPr lang="ko-KR" altLang="en-US" dirty="0" smtClean="0"/>
              <a:t>수정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/res/layout/act3.xml</a:t>
            </a:r>
          </a:p>
          <a:p>
            <a:pPr lvl="1"/>
            <a:r>
              <a:rPr lang="en-US" altLang="ko-KR" dirty="0"/>
              <a:t>/</a:t>
            </a:r>
            <a:r>
              <a:rPr lang="en-US" altLang="ko-KR" dirty="0" smtClean="0"/>
              <a:t>res/layout/act4.xml</a:t>
            </a:r>
            <a:endParaRPr lang="en-US" altLang="ko-KR" dirty="0"/>
          </a:p>
          <a:p>
            <a:pPr lvl="1"/>
            <a:r>
              <a:rPr lang="ko-KR" altLang="en-US" dirty="0" smtClean="0"/>
              <a:t>나머지 두 개의 레이아웃도 비슷한 형태로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26</a:t>
            </a:fld>
            <a:endParaRPr lang="ko-KR" altLang="en-US"/>
          </a:p>
        </p:txBody>
      </p:sp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8998" y="1865903"/>
            <a:ext cx="3352127" cy="3935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011" y="3716740"/>
            <a:ext cx="3352127" cy="2084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814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Design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Layout </a:t>
            </a:r>
            <a:r>
              <a:rPr lang="ko-KR" altLang="en-US" dirty="0" smtClean="0"/>
              <a:t>요소에 </a:t>
            </a:r>
            <a:r>
              <a:rPr lang="en-US" altLang="ko-KR" dirty="0" smtClean="0"/>
              <a:t>ID </a:t>
            </a:r>
            <a:r>
              <a:rPr lang="ko-KR" altLang="en-US" dirty="0" smtClean="0"/>
              <a:t>할당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/res/layout/main.xml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27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2552700"/>
            <a:ext cx="6667500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579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Design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Layout </a:t>
            </a:r>
            <a:r>
              <a:rPr lang="ko-KR" altLang="en-US" dirty="0" smtClean="0"/>
              <a:t>요소에 </a:t>
            </a:r>
            <a:r>
              <a:rPr lang="en-US" altLang="ko-KR" dirty="0" smtClean="0"/>
              <a:t>ID </a:t>
            </a:r>
            <a:r>
              <a:rPr lang="ko-KR" altLang="en-US" dirty="0" smtClean="0"/>
              <a:t>할당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/res/layout/act2.xml</a:t>
            </a:r>
          </a:p>
          <a:p>
            <a:pPr lvl="2"/>
            <a:r>
              <a:rPr lang="en-US" altLang="ko-KR" dirty="0" smtClean="0"/>
              <a:t>btn_act2_go1</a:t>
            </a:r>
          </a:p>
          <a:p>
            <a:pPr lvl="2"/>
            <a:r>
              <a:rPr lang="en-US" altLang="ko-KR" dirty="0" smtClean="0"/>
              <a:t>btn_act2_go3</a:t>
            </a:r>
            <a:endParaRPr lang="en-US" altLang="ko-KR" dirty="0"/>
          </a:p>
          <a:p>
            <a:pPr lvl="1"/>
            <a:r>
              <a:rPr lang="en-US" altLang="ko-KR" dirty="0"/>
              <a:t>/</a:t>
            </a:r>
            <a:r>
              <a:rPr lang="en-US" altLang="ko-KR" dirty="0" smtClean="0"/>
              <a:t>res/layout/act3.xml</a:t>
            </a:r>
            <a:endParaRPr lang="en-US" altLang="ko-KR" dirty="0"/>
          </a:p>
          <a:p>
            <a:pPr lvl="2"/>
            <a:r>
              <a:rPr lang="en-US" altLang="ko-KR" dirty="0" smtClean="0"/>
              <a:t>btn_act3_go2</a:t>
            </a:r>
            <a:endParaRPr lang="en-US" altLang="ko-KR" dirty="0"/>
          </a:p>
          <a:p>
            <a:pPr lvl="2"/>
            <a:r>
              <a:rPr lang="en-US" altLang="ko-KR" dirty="0" smtClean="0"/>
              <a:t>btn_act3_go4</a:t>
            </a:r>
            <a:endParaRPr lang="en-US" altLang="ko-KR" dirty="0"/>
          </a:p>
          <a:p>
            <a:pPr lvl="1"/>
            <a:r>
              <a:rPr lang="en-US" altLang="ko-KR" dirty="0"/>
              <a:t>/</a:t>
            </a:r>
            <a:r>
              <a:rPr lang="en-US" altLang="ko-KR" dirty="0" smtClean="0"/>
              <a:t>res/layout/act4.xml</a:t>
            </a:r>
            <a:endParaRPr lang="en-US" altLang="ko-KR" dirty="0"/>
          </a:p>
          <a:p>
            <a:pPr lvl="2"/>
            <a:r>
              <a:rPr lang="en-US" altLang="ko-KR" dirty="0" smtClean="0"/>
              <a:t>btn_act4_go3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13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Activity Code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Activity Code </a:t>
            </a:r>
            <a:r>
              <a:rPr lang="ko-KR" altLang="en-US" dirty="0" smtClean="0"/>
              <a:t>추가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/Act2.java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/Act3.java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/Act4.java</a:t>
            </a:r>
            <a:r>
              <a:rPr lang="ko-KR" altLang="en-US" dirty="0" smtClean="0"/>
              <a:t>도 유사하게 추가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75907" y="2222205"/>
            <a:ext cx="5622052" cy="310854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public class Act2 extends Activity {</a:t>
            </a:r>
          </a:p>
          <a:p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/**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Called when the activity is first created. */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@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600" b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600" b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600" b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600" b="1" dirty="0" err="1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600" b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600" b="1" dirty="0" err="1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endParaRPr lang="ko-KR" altLang="en-US" sz="1600" dirty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//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TODO Auto-generated method stub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   </a:t>
            </a:r>
            <a:r>
              <a:rPr lang="en-US" altLang="ko-KR" dirty="0" smtClean="0">
                <a:solidFill>
                  <a:srgbClr val="000000"/>
                </a:solidFill>
                <a:latin typeface="돋움체"/>
                <a:ea typeface="돋움체"/>
              </a:rPr>
              <a:t>   </a:t>
            </a:r>
            <a:r>
              <a:rPr lang="en-US" altLang="ko-KR" b="1" dirty="0" err="1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/>
                <a:ea typeface="돋움체"/>
              </a:rPr>
              <a:t>setContentView</a:t>
            </a:r>
            <a:r>
              <a:rPr lang="en-US" altLang="ko-KR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/>
                <a:ea typeface="돋움체"/>
              </a:rPr>
              <a:t>(R.layout.</a:t>
            </a:r>
            <a:r>
              <a:rPr lang="en-US" altLang="ko-KR" b="1" i="1" dirty="0" smtClean="0">
                <a:solidFill>
                  <a:srgbClr val="000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/>
                <a:ea typeface="돋움체"/>
              </a:rPr>
              <a:t>activity_act2</a:t>
            </a:r>
            <a:r>
              <a:rPr lang="en-US" altLang="ko-KR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돋움체"/>
                <a:ea typeface="돋움체"/>
              </a:rPr>
              <a:t>);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}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endParaRPr lang="ko-KR" altLang="en-US" sz="1600" dirty="0" smtClean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</p:txBody>
      </p:sp>
    </p:spTree>
    <p:extLst>
      <p:ext uri="{BB962C8B-B14F-4D97-AF65-F5344CB8AC3E}">
        <p14:creationId xmlns:p14="http://schemas.microsoft.com/office/powerpoint/2010/main" val="422232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Event Listener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이벤트가 발생했을 때 신호를 수신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버튼 눌림 이벤트를 수신할 필요가 있음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/Act1.java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65275" y="2592778"/>
            <a:ext cx="6955750" cy="406265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@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Override</a:t>
            </a:r>
          </a:p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public void </a:t>
            </a:r>
            <a:r>
              <a:rPr lang="en-US" altLang="ko-KR" sz="1400" b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(Bundle </a:t>
            </a:r>
            <a:r>
              <a:rPr lang="en-US" altLang="ko-KR" sz="1400" b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) {</a:t>
            </a:r>
          </a:p>
          <a:p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Log.</a:t>
            </a:r>
            <a:r>
              <a:rPr lang="en-US" altLang="ko-KR" sz="1400" i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i</a:t>
            </a:r>
            <a:r>
              <a:rPr lang="en-US" altLang="ko-KR" sz="1400" i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("Act1", "</a:t>
            </a:r>
            <a:r>
              <a:rPr lang="en-US" altLang="ko-KR" sz="1400" i="1" dirty="0" err="1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onCreate</a:t>
            </a:r>
            <a:r>
              <a:rPr lang="en-US" altLang="ko-KR" sz="1400" i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");</a:t>
            </a:r>
            <a:endParaRPr lang="en-US" altLang="ko-KR" sz="1400" i="1" dirty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b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super.onCreate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b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savedInstanceState</a:t>
            </a:r>
            <a:r>
              <a:rPr lang="en-US" altLang="ko-KR" sz="14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setContentView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</a:t>
            </a:r>
            <a:r>
              <a:rPr lang="en-US" altLang="ko-KR" sz="1400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R.layout.</a:t>
            </a:r>
            <a:r>
              <a:rPr lang="en-US" altLang="ko-KR" sz="1400" i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main</a:t>
            </a:r>
            <a:r>
              <a:rPr lang="en-US" altLang="ko-KR" sz="1400" i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/* </a:t>
            </a:r>
            <a:r>
              <a:rPr lang="ko-KR" altLang="en-US" sz="1600" dirty="0">
                <a:solidFill>
                  <a:srgbClr val="3F7F5F"/>
                </a:solidFill>
                <a:latin typeface="돋움체"/>
                <a:ea typeface="돋움체"/>
              </a:rPr>
              <a:t>버튼의 </a:t>
            </a:r>
            <a:r>
              <a:rPr lang="ko-KR" altLang="en-US" sz="1600" dirty="0" err="1">
                <a:solidFill>
                  <a:srgbClr val="3F7F5F"/>
                </a:solidFill>
                <a:latin typeface="돋움체"/>
                <a:ea typeface="돋움체"/>
              </a:rPr>
              <a:t>인스턴스</a:t>
            </a:r>
            <a:r>
              <a:rPr lang="ko-KR" altLang="en-US" sz="1600" dirty="0">
                <a:solidFill>
                  <a:srgbClr val="3F7F5F"/>
                </a:solidFill>
                <a:latin typeface="돋움체"/>
                <a:ea typeface="돋움체"/>
              </a:rPr>
              <a:t> 확인 *</a:t>
            </a:r>
            <a:r>
              <a:rPr lang="en-US" altLang="ko-KR" sz="1600" dirty="0">
                <a:solidFill>
                  <a:srgbClr val="3F7F5F"/>
                </a:solidFill>
                <a:latin typeface="돋움체"/>
                <a:ea typeface="돋움체"/>
              </a:rPr>
              <a:t>/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  Button go_act2 = (Button)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findViewById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(R.id.</a:t>
            </a:r>
            <a:r>
              <a:rPr lang="en-US" altLang="ko-KR" sz="1600" i="1" dirty="0">
                <a:solidFill>
                  <a:srgbClr val="0000C0"/>
                </a:solidFill>
                <a:latin typeface="돋움체"/>
                <a:ea typeface="돋움체"/>
              </a:rPr>
              <a:t>btn_act1_go2</a:t>
            </a:r>
            <a:r>
              <a:rPr lang="en-US" altLang="ko-KR" sz="16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smtClean="0">
                <a:solidFill>
                  <a:srgbClr val="3F7F5F"/>
                </a:solidFill>
                <a:latin typeface="돋움체"/>
                <a:ea typeface="돋움체"/>
              </a:rPr>
              <a:t>/* </a:t>
            </a:r>
            <a:r>
              <a:rPr lang="ko-KR" altLang="en-US" sz="1600" dirty="0" smtClean="0">
                <a:solidFill>
                  <a:srgbClr val="3F7F5F"/>
                </a:solidFill>
                <a:latin typeface="돋움체"/>
                <a:ea typeface="돋움체"/>
              </a:rPr>
              <a:t>이벤트를 받기 위한 </a:t>
            </a:r>
            <a:r>
              <a:rPr lang="ko-KR" altLang="en-US" sz="1600" dirty="0" err="1" smtClean="0">
                <a:solidFill>
                  <a:srgbClr val="3F7F5F"/>
                </a:solidFill>
                <a:latin typeface="돋움체"/>
                <a:ea typeface="돋움체"/>
              </a:rPr>
              <a:t>리스너</a:t>
            </a:r>
            <a:r>
              <a:rPr lang="ko-KR" altLang="en-US" sz="1600" dirty="0" smtClean="0">
                <a:solidFill>
                  <a:srgbClr val="3F7F5F"/>
                </a:solidFill>
                <a:latin typeface="돋움체"/>
                <a:ea typeface="돋움체"/>
              </a:rPr>
              <a:t> 작성 *</a:t>
            </a:r>
            <a:r>
              <a:rPr lang="en-US" altLang="ko-KR" sz="1600" dirty="0" smtClean="0">
                <a:solidFill>
                  <a:srgbClr val="3F7F5F"/>
                </a:solidFill>
                <a:latin typeface="돋움체"/>
                <a:ea typeface="돋움체"/>
              </a:rPr>
              <a:t>/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go_act2.setOnClickListener(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</a:t>
            </a:r>
            <a:r>
              <a:rPr lang="en-US" altLang="ko-KR" sz="1600" b="1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sz="1600" b="1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b="1" dirty="0" smtClean="0">
                <a:solidFill>
                  <a:srgbClr val="000000"/>
                </a:solidFill>
                <a:latin typeface="돋움체"/>
                <a:ea typeface="돋움체"/>
              </a:rPr>
              <a:t>go_act2.</a:t>
            </a:r>
            <a:r>
              <a:rPr lang="en-US" altLang="ko-KR" sz="1600" b="1" dirty="0" smtClean="0">
                <a:solidFill>
                  <a:srgbClr val="000000"/>
                </a:solidFill>
                <a:highlight>
                  <a:srgbClr val="D4D4D4"/>
                </a:highlight>
                <a:latin typeface="돋움체"/>
                <a:ea typeface="돋움체"/>
              </a:rPr>
              <a:t>OnClickListener</a:t>
            </a:r>
            <a:r>
              <a:rPr lang="en-US" altLang="ko-KR" sz="1600" b="1" dirty="0">
                <a:solidFill>
                  <a:srgbClr val="000000"/>
                </a:solidFill>
                <a:highlight>
                  <a:srgbClr val="D4D4D4"/>
                </a:highlight>
                <a:latin typeface="돋움체"/>
                <a:ea typeface="돋움체"/>
              </a:rPr>
              <a:t>()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      </a:t>
            </a:r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</a:t>
            </a:r>
            <a:r>
              <a:rPr lang="en-US" altLang="ko-KR" sz="1600" b="1" dirty="0">
                <a:solidFill>
                  <a:srgbClr val="7F0055"/>
                </a:solidFill>
                <a:latin typeface="돋움체"/>
                <a:ea typeface="돋움체"/>
              </a:rPr>
              <a:t>public</a:t>
            </a:r>
            <a:r>
              <a:rPr lang="en-US" altLang="ko-KR" sz="1600" b="1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b="1" dirty="0">
                <a:solidFill>
                  <a:srgbClr val="7F0055"/>
                </a:solidFill>
                <a:latin typeface="돋움체"/>
                <a:ea typeface="돋움체"/>
              </a:rPr>
              <a:t>void</a:t>
            </a:r>
            <a:r>
              <a:rPr lang="en-US" altLang="ko-KR" sz="1600" b="1" dirty="0">
                <a:solidFill>
                  <a:srgbClr val="000000"/>
                </a:solidFill>
                <a:latin typeface="돋움체"/>
                <a:ea typeface="돋움체"/>
              </a:rPr>
              <a:t> </a:t>
            </a:r>
            <a:r>
              <a:rPr lang="en-US" altLang="ko-KR" sz="1600" b="1" dirty="0" err="1">
                <a:solidFill>
                  <a:srgbClr val="000000"/>
                </a:solidFill>
                <a:latin typeface="돋움체"/>
                <a:ea typeface="돋움체"/>
              </a:rPr>
              <a:t>onClick</a:t>
            </a:r>
            <a:r>
              <a:rPr lang="en-US" altLang="ko-KR" sz="1600" b="1" dirty="0">
                <a:solidFill>
                  <a:srgbClr val="000000"/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    </a:t>
            </a:r>
            <a:r>
              <a:rPr lang="en-US" altLang="ko-KR" sz="1600" dirty="0" err="1">
                <a:solidFill>
                  <a:srgbClr val="000000"/>
                </a:solidFill>
                <a:latin typeface="돋움체"/>
                <a:ea typeface="돋움체"/>
              </a:rPr>
              <a:t>Log.</a:t>
            </a:r>
            <a:r>
              <a:rPr lang="en-US" altLang="ko-KR" sz="1600" i="1" dirty="0" err="1">
                <a:solidFill>
                  <a:srgbClr val="000000"/>
                </a:solidFill>
                <a:latin typeface="돋움체"/>
                <a:ea typeface="돋움체"/>
              </a:rPr>
              <a:t>i</a:t>
            </a:r>
            <a:r>
              <a:rPr lang="en-US" altLang="ko-KR" sz="1600" i="1" dirty="0" smtClean="0">
                <a:solidFill>
                  <a:srgbClr val="000000"/>
                </a:solidFill>
                <a:latin typeface="돋움체"/>
                <a:ea typeface="돋움체"/>
              </a:rPr>
              <a:t>(</a:t>
            </a:r>
            <a:r>
              <a:rPr lang="en-US" altLang="ko-KR" sz="1600" i="1" dirty="0" smtClean="0">
                <a:solidFill>
                  <a:srgbClr val="2A00FF"/>
                </a:solidFill>
                <a:latin typeface="돋움체"/>
                <a:ea typeface="돋움체"/>
              </a:rPr>
              <a:t>"Act1.btn_act1_go2"</a:t>
            </a:r>
            <a:r>
              <a:rPr lang="en-US" altLang="ko-KR" sz="1600" i="1" dirty="0" smtClean="0">
                <a:solidFill>
                  <a:srgbClr val="000000"/>
                </a:solidFill>
                <a:latin typeface="돋움체"/>
                <a:ea typeface="돋움체"/>
              </a:rPr>
              <a:t>, </a:t>
            </a:r>
            <a:r>
              <a:rPr lang="en-US" altLang="ko-KR" sz="16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600" i="1" dirty="0" err="1" smtClean="0">
                <a:solidFill>
                  <a:srgbClr val="2A00FF"/>
                </a:solidFill>
                <a:latin typeface="돋움체"/>
                <a:ea typeface="돋움체"/>
              </a:rPr>
              <a:t>onClick</a:t>
            </a:r>
            <a:r>
              <a:rPr lang="en-US" altLang="ko-KR" sz="1600" i="1" dirty="0" smtClean="0">
                <a:solidFill>
                  <a:srgbClr val="2A00FF"/>
                </a:solidFill>
                <a:latin typeface="돋움체"/>
                <a:ea typeface="돋움체"/>
              </a:rPr>
              <a:t>"</a:t>
            </a:r>
            <a:r>
              <a:rPr lang="en-US" altLang="ko-KR" sz="1600" i="1" dirty="0" smtClean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  <a:endParaRPr lang="en-US" altLang="ko-KR" sz="1600" i="1" dirty="0">
              <a:solidFill>
                <a:srgbClr val="000000"/>
              </a:solidFill>
              <a:latin typeface="돋움체"/>
              <a:ea typeface="돋움체"/>
            </a:endParaRP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600" dirty="0" smtClean="0">
                <a:solidFill>
                  <a:srgbClr val="000000"/>
                </a:solidFill>
                <a:latin typeface="돋움체"/>
                <a:ea typeface="돋움체"/>
              </a:rPr>
              <a:t>    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}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}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11" b="64688"/>
          <a:stretch/>
        </p:blipFill>
        <p:spPr bwMode="auto">
          <a:xfrm>
            <a:off x="3509852" y="5890437"/>
            <a:ext cx="4591050" cy="882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8042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Explicit Intent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인텐트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어플리케이션 사이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액티비티</a:t>
            </a:r>
            <a:r>
              <a:rPr lang="ko-KR" altLang="en-US" dirty="0" smtClean="0"/>
              <a:t> 사이에 전달되는 메시지 꾸러미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명시적 </a:t>
            </a:r>
            <a:r>
              <a:rPr lang="ko-KR" altLang="en-US" dirty="0" err="1" smtClean="0"/>
              <a:t>인텐트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정확하게 어떤 </a:t>
            </a:r>
            <a:r>
              <a:rPr lang="en-US" altLang="ko-KR" dirty="0" smtClean="0"/>
              <a:t>App</a:t>
            </a:r>
            <a:r>
              <a:rPr lang="ko-KR" altLang="en-US" dirty="0" smtClean="0"/>
              <a:t>의 어떤 </a:t>
            </a:r>
            <a:r>
              <a:rPr lang="ko-KR" altLang="en-US" dirty="0" err="1" smtClean="0"/>
              <a:t>액티비티라고</a:t>
            </a:r>
            <a:r>
              <a:rPr lang="ko-KR" altLang="en-US" dirty="0" smtClean="0"/>
              <a:t> 명시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암시적 </a:t>
            </a:r>
            <a:r>
              <a:rPr lang="ko-KR" altLang="en-US" dirty="0" err="1" smtClean="0"/>
              <a:t>인텐트</a:t>
            </a:r>
            <a:r>
              <a:rPr lang="en-US" altLang="ko-KR" dirty="0" smtClean="0"/>
              <a:t>: </a:t>
            </a:r>
            <a:r>
              <a:rPr lang="ko-KR" altLang="en-US" dirty="0" smtClean="0"/>
              <a:t>메일을 보낼 수 있는 </a:t>
            </a:r>
            <a:r>
              <a:rPr lang="ko-KR" altLang="en-US" dirty="0" err="1" smtClean="0"/>
              <a:t>액티비티를</a:t>
            </a:r>
            <a:r>
              <a:rPr lang="ko-KR" altLang="en-US" dirty="0" smtClean="0"/>
              <a:t> 실행해 주세요</a:t>
            </a:r>
            <a:r>
              <a:rPr lang="en-US" altLang="ko-KR" dirty="0" smtClean="0"/>
              <a:t>~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이벤트 발생했을 때 다음 </a:t>
            </a:r>
            <a:r>
              <a:rPr lang="ko-KR" altLang="en-US" dirty="0" err="1"/>
              <a:t>액티비티</a:t>
            </a:r>
            <a:r>
              <a:rPr lang="ko-KR" altLang="en-US" dirty="0"/>
              <a:t> 호출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35666" y="3604437"/>
            <a:ext cx="7109639" cy="24622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new </a:t>
            </a:r>
            <a:r>
              <a:rPr lang="en-US" altLang="ko-KR" sz="1600" b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OnClickListener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() {</a:t>
            </a:r>
          </a:p>
          <a:p>
            <a:r>
              <a:rPr lang="en-US" altLang="ko-KR" sz="1600" b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public 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void </a:t>
            </a:r>
            <a:r>
              <a:rPr lang="en-US" altLang="ko-KR" sz="1600" b="1" dirty="0" err="1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onClick</a:t>
            </a:r>
            <a:r>
              <a:rPr lang="en-US" altLang="ko-KR" sz="1600" b="1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(View v) {</a:t>
            </a: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</a:t>
            </a:r>
            <a:r>
              <a:rPr lang="en-US" altLang="ko-KR" sz="1600" dirty="0" err="1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Log.</a:t>
            </a:r>
            <a:r>
              <a:rPr lang="en-US" altLang="ko-KR" sz="1600" i="1" dirty="0" err="1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i</a:t>
            </a:r>
            <a:r>
              <a:rPr lang="en-US" altLang="ko-KR" sz="1600" i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("Act1.btn_act1_go2", "</a:t>
            </a:r>
            <a:r>
              <a:rPr lang="en-US" altLang="ko-KR" sz="1600" i="1" dirty="0" err="1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onClick</a:t>
            </a:r>
            <a:r>
              <a:rPr lang="en-US" altLang="ko-KR" sz="1600" i="1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");</a:t>
            </a:r>
            <a:endParaRPr lang="en-US" altLang="ko-KR" sz="1600" i="1" dirty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r>
              <a:rPr lang="ko-KR" altLang="en-US" sz="1600" dirty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    </a:t>
            </a:r>
          </a:p>
          <a:p>
            <a:r>
              <a:rPr lang="en-US" altLang="ko-KR" dirty="0" smtClean="0">
                <a:solidFill>
                  <a:srgbClr val="3F7F5F"/>
                </a:solidFill>
                <a:latin typeface="돋움체"/>
                <a:ea typeface="돋움체"/>
              </a:rPr>
              <a:t>        /* </a:t>
            </a:r>
            <a:r>
              <a:rPr lang="ko-KR" altLang="en-US" dirty="0" err="1">
                <a:solidFill>
                  <a:srgbClr val="3F7F5F"/>
                </a:solidFill>
                <a:latin typeface="돋움체"/>
                <a:ea typeface="돋움체"/>
              </a:rPr>
              <a:t>인텐트를</a:t>
            </a:r>
            <a:r>
              <a:rPr lang="ko-KR" altLang="en-US" dirty="0">
                <a:solidFill>
                  <a:srgbClr val="3F7F5F"/>
                </a:solidFill>
                <a:latin typeface="돋움체"/>
                <a:ea typeface="돋움체"/>
              </a:rPr>
              <a:t> 생성한 후 명시적 다음 </a:t>
            </a:r>
            <a:r>
              <a:rPr lang="ko-KR" altLang="en-US" dirty="0" err="1">
                <a:solidFill>
                  <a:srgbClr val="3F7F5F"/>
                </a:solidFill>
                <a:latin typeface="돋움체"/>
                <a:ea typeface="돋움체"/>
              </a:rPr>
              <a:t>액티비티를</a:t>
            </a:r>
            <a:r>
              <a:rPr lang="ko-KR" altLang="en-US" dirty="0">
                <a:solidFill>
                  <a:srgbClr val="3F7F5F"/>
                </a:solidFill>
                <a:latin typeface="돋움체"/>
                <a:ea typeface="돋움체"/>
              </a:rPr>
              <a:t> 호출 *</a:t>
            </a:r>
            <a:r>
              <a:rPr lang="en-US" altLang="ko-KR" dirty="0">
                <a:solidFill>
                  <a:srgbClr val="3F7F5F"/>
                </a:solidFill>
                <a:latin typeface="돋움체"/>
                <a:ea typeface="돋움체"/>
              </a:rPr>
              <a:t>/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       Intent intent1 = </a:t>
            </a:r>
            <a:r>
              <a:rPr lang="en-US" altLang="ko-KR" b="1" dirty="0">
                <a:solidFill>
                  <a:srgbClr val="7F0055"/>
                </a:solidFill>
                <a:latin typeface="돋움체"/>
                <a:ea typeface="돋움체"/>
              </a:rPr>
              <a:t>new</a:t>
            </a:r>
            <a:r>
              <a:rPr lang="en-US" altLang="ko-KR" b="1" dirty="0">
                <a:solidFill>
                  <a:srgbClr val="000000"/>
                </a:solidFill>
                <a:latin typeface="돋움체"/>
                <a:ea typeface="돋움체"/>
              </a:rPr>
              <a:t> Intent(Act1.</a:t>
            </a:r>
            <a:r>
              <a:rPr lang="en-US" altLang="ko-KR" b="1" dirty="0">
                <a:solidFill>
                  <a:srgbClr val="7F0055"/>
                </a:solidFill>
                <a:latin typeface="돋움체"/>
                <a:ea typeface="돋움체"/>
              </a:rPr>
              <a:t>this</a:t>
            </a:r>
            <a:r>
              <a:rPr lang="en-US" altLang="ko-KR" b="1" dirty="0">
                <a:solidFill>
                  <a:srgbClr val="000000"/>
                </a:solidFill>
                <a:latin typeface="돋움체"/>
                <a:ea typeface="돋움체"/>
              </a:rPr>
              <a:t>, Act2.</a:t>
            </a:r>
            <a:r>
              <a:rPr lang="en-US" altLang="ko-KR" b="1" dirty="0">
                <a:solidFill>
                  <a:srgbClr val="7F0055"/>
                </a:solidFill>
                <a:latin typeface="돋움체"/>
                <a:ea typeface="돋움체"/>
              </a:rPr>
              <a:t>class</a:t>
            </a:r>
            <a:r>
              <a:rPr lang="en-US" altLang="ko-KR" b="1" dirty="0">
                <a:solidFill>
                  <a:srgbClr val="000000"/>
                </a:solidFill>
                <a:latin typeface="돋움체"/>
                <a:ea typeface="돋움체"/>
              </a:rPr>
              <a:t>);</a:t>
            </a:r>
          </a:p>
          <a:p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        </a:t>
            </a:r>
            <a:r>
              <a:rPr lang="en-US" altLang="ko-KR" dirty="0" err="1">
                <a:solidFill>
                  <a:srgbClr val="000000"/>
                </a:solidFill>
                <a:latin typeface="돋움체"/>
                <a:ea typeface="돋움체"/>
              </a:rPr>
              <a:t>startActivity</a:t>
            </a:r>
            <a:r>
              <a:rPr lang="en-US" altLang="ko-KR" dirty="0">
                <a:solidFill>
                  <a:srgbClr val="000000"/>
                </a:solidFill>
                <a:latin typeface="돋움체"/>
                <a:ea typeface="돋움체"/>
              </a:rPr>
              <a:t>(intent1);</a:t>
            </a:r>
          </a:p>
          <a:p>
            <a:r>
              <a:rPr lang="ko-KR" altLang="en-US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    </a:t>
            </a:r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}</a:t>
            </a:r>
            <a:endParaRPr lang="en-US" altLang="ko-KR" sz="1600" dirty="0">
              <a:solidFill>
                <a:schemeClr val="bg1">
                  <a:lumMod val="50000"/>
                </a:schemeClr>
              </a:solidFill>
              <a:latin typeface="돋움체"/>
              <a:ea typeface="돋움체"/>
            </a:endParaRPr>
          </a:p>
          <a:p>
            <a:r>
              <a:rPr lang="en-US" altLang="ko-KR" sz="1600" dirty="0" smtClean="0">
                <a:solidFill>
                  <a:schemeClr val="bg1">
                    <a:lumMod val="50000"/>
                  </a:schemeClr>
                </a:solidFill>
                <a:latin typeface="돋움체"/>
                <a:ea typeface="돋움체"/>
              </a:rPr>
              <a:t>}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Run</a:t>
            </a:r>
            <a:endParaRPr lang="ko-KR" altLang="en-US" dirty="0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372" y="1413466"/>
            <a:ext cx="4629150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947" y="3312042"/>
            <a:ext cx="4629150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굽은 화살표 4"/>
          <p:cNvSpPr/>
          <p:nvPr/>
        </p:nvSpPr>
        <p:spPr>
          <a:xfrm rot="5400000">
            <a:off x="5039845" y="3032940"/>
            <a:ext cx="1403497" cy="685800"/>
          </a:xfrm>
          <a:prstGeom prst="ben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80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Advanced</a:t>
            </a:r>
            <a:endParaRPr lang="en-US" altLang="ko-KR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dirty="0" smtClean="0"/>
              <a:t>Act1</a:t>
            </a:r>
            <a:r>
              <a:rPr lang="ko-KR" altLang="en-US" dirty="0" smtClean="0"/>
              <a:t>에 버튼을 하나 더 추가하고</a:t>
            </a:r>
            <a:r>
              <a:rPr lang="en-US" altLang="ko-KR" dirty="0" smtClean="0"/>
              <a:t>,</a:t>
            </a:r>
            <a:br>
              <a:rPr lang="en-US" altLang="ko-KR" dirty="0" smtClean="0"/>
            </a:br>
            <a:r>
              <a:rPr lang="ko-KR" altLang="en-US" dirty="0" smtClean="0"/>
              <a:t>버튼을 눌렀을 때 </a:t>
            </a:r>
            <a:r>
              <a:rPr lang="en-US" altLang="ko-KR" dirty="0" err="1" smtClean="0"/>
              <a:t>TextView</a:t>
            </a:r>
            <a:r>
              <a:rPr lang="ko-KR" altLang="en-US" dirty="0" smtClean="0"/>
              <a:t>에 자신의 이름이 출력되도록 해봅니다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 smtClean="0"/>
          </a:p>
          <a:p>
            <a:pPr lvl="1"/>
            <a:r>
              <a:rPr lang="en-US" altLang="ko-KR" dirty="0" smtClean="0"/>
              <a:t>AndroidManifest.xml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Act2 </a:t>
            </a:r>
            <a:r>
              <a:rPr lang="ko-KR" altLang="en-US" dirty="0" err="1" smtClean="0"/>
              <a:t>액티비티의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Theme</a:t>
            </a:r>
            <a:r>
              <a:rPr lang="ko-KR" altLang="en-US" dirty="0" smtClean="0"/>
              <a:t>를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“@android:style/Theme.Translucent”</a:t>
            </a:r>
            <a:r>
              <a:rPr lang="ko-KR" altLang="en-US" smtClean="0"/>
              <a:t>로 </a:t>
            </a:r>
            <a:r>
              <a:rPr lang="ko-KR" altLang="en-US" dirty="0" smtClean="0"/>
              <a:t>지정하고 실행했을 때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Act1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Log</a:t>
            </a:r>
            <a:r>
              <a:rPr lang="ko-KR" altLang="en-US" dirty="0" smtClean="0"/>
              <a:t>가 테마를 지정하지 않았을 때와 어떻게 다른지 확인해봅니다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4210050"/>
            <a:ext cx="7524750" cy="18478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9503" y="3167243"/>
            <a:ext cx="3533775" cy="1276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38680" y="39798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①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10705" y="35409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②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519805" y="579096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③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815580" y="58719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④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411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#2.3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Ex2_Application </a:t>
            </a:r>
            <a:r>
              <a:rPr lang="ko-KR" altLang="en-US" dirty="0" smtClean="0"/>
              <a:t>예제 완성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 lvl="1"/>
            <a:r>
              <a:rPr lang="ko-KR" altLang="en-US" dirty="0" smtClean="0"/>
              <a:t>기대한 대로 작동하도록 코드를 완성합니다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완성된 어플리케이션의 버튼을 이용하여 </a:t>
            </a:r>
            <a:r>
              <a:rPr lang="ko-KR" altLang="en-US" dirty="0" err="1" smtClean="0"/>
              <a:t>액티비티</a:t>
            </a:r>
            <a:r>
              <a:rPr lang="ko-KR" altLang="en-US" dirty="0" smtClean="0"/>
              <a:t> 전환을 테스트하고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Back </a:t>
            </a:r>
            <a:r>
              <a:rPr lang="ko-KR" altLang="en-US" dirty="0" smtClean="0"/>
              <a:t>버튼을 사용해서 이전의 </a:t>
            </a:r>
            <a:r>
              <a:rPr lang="ko-KR" altLang="en-US" dirty="0" err="1" smtClean="0"/>
              <a:t>액티비티로</a:t>
            </a:r>
            <a:r>
              <a:rPr lang="ko-KR" altLang="en-US" dirty="0" smtClean="0"/>
              <a:t> 복귀해 봅시다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계속된 </a:t>
            </a:r>
            <a:r>
              <a:rPr lang="ko-KR" altLang="en-US" dirty="0" err="1" smtClean="0"/>
              <a:t>인텐트</a:t>
            </a:r>
            <a:r>
              <a:rPr lang="ko-KR" altLang="en-US" dirty="0" smtClean="0"/>
              <a:t> 호출이 </a:t>
            </a:r>
            <a:r>
              <a:rPr lang="en-US" altLang="ko-KR" dirty="0" smtClean="0"/>
              <a:t>Task</a:t>
            </a:r>
            <a:r>
              <a:rPr lang="ko-KR" altLang="en-US" dirty="0" smtClean="0"/>
              <a:t>에 어떤 영향을 미치는지 생각해 봅시다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Activity </a:t>
            </a:r>
            <a:r>
              <a:rPr lang="ko-KR" altLang="en-US" dirty="0" smtClean="0"/>
              <a:t>클래스의 </a:t>
            </a:r>
            <a:r>
              <a:rPr lang="en-US" altLang="ko-KR" dirty="0" smtClean="0"/>
              <a:t>finish() </a:t>
            </a:r>
            <a:r>
              <a:rPr lang="ko-KR" altLang="en-US" dirty="0" err="1" smtClean="0"/>
              <a:t>메서드에</a:t>
            </a:r>
            <a:r>
              <a:rPr lang="ko-KR" altLang="en-US" dirty="0" smtClean="0"/>
              <a:t> 대해서 알아 봅시다</a:t>
            </a:r>
            <a:r>
              <a:rPr lang="en-US" altLang="ko-KR" dirty="0" smtClean="0"/>
              <a:t>.</a:t>
            </a:r>
          </a:p>
          <a:p>
            <a:pPr lvl="1"/>
            <a:endParaRPr lang="en-US" altLang="ko-KR" dirty="0"/>
          </a:p>
          <a:p>
            <a:r>
              <a:rPr lang="ko-KR" altLang="en-US" dirty="0" smtClean="0"/>
              <a:t>제출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완성된 어플리케이션의 실행화면을 적절하게 </a:t>
            </a:r>
            <a:r>
              <a:rPr lang="ko-KR" altLang="en-US" dirty="0" err="1" smtClean="0"/>
              <a:t>캡쳐하여</a:t>
            </a:r>
            <a:r>
              <a:rPr lang="ko-KR" altLang="en-US" dirty="0" smtClean="0"/>
              <a:t> 제출합니다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dirty="0" smtClean="0"/>
              <a:t>본인의 저장소에 파일이름 </a:t>
            </a:r>
            <a:r>
              <a:rPr lang="en-US" altLang="ko-KR" dirty="0" smtClean="0"/>
              <a:t>Practice2.3_</a:t>
            </a:r>
            <a:r>
              <a:rPr lang="ko-KR" altLang="en-US" dirty="0" smtClean="0"/>
              <a:t>학번</a:t>
            </a:r>
            <a:r>
              <a:rPr lang="en-US" altLang="ko-KR" dirty="0" smtClean="0"/>
              <a:t>_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.jpg</a:t>
            </a:r>
            <a:r>
              <a:rPr lang="ko-KR" altLang="en-US" dirty="0" smtClean="0"/>
              <a:t>으로 저장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34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871870" y="2030816"/>
            <a:ext cx="1701209" cy="59542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Act1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3033823" y="2030816"/>
            <a:ext cx="1701209" cy="59542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Act2</a:t>
            </a:r>
            <a:endParaRPr lang="ko-KR" altLang="en-US" dirty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5192232" y="2030816"/>
            <a:ext cx="1701209" cy="59542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Act3</a:t>
            </a:r>
            <a:endParaRPr lang="ko-KR" altLang="en-US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7340010" y="2030816"/>
            <a:ext cx="1701209" cy="59542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Act4</a:t>
            </a:r>
            <a:endParaRPr lang="ko-KR" altLang="en-US" dirty="0"/>
          </a:p>
        </p:txBody>
      </p:sp>
      <p:sp>
        <p:nvSpPr>
          <p:cNvPr id="10" name="왼쪽/오른쪽 화살표 9"/>
          <p:cNvSpPr/>
          <p:nvPr/>
        </p:nvSpPr>
        <p:spPr>
          <a:xfrm>
            <a:off x="4428461" y="2190303"/>
            <a:ext cx="1031358" cy="276447"/>
          </a:xfrm>
          <a:prstGeom prst="left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왼쪽/오른쪽 화살표 10"/>
          <p:cNvSpPr/>
          <p:nvPr/>
        </p:nvSpPr>
        <p:spPr>
          <a:xfrm>
            <a:off x="2294861" y="2204479"/>
            <a:ext cx="1031358" cy="276447"/>
          </a:xfrm>
          <a:prstGeom prst="left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왼쪽/오른쪽 화살표 11"/>
          <p:cNvSpPr/>
          <p:nvPr/>
        </p:nvSpPr>
        <p:spPr>
          <a:xfrm>
            <a:off x="6601047" y="2204479"/>
            <a:ext cx="1031358" cy="276447"/>
          </a:xfrm>
          <a:prstGeom prst="left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479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35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06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32871</TotalTime>
  <Words>1110</Words>
  <Application>Microsoft Office PowerPoint</Application>
  <PresentationFormat>화면 슬라이드 쇼(4:3)</PresentationFormat>
  <Paragraphs>335</Paragraphs>
  <Slides>35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6" baseType="lpstr">
      <vt:lpstr>Executive</vt:lpstr>
      <vt:lpstr>실습</vt:lpstr>
      <vt:lpstr>Debugging</vt:lpstr>
      <vt:lpstr>Debugging</vt:lpstr>
      <vt:lpstr>Debugging</vt:lpstr>
      <vt:lpstr>Debug Perspective</vt:lpstr>
      <vt:lpstr>DDMS</vt:lpstr>
      <vt:lpstr>DDMS</vt:lpstr>
      <vt:lpstr>LogCat</vt:lpstr>
      <vt:lpstr>Log Output</vt:lpstr>
      <vt:lpstr>Log Output</vt:lpstr>
      <vt:lpstr>Log Output</vt:lpstr>
      <vt:lpstr>Example #2.2</vt:lpstr>
      <vt:lpstr>Activity Lifecycle Log</vt:lpstr>
      <vt:lpstr>Activity Lifecycle Log</vt:lpstr>
      <vt:lpstr>Practice #2.2</vt:lpstr>
      <vt:lpstr>Example #2.3</vt:lpstr>
      <vt:lpstr>Activity 추가</vt:lpstr>
      <vt:lpstr>Activity 추가</vt:lpstr>
      <vt:lpstr>Activity Design</vt:lpstr>
      <vt:lpstr>Activity Design</vt:lpstr>
      <vt:lpstr>Activity Design</vt:lpstr>
      <vt:lpstr>Activity Design</vt:lpstr>
      <vt:lpstr>Activity Design</vt:lpstr>
      <vt:lpstr>Activity Design</vt:lpstr>
      <vt:lpstr>Activity Design</vt:lpstr>
      <vt:lpstr>Activity Design</vt:lpstr>
      <vt:lpstr>Activity Design</vt:lpstr>
      <vt:lpstr>Activity Design</vt:lpstr>
      <vt:lpstr>Activity Code</vt:lpstr>
      <vt:lpstr>Event Listener</vt:lpstr>
      <vt:lpstr>Explicit Intent</vt:lpstr>
      <vt:lpstr>Run</vt:lpstr>
      <vt:lpstr>Advanced</vt:lpstr>
      <vt:lpstr>Practice #2.3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1879</cp:revision>
  <cp:lastPrinted>2011-03-01T18:43:48Z</cp:lastPrinted>
  <dcterms:created xsi:type="dcterms:W3CDTF">2010-10-12T07:50:15Z</dcterms:created>
  <dcterms:modified xsi:type="dcterms:W3CDTF">2017-09-05T03:59:16Z</dcterms:modified>
</cp:coreProperties>
</file>