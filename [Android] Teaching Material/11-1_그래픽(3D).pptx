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28" r:id="rId1"/>
  </p:sldMasterIdLst>
  <p:notesMasterIdLst>
    <p:notesMasterId r:id="rId88"/>
  </p:notesMasterIdLst>
  <p:sldIdLst>
    <p:sldId id="256" r:id="rId2"/>
    <p:sldId id="342" r:id="rId3"/>
    <p:sldId id="490" r:id="rId4"/>
    <p:sldId id="491" r:id="rId5"/>
    <p:sldId id="492" r:id="rId6"/>
    <p:sldId id="493" r:id="rId7"/>
    <p:sldId id="494" r:id="rId8"/>
    <p:sldId id="495" r:id="rId9"/>
    <p:sldId id="496" r:id="rId10"/>
    <p:sldId id="497" r:id="rId11"/>
    <p:sldId id="498" r:id="rId12"/>
    <p:sldId id="499" r:id="rId13"/>
    <p:sldId id="592" r:id="rId14"/>
    <p:sldId id="500" r:id="rId15"/>
    <p:sldId id="501" r:id="rId16"/>
    <p:sldId id="502" r:id="rId17"/>
    <p:sldId id="503" r:id="rId18"/>
    <p:sldId id="504" r:id="rId19"/>
    <p:sldId id="593" r:id="rId20"/>
    <p:sldId id="505" r:id="rId21"/>
    <p:sldId id="506" r:id="rId22"/>
    <p:sldId id="507" r:id="rId23"/>
    <p:sldId id="508" r:id="rId24"/>
    <p:sldId id="511" r:id="rId25"/>
    <p:sldId id="512" r:id="rId26"/>
    <p:sldId id="513" r:id="rId27"/>
    <p:sldId id="514" r:id="rId28"/>
    <p:sldId id="515" r:id="rId29"/>
    <p:sldId id="516" r:id="rId30"/>
    <p:sldId id="517" r:id="rId31"/>
    <p:sldId id="518" r:id="rId32"/>
    <p:sldId id="519" r:id="rId33"/>
    <p:sldId id="520" r:id="rId34"/>
    <p:sldId id="521" r:id="rId35"/>
    <p:sldId id="522" r:id="rId36"/>
    <p:sldId id="523" r:id="rId37"/>
    <p:sldId id="524" r:id="rId38"/>
    <p:sldId id="526" r:id="rId39"/>
    <p:sldId id="527" r:id="rId40"/>
    <p:sldId id="528" r:id="rId41"/>
    <p:sldId id="529" r:id="rId42"/>
    <p:sldId id="530" r:id="rId43"/>
    <p:sldId id="532" r:id="rId44"/>
    <p:sldId id="533" r:id="rId45"/>
    <p:sldId id="534" r:id="rId46"/>
    <p:sldId id="535" r:id="rId47"/>
    <p:sldId id="536" r:id="rId48"/>
    <p:sldId id="537" r:id="rId49"/>
    <p:sldId id="538" r:id="rId50"/>
    <p:sldId id="539" r:id="rId51"/>
    <p:sldId id="540" r:id="rId52"/>
    <p:sldId id="541" r:id="rId53"/>
    <p:sldId id="543" r:id="rId54"/>
    <p:sldId id="544" r:id="rId55"/>
    <p:sldId id="545" r:id="rId56"/>
    <p:sldId id="546" r:id="rId57"/>
    <p:sldId id="547" r:id="rId58"/>
    <p:sldId id="548" r:id="rId59"/>
    <p:sldId id="549" r:id="rId60"/>
    <p:sldId id="550" r:id="rId61"/>
    <p:sldId id="551" r:id="rId62"/>
    <p:sldId id="553" r:id="rId63"/>
    <p:sldId id="554" r:id="rId64"/>
    <p:sldId id="555" r:id="rId65"/>
    <p:sldId id="556" r:id="rId66"/>
    <p:sldId id="557" r:id="rId67"/>
    <p:sldId id="558" r:id="rId68"/>
    <p:sldId id="559" r:id="rId69"/>
    <p:sldId id="560" r:id="rId70"/>
    <p:sldId id="561" r:id="rId71"/>
    <p:sldId id="562" r:id="rId72"/>
    <p:sldId id="564" r:id="rId73"/>
    <p:sldId id="565" r:id="rId74"/>
    <p:sldId id="566" r:id="rId75"/>
    <p:sldId id="567" r:id="rId76"/>
    <p:sldId id="568" r:id="rId77"/>
    <p:sldId id="569" r:id="rId78"/>
    <p:sldId id="570" r:id="rId79"/>
    <p:sldId id="571" r:id="rId80"/>
    <p:sldId id="572" r:id="rId81"/>
    <p:sldId id="573" r:id="rId82"/>
    <p:sldId id="574" r:id="rId83"/>
    <p:sldId id="575" r:id="rId84"/>
    <p:sldId id="576" r:id="rId85"/>
    <p:sldId id="577" r:id="rId86"/>
    <p:sldId id="591" r:id="rId87"/>
  </p:sldIdLst>
  <p:sldSz cx="9144000" cy="6858000" type="screen4x3"/>
  <p:notesSz cx="7104063" cy="102346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FF"/>
    <a:srgbClr val="004CBC"/>
    <a:srgbClr val="005B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19" autoAdjust="0"/>
    <p:restoredTop sz="78515" autoAdjust="0"/>
  </p:normalViewPr>
  <p:slideViewPr>
    <p:cSldViewPr snapToGrid="0">
      <p:cViewPr varScale="1">
        <p:scale>
          <a:sx n="69" d="100"/>
          <a:sy n="69" d="100"/>
        </p:scale>
        <p:origin x="1843" y="7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-3870" y="-120"/>
      </p:cViewPr>
      <p:guideLst>
        <p:guide orient="horz" pos="3224"/>
        <p:guide pos="223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presProps" Target="pres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viewProps" Target="viewProps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notesMaster" Target="notesMasters/notesMaster1.xml"/><Relationship Id="rId9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tableStyles" Target="tableStyle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78427" cy="511730"/>
          </a:xfrm>
          <a:prstGeom prst="rect">
            <a:avLst/>
          </a:prstGeom>
        </p:spPr>
        <p:txBody>
          <a:bodyPr vert="horz" lIns="95079" tIns="47540" rIns="95079" bIns="4754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2" y="1"/>
            <a:ext cx="3078427" cy="511730"/>
          </a:xfrm>
          <a:prstGeom prst="rect">
            <a:avLst/>
          </a:prstGeom>
        </p:spPr>
        <p:txBody>
          <a:bodyPr vert="horz" lIns="95079" tIns="47540" rIns="95079" bIns="47540" rtlCol="0"/>
          <a:lstStyle>
            <a:lvl1pPr algn="r">
              <a:defRPr sz="1200"/>
            </a:lvl1pPr>
          </a:lstStyle>
          <a:p>
            <a:fld id="{F90D873F-EA2E-46B8-AF3A-207077BF9E2A}" type="datetimeFigureOut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6763"/>
            <a:ext cx="5119687" cy="38401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079" tIns="47540" rIns="95079" bIns="47540" rtlCol="0" anchor="ctr"/>
          <a:lstStyle/>
          <a:p>
            <a:endParaRPr lang="ko-KR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861441"/>
            <a:ext cx="5683250" cy="4605575"/>
          </a:xfrm>
          <a:prstGeom prst="rect">
            <a:avLst/>
          </a:prstGeom>
        </p:spPr>
        <p:txBody>
          <a:bodyPr vert="horz" lIns="95079" tIns="47540" rIns="95079" bIns="47540" rtlCol="0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721106"/>
            <a:ext cx="3078427" cy="511730"/>
          </a:xfrm>
          <a:prstGeom prst="rect">
            <a:avLst/>
          </a:prstGeom>
        </p:spPr>
        <p:txBody>
          <a:bodyPr vert="horz" lIns="95079" tIns="47540" rIns="95079" bIns="4754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2" y="9721106"/>
            <a:ext cx="3078427" cy="511730"/>
          </a:xfrm>
          <a:prstGeom prst="rect">
            <a:avLst/>
          </a:prstGeom>
        </p:spPr>
        <p:txBody>
          <a:bodyPr vert="horz" lIns="95079" tIns="47540" rIns="95079" bIns="47540" rtlCol="0" anchor="b"/>
          <a:lstStyle>
            <a:lvl1pPr algn="r">
              <a:defRPr sz="1200"/>
            </a:lvl1pPr>
          </a:lstStyle>
          <a:p>
            <a:fld id="{56445C23-547F-4807-82A2-44CB5165115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37635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52073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03884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47168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11376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80134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38904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2543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8582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22110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460202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SGI :</a:t>
            </a:r>
            <a:r>
              <a:rPr lang="en-US" altLang="ko-KR" baseline="0" dirty="0" smtClean="0"/>
              <a:t> </a:t>
            </a:r>
            <a:r>
              <a:rPr lang="ko-KR" altLang="en-US" baseline="0" dirty="0" smtClean="0"/>
              <a:t>실리콘 그래픽스</a:t>
            </a:r>
            <a:r>
              <a:rPr lang="en-US" altLang="ko-KR" baseline="0" dirty="0" smtClean="0"/>
              <a:t>(Silicon Graphics)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679965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718039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https://www.opengl.org/documentation/current_version/</a:t>
            </a:r>
          </a:p>
          <a:p>
            <a:r>
              <a:rPr lang="en-US" altLang="ko-KR" baseline="0" dirty="0" smtClean="0"/>
              <a:t> = OPENGL 4.5 </a:t>
            </a:r>
            <a:r>
              <a:rPr lang="ko-KR" altLang="en-US" baseline="0" dirty="0" smtClean="0"/>
              <a:t>버전 설명</a:t>
            </a:r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718039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987412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615523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863634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765361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079207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OpenGL</a:t>
            </a:r>
            <a:r>
              <a:rPr lang="en-US" altLang="ko-KR" baseline="0" dirty="0" smtClean="0"/>
              <a:t> ES 3.0</a:t>
            </a:r>
          </a:p>
          <a:p>
            <a:pPr marL="0" marR="0" lvl="1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 smtClean="0"/>
              <a:t>참고자료  </a:t>
            </a:r>
            <a:r>
              <a:rPr lang="en-US" altLang="ko-KR" dirty="0" smtClean="0"/>
              <a:t>:  http://ko.wikipedia.org/wiki/OpenGL_ES</a:t>
            </a:r>
          </a:p>
          <a:p>
            <a:pPr marL="0" marR="0" lvl="1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 smtClean="0"/>
          </a:p>
          <a:p>
            <a:pPr marL="0" marR="0" lvl="1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 smtClean="0"/>
              <a:t>OpenGL ES 3.2</a:t>
            </a:r>
          </a:p>
          <a:p>
            <a:pPr marL="0" marR="0" lvl="1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 smtClean="0"/>
              <a:t>참고자료 </a:t>
            </a:r>
            <a:r>
              <a:rPr lang="en-US" altLang="ko-KR" dirty="0" smtClean="0"/>
              <a:t>: https://www.khronos.org/news/press/khronos-expands-scope-of-3d-open-standard-ecosystem</a:t>
            </a:r>
          </a:p>
          <a:p>
            <a:pPr marL="0" marR="0" lvl="1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 smtClean="0"/>
              <a:t>(About</a:t>
            </a:r>
            <a:r>
              <a:rPr lang="en-US" altLang="ko-KR" baseline="0" dirty="0" smtClean="0"/>
              <a:t> OpenGL ES 3.2 </a:t>
            </a:r>
            <a:r>
              <a:rPr lang="ko-KR" altLang="en-US" baseline="0" dirty="0" smtClean="0"/>
              <a:t>부분</a:t>
            </a:r>
            <a:r>
              <a:rPr lang="en-US" altLang="ko-KR" baseline="0" dirty="0" smtClean="0"/>
              <a:t>)</a:t>
            </a:r>
            <a:endParaRPr lang="en-US" altLang="ko-KR" dirty="0" smtClean="0"/>
          </a:p>
          <a:p>
            <a:endParaRPr lang="en-US" altLang="ko-KR" dirty="0" smtClean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079207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330410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71557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759304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https://www.khronos.org/opengles/</a:t>
            </a:r>
          </a:p>
          <a:p>
            <a:r>
              <a:rPr lang="en-US" altLang="ko-KR" dirty="0" smtClean="0"/>
              <a:t>OpenGL ES Roadmap </a:t>
            </a:r>
            <a:r>
              <a:rPr lang="ko-KR" altLang="en-US" dirty="0" smtClean="0"/>
              <a:t>부분 참고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471849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2.0 </a:t>
            </a:r>
            <a:r>
              <a:rPr lang="ko-KR" altLang="en-US" dirty="0" smtClean="0"/>
              <a:t>이상의 버전의 예제가 있긴 하였으나 </a:t>
            </a:r>
            <a:r>
              <a:rPr lang="en-US" altLang="ko-KR" dirty="0" smtClean="0"/>
              <a:t>Manifest </a:t>
            </a:r>
            <a:r>
              <a:rPr lang="ko-KR" altLang="en-US" dirty="0" smtClean="0"/>
              <a:t>입력의 문제 및 이전 자료와의 구현 문법 형태가 상당히 다르다고 여겨져서</a:t>
            </a:r>
            <a:endParaRPr lang="en-US" altLang="ko-KR" dirty="0" smtClean="0"/>
          </a:p>
          <a:p>
            <a:r>
              <a:rPr lang="ko-KR" altLang="en-US" baseline="0" dirty="0" smtClean="0"/>
              <a:t>예제 참고한 사이트만 명시해놓음</a:t>
            </a:r>
            <a:r>
              <a:rPr lang="en-US" altLang="ko-KR" baseline="0" dirty="0" smtClean="0"/>
              <a:t>.</a:t>
            </a:r>
          </a:p>
          <a:p>
            <a:endParaRPr lang="en-US" altLang="ko-KR" baseline="0" dirty="0" smtClean="0"/>
          </a:p>
          <a:p>
            <a:endParaRPr lang="en-US" altLang="ko-KR" baseline="0" dirty="0" smtClean="0"/>
          </a:p>
          <a:p>
            <a:r>
              <a:rPr lang="ko-KR" altLang="en-US" baseline="0" dirty="0" smtClean="0"/>
              <a:t>참고 </a:t>
            </a:r>
            <a:r>
              <a:rPr lang="en-US" altLang="ko-KR" baseline="0" dirty="0" smtClean="0"/>
              <a:t>site (2.0 </a:t>
            </a:r>
            <a:r>
              <a:rPr lang="ko-KR" altLang="en-US" baseline="0" dirty="0" smtClean="0"/>
              <a:t>예제</a:t>
            </a:r>
            <a:r>
              <a:rPr lang="en-US" altLang="ko-KR" baseline="0" dirty="0" smtClean="0"/>
              <a:t>)</a:t>
            </a:r>
          </a:p>
          <a:p>
            <a:r>
              <a:rPr lang="en-US" altLang="ko-KR" dirty="0" smtClean="0"/>
              <a:t>http://webnautes.tistory.com/1009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448251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284921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Manifest</a:t>
            </a:r>
            <a:r>
              <a:rPr lang="ko-KR" altLang="en-US" dirty="0" smtClean="0"/>
              <a:t>에 권한을 주지 않아도 실행이 된다</a:t>
            </a:r>
            <a:r>
              <a:rPr lang="en-US" altLang="ko-KR" dirty="0" smtClean="0"/>
              <a:t>. (API 23 </a:t>
            </a:r>
            <a:r>
              <a:rPr lang="ko-KR" altLang="en-US" dirty="0" smtClean="0"/>
              <a:t>버전 에뮬레이터에서 실행하였음</a:t>
            </a:r>
            <a:r>
              <a:rPr lang="en-US" altLang="ko-KR" dirty="0" smtClean="0"/>
              <a:t>)</a:t>
            </a:r>
          </a:p>
          <a:p>
            <a:r>
              <a:rPr lang="ko-KR" altLang="en-US" dirty="0" smtClean="0"/>
              <a:t>만약 </a:t>
            </a:r>
            <a:r>
              <a:rPr lang="en-US" altLang="ko-KR" dirty="0" smtClean="0"/>
              <a:t>OpenGL 2.0</a:t>
            </a:r>
            <a:r>
              <a:rPr lang="en-US" altLang="ko-KR" baseline="0" dirty="0" smtClean="0"/>
              <a:t> </a:t>
            </a:r>
            <a:r>
              <a:rPr lang="ko-KR" altLang="en-US" baseline="0" dirty="0" smtClean="0"/>
              <a:t>이상을 사용하고 싶다면 권한을 주어야 한다</a:t>
            </a:r>
            <a:r>
              <a:rPr lang="en-US" altLang="ko-KR" baseline="0" dirty="0" smtClean="0"/>
              <a:t>.</a:t>
            </a:r>
          </a:p>
          <a:p>
            <a:endParaRPr lang="en-US" altLang="ko-KR" baseline="0" dirty="0" smtClean="0"/>
          </a:p>
          <a:p>
            <a:r>
              <a:rPr lang="ko-KR" altLang="en-US" baseline="0" dirty="0" smtClean="0"/>
              <a:t>참고 </a:t>
            </a:r>
            <a:r>
              <a:rPr lang="en-US" altLang="ko-KR" baseline="0" dirty="0" smtClean="0"/>
              <a:t>: https://developer.android.com/guide/topics/graphics/opengl.html#version-check</a:t>
            </a:r>
          </a:p>
          <a:p>
            <a:r>
              <a:rPr lang="en-US" altLang="ko-KR" baseline="0" dirty="0" smtClean="0"/>
              <a:t> (Declaring OpenGL Requirements </a:t>
            </a:r>
            <a:r>
              <a:rPr lang="ko-KR" altLang="en-US" baseline="0" dirty="0" smtClean="0"/>
              <a:t>부분</a:t>
            </a:r>
            <a:r>
              <a:rPr lang="en-US" altLang="ko-KR" baseline="0" dirty="0" smtClean="0"/>
              <a:t>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536705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70257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655179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338518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205561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080514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175333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API 23 </a:t>
            </a:r>
            <a:r>
              <a:rPr lang="ko-KR" altLang="en-US" dirty="0" smtClean="0"/>
              <a:t>버전의 에뮬레이터로 실행한 결과 </a:t>
            </a:r>
            <a:r>
              <a:rPr lang="en-US" altLang="ko-KR" dirty="0" smtClean="0"/>
              <a:t>(</a:t>
            </a:r>
            <a:r>
              <a:rPr lang="ko-KR" altLang="en-US" dirty="0" smtClean="0"/>
              <a:t>이하 다른 결과도 동일한 조건의 에뮬레이터에서 구동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293454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Vertices[] </a:t>
            </a:r>
            <a:r>
              <a:rPr lang="ko-KR" altLang="en-US" dirty="0" smtClean="0"/>
              <a:t>부분만 변경하였다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933068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931746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095194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798278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007535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955495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7892785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043215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3359519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New</a:t>
            </a:r>
            <a:r>
              <a:rPr lang="en-US" altLang="ko-KR" baseline="0" dirty="0" smtClean="0"/>
              <a:t> -&gt; </a:t>
            </a:r>
            <a:r>
              <a:rPr lang="en-US" altLang="ko-KR" baseline="0" smtClean="0"/>
              <a:t>Java Class</a:t>
            </a:r>
            <a:r>
              <a:rPr lang="ko-KR" altLang="en-US" baseline="0" smtClean="0"/>
              <a:t> </a:t>
            </a:r>
            <a:r>
              <a:rPr lang="ko-KR" altLang="en-US" baseline="0" dirty="0" smtClean="0"/>
              <a:t>로 </a:t>
            </a:r>
            <a:r>
              <a:rPr lang="en-US" altLang="ko-KR" baseline="0" dirty="0" smtClean="0"/>
              <a:t>Obj.java </a:t>
            </a:r>
            <a:r>
              <a:rPr lang="ko-KR" altLang="en-US" baseline="0" dirty="0" smtClean="0"/>
              <a:t>생성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43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1390163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44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3110523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45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615281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46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2885468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47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7050782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48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9803989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49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618825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50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1110059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51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1850073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실행 화면을 보면 삼각형과 사각형이 계속 회전</a:t>
            </a:r>
            <a:r>
              <a:rPr lang="en-US" altLang="ko-KR" dirty="0" smtClean="0"/>
              <a:t>(Rotate)</a:t>
            </a:r>
            <a:r>
              <a:rPr lang="ko-KR" altLang="en-US" dirty="0" smtClean="0"/>
              <a:t>하는 것을 확인할 수 있다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52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611841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53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5020454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54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349502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55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171855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56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6271087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57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6473896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58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8391623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59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7884309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60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9665558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실행한 후 화면은 계속 회전하는 큐브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61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9432805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62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2282047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63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6338958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64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6285599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65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6404640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66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8497804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67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1245257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Bitbucket.org/</a:t>
            </a:r>
            <a:r>
              <a:rPr lang="en-US" altLang="ko-KR" dirty="0" err="1" smtClean="0"/>
              <a:t>vrlab_knu</a:t>
            </a:r>
            <a:r>
              <a:rPr lang="en-US" altLang="ko-KR" dirty="0" smtClean="0"/>
              <a:t>/</a:t>
            </a:r>
            <a:r>
              <a:rPr lang="en-US" altLang="ko-KR" dirty="0" err="1" smtClean="0"/>
              <a:t>lecturenote</a:t>
            </a:r>
            <a:r>
              <a:rPr lang="en-US" altLang="ko-KR" dirty="0" smtClean="0"/>
              <a:t>/downloads</a:t>
            </a:r>
            <a:endParaRPr lang="en-US" altLang="ko-KR" baseline="0" dirty="0" smtClean="0"/>
          </a:p>
          <a:p>
            <a:r>
              <a:rPr lang="ko-KR" altLang="en-US" baseline="0" dirty="0" smtClean="0"/>
              <a:t>에 </a:t>
            </a:r>
            <a:r>
              <a:rPr lang="en-US" altLang="ko-KR" baseline="0" dirty="0" smtClean="0"/>
              <a:t>android256.png </a:t>
            </a:r>
            <a:r>
              <a:rPr lang="ko-KR" altLang="en-US" baseline="0" dirty="0" smtClean="0"/>
              <a:t>로 업로드 완료 </a:t>
            </a:r>
            <a:r>
              <a:rPr lang="en-US" altLang="ko-KR" baseline="0" dirty="0" smtClean="0"/>
              <a:t>(11/11)</a:t>
            </a:r>
          </a:p>
          <a:p>
            <a:r>
              <a:rPr lang="en-US" altLang="ko-KR" baseline="0" dirty="0" smtClean="0"/>
              <a:t> - </a:t>
            </a:r>
            <a:r>
              <a:rPr lang="ko-KR" altLang="en-US" baseline="0" dirty="0" smtClean="0"/>
              <a:t>해당 자료는 이미지의 배경이 투명</a:t>
            </a:r>
            <a:r>
              <a:rPr lang="en-US" altLang="ko-KR" baseline="0" dirty="0" smtClean="0"/>
              <a:t>(</a:t>
            </a:r>
            <a:r>
              <a:rPr lang="ko-KR" altLang="en-US" baseline="0" dirty="0" smtClean="0"/>
              <a:t>흰색</a:t>
            </a:r>
            <a:r>
              <a:rPr lang="en-US" altLang="ko-KR" baseline="0" dirty="0" smtClean="0"/>
              <a:t>) </a:t>
            </a:r>
            <a:r>
              <a:rPr lang="ko-KR" altLang="en-US" baseline="0" dirty="0" smtClean="0"/>
              <a:t>처리 되어있다</a:t>
            </a:r>
            <a:r>
              <a:rPr lang="en-US" altLang="ko-KR" baseline="0" dirty="0" smtClean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68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6025147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R.drawable.android256</a:t>
            </a:r>
            <a:r>
              <a:rPr lang="en-US" altLang="ko-KR" baseline="0" dirty="0" smtClean="0"/>
              <a:t> </a:t>
            </a:r>
            <a:r>
              <a:rPr lang="ko-KR" altLang="en-US" baseline="0" dirty="0" smtClean="0"/>
              <a:t>부분에서 붉은색 밑줄이 그이지만</a:t>
            </a:r>
            <a:r>
              <a:rPr lang="en-US" altLang="ko-KR" baseline="0" dirty="0" smtClean="0"/>
              <a:t>, </a:t>
            </a:r>
            <a:r>
              <a:rPr lang="ko-KR" altLang="en-US" baseline="0" dirty="0" smtClean="0"/>
              <a:t>다른 문장에 에러가 없다면 잘 수행이 된다</a:t>
            </a:r>
            <a:r>
              <a:rPr lang="en-US" altLang="ko-KR" baseline="0" dirty="0" smtClean="0"/>
              <a:t>.(</a:t>
            </a:r>
            <a:r>
              <a:rPr lang="ko-KR" altLang="en-US" baseline="0" dirty="0" smtClean="0"/>
              <a:t>결과 확인함</a:t>
            </a:r>
            <a:r>
              <a:rPr lang="en-US" altLang="ko-KR" baseline="0" dirty="0" smtClean="0"/>
              <a:t>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69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0010744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70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2186939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71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9026109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Texture </a:t>
            </a:r>
            <a:r>
              <a:rPr lang="ko-KR" altLang="en-US" dirty="0" smtClean="0"/>
              <a:t>예제 이미지의 배경이 투명이라 </a:t>
            </a:r>
            <a:r>
              <a:rPr lang="en-US" altLang="ko-KR" dirty="0" smtClean="0"/>
              <a:t>Background</a:t>
            </a:r>
            <a:r>
              <a:rPr lang="ko-KR" altLang="en-US" dirty="0" smtClean="0"/>
              <a:t>의 색인 검은색을 따라갔었기 때문에 임의의 노란색 배경의 파일을 만들고 결과를 출력하였음</a:t>
            </a:r>
            <a:r>
              <a:rPr lang="en-US" altLang="ko-KR" dirty="0" smtClean="0"/>
              <a:t>.</a:t>
            </a:r>
          </a:p>
          <a:p>
            <a:r>
              <a:rPr lang="en-US" altLang="ko-KR" dirty="0" smtClean="0"/>
              <a:t>(</a:t>
            </a:r>
            <a:r>
              <a:rPr lang="ko-KR" altLang="en-US" dirty="0" smtClean="0"/>
              <a:t>가시성 보완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72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2071052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73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541556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74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520841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75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6306689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76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7677675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슬라이드 </a:t>
            </a:r>
            <a:r>
              <a:rPr lang="en-US" altLang="ko-KR" dirty="0" smtClean="0"/>
              <a:t>68</a:t>
            </a:r>
            <a:r>
              <a:rPr lang="ko-KR" altLang="en-US" dirty="0" smtClean="0"/>
              <a:t>페이지에 설명한 투명 바탕의 이미지를 사용하였기 때문에 큐브의 색깔이 </a:t>
            </a:r>
            <a:r>
              <a:rPr lang="en-US" altLang="ko-KR" dirty="0" smtClean="0"/>
              <a:t>Background Color</a:t>
            </a:r>
            <a:r>
              <a:rPr lang="ko-KR" altLang="en-US" dirty="0" smtClean="0"/>
              <a:t>를 따라간다</a:t>
            </a:r>
            <a:r>
              <a:rPr lang="en-US" altLang="ko-KR" dirty="0" smtClean="0"/>
              <a:t>. (</a:t>
            </a:r>
            <a:r>
              <a:rPr lang="ko-KR" altLang="en-US" dirty="0" smtClean="0"/>
              <a:t>검은색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77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0693780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78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3635958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강의자료 올라가는 곳에 </a:t>
            </a:r>
            <a:r>
              <a:rPr lang="en-US" altLang="ko-KR" dirty="0" smtClean="0"/>
              <a:t>glass.png</a:t>
            </a:r>
            <a:r>
              <a:rPr lang="en-US" altLang="ko-KR" baseline="0" dirty="0" smtClean="0"/>
              <a:t> </a:t>
            </a:r>
            <a:r>
              <a:rPr lang="ko-KR" altLang="en-US" baseline="0" dirty="0" smtClean="0"/>
              <a:t>파일 업로드 완료 </a:t>
            </a:r>
            <a:r>
              <a:rPr lang="en-US" altLang="ko-KR" dirty="0" smtClean="0"/>
              <a:t>(</a:t>
            </a:r>
            <a:r>
              <a:rPr lang="en-US" altLang="ko-KR" dirty="0" err="1" smtClean="0"/>
              <a:t>Bitbucket</a:t>
            </a:r>
            <a:r>
              <a:rPr lang="en-US" altLang="ko-KR" baseline="0" dirty="0" smtClean="0"/>
              <a:t>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79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1937824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80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0136394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해당 결과는 </a:t>
            </a:r>
            <a:r>
              <a:rPr lang="en-US" altLang="ko-KR" dirty="0" smtClean="0"/>
              <a:t>Lighting</a:t>
            </a:r>
            <a:r>
              <a:rPr lang="en-US" altLang="ko-KR" baseline="0" dirty="0" smtClean="0"/>
              <a:t> Effect</a:t>
            </a:r>
            <a:r>
              <a:rPr lang="ko-KR" altLang="en-US" baseline="0" dirty="0" smtClean="0"/>
              <a:t>를 꺼둔 상태로 실행하였다</a:t>
            </a:r>
            <a:r>
              <a:rPr lang="en-US" altLang="ko-KR" baseline="0" dirty="0" smtClean="0"/>
              <a:t>. (</a:t>
            </a:r>
            <a:r>
              <a:rPr lang="ko-KR" altLang="en-US" baseline="0" dirty="0" smtClean="0"/>
              <a:t>주석처리</a:t>
            </a:r>
            <a:r>
              <a:rPr lang="en-US" altLang="ko-KR" baseline="0" dirty="0" smtClean="0"/>
              <a:t>)</a:t>
            </a:r>
          </a:p>
          <a:p>
            <a:endParaRPr lang="en-US" altLang="ko-KR" baseline="0" dirty="0" smtClean="0"/>
          </a:p>
          <a:p>
            <a:r>
              <a:rPr lang="ko-KR" altLang="en-US" dirty="0" smtClean="0"/>
              <a:t>만약 </a:t>
            </a:r>
            <a:r>
              <a:rPr lang="en-US" altLang="ko-KR" dirty="0" smtClean="0"/>
              <a:t>Lighting Effect</a:t>
            </a:r>
            <a:r>
              <a:rPr lang="ko-KR" altLang="en-US" dirty="0" smtClean="0"/>
              <a:t>를 </a:t>
            </a:r>
            <a:r>
              <a:rPr lang="en-US" altLang="ko-KR" dirty="0" smtClean="0"/>
              <a:t>Enable</a:t>
            </a:r>
            <a:r>
              <a:rPr lang="ko-KR" altLang="en-US" dirty="0" smtClean="0"/>
              <a:t>하면 </a:t>
            </a:r>
            <a:r>
              <a:rPr lang="en-US" altLang="ko-KR" dirty="0" smtClean="0"/>
              <a:t>Blending</a:t>
            </a:r>
            <a:r>
              <a:rPr lang="ko-KR" altLang="en-US" dirty="0" smtClean="0"/>
              <a:t>과 </a:t>
            </a:r>
            <a:r>
              <a:rPr lang="en-US" altLang="ko-KR" dirty="0" smtClean="0"/>
              <a:t>Lighting</a:t>
            </a:r>
            <a:r>
              <a:rPr lang="en-US" altLang="ko-KR" baseline="0" dirty="0" smtClean="0"/>
              <a:t> Effect</a:t>
            </a:r>
            <a:r>
              <a:rPr lang="ko-KR" altLang="en-US" baseline="0" dirty="0" smtClean="0"/>
              <a:t>가 같이 처리되어 작동한다</a:t>
            </a:r>
            <a:r>
              <a:rPr lang="en-US" altLang="ko-KR" baseline="0" dirty="0" smtClean="0"/>
              <a:t>.</a:t>
            </a:r>
          </a:p>
          <a:p>
            <a:r>
              <a:rPr lang="en-US" altLang="ko-KR" baseline="0" dirty="0" smtClean="0"/>
              <a:t>(</a:t>
            </a:r>
            <a:r>
              <a:rPr lang="ko-KR" altLang="en-US" baseline="0" dirty="0" smtClean="0"/>
              <a:t>이 경우 결과 캡쳐 시 음영이 생기는 경우가 있어 일부러 배제하여 결과값을 캡쳐하였다</a:t>
            </a:r>
            <a:r>
              <a:rPr lang="en-US" altLang="ko-KR" baseline="0" dirty="0" smtClean="0"/>
              <a:t>.)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81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125504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err="1" smtClean="0"/>
              <a:t>fogColor</a:t>
            </a:r>
            <a:r>
              <a:rPr lang="ko-KR" altLang="en-US" dirty="0" smtClean="0"/>
              <a:t>가 </a:t>
            </a:r>
            <a:r>
              <a:rPr lang="en-US" altLang="ko-KR" dirty="0" smtClean="0"/>
              <a:t>15</a:t>
            </a:r>
            <a:r>
              <a:rPr lang="ko-KR" altLang="en-US" dirty="0" smtClean="0"/>
              <a:t>년 자료에서는 </a:t>
            </a:r>
            <a:r>
              <a:rPr lang="en-US" altLang="ko-KR" dirty="0" smtClean="0"/>
              <a:t>{0.5f,</a:t>
            </a:r>
            <a:r>
              <a:rPr lang="en-US" altLang="ko-KR" baseline="0" dirty="0" smtClean="0"/>
              <a:t> 0.5f, 0.5f, 1.0</a:t>
            </a:r>
            <a:r>
              <a:rPr lang="en-US" altLang="ko-KR" dirty="0" smtClean="0"/>
              <a:t>}</a:t>
            </a:r>
          </a:p>
          <a:p>
            <a:r>
              <a:rPr lang="ko-KR" altLang="en-US" dirty="0" smtClean="0"/>
              <a:t>으로 설정되어 있었으나</a:t>
            </a:r>
            <a:r>
              <a:rPr lang="en-US" altLang="ko-KR" dirty="0" smtClean="0"/>
              <a:t>, 15</a:t>
            </a:r>
            <a:r>
              <a:rPr lang="ko-KR" altLang="en-US" dirty="0" smtClean="0"/>
              <a:t>년 자료처럼 설정하고 구동할 시</a:t>
            </a:r>
            <a:r>
              <a:rPr lang="en-US" altLang="ko-KR" dirty="0" smtClean="0"/>
              <a:t>,</a:t>
            </a:r>
            <a:r>
              <a:rPr lang="en-US" altLang="ko-KR" baseline="0" dirty="0" smtClean="0"/>
              <a:t> Blending </a:t>
            </a:r>
            <a:r>
              <a:rPr lang="ko-KR" altLang="en-US" baseline="0" dirty="0" smtClean="0"/>
              <a:t>되는 부분의 </a:t>
            </a:r>
            <a:r>
              <a:rPr lang="en-US" altLang="ko-KR" baseline="0" dirty="0" smtClean="0"/>
              <a:t>Cube</a:t>
            </a:r>
            <a:r>
              <a:rPr lang="ko-KR" altLang="en-US" baseline="0" dirty="0" smtClean="0"/>
              <a:t>가 모두 흰색으로 밖에 보이지 않는다</a:t>
            </a:r>
            <a:r>
              <a:rPr lang="en-US" altLang="ko-KR" baseline="0" dirty="0" smtClean="0"/>
              <a:t>.</a:t>
            </a:r>
          </a:p>
          <a:p>
            <a:r>
              <a:rPr lang="en-US" altLang="ko-KR" baseline="0" dirty="0" smtClean="0"/>
              <a:t>(</a:t>
            </a:r>
            <a:r>
              <a:rPr lang="ko-KR" altLang="en-US" baseline="0" dirty="0" smtClean="0"/>
              <a:t>값을 낮추더라도 </a:t>
            </a:r>
            <a:r>
              <a:rPr lang="en-US" altLang="ko-KR" baseline="0" dirty="0" smtClean="0"/>
              <a:t>0</a:t>
            </a:r>
            <a:r>
              <a:rPr lang="ko-KR" altLang="en-US" baseline="0" dirty="0" smtClean="0"/>
              <a:t>이 아닌 값이 들어가면 동일한 흰색 큐브 결과가 나타남</a:t>
            </a:r>
            <a:r>
              <a:rPr lang="en-US" altLang="ko-KR" baseline="0" dirty="0" smtClean="0"/>
              <a:t>) –&gt; 0.5</a:t>
            </a:r>
            <a:r>
              <a:rPr lang="ko-KR" altLang="en-US" baseline="0" dirty="0" smtClean="0"/>
              <a:t>와 </a:t>
            </a:r>
            <a:r>
              <a:rPr lang="en-US" altLang="ko-KR" baseline="0" dirty="0" smtClean="0"/>
              <a:t>0.3</a:t>
            </a:r>
            <a:r>
              <a:rPr lang="ko-KR" altLang="en-US" baseline="0" dirty="0" smtClean="0"/>
              <a:t>으로 테스트 해보았었음</a:t>
            </a:r>
            <a:endParaRPr lang="en-US" altLang="ko-KR" baseline="0" dirty="0" smtClean="0"/>
          </a:p>
          <a:p>
            <a:endParaRPr lang="en-US" altLang="ko-KR" dirty="0" smtClean="0"/>
          </a:p>
          <a:p>
            <a:r>
              <a:rPr lang="en-US" altLang="ko-KR" dirty="0" smtClean="0"/>
              <a:t>Slide</a:t>
            </a:r>
            <a:r>
              <a:rPr lang="en-US" altLang="ko-KR" baseline="0" dirty="0" smtClean="0"/>
              <a:t> 85</a:t>
            </a:r>
            <a:r>
              <a:rPr lang="ko-KR" altLang="en-US" baseline="0" dirty="0" smtClean="0"/>
              <a:t>쪽의 효과를 얻기 위해서 초기값을 위 자료와 같이 </a:t>
            </a:r>
            <a:r>
              <a:rPr lang="en-US" altLang="ko-KR" baseline="0" dirty="0" smtClean="0"/>
              <a:t>Zero Base</a:t>
            </a:r>
            <a:r>
              <a:rPr lang="ko-KR" altLang="en-US" baseline="0" dirty="0" smtClean="0"/>
              <a:t>로 세팅하였다</a:t>
            </a:r>
            <a:r>
              <a:rPr lang="en-US" altLang="ko-KR" baseline="0" dirty="0" smtClean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82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3862662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83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7485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84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2075860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85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8942582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86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03017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09601"/>
            <a:ext cx="7772400" cy="426720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8000">
                <a:latin typeface="Calibri" pitchFamily="34" charset="0"/>
                <a:cs typeface="Calibri" pitchFamily="34" charset="0"/>
              </a:defRPr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953000"/>
            <a:ext cx="6400800" cy="12192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  <a:latin typeface="Calibri" pitchFamily="34" charset="0"/>
                <a:cs typeface="Calibri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ko-KR" dirty="0" smtClean="0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B1D5F-33CD-4488-976B-F9464FD91753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buFont typeface="Arial" pitchFamily="34" charset="0"/>
              <a:buChar char="•"/>
              <a:defRPr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A0C15-7F47-4547-995A-E06B8BD978BD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371600"/>
            <a:ext cx="7772400" cy="2505075"/>
          </a:xfrm>
        </p:spPr>
        <p:txBody>
          <a:bodyPr anchor="b"/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800" kern="1200" dirty="0" smtClean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068763"/>
            <a:ext cx="7772400" cy="11318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276DC-5F53-4EC5-9E0B-7C43E8461919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7" name="Oval 6"/>
          <p:cNvSpPr/>
          <p:nvPr/>
        </p:nvSpPr>
        <p:spPr>
          <a:xfrm>
            <a:off x="4539760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4739785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4340688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80812-1F40-45FD-82CF-F544E5564805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65760" y="1600200"/>
            <a:ext cx="4041648" cy="4526280"/>
          </a:xfrm>
        </p:spPr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4040188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1600200"/>
            <a:ext cx="4041775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F5704-1777-4A4F-9646-122E7F100DB5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457200" y="2212848"/>
            <a:ext cx="4041648" cy="3913632"/>
          </a:xfrm>
        </p:spPr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72584" y="2212848"/>
            <a:ext cx="4041648" cy="3913187"/>
          </a:xfrm>
        </p:spPr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A8956-45F5-40BA-9EC4-3972E0A2B8E3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65470"/>
            <a:ext cx="8229600" cy="1042219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ko-KR" smtClean="0"/>
              <a:t>Click to edit Master title style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6DBBE-459F-47F7-AC25-C1520DCBA826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07087" y="266700"/>
            <a:ext cx="3008313" cy="209550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>
                <a:effectLst>
                  <a:outerShdw blurRad="50800" dist="25400" dir="5400000" algn="t" rotWithShape="0">
                    <a:prstClr val="black">
                      <a:alpha val="25000"/>
                    </a:prstClr>
                  </a:outerShdw>
                </a:effectLst>
              </a:defRPr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137" y="273050"/>
            <a:ext cx="4995863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07087" y="2438400"/>
            <a:ext cx="3008313" cy="3687763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D703F-420F-4C6E-A47B-DAAC0702168C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228600"/>
            <a:ext cx="5711824" cy="89535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/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08126" y="1143000"/>
            <a:ext cx="6054724" cy="4541044"/>
          </a:xfrm>
          <a:ln w="76200">
            <a:solidFill>
              <a:schemeClr val="bg1"/>
            </a:solidFill>
          </a:ln>
          <a:effectLst>
            <a:outerShdw blurRad="88900" dist="50800" dir="5400000" algn="ctr" rotWithShape="0">
              <a:srgbClr val="000000">
                <a:alpha val="25000"/>
              </a:srgbClr>
            </a:outerShdw>
          </a:effectLst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6" y="5810250"/>
            <a:ext cx="5711824" cy="533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317E0-6ED8-49AC-8F3C-035789E329D3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6A579-5918-4B54-82E8-D4CEFF471756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19546-0714-4120-89FC-4148593C534F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65470"/>
            <a:ext cx="8229600" cy="104221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altLang="ko-KR" dirty="0" smtClean="0"/>
              <a:t>Click to edit Master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84672"/>
            <a:ext cx="8229600" cy="46414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63347" y="6356350"/>
            <a:ext cx="2085975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3B9C821C-F261-4C36-858D-913B97B2EFDC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</p:spPr>
        <p:txBody>
          <a:bodyPr vert="horz" lIns="27432" tIns="45720" rIns="4572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7" name="Oval 6"/>
          <p:cNvSpPr/>
          <p:nvPr/>
        </p:nvSpPr>
        <p:spPr>
          <a:xfrm>
            <a:off x="8457760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Oval 7"/>
          <p:cNvSpPr/>
          <p:nvPr/>
        </p:nvSpPr>
        <p:spPr>
          <a:xfrm>
            <a:off x="569119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3"/>
          <p:cNvPicPr>
            <a:picLocks noChangeAspect="1" noChangeArrowheads="1"/>
          </p:cNvPicPr>
          <p:nvPr userDrawn="1"/>
        </p:nvPicPr>
        <p:blipFill>
          <a:blip r:embed="rId1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827345" y="110416"/>
            <a:ext cx="2137143" cy="27809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1" name="TextBox 10"/>
          <p:cNvSpPr txBox="1"/>
          <p:nvPr userDrawn="1"/>
        </p:nvSpPr>
        <p:spPr>
          <a:xfrm>
            <a:off x="-3205" y="171313"/>
            <a:ext cx="1125180" cy="2782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300"/>
              </a:lnSpc>
            </a:pPr>
            <a:r>
              <a:rPr lang="en-US" altLang="ko-KR" sz="1800" kern="1200" spc="0" dirty="0" smtClean="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rPr>
              <a:t>COMP</a:t>
            </a:r>
            <a:r>
              <a:rPr lang="en-US" altLang="ko-KR" sz="1800" kern="1200" spc="0" dirty="0" smtClean="0">
                <a:solidFill>
                  <a:srgbClr val="FF0000"/>
                </a:solidFill>
                <a:latin typeface="Calibri" pitchFamily="34" charset="0"/>
                <a:ea typeface="+mn-ea"/>
                <a:cs typeface="Calibri" pitchFamily="34" charset="0"/>
              </a:rPr>
              <a:t>3</a:t>
            </a:r>
            <a:r>
              <a:rPr lang="en-US" altLang="ko-KR" sz="1800" kern="1200" spc="0" dirty="0" smtClean="0">
                <a:solidFill>
                  <a:schemeClr val="accent5"/>
                </a:solidFill>
                <a:latin typeface="Calibri" pitchFamily="34" charset="0"/>
                <a:ea typeface="+mn-ea"/>
                <a:cs typeface="Calibri" pitchFamily="34" charset="0"/>
              </a:rPr>
              <a:t>2</a:t>
            </a:r>
            <a:r>
              <a:rPr lang="en-US" altLang="ko-KR" sz="1800" kern="1200" spc="0" dirty="0" smtClean="0">
                <a:solidFill>
                  <a:srgbClr val="0066FF"/>
                </a:solidFill>
                <a:latin typeface="Calibri" pitchFamily="34" charset="0"/>
                <a:ea typeface="+mn-ea"/>
                <a:cs typeface="Calibri" pitchFamily="34" charset="0"/>
              </a:rPr>
              <a:t>8</a:t>
            </a:r>
            <a:endParaRPr lang="ko-KR" altLang="en-US" sz="1800" kern="1200" spc="0" dirty="0" smtClean="0">
              <a:solidFill>
                <a:schemeClr val="tx1">
                  <a:lumMod val="50000"/>
                  <a:lumOff val="50000"/>
                </a:schemeClr>
              </a:solidFill>
              <a:latin typeface="Calibri" pitchFamily="34" charset="0"/>
              <a:ea typeface="+mn-ea"/>
              <a:cs typeface="Calibri" pitchFamily="34" charset="0"/>
            </a:endParaRPr>
          </a:p>
        </p:txBody>
      </p:sp>
      <p:grpSp>
        <p:nvGrpSpPr>
          <p:cNvPr id="13" name="그룹 12"/>
          <p:cNvGrpSpPr/>
          <p:nvPr userDrawn="1"/>
        </p:nvGrpSpPr>
        <p:grpSpPr>
          <a:xfrm>
            <a:off x="949172" y="101474"/>
            <a:ext cx="1474704" cy="425758"/>
            <a:chOff x="983729" y="101774"/>
            <a:chExt cx="1474704" cy="425758"/>
          </a:xfrm>
        </p:grpSpPr>
        <p:sp>
          <p:nvSpPr>
            <p:cNvPr id="10" name="TextBox 9"/>
            <p:cNvSpPr txBox="1"/>
            <p:nvPr userDrawn="1"/>
          </p:nvSpPr>
          <p:spPr>
            <a:xfrm>
              <a:off x="983729" y="101774"/>
              <a:ext cx="1151277" cy="42575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indent="0" algn="l" defTabSz="914400" rtl="0" eaLnBrk="1" fontAlgn="auto" latinLnBrk="1" hangingPunct="1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600" b="0" kern="1200" dirty="0" smtClean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itchFamily="34" charset="0"/>
                  <a:ea typeface="+mn-ea"/>
                  <a:cs typeface="Calibri" pitchFamily="34" charset="0"/>
                </a:rPr>
                <a:t>M</a:t>
              </a:r>
              <a:r>
                <a:rPr lang="en-US" altLang="ko-KR" sz="1600" kern="12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alibri" pitchFamily="34" charset="0"/>
                  <a:ea typeface="+mn-ea"/>
                  <a:cs typeface="Calibri" pitchFamily="34" charset="0"/>
                </a:rPr>
                <a:t>obile </a:t>
              </a:r>
              <a:r>
                <a:rPr lang="en-US" altLang="ko-KR" sz="1600" b="0" kern="1200" dirty="0" smtClean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itchFamily="34" charset="0"/>
                  <a:ea typeface="+mn-ea"/>
                  <a:cs typeface="Calibri" pitchFamily="34" charset="0"/>
                </a:rPr>
                <a:t>A</a:t>
              </a:r>
              <a:r>
                <a:rPr lang="en-US" altLang="ko-KR" sz="1600" kern="12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alibri" pitchFamily="34" charset="0"/>
                  <a:ea typeface="+mn-ea"/>
                  <a:cs typeface="Calibri" pitchFamily="34" charset="0"/>
                </a:rPr>
                <a:t>pp</a:t>
              </a:r>
              <a:endParaRPr lang="ko-KR" altLang="en-US" sz="1600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ea typeface="+mn-ea"/>
                <a:cs typeface="Calibri" pitchFamily="34" charset="0"/>
              </a:endParaRPr>
            </a:p>
            <a:p>
              <a:pPr>
                <a:lnSpc>
                  <a:spcPts val="1300"/>
                </a:lnSpc>
              </a:pPr>
              <a:endParaRPr lang="ko-KR" altLang="en-US" sz="1600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ea typeface="+mn-ea"/>
                <a:cs typeface="Calibri" pitchFamily="34" charset="0"/>
              </a:endParaRPr>
            </a:p>
          </p:txBody>
        </p:sp>
        <p:sp>
          <p:nvSpPr>
            <p:cNvPr id="12" name="직사각형 11"/>
            <p:cNvSpPr/>
            <p:nvPr userDrawn="1"/>
          </p:nvSpPr>
          <p:spPr>
            <a:xfrm>
              <a:off x="1053433" y="155032"/>
              <a:ext cx="1405000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600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Calibri" pitchFamily="34" charset="0"/>
                  <a:ea typeface="+mn-ea"/>
                  <a:cs typeface="Calibri" pitchFamily="34" charset="0"/>
                </a:rPr>
                <a:t>P</a:t>
              </a:r>
              <a:r>
                <a:rPr kumimoji="0" lang="en-US" altLang="ko-KR" sz="1600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Calibri" pitchFamily="34" charset="0"/>
                  <a:ea typeface="+mn-ea"/>
                  <a:cs typeface="Calibri" pitchFamily="34" charset="0"/>
                </a:rPr>
                <a:t>rogramming I</a:t>
              </a:r>
              <a:endParaRPr lang="ko-KR" altLang="en-US" sz="1600" dirty="0" smtClean="0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914400" rtl="0" eaLnBrk="1" latinLnBrk="1" hangingPunct="1">
        <a:lnSpc>
          <a:spcPts val="5800"/>
        </a:lnSpc>
        <a:spcBef>
          <a:spcPct val="0"/>
        </a:spcBef>
        <a:buNone/>
        <a:defRPr sz="5400" kern="1200">
          <a:solidFill>
            <a:schemeClr val="tx2"/>
          </a:solidFill>
          <a:effectLst>
            <a:outerShdw blurRad="63500" dist="38100" dir="5400000" algn="t" rotWithShape="0">
              <a:prstClr val="black">
                <a:alpha val="25000"/>
              </a:prstClr>
            </a:outerShdw>
          </a:effectLst>
          <a:latin typeface="Calibri" pitchFamily="34" charset="0"/>
          <a:ea typeface="+mj-ea"/>
          <a:cs typeface="Calibri" pitchFamily="34" charset="0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1pPr>
      <a:lvl2pPr marL="742950" indent="-285750" algn="l" defTabSz="914400" rtl="0" eaLnBrk="1" latinLnBrk="1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3pPr>
      <a:lvl4pPr marL="1600200" indent="-228600" algn="l" defTabSz="914400" rtl="0" eaLnBrk="1" latinLnBrk="1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5pPr>
      <a:lvl6pPr marL="2514600" indent="-228600" algn="l" defTabSz="914400" rtl="0" eaLnBrk="1" latinLnBrk="1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www.opengl.org/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opengl.org/documentation/current_version/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hronos.org/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khronos.org/opengles/sdk/1.1/docs/man/" TargetMode="Externa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khronos.org/opengles/sdk/docs/man32/" TargetMode="External"/><Relationship Id="rId4" Type="http://schemas.openxmlformats.org/officeDocument/2006/relationships/hyperlink" Target="http://www.khronos.org/opengles/sdk/docs/man/" TargetMode="Externa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6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6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6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6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6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6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6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6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3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6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6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6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6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6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6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6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6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6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6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6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6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88840"/>
            <a:ext cx="7772400" cy="864096"/>
          </a:xfrm>
          <a:solidFill>
            <a:srgbClr val="004CBC"/>
          </a:solidFill>
        </p:spPr>
        <p:txBody>
          <a:bodyPr>
            <a:normAutofit/>
          </a:bodyPr>
          <a:lstStyle/>
          <a:p>
            <a:r>
              <a:rPr lang="en-US" altLang="ko-KR" sz="4800" b="1" dirty="0" smtClean="0">
                <a:solidFill>
                  <a:schemeClr val="bg1"/>
                </a:solidFill>
                <a:effectLst/>
                <a:latin typeface="Arial" pitchFamily="34" charset="0"/>
                <a:cs typeface="Arial" pitchFamily="34" charset="0"/>
              </a:rPr>
              <a:t>3</a:t>
            </a:r>
            <a:r>
              <a:rPr lang="ko-KR" altLang="en-US" sz="4800" b="1" dirty="0" smtClean="0">
                <a:solidFill>
                  <a:schemeClr val="bg1"/>
                </a:solidFill>
                <a:effectLst/>
                <a:latin typeface="Arial" pitchFamily="34" charset="0"/>
                <a:cs typeface="Arial" pitchFamily="34" charset="0"/>
              </a:rPr>
              <a:t>차원 그래픽</a:t>
            </a:r>
            <a:endParaRPr lang="ko-KR" altLang="en-US" sz="4800" b="1" dirty="0">
              <a:solidFill>
                <a:schemeClr val="bg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부제목 4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 err="1"/>
              <a:t>Gi</a:t>
            </a:r>
            <a:r>
              <a:rPr lang="en-US" altLang="ko-KR" dirty="0"/>
              <a:t> Sook Jung, </a:t>
            </a:r>
            <a:r>
              <a:rPr lang="en-US" altLang="ko-KR" dirty="0" err="1"/>
              <a:t>Ph.D</a:t>
            </a:r>
            <a:endParaRPr lang="en-US" altLang="ko-KR"/>
          </a:p>
          <a:p>
            <a:r>
              <a:rPr lang="en-US" altLang="ko-KR" smtClean="0"/>
              <a:t>School </a:t>
            </a:r>
            <a:r>
              <a:rPr lang="en-US" altLang="ko-KR" dirty="0" smtClean="0"/>
              <a:t>of Computer Science and Engineering</a:t>
            </a:r>
          </a:p>
          <a:p>
            <a:r>
              <a:rPr lang="en-US" altLang="ko-KR" dirty="0" smtClean="0"/>
              <a:t>College of IT Engineering, KNU</a:t>
            </a:r>
            <a:endParaRPr lang="ko-KR" altLang="en-US" dirty="0"/>
          </a:p>
        </p:txBody>
      </p:sp>
      <p:pic>
        <p:nvPicPr>
          <p:cNvPr id="5122" name="Picture 2" descr="http://www.ddaily.co.kr/DATA/news/20110210/20110210140451__I6720.jpg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027" b="22179"/>
          <a:stretch/>
        </p:blipFill>
        <p:spPr bwMode="auto">
          <a:xfrm>
            <a:off x="2208089" y="3084845"/>
            <a:ext cx="4762500" cy="1778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7308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3D Graphics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3</a:t>
            </a:r>
            <a:r>
              <a:rPr lang="en-US" altLang="ko-KR" dirty="0" smtClean="0"/>
              <a:t>D Computer Graphics</a:t>
            </a:r>
          </a:p>
          <a:p>
            <a:pPr lvl="1"/>
            <a:r>
              <a:rPr lang="ko-KR" altLang="en-US" dirty="0" smtClean="0"/>
              <a:t>수학적인 </a:t>
            </a:r>
            <a:r>
              <a:rPr lang="en-US" altLang="ko-KR" dirty="0" smtClean="0"/>
              <a:t>3</a:t>
            </a:r>
            <a:r>
              <a:rPr lang="ko-KR" altLang="en-US" dirty="0" smtClean="0"/>
              <a:t>차원 모델을 컴퓨터를 통해 </a:t>
            </a:r>
            <a:r>
              <a:rPr lang="en-US" altLang="ko-KR" dirty="0" smtClean="0"/>
              <a:t>2</a:t>
            </a:r>
            <a:r>
              <a:rPr lang="ko-KR" altLang="en-US" dirty="0" smtClean="0"/>
              <a:t>차원 출력장치에 출력하는 것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3</a:t>
            </a:r>
            <a:r>
              <a:rPr lang="ko-KR" altLang="en-US" dirty="0" smtClean="0"/>
              <a:t>축을 기본으로 하는 공간 좌표를 이용하여 모델을 표현</a:t>
            </a:r>
            <a:endParaRPr lang="en-US" altLang="ko-KR" dirty="0" smtClean="0"/>
          </a:p>
          <a:p>
            <a:pPr lvl="1"/>
            <a:endParaRPr lang="en-US" altLang="ko-KR" dirty="0" smtClean="0"/>
          </a:p>
          <a:p>
            <a:r>
              <a:rPr lang="ko-KR" altLang="en-US" dirty="0" smtClean="0"/>
              <a:t>구성 요소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Coordinate System</a:t>
            </a:r>
          </a:p>
          <a:p>
            <a:pPr lvl="1"/>
            <a:r>
              <a:rPr lang="en-US" altLang="ko-KR" dirty="0" smtClean="0"/>
              <a:t>Vertex</a:t>
            </a:r>
          </a:p>
          <a:p>
            <a:pPr lvl="1"/>
            <a:r>
              <a:rPr lang="en-US" altLang="ko-KR" dirty="0" smtClean="0"/>
              <a:t>Polygon</a:t>
            </a:r>
          </a:p>
          <a:p>
            <a:pPr lvl="1"/>
            <a:r>
              <a:rPr lang="en-US" altLang="ko-KR" dirty="0" smtClean="0"/>
              <a:t>Light</a:t>
            </a:r>
          </a:p>
          <a:p>
            <a:pPr lvl="1"/>
            <a:r>
              <a:rPr lang="en-US" altLang="ko-KR" dirty="0"/>
              <a:t>Material</a:t>
            </a:r>
            <a:endParaRPr lang="en-US" altLang="ko-KR" dirty="0" smtClean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15794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Coordinate System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 smtClean="0"/>
              <a:t>2</a:t>
            </a:r>
            <a:r>
              <a:rPr lang="ko-KR" altLang="en-US" dirty="0" smtClean="0"/>
              <a:t>차원과 </a:t>
            </a:r>
            <a:r>
              <a:rPr lang="en-US" altLang="ko-KR" dirty="0" smtClean="0"/>
              <a:t>3</a:t>
            </a:r>
            <a:r>
              <a:rPr lang="ko-KR" altLang="en-US" dirty="0" smtClean="0"/>
              <a:t>차원 </a:t>
            </a:r>
            <a:r>
              <a:rPr lang="ko-KR" altLang="en-US" dirty="0" err="1" smtClean="0"/>
              <a:t>좌표계</a:t>
            </a:r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r>
              <a:rPr lang="ko-KR" altLang="en-US" dirty="0" err="1" smtClean="0"/>
              <a:t>좌표계의</a:t>
            </a:r>
            <a:r>
              <a:rPr lang="ko-KR" altLang="en-US" dirty="0" smtClean="0"/>
              <a:t> 종류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Local coordinate system: </a:t>
            </a:r>
            <a:r>
              <a:rPr lang="ko-KR" altLang="en-US" dirty="0" smtClean="0"/>
              <a:t>모델의 형태를 표현하는 </a:t>
            </a:r>
            <a:r>
              <a:rPr lang="ko-KR" altLang="en-US" dirty="0" err="1" smtClean="0"/>
              <a:t>좌표계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World coordinate system: </a:t>
            </a:r>
            <a:r>
              <a:rPr lang="ko-KR" altLang="en-US" dirty="0" smtClean="0"/>
              <a:t>오브젝트들이 공간에 배치되는 위치를 표현하는 </a:t>
            </a:r>
            <a:r>
              <a:rPr lang="ko-KR" altLang="en-US" dirty="0" err="1" smtClean="0"/>
              <a:t>좌표계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Camera coordinate system: </a:t>
            </a:r>
            <a:r>
              <a:rPr lang="ko-KR" altLang="en-US" dirty="0" smtClean="0"/>
              <a:t>카메라에서 보이는 시점을 표현하는 </a:t>
            </a:r>
            <a:r>
              <a:rPr lang="ko-KR" altLang="en-US" dirty="0" err="1" smtClean="0"/>
              <a:t>좌표계</a:t>
            </a:r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3</a:t>
            </a:fld>
            <a:endParaRPr lang="ko-KR" alt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792"/>
          <a:stretch/>
        </p:blipFill>
        <p:spPr bwMode="auto">
          <a:xfrm>
            <a:off x="1680210" y="2011680"/>
            <a:ext cx="6000750" cy="22400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15114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Vertex &amp; Polygon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 smtClean="0"/>
              <a:t>Vertex</a:t>
            </a:r>
          </a:p>
          <a:p>
            <a:pPr lvl="1"/>
            <a:r>
              <a:rPr lang="en-US" altLang="ko-KR" dirty="0" smtClean="0"/>
              <a:t>3</a:t>
            </a:r>
            <a:r>
              <a:rPr lang="ko-KR" altLang="en-US" dirty="0" smtClean="0"/>
              <a:t>차원 공간상의 한 지점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3</a:t>
            </a:r>
            <a:r>
              <a:rPr lang="ko-KR" altLang="en-US" dirty="0" smtClean="0"/>
              <a:t>개의 축에 대한 </a:t>
            </a:r>
            <a:r>
              <a:rPr lang="en-US" altLang="ko-KR" dirty="0" smtClean="0"/>
              <a:t>3</a:t>
            </a:r>
            <a:r>
              <a:rPr lang="ko-KR" altLang="en-US" dirty="0" smtClean="0"/>
              <a:t>차원 </a:t>
            </a:r>
            <a:r>
              <a:rPr lang="ko-KR" altLang="en-US" dirty="0" err="1" smtClean="0"/>
              <a:t>벡터값</a:t>
            </a:r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endParaRPr lang="en-US" altLang="ko-KR" dirty="0" smtClean="0"/>
          </a:p>
          <a:p>
            <a:pPr lvl="1"/>
            <a:endParaRPr lang="en-US" altLang="ko-KR" dirty="0"/>
          </a:p>
          <a:p>
            <a:pPr marL="457200" lvl="1" indent="0">
              <a:buNone/>
            </a:pPr>
            <a:endParaRPr lang="en-US" altLang="ko-KR" dirty="0"/>
          </a:p>
          <a:p>
            <a:pPr marL="457200" lvl="1" indent="0">
              <a:buNone/>
            </a:pPr>
            <a:endParaRPr lang="en-US" altLang="ko-KR" dirty="0"/>
          </a:p>
          <a:p>
            <a:r>
              <a:rPr lang="en-US" altLang="ko-KR" dirty="0" smtClean="0"/>
              <a:t>Polygon</a:t>
            </a:r>
          </a:p>
          <a:p>
            <a:pPr lvl="1"/>
            <a:r>
              <a:rPr lang="en-US" altLang="ko-KR" dirty="0" smtClean="0"/>
              <a:t>3</a:t>
            </a:r>
            <a:r>
              <a:rPr lang="ko-KR" altLang="en-US" dirty="0" smtClean="0"/>
              <a:t>차원 물체의 기본 단위</a:t>
            </a:r>
            <a:r>
              <a:rPr lang="en-US" altLang="ko-KR" dirty="0" smtClean="0"/>
              <a:t>, </a:t>
            </a:r>
            <a:r>
              <a:rPr lang="ko-KR" altLang="en-US" dirty="0" smtClean="0"/>
              <a:t>모든</a:t>
            </a:r>
            <a:r>
              <a:rPr lang="en-US" altLang="ko-KR" dirty="0" smtClean="0"/>
              <a:t> </a:t>
            </a:r>
            <a:r>
              <a:rPr lang="ko-KR" altLang="en-US" dirty="0" smtClean="0"/>
              <a:t>물체는 </a:t>
            </a:r>
            <a:r>
              <a:rPr lang="ko-KR" altLang="en-US" dirty="0" err="1" smtClean="0"/>
              <a:t>폴리곤의</a:t>
            </a:r>
            <a:r>
              <a:rPr lang="ko-KR" altLang="en-US" dirty="0" smtClean="0"/>
              <a:t> 조합으로 표현 가능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3</a:t>
            </a:r>
            <a:r>
              <a:rPr lang="ko-KR" altLang="en-US" dirty="0" smtClean="0"/>
              <a:t>개 이상의 </a:t>
            </a:r>
            <a:r>
              <a:rPr lang="en-US" altLang="ko-KR" dirty="0" smtClean="0"/>
              <a:t>Vertex</a:t>
            </a:r>
            <a:r>
              <a:rPr lang="ko-KR" altLang="en-US" dirty="0" smtClean="0"/>
              <a:t>로 이뤄진 면</a:t>
            </a:r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4</a:t>
            </a:fld>
            <a:endParaRPr lang="ko-KR" altLang="en-US"/>
          </a:p>
        </p:txBody>
      </p:sp>
      <p:pic>
        <p:nvPicPr>
          <p:cNvPr id="18437" name="Picture 5" descr="F:\Downloads\PolygonEdge_1000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1748" y="2539683"/>
            <a:ext cx="1998662" cy="1416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38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0625" y="5064443"/>
            <a:ext cx="6191250" cy="143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628680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Light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484672"/>
            <a:ext cx="8229600" cy="5259028"/>
          </a:xfrm>
        </p:spPr>
        <p:txBody>
          <a:bodyPr>
            <a:normAutofit/>
          </a:bodyPr>
          <a:lstStyle/>
          <a:p>
            <a:r>
              <a:rPr lang="ko-KR" altLang="en-US" dirty="0" smtClean="0"/>
              <a:t>조명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3</a:t>
            </a:r>
            <a:r>
              <a:rPr lang="ko-KR" altLang="en-US" dirty="0" smtClean="0"/>
              <a:t>차원 모델이 반사하는 광선을 </a:t>
            </a:r>
            <a:r>
              <a:rPr lang="en-US" altLang="ko-KR" dirty="0" smtClean="0"/>
              <a:t>2</a:t>
            </a:r>
            <a:r>
              <a:rPr lang="ko-KR" altLang="en-US" dirty="0" smtClean="0"/>
              <a:t>차원 출력 공간으로 </a:t>
            </a:r>
            <a:r>
              <a:rPr lang="ko-KR" altLang="en-US" dirty="0" err="1" smtClean="0"/>
              <a:t>렌더링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조명 없이는 아무 것도 출력할 수 없음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여러 형태의 조명이 결합하여 물체의 색상을 결정</a:t>
            </a:r>
            <a:endParaRPr lang="en-US" altLang="ko-KR" dirty="0" smtClean="0"/>
          </a:p>
          <a:p>
            <a:r>
              <a:rPr lang="ko-KR" altLang="en-US" dirty="0" smtClean="0"/>
              <a:t>종류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Ambient: </a:t>
            </a:r>
            <a:r>
              <a:rPr lang="ko-KR" altLang="en-US" dirty="0" smtClean="0"/>
              <a:t>모든 물체가 방향에 관계없이 일정하게 받는 조명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Directional: </a:t>
            </a:r>
            <a:r>
              <a:rPr lang="ko-KR" altLang="en-US" dirty="0" smtClean="0"/>
              <a:t>일정한 방향으로 비추는 조명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Point: </a:t>
            </a:r>
            <a:r>
              <a:rPr lang="ko-KR" altLang="en-US" dirty="0" smtClean="0"/>
              <a:t>한 지점에서 방사형으로 뻗어나가는 조명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Spotlight: </a:t>
            </a:r>
            <a:r>
              <a:rPr lang="ko-KR" altLang="en-US" dirty="0" smtClean="0"/>
              <a:t>한 지점에서 일정 방향과 각도로 원뿔 형태로 뻗어나가는 조명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Area: </a:t>
            </a:r>
            <a:r>
              <a:rPr lang="ko-KR" altLang="en-US" dirty="0" smtClean="0"/>
              <a:t>임의</a:t>
            </a:r>
            <a:r>
              <a:rPr lang="ko-KR" altLang="en-US" dirty="0"/>
              <a:t>의</a:t>
            </a:r>
            <a:r>
              <a:rPr lang="ko-KR" altLang="en-US" dirty="0" smtClean="0"/>
              <a:t> 평면에서 일정한 방향으로 비추는 조명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Volume: </a:t>
            </a:r>
            <a:r>
              <a:rPr lang="ko-KR" altLang="en-US" dirty="0" smtClean="0"/>
              <a:t>특정한 공간에서 방향에 관계없이 비추는 조명</a:t>
            </a:r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5</a:t>
            </a:fld>
            <a:endParaRPr lang="ko-KR" altLang="en-US"/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7122" y="5052060"/>
            <a:ext cx="5790907" cy="17259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33732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Shading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484672"/>
            <a:ext cx="8229600" cy="5076148"/>
          </a:xfrm>
        </p:spPr>
        <p:txBody>
          <a:bodyPr>
            <a:normAutofit/>
          </a:bodyPr>
          <a:lstStyle/>
          <a:p>
            <a:r>
              <a:rPr lang="ko-KR" altLang="en-US" dirty="0" err="1" smtClean="0"/>
              <a:t>쉐이딩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물체의 표면 밝기를 표현하는 기술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재질</a:t>
            </a:r>
            <a:r>
              <a:rPr lang="en-US" altLang="ko-KR" dirty="0" smtClean="0"/>
              <a:t>(Material)</a:t>
            </a:r>
            <a:r>
              <a:rPr lang="ko-KR" altLang="en-US" dirty="0" smtClean="0"/>
              <a:t>에</a:t>
            </a:r>
            <a:r>
              <a:rPr lang="en-US" altLang="ko-KR" dirty="0" smtClean="0"/>
              <a:t> </a:t>
            </a:r>
            <a:r>
              <a:rPr lang="ko-KR" altLang="en-US" dirty="0" smtClean="0"/>
              <a:t>따라 조명을 반사하는 양을 결정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표면의 처리 방법에 따라 다른 결과</a:t>
            </a:r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endParaRPr lang="en-US" altLang="ko-KR" dirty="0" smtClean="0"/>
          </a:p>
          <a:p>
            <a:r>
              <a:rPr lang="ko-KR" altLang="en-US" dirty="0" smtClean="0"/>
              <a:t>재질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표면의 성질을 정의하여 조명의 </a:t>
            </a:r>
            <a:r>
              <a:rPr lang="ko-KR" altLang="en-US" dirty="0" err="1" smtClean="0"/>
              <a:t>반사량을</a:t>
            </a:r>
            <a:r>
              <a:rPr lang="ko-KR" altLang="en-US" dirty="0" smtClean="0"/>
              <a:t> 조절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Texture</a:t>
            </a:r>
            <a:r>
              <a:rPr lang="ko-KR" altLang="en-US" dirty="0" smtClean="0"/>
              <a:t>와 </a:t>
            </a:r>
            <a:r>
              <a:rPr lang="en-US" altLang="ko-KR" dirty="0" smtClean="0"/>
              <a:t>Bump Map </a:t>
            </a:r>
            <a:r>
              <a:rPr lang="ko-KR" altLang="en-US" dirty="0" smtClean="0"/>
              <a:t>등을 이용하여 다양한 재질을 표현</a:t>
            </a:r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6</a:t>
            </a:fld>
            <a:endParaRPr lang="ko-KR" altLang="en-US"/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727"/>
          <a:stretch/>
        </p:blipFill>
        <p:spPr bwMode="auto">
          <a:xfrm>
            <a:off x="822960" y="2801987"/>
            <a:ext cx="7429500" cy="17449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1131570" y="4539883"/>
            <a:ext cx="115589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smtClean="0"/>
              <a:t>Wireframe</a:t>
            </a:r>
            <a:endParaRPr lang="ko-KR" altLang="en-US" sz="1600" dirty="0"/>
          </a:p>
        </p:txBody>
      </p:sp>
      <p:sp>
        <p:nvSpPr>
          <p:cNvPr id="8" name="TextBox 7"/>
          <p:cNvSpPr txBox="1"/>
          <p:nvPr/>
        </p:nvSpPr>
        <p:spPr>
          <a:xfrm>
            <a:off x="2849880" y="4546967"/>
            <a:ext cx="13452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smtClean="0"/>
              <a:t>Flat-Shading</a:t>
            </a:r>
            <a:endParaRPr lang="ko-KR" altLang="en-US" sz="1600" dirty="0"/>
          </a:p>
        </p:txBody>
      </p:sp>
      <p:sp>
        <p:nvSpPr>
          <p:cNvPr id="10" name="TextBox 9"/>
          <p:cNvSpPr txBox="1"/>
          <p:nvPr/>
        </p:nvSpPr>
        <p:spPr>
          <a:xfrm>
            <a:off x="4617720" y="4539883"/>
            <a:ext cx="182774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err="1" smtClean="0"/>
              <a:t>Gouraud</a:t>
            </a:r>
            <a:r>
              <a:rPr lang="en-US" altLang="ko-KR" sz="1600" dirty="0" smtClean="0"/>
              <a:t>-Shading</a:t>
            </a:r>
            <a:endParaRPr lang="ko-KR" altLang="en-US" sz="1600" dirty="0"/>
          </a:p>
        </p:txBody>
      </p:sp>
      <p:sp>
        <p:nvSpPr>
          <p:cNvPr id="11" name="TextBox 10"/>
          <p:cNvSpPr txBox="1"/>
          <p:nvPr/>
        </p:nvSpPr>
        <p:spPr>
          <a:xfrm>
            <a:off x="6626067" y="4561106"/>
            <a:ext cx="15921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err="1" smtClean="0"/>
              <a:t>Phong</a:t>
            </a:r>
            <a:r>
              <a:rPr lang="en-US" altLang="ko-KR" sz="1600" dirty="0" smtClean="0"/>
              <a:t>-Shading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810774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Material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484672"/>
            <a:ext cx="8229600" cy="5373328"/>
          </a:xfrm>
        </p:spPr>
        <p:txBody>
          <a:bodyPr>
            <a:normAutofit/>
          </a:bodyPr>
          <a:lstStyle/>
          <a:p>
            <a:r>
              <a:rPr lang="ko-KR" altLang="en-US" dirty="0" smtClean="0"/>
              <a:t>재질의 종류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Diffuse: </a:t>
            </a:r>
            <a:r>
              <a:rPr lang="ko-KR" altLang="en-US" dirty="0" smtClean="0"/>
              <a:t>난반사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Specular: </a:t>
            </a:r>
            <a:r>
              <a:rPr lang="ko-KR" altLang="en-US" dirty="0" smtClean="0"/>
              <a:t>정반사</a:t>
            </a:r>
            <a:endParaRPr lang="en-US" altLang="ko-KR" dirty="0" smtClean="0"/>
          </a:p>
          <a:p>
            <a:pPr lvl="1"/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endParaRPr lang="en-US" altLang="ko-KR" dirty="0" smtClean="0"/>
          </a:p>
          <a:p>
            <a:pPr lvl="1"/>
            <a:r>
              <a:rPr lang="en-US" altLang="ko-KR" dirty="0" smtClean="0"/>
              <a:t>Emissive: </a:t>
            </a:r>
            <a:r>
              <a:rPr lang="ko-KR" altLang="en-US" dirty="0" smtClean="0"/>
              <a:t>자체 발광</a:t>
            </a:r>
            <a:endParaRPr lang="en-US" altLang="ko-KR" dirty="0" smtClean="0"/>
          </a:p>
          <a:p>
            <a:pPr lvl="1"/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r>
              <a:rPr lang="en-US" altLang="ko-KR" dirty="0" smtClean="0"/>
              <a:t>Shininess: </a:t>
            </a:r>
            <a:r>
              <a:rPr lang="ko-KR" altLang="en-US" dirty="0" smtClean="0"/>
              <a:t>매끈</a:t>
            </a:r>
            <a:r>
              <a:rPr lang="ko-KR" altLang="en-US" dirty="0"/>
              <a:t>함</a:t>
            </a:r>
            <a:endParaRPr lang="en-US" altLang="ko-KR" dirty="0" smtClean="0"/>
          </a:p>
          <a:p>
            <a:pPr lvl="1"/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7</a:t>
            </a:fld>
            <a:endParaRPr lang="ko-KR" altLang="en-US"/>
          </a:p>
        </p:txBody>
      </p:sp>
      <p:pic>
        <p:nvPicPr>
          <p:cNvPr id="2048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3489" y="1697560"/>
            <a:ext cx="3384049" cy="21200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1506" name="Picture 2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880" b="14609"/>
          <a:stretch/>
        </p:blipFill>
        <p:spPr bwMode="auto">
          <a:xfrm>
            <a:off x="1296353" y="4240531"/>
            <a:ext cx="5287327" cy="110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1507" name="Picture 3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384"/>
          <a:stretch/>
        </p:blipFill>
        <p:spPr bwMode="auto">
          <a:xfrm>
            <a:off x="1296353" y="5710680"/>
            <a:ext cx="4762500" cy="110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1508" name="Picture 4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375" b="16719"/>
          <a:stretch/>
        </p:blipFill>
        <p:spPr bwMode="auto">
          <a:xfrm>
            <a:off x="1296353" y="2560320"/>
            <a:ext cx="3649304" cy="1257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475554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Modeling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3</a:t>
            </a:r>
            <a:r>
              <a:rPr lang="ko-KR" altLang="en-US" dirty="0" smtClean="0"/>
              <a:t>차원 모델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3</a:t>
            </a:r>
            <a:r>
              <a:rPr lang="ko-KR" altLang="en-US" dirty="0" smtClean="0"/>
              <a:t>차원 공간상에 그려질 물체의 구조를 표현하는 기하학적 정보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표면의 재질 정보도 함께 정의</a:t>
            </a:r>
            <a:endParaRPr lang="en-US" altLang="ko-KR" dirty="0" smtClean="0"/>
          </a:p>
          <a:p>
            <a:endParaRPr lang="en-US" altLang="ko-KR" dirty="0" smtClean="0"/>
          </a:p>
          <a:p>
            <a:r>
              <a:rPr lang="en-US" altLang="ko-KR" dirty="0" smtClean="0"/>
              <a:t>3</a:t>
            </a:r>
            <a:r>
              <a:rPr lang="ko-KR" altLang="en-US" dirty="0" smtClean="0"/>
              <a:t>차원 모델 생성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기본 도형의 연산</a:t>
            </a:r>
            <a:r>
              <a:rPr lang="en-US" altLang="ko-KR" dirty="0" smtClean="0"/>
              <a:t>, </a:t>
            </a:r>
            <a:r>
              <a:rPr lang="ko-KR" altLang="en-US" dirty="0" smtClean="0"/>
              <a:t>기존 모델의 변형</a:t>
            </a:r>
            <a:r>
              <a:rPr lang="en-US" altLang="ko-KR" dirty="0" smtClean="0"/>
              <a:t>,</a:t>
            </a:r>
            <a:br>
              <a:rPr lang="en-US" altLang="ko-KR" dirty="0" smtClean="0"/>
            </a:br>
            <a:r>
              <a:rPr lang="ko-KR" altLang="en-US" dirty="0" smtClean="0"/>
              <a:t>도면에서 생성</a:t>
            </a:r>
            <a:r>
              <a:rPr lang="en-US" altLang="ko-KR" dirty="0" smtClean="0"/>
              <a:t>, 3</a:t>
            </a:r>
            <a:r>
              <a:rPr lang="ko-KR" altLang="en-US" dirty="0" smtClean="0"/>
              <a:t>차원 스캐닝</a:t>
            </a:r>
            <a:r>
              <a:rPr lang="en-US" altLang="ko-KR" dirty="0" smtClean="0"/>
              <a:t>, 3</a:t>
            </a:r>
            <a:r>
              <a:rPr lang="ko-KR" altLang="en-US" dirty="0" smtClean="0"/>
              <a:t>차원 복원 등</a:t>
            </a:r>
            <a:endParaRPr lang="en-US" altLang="ko-KR" dirty="0" smtClean="0"/>
          </a:p>
          <a:p>
            <a:pPr lvl="1"/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8</a:t>
            </a:fld>
            <a:endParaRPr lang="ko-KR" altLang="en-US"/>
          </a:p>
        </p:txBody>
      </p:sp>
      <p:pic>
        <p:nvPicPr>
          <p:cNvPr id="22530" name="Picture 2" descr="F:\Downloads\Jack-in-cube_solid_model,_light_background.gif"/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3232" y="2638108"/>
            <a:ext cx="2572067" cy="39152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53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4450" y="4097392"/>
            <a:ext cx="3707130" cy="2455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496636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직선 화살표 연결선 17"/>
          <p:cNvCxnSpPr>
            <a:stCxn id="12" idx="3"/>
            <a:endCxn id="15" idx="1"/>
          </p:cNvCxnSpPr>
          <p:nvPr/>
        </p:nvCxnSpPr>
        <p:spPr>
          <a:xfrm>
            <a:off x="3267347" y="5996940"/>
            <a:ext cx="3544933" cy="0"/>
          </a:xfrm>
          <a:prstGeom prst="straightConnector1">
            <a:avLst/>
          </a:prstGeom>
          <a:ln w="12700"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6" name="직선 화살표 연결선 15"/>
          <p:cNvCxnSpPr>
            <a:stCxn id="5" idx="3"/>
            <a:endCxn id="11" idx="1"/>
          </p:cNvCxnSpPr>
          <p:nvPr/>
        </p:nvCxnSpPr>
        <p:spPr>
          <a:xfrm>
            <a:off x="2411730" y="4663440"/>
            <a:ext cx="3544932" cy="0"/>
          </a:xfrm>
          <a:prstGeom prst="straightConnector1">
            <a:avLst/>
          </a:prstGeom>
          <a:ln w="12700"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Rendering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 smtClean="0"/>
              <a:t>렌더링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3</a:t>
            </a:r>
            <a:r>
              <a:rPr lang="ko-KR" altLang="en-US" dirty="0" smtClean="0"/>
              <a:t>차원 모델과 조명</a:t>
            </a:r>
            <a:r>
              <a:rPr lang="en-US" altLang="ko-KR" dirty="0" smtClean="0"/>
              <a:t>, </a:t>
            </a:r>
            <a:r>
              <a:rPr lang="ko-KR" altLang="en-US" dirty="0" err="1" smtClean="0"/>
              <a:t>쉐이딩</a:t>
            </a:r>
            <a:r>
              <a:rPr lang="ko-KR" altLang="en-US" dirty="0" smtClean="0"/>
              <a:t> 기법 등을 활용하여 </a:t>
            </a:r>
            <a:r>
              <a:rPr lang="en-US" altLang="ko-KR" dirty="0" smtClean="0"/>
              <a:t>2</a:t>
            </a:r>
            <a:r>
              <a:rPr lang="ko-KR" altLang="en-US" dirty="0" smtClean="0"/>
              <a:t>차원 출력을 생성하는 과정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Pre-rendering: </a:t>
            </a:r>
            <a:r>
              <a:rPr lang="ko-KR" altLang="en-US" dirty="0" smtClean="0"/>
              <a:t>수많은 처리를 거쳐 최종 영상을 생성</a:t>
            </a:r>
            <a:r>
              <a:rPr lang="en-US" altLang="ko-KR" dirty="0" smtClean="0"/>
              <a:t>, </a:t>
            </a:r>
            <a:r>
              <a:rPr lang="ko-KR" altLang="en-US" dirty="0" smtClean="0"/>
              <a:t>영화 등에 사용</a:t>
            </a:r>
            <a:endParaRPr lang="en-US" altLang="ko-KR" dirty="0" smtClean="0"/>
          </a:p>
          <a:p>
            <a:pPr lvl="1"/>
            <a:r>
              <a:rPr lang="en-US" altLang="ko-KR" dirty="0" err="1" smtClean="0"/>
              <a:t>Realtime</a:t>
            </a:r>
            <a:r>
              <a:rPr lang="en-US" altLang="ko-KR" dirty="0" smtClean="0"/>
              <a:t>-rendering: 3</a:t>
            </a:r>
            <a:r>
              <a:rPr lang="ko-KR" altLang="en-US" dirty="0" smtClean="0"/>
              <a:t>차원 가속기를 활용하여 즉시 생성</a:t>
            </a:r>
            <a:r>
              <a:rPr lang="en-US" altLang="ko-KR" dirty="0" smtClean="0"/>
              <a:t>, </a:t>
            </a:r>
            <a:r>
              <a:rPr lang="ko-KR" altLang="en-US" dirty="0" smtClean="0"/>
              <a:t>게임 등에 사용</a:t>
            </a:r>
            <a:endParaRPr lang="en-US" altLang="ko-KR" dirty="0" smtClean="0"/>
          </a:p>
          <a:p>
            <a:pPr lvl="1"/>
            <a:endParaRPr lang="en-US" altLang="ko-KR" dirty="0" smtClean="0"/>
          </a:p>
          <a:p>
            <a:r>
              <a:rPr lang="ko-KR" altLang="en-US" dirty="0" err="1" smtClean="0"/>
              <a:t>렌더링</a:t>
            </a:r>
            <a:r>
              <a:rPr lang="ko-KR" altLang="en-US" dirty="0" smtClean="0"/>
              <a:t> 파이프라인</a:t>
            </a:r>
            <a:endParaRPr lang="en-US" altLang="ko-KR" dirty="0" smtClean="0"/>
          </a:p>
          <a:p>
            <a:pPr lvl="1"/>
            <a:r>
              <a:rPr lang="ko-KR" altLang="en-US" dirty="0" err="1" smtClean="0"/>
              <a:t>렌더링을</a:t>
            </a:r>
            <a:r>
              <a:rPr lang="ko-KR" altLang="en-US" dirty="0" smtClean="0"/>
              <a:t> 위해 거치는 일련의 작업들을 정의하여 그래픽 하드웨어에서 영상의 생성을 위해 사용하는 방법</a:t>
            </a:r>
            <a:endParaRPr lang="en-US" altLang="ko-KR" dirty="0" smtClean="0"/>
          </a:p>
          <a:p>
            <a:pPr lvl="1"/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9</a:t>
            </a:fld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822960" y="4229100"/>
            <a:ext cx="1588770" cy="86868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3D Model</a:t>
            </a:r>
            <a:endParaRPr lang="ko-KR" altLang="en-US" dirty="0"/>
          </a:p>
        </p:txBody>
      </p:sp>
      <p:sp>
        <p:nvSpPr>
          <p:cNvPr id="9" name="직사각형 8"/>
          <p:cNvSpPr/>
          <p:nvPr/>
        </p:nvSpPr>
        <p:spPr>
          <a:xfrm>
            <a:off x="2534194" y="4229100"/>
            <a:ext cx="1588770" cy="86868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World Transform</a:t>
            </a:r>
            <a:endParaRPr lang="ko-KR" altLang="en-US" dirty="0"/>
          </a:p>
        </p:txBody>
      </p:sp>
      <p:sp>
        <p:nvSpPr>
          <p:cNvPr id="10" name="직사각형 9"/>
          <p:cNvSpPr/>
          <p:nvPr/>
        </p:nvSpPr>
        <p:spPr>
          <a:xfrm>
            <a:off x="4245428" y="4229100"/>
            <a:ext cx="1588770" cy="86868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View Transform</a:t>
            </a:r>
            <a:endParaRPr lang="ko-KR" altLang="en-US" dirty="0"/>
          </a:p>
        </p:txBody>
      </p:sp>
      <p:sp>
        <p:nvSpPr>
          <p:cNvPr id="11" name="직사각형 10"/>
          <p:cNvSpPr/>
          <p:nvPr/>
        </p:nvSpPr>
        <p:spPr>
          <a:xfrm>
            <a:off x="5956662" y="4229100"/>
            <a:ext cx="1588770" cy="86868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Projection Transform</a:t>
            </a:r>
            <a:endParaRPr lang="ko-KR" altLang="en-US" dirty="0"/>
          </a:p>
        </p:txBody>
      </p:sp>
      <p:sp>
        <p:nvSpPr>
          <p:cNvPr id="12" name="직사각형 11"/>
          <p:cNvSpPr/>
          <p:nvPr/>
        </p:nvSpPr>
        <p:spPr>
          <a:xfrm>
            <a:off x="1678577" y="5562600"/>
            <a:ext cx="1588770" cy="86868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Viewport Mapping</a:t>
            </a:r>
            <a:endParaRPr lang="ko-KR" altLang="en-US" dirty="0"/>
          </a:p>
        </p:txBody>
      </p:sp>
      <p:sp>
        <p:nvSpPr>
          <p:cNvPr id="13" name="직사각형 12"/>
          <p:cNvSpPr/>
          <p:nvPr/>
        </p:nvSpPr>
        <p:spPr>
          <a:xfrm>
            <a:off x="3389811" y="5562600"/>
            <a:ext cx="1588770" cy="86868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/>
              <a:t>Backface</a:t>
            </a:r>
            <a:r>
              <a:rPr lang="en-US" altLang="ko-KR" dirty="0" smtClean="0"/>
              <a:t> Culling</a:t>
            </a:r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5101045" y="5562600"/>
            <a:ext cx="1588770" cy="86868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Clipping</a:t>
            </a:r>
            <a:endParaRPr lang="ko-KR" altLang="en-US" dirty="0"/>
          </a:p>
        </p:txBody>
      </p:sp>
      <p:sp>
        <p:nvSpPr>
          <p:cNvPr id="15" name="직사각형 14"/>
          <p:cNvSpPr/>
          <p:nvPr/>
        </p:nvSpPr>
        <p:spPr>
          <a:xfrm>
            <a:off x="6812280" y="5562600"/>
            <a:ext cx="1588770" cy="86868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/>
              <a:t>Rasterization</a:t>
            </a:r>
            <a:endParaRPr lang="ko-KR" altLang="en-US" dirty="0"/>
          </a:p>
        </p:txBody>
      </p:sp>
      <p:cxnSp>
        <p:nvCxnSpPr>
          <p:cNvPr id="7" name="꺾인 연결선 6"/>
          <p:cNvCxnSpPr>
            <a:stCxn id="11" idx="3"/>
            <a:endCxn id="12" idx="1"/>
          </p:cNvCxnSpPr>
          <p:nvPr/>
        </p:nvCxnSpPr>
        <p:spPr>
          <a:xfrm flipH="1">
            <a:off x="1678577" y="4663440"/>
            <a:ext cx="5866855" cy="1333500"/>
          </a:xfrm>
          <a:prstGeom prst="bentConnector5">
            <a:avLst>
              <a:gd name="adj1" fmla="val -3896"/>
              <a:gd name="adj2" fmla="val 50000"/>
              <a:gd name="adj3" fmla="val 103896"/>
            </a:avLst>
          </a:prstGeom>
          <a:ln w="12700"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74039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OpenGL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대화형 </a:t>
            </a:r>
            <a:r>
              <a:rPr lang="en-US" altLang="ko-KR" dirty="0" smtClean="0"/>
              <a:t>API</a:t>
            </a:r>
          </a:p>
          <a:p>
            <a:pPr lvl="1"/>
            <a:r>
              <a:rPr lang="ko-KR" altLang="en-US" dirty="0" smtClean="0"/>
              <a:t>고성능 컴퓨터 그래픽스 라이브러리</a:t>
            </a:r>
            <a:endParaRPr lang="en-US" altLang="ko-KR" dirty="0" smtClean="0"/>
          </a:p>
          <a:p>
            <a:pPr lvl="1"/>
            <a:endParaRPr lang="en-US" altLang="ko-KR" dirty="0"/>
          </a:p>
          <a:p>
            <a:r>
              <a:rPr lang="ko-KR" altLang="en-US" dirty="0" smtClean="0"/>
              <a:t>개방형 </a:t>
            </a:r>
            <a:r>
              <a:rPr lang="en-US" altLang="ko-KR" dirty="0" smtClean="0"/>
              <a:t>API</a:t>
            </a:r>
          </a:p>
          <a:p>
            <a:pPr lvl="1"/>
            <a:r>
              <a:rPr lang="ko-KR" altLang="en-US" dirty="0" smtClean="0"/>
              <a:t>운영체제</a:t>
            </a:r>
            <a:r>
              <a:rPr lang="en-US" altLang="ko-KR" dirty="0" smtClean="0"/>
              <a:t> </a:t>
            </a:r>
            <a:r>
              <a:rPr lang="ko-KR" altLang="en-US" dirty="0" smtClean="0"/>
              <a:t>및 하드웨어에 독립적으로 설계</a:t>
            </a:r>
            <a:endParaRPr lang="en-US" altLang="ko-KR" dirty="0" smtClean="0"/>
          </a:p>
          <a:p>
            <a:pPr lvl="1"/>
            <a:endParaRPr lang="en-US" altLang="ko-KR" dirty="0"/>
          </a:p>
          <a:p>
            <a:r>
              <a:rPr lang="en-US" altLang="ko-KR" dirty="0"/>
              <a:t>OpenGL ARB(Architectural Revision </a:t>
            </a:r>
            <a:r>
              <a:rPr lang="en-US" altLang="ko-KR" dirty="0" smtClean="0"/>
              <a:t>Board)</a:t>
            </a:r>
          </a:p>
          <a:p>
            <a:pPr lvl="1"/>
            <a:r>
              <a:rPr lang="ko-KR" altLang="en-US" dirty="0" smtClean="0"/>
              <a:t>등급에 따라 정해진 회원 업체들이 규격과 버전을 관리</a:t>
            </a:r>
            <a:endParaRPr lang="en-US" altLang="ko-KR" dirty="0" smtClean="0"/>
          </a:p>
          <a:p>
            <a:pPr lvl="1"/>
            <a:r>
              <a:rPr lang="en-US" altLang="ko-KR" dirty="0" smtClean="0">
                <a:hlinkClick r:id="rId3"/>
              </a:rPr>
              <a:t>www.opengl.org</a:t>
            </a:r>
            <a:endParaRPr lang="en-US" altLang="ko-KR" dirty="0" smtClean="0"/>
          </a:p>
          <a:p>
            <a:pPr lvl="1"/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57702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OpenGL</a:t>
            </a:r>
            <a:r>
              <a:rPr lang="ko-KR" altLang="en-US" dirty="0" smtClean="0"/>
              <a:t>의 역사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 smtClean="0"/>
              <a:t>IrisGL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SGI</a:t>
            </a:r>
            <a:r>
              <a:rPr lang="ko-KR" altLang="en-US" dirty="0" smtClean="0"/>
              <a:t>의 워크스테이션에서 구현된 </a:t>
            </a:r>
            <a:r>
              <a:rPr lang="en-US" altLang="ko-KR" dirty="0" smtClean="0"/>
              <a:t>Graphics Library</a:t>
            </a:r>
            <a:r>
              <a:rPr lang="ko-KR" altLang="en-US" dirty="0" smtClean="0"/>
              <a:t>에서 시작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개방된 </a:t>
            </a:r>
            <a:r>
              <a:rPr lang="ko-KR" altLang="en-US" dirty="0" err="1" smtClean="0"/>
              <a:t>이식성을</a:t>
            </a:r>
            <a:r>
              <a:rPr lang="ko-KR" altLang="en-US" dirty="0" smtClean="0"/>
              <a:t> 위해 하드웨어 의존적인 부분을 제거</a:t>
            </a:r>
            <a:endParaRPr lang="en-US" altLang="ko-KR" dirty="0" smtClean="0"/>
          </a:p>
          <a:p>
            <a:endParaRPr lang="en-US" altLang="ko-KR" dirty="0" smtClean="0"/>
          </a:p>
          <a:p>
            <a:r>
              <a:rPr lang="en-US" altLang="ko-KR" dirty="0" smtClean="0"/>
              <a:t>OpenGL 1.0</a:t>
            </a:r>
          </a:p>
          <a:p>
            <a:pPr lvl="1"/>
            <a:r>
              <a:rPr lang="en-US" altLang="ko-KR" dirty="0" err="1" smtClean="0"/>
              <a:t>IrisGL</a:t>
            </a:r>
            <a:r>
              <a:rPr lang="ko-KR" altLang="en-US" dirty="0" smtClean="0"/>
              <a:t>의 기능을 축소하여 </a:t>
            </a:r>
            <a:r>
              <a:rPr lang="en-US" altLang="ko-KR" dirty="0" smtClean="0"/>
              <a:t>1992</a:t>
            </a:r>
            <a:r>
              <a:rPr lang="ko-KR" altLang="en-US" dirty="0" smtClean="0"/>
              <a:t>년 </a:t>
            </a:r>
            <a:r>
              <a:rPr lang="en-US" altLang="ko-KR" dirty="0" smtClean="0"/>
              <a:t>7</a:t>
            </a:r>
            <a:r>
              <a:rPr lang="ko-KR" altLang="en-US" dirty="0" smtClean="0"/>
              <a:t>월 발표</a:t>
            </a:r>
            <a:endParaRPr lang="en-US" altLang="ko-KR" dirty="0" smtClean="0"/>
          </a:p>
          <a:p>
            <a:endParaRPr lang="en-US" altLang="ko-KR" dirty="0" smtClean="0"/>
          </a:p>
          <a:p>
            <a:r>
              <a:rPr lang="en-US" altLang="ko-KR" dirty="0" smtClean="0"/>
              <a:t>OpenGL 1.1</a:t>
            </a:r>
          </a:p>
          <a:p>
            <a:pPr lvl="1"/>
            <a:r>
              <a:rPr lang="en-US" altLang="ko-KR" dirty="0" smtClean="0"/>
              <a:t>1995</a:t>
            </a:r>
            <a:r>
              <a:rPr lang="ko-KR" altLang="en-US" dirty="0" smtClean="0"/>
              <a:t>년 </a:t>
            </a:r>
            <a:r>
              <a:rPr lang="en-US" altLang="ko-KR" dirty="0" smtClean="0"/>
              <a:t>12</a:t>
            </a:r>
            <a:r>
              <a:rPr lang="ko-KR" altLang="en-US" dirty="0" smtClean="0"/>
              <a:t>월 발표</a:t>
            </a:r>
            <a:endParaRPr lang="en-US" altLang="ko-KR" dirty="0" smtClean="0"/>
          </a:p>
          <a:p>
            <a:pPr lvl="1"/>
            <a:r>
              <a:rPr lang="ko-KR" altLang="en-US" dirty="0" err="1" smtClean="0"/>
              <a:t>텍스쳐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매핑</a:t>
            </a:r>
            <a:r>
              <a:rPr lang="ko-KR" altLang="en-US" dirty="0" smtClean="0"/>
              <a:t> 개선</a:t>
            </a:r>
            <a:r>
              <a:rPr lang="en-US" altLang="ko-KR" dirty="0" smtClean="0"/>
              <a:t>, RGBA</a:t>
            </a:r>
            <a:r>
              <a:rPr lang="ko-KR" altLang="en-US" dirty="0" smtClean="0"/>
              <a:t>모드에서 논리 연산 기능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윈도우용 </a:t>
            </a:r>
            <a:r>
              <a:rPr lang="en-US" altLang="ko-KR" dirty="0" smtClean="0"/>
              <a:t>API </a:t>
            </a:r>
            <a:r>
              <a:rPr lang="ko-KR" altLang="en-US" dirty="0" smtClean="0"/>
              <a:t>추가</a:t>
            </a:r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07026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OpenGL</a:t>
            </a:r>
            <a:r>
              <a:rPr lang="ko-KR" altLang="en-US" dirty="0"/>
              <a:t>의 역사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484672"/>
            <a:ext cx="8229600" cy="5099008"/>
          </a:xfrm>
        </p:spPr>
        <p:txBody>
          <a:bodyPr>
            <a:normAutofit/>
          </a:bodyPr>
          <a:lstStyle/>
          <a:p>
            <a:r>
              <a:rPr lang="en-US" altLang="ko-KR" dirty="0" smtClean="0"/>
              <a:t>OpenGL 1.2</a:t>
            </a:r>
          </a:p>
          <a:p>
            <a:pPr lvl="1"/>
            <a:r>
              <a:rPr lang="en-US" altLang="ko-KR" dirty="0" smtClean="0"/>
              <a:t>1998</a:t>
            </a:r>
            <a:r>
              <a:rPr lang="ko-KR" altLang="en-US" dirty="0" smtClean="0"/>
              <a:t>년 </a:t>
            </a:r>
            <a:r>
              <a:rPr lang="en-US" altLang="ko-KR" dirty="0" smtClean="0"/>
              <a:t>3</a:t>
            </a:r>
            <a:r>
              <a:rPr lang="ko-KR" altLang="en-US" dirty="0" smtClean="0"/>
              <a:t>월 발</a:t>
            </a:r>
            <a:r>
              <a:rPr lang="ko-KR" altLang="en-US" dirty="0"/>
              <a:t>표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하드웨어</a:t>
            </a:r>
            <a:r>
              <a:rPr lang="en-US" altLang="ko-KR" dirty="0" smtClean="0"/>
              <a:t> </a:t>
            </a:r>
            <a:r>
              <a:rPr lang="ko-KR" altLang="en-US" dirty="0" smtClean="0"/>
              <a:t>가속 부피 </a:t>
            </a:r>
            <a:r>
              <a:rPr lang="ko-KR" altLang="en-US" dirty="0" err="1" smtClean="0"/>
              <a:t>렌더링</a:t>
            </a:r>
            <a:r>
              <a:rPr lang="ko-KR" altLang="en-US" dirty="0" smtClean="0"/>
              <a:t> 지원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BGRA, Packed pixel format </a:t>
            </a:r>
            <a:r>
              <a:rPr lang="ko-KR" altLang="en-US" dirty="0" smtClean="0"/>
              <a:t>등 다양한 이미지 형식과 하드웨어 프레임 버퍼 지원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Vertex Normal </a:t>
            </a:r>
            <a:r>
              <a:rPr lang="ko-KR" altLang="en-US" dirty="0" smtClean="0"/>
              <a:t>계산의 </a:t>
            </a:r>
            <a:r>
              <a:rPr lang="en-US" altLang="ko-KR" dirty="0" smtClean="0"/>
              <a:t>Normalize </a:t>
            </a:r>
            <a:r>
              <a:rPr lang="ko-KR" altLang="en-US" dirty="0" smtClean="0"/>
              <a:t>대신 빠른 성능을 위한 </a:t>
            </a:r>
            <a:r>
              <a:rPr lang="en-US" altLang="ko-KR" dirty="0" smtClean="0"/>
              <a:t>Automatic Rescaling </a:t>
            </a:r>
            <a:r>
              <a:rPr lang="ko-KR" altLang="en-US" dirty="0" smtClean="0"/>
              <a:t>지원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Specular Highlighting </a:t>
            </a:r>
            <a:r>
              <a:rPr lang="ko-KR" altLang="en-US" dirty="0" smtClean="0"/>
              <a:t>지원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Texture coordinate edge clamping </a:t>
            </a:r>
            <a:r>
              <a:rPr lang="ko-KR" altLang="en-US" dirty="0" smtClean="0"/>
              <a:t>지원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효율적인 </a:t>
            </a:r>
            <a:r>
              <a:rPr lang="en-US" altLang="ko-KR" dirty="0" smtClean="0"/>
              <a:t>Level of Detail </a:t>
            </a:r>
            <a:r>
              <a:rPr lang="ko-KR" altLang="en-US" dirty="0" smtClean="0"/>
              <a:t>기능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효율적인 </a:t>
            </a:r>
            <a:r>
              <a:rPr lang="ko-KR" altLang="en-US" dirty="0" err="1" smtClean="0"/>
              <a:t>텍스쳐</a:t>
            </a:r>
            <a:r>
              <a:rPr lang="ko-KR" altLang="en-US" dirty="0" smtClean="0"/>
              <a:t> 메모리 사용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Vertex Array </a:t>
            </a:r>
            <a:r>
              <a:rPr lang="ko-KR" altLang="en-US" dirty="0" smtClean="0"/>
              <a:t>최적화</a:t>
            </a:r>
            <a:endParaRPr lang="en-US" altLang="ko-KR" dirty="0"/>
          </a:p>
          <a:p>
            <a:pPr lvl="1"/>
            <a:endParaRPr lang="en-US" altLang="ko-KR" dirty="0" smtClean="0"/>
          </a:p>
          <a:p>
            <a:r>
              <a:rPr lang="en-US" altLang="ko-KR" dirty="0" smtClean="0"/>
              <a:t>OpenGL 4.1</a:t>
            </a:r>
          </a:p>
          <a:p>
            <a:pPr lvl="1"/>
            <a:r>
              <a:rPr lang="en-US" altLang="ko-KR" dirty="0" smtClean="0"/>
              <a:t>2010</a:t>
            </a:r>
            <a:r>
              <a:rPr lang="ko-KR" altLang="en-US" dirty="0" smtClean="0"/>
              <a:t>년 </a:t>
            </a:r>
            <a:r>
              <a:rPr lang="en-US" altLang="ko-KR" dirty="0"/>
              <a:t>3</a:t>
            </a:r>
            <a:r>
              <a:rPr lang="ko-KR" altLang="en-US" dirty="0" smtClean="0"/>
              <a:t>월 발표</a:t>
            </a:r>
            <a:endParaRPr lang="en-US" altLang="ko-KR" dirty="0" smtClean="0"/>
          </a:p>
          <a:p>
            <a:pPr lvl="1"/>
            <a:r>
              <a:rPr lang="en-US" altLang="ko-KR" dirty="0" err="1" smtClean="0"/>
              <a:t>nVidia</a:t>
            </a:r>
            <a:r>
              <a:rPr lang="en-US" altLang="ko-KR" dirty="0" smtClean="0"/>
              <a:t> </a:t>
            </a:r>
            <a:r>
              <a:rPr lang="en-US" altLang="ko-KR" dirty="0"/>
              <a:t>GeForce 400 series, </a:t>
            </a:r>
            <a:r>
              <a:rPr lang="en-US" altLang="ko-KR" dirty="0" err="1" smtClean="0"/>
              <a:t>nVidia</a:t>
            </a:r>
            <a:r>
              <a:rPr lang="en-US" altLang="ko-KR" dirty="0" smtClean="0"/>
              <a:t> </a:t>
            </a:r>
            <a:r>
              <a:rPr lang="en-US" altLang="ko-KR" dirty="0"/>
              <a:t>GeForce 500 series, </a:t>
            </a:r>
            <a:r>
              <a:rPr lang="en-US" altLang="ko-KR" dirty="0" err="1" smtClean="0"/>
              <a:t>ATi</a:t>
            </a:r>
            <a:r>
              <a:rPr lang="en-US" altLang="ko-KR" dirty="0" smtClean="0"/>
              <a:t> </a:t>
            </a:r>
            <a:r>
              <a:rPr lang="en-US" altLang="ko-KR" dirty="0"/>
              <a:t>Radeon HD 5000 series, AMD Radeon HD 6000 </a:t>
            </a:r>
            <a:r>
              <a:rPr lang="en-US" altLang="ko-KR" dirty="0" smtClean="0"/>
              <a:t>Series</a:t>
            </a:r>
            <a:r>
              <a:rPr lang="ko-KR" altLang="en-US" dirty="0" smtClean="0"/>
              <a:t>에서 지원</a:t>
            </a:r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8424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OpenGL</a:t>
            </a:r>
            <a:r>
              <a:rPr lang="ko-KR" altLang="en-US" dirty="0"/>
              <a:t>의 역사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484672"/>
            <a:ext cx="8229600" cy="5099008"/>
          </a:xfrm>
        </p:spPr>
        <p:txBody>
          <a:bodyPr>
            <a:normAutofit/>
          </a:bodyPr>
          <a:lstStyle/>
          <a:p>
            <a:r>
              <a:rPr lang="en-US" altLang="ko-KR" dirty="0" smtClean="0"/>
              <a:t>OpenGL 4.5</a:t>
            </a:r>
          </a:p>
          <a:p>
            <a:pPr lvl="1"/>
            <a:r>
              <a:rPr lang="en-US" altLang="ko-KR" dirty="0" smtClean="0"/>
              <a:t>2014</a:t>
            </a:r>
            <a:r>
              <a:rPr lang="ko-KR" altLang="en-US" dirty="0" smtClean="0"/>
              <a:t>년 </a:t>
            </a:r>
            <a:r>
              <a:rPr lang="en-US" altLang="ko-KR" dirty="0" smtClean="0"/>
              <a:t>8</a:t>
            </a:r>
            <a:r>
              <a:rPr lang="ko-KR" altLang="en-US" dirty="0" smtClean="0"/>
              <a:t>월 </a:t>
            </a:r>
            <a:r>
              <a:rPr lang="en-US" altLang="ko-KR" dirty="0" smtClean="0"/>
              <a:t>11</a:t>
            </a:r>
            <a:r>
              <a:rPr lang="ko-KR" altLang="en-US" dirty="0" smtClean="0"/>
              <a:t>일 발표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Direct State Access (DSA) </a:t>
            </a:r>
            <a:r>
              <a:rPr lang="ko-KR" altLang="en-US" dirty="0" smtClean="0"/>
              <a:t>지원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Flush Control </a:t>
            </a:r>
            <a:r>
              <a:rPr lang="ko-KR" altLang="en-US" dirty="0" smtClean="0"/>
              <a:t>지원</a:t>
            </a:r>
            <a:endParaRPr lang="en-US" altLang="ko-KR" dirty="0" smtClean="0"/>
          </a:p>
          <a:p>
            <a:pPr lvl="1"/>
            <a:r>
              <a:rPr lang="en-US" altLang="ko-KR" dirty="0" err="1" smtClean="0"/>
              <a:t>WebGL</a:t>
            </a:r>
            <a:r>
              <a:rPr lang="en-US" altLang="ko-KR" dirty="0"/>
              <a:t> </a:t>
            </a:r>
            <a:r>
              <a:rPr lang="ko-KR" altLang="en-US" dirty="0" smtClean="0"/>
              <a:t>브라우저</a:t>
            </a:r>
            <a:r>
              <a:rPr lang="en-US" altLang="ko-KR" dirty="0" smtClean="0"/>
              <a:t>, GPU</a:t>
            </a:r>
            <a:r>
              <a:rPr lang="ko-KR" altLang="en-US" dirty="0" smtClean="0"/>
              <a:t>를 보호</a:t>
            </a:r>
            <a:r>
              <a:rPr lang="en-US" altLang="ko-KR" dirty="0" smtClean="0"/>
              <a:t>(Preventing)</a:t>
            </a:r>
            <a:r>
              <a:rPr lang="ko-KR" altLang="en-US" dirty="0" smtClean="0"/>
              <a:t>해야 할 경우에 이전 버전보다 향상</a:t>
            </a:r>
            <a:r>
              <a:rPr lang="en-US" altLang="ko-KR" dirty="0" smtClean="0"/>
              <a:t>(Robustness)</a:t>
            </a:r>
          </a:p>
          <a:p>
            <a:pPr lvl="1"/>
            <a:r>
              <a:rPr lang="ko-KR" altLang="en-US" dirty="0" smtClean="0"/>
              <a:t>데스크탑 시스템에서 </a:t>
            </a:r>
            <a:r>
              <a:rPr lang="en-US" altLang="ko-KR" dirty="0" smtClean="0"/>
              <a:t>OpenGL ES application</a:t>
            </a:r>
            <a:r>
              <a:rPr lang="ko-KR" altLang="en-US" dirty="0" smtClean="0"/>
              <a:t>들의 개발 및 실행이 쉬워짐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DX11 emulation </a:t>
            </a:r>
            <a:r>
              <a:rPr lang="ko-KR" altLang="en-US" dirty="0" smtClean="0"/>
              <a:t>지원</a:t>
            </a:r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r>
              <a:rPr lang="en-US" altLang="ko-KR" dirty="0">
                <a:hlinkClick r:id="rId3"/>
              </a:rPr>
              <a:t>https://www.opengl.org/documentation/current_version</a:t>
            </a:r>
            <a:r>
              <a:rPr lang="en-US" altLang="ko-KR" dirty="0" smtClean="0">
                <a:hlinkClick r:id="rId3"/>
              </a:rPr>
              <a:t>/</a:t>
            </a:r>
            <a:endParaRPr lang="en-US" altLang="ko-KR" dirty="0" smtClean="0"/>
          </a:p>
          <a:p>
            <a:pPr lvl="1"/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57224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OpenGL</a:t>
            </a:r>
            <a:r>
              <a:rPr lang="ko-KR" altLang="en-US" dirty="0" smtClean="0"/>
              <a:t>의 특징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484672"/>
            <a:ext cx="8229600" cy="5099008"/>
          </a:xfrm>
        </p:spPr>
        <p:txBody>
          <a:bodyPr>
            <a:normAutofit/>
          </a:bodyPr>
          <a:lstStyle/>
          <a:p>
            <a:r>
              <a:rPr lang="ko-KR" altLang="en-US" dirty="0"/>
              <a:t>가장 넓게 사용되는 표준화된 도구</a:t>
            </a:r>
          </a:p>
          <a:p>
            <a:pPr lvl="1"/>
            <a:r>
              <a:rPr lang="en-US" altLang="ko-KR" dirty="0" smtClean="0"/>
              <a:t>OS: </a:t>
            </a:r>
            <a:r>
              <a:rPr lang="en-US" altLang="ko-KR" dirty="0"/>
              <a:t>Mac OS, OS/2, UNIX, Windows 95/98, NT, 2000, Linux, </a:t>
            </a:r>
            <a:r>
              <a:rPr lang="en-US" altLang="ko-KR" dirty="0" err="1"/>
              <a:t>OPENStep</a:t>
            </a:r>
            <a:r>
              <a:rPr lang="en-US" altLang="ko-KR" dirty="0"/>
              <a:t>, BeOS</a:t>
            </a:r>
          </a:p>
          <a:p>
            <a:pPr lvl="1"/>
            <a:r>
              <a:rPr lang="en-US" altLang="ko-KR" dirty="0" smtClean="0"/>
              <a:t>GUI: </a:t>
            </a:r>
            <a:r>
              <a:rPr lang="en-US" altLang="ko-KR" dirty="0"/>
              <a:t>Win32, </a:t>
            </a:r>
            <a:r>
              <a:rPr lang="en-US" altLang="ko-KR" dirty="0" err="1"/>
              <a:t>MacOS</a:t>
            </a:r>
            <a:r>
              <a:rPr lang="en-US" altLang="ko-KR" dirty="0"/>
              <a:t>, Presentation Manager, X-Window System</a:t>
            </a:r>
          </a:p>
          <a:p>
            <a:pPr lvl="1"/>
            <a:r>
              <a:rPr lang="ko-KR" altLang="en-US" dirty="0" smtClean="0"/>
              <a:t>사용 가능한 언어</a:t>
            </a:r>
            <a:r>
              <a:rPr lang="en-US" altLang="ko-KR" dirty="0"/>
              <a:t>: C, C++, Ada, Fortran, Python, Perl, Java</a:t>
            </a:r>
          </a:p>
          <a:p>
            <a:pPr lvl="1"/>
            <a:r>
              <a:rPr lang="ko-KR" altLang="en-US" dirty="0" smtClean="0"/>
              <a:t>네트워크 </a:t>
            </a:r>
            <a:r>
              <a:rPr lang="ko-KR" altLang="en-US" dirty="0"/>
              <a:t>프로토콜 </a:t>
            </a:r>
            <a:r>
              <a:rPr lang="ko-KR" altLang="en-US" dirty="0" smtClean="0"/>
              <a:t>독립적</a:t>
            </a:r>
            <a:endParaRPr lang="ko-KR" altLang="en-US" dirty="0"/>
          </a:p>
          <a:p>
            <a:endParaRPr lang="en-US" altLang="ko-KR" dirty="0" smtClean="0"/>
          </a:p>
          <a:p>
            <a:r>
              <a:rPr lang="ko-KR" altLang="en-US" dirty="0" smtClean="0"/>
              <a:t>유연성과 </a:t>
            </a:r>
            <a:r>
              <a:rPr lang="ko-KR" altLang="en-US" dirty="0"/>
              <a:t>차별화를 위한 </a:t>
            </a:r>
            <a:r>
              <a:rPr lang="ko-KR" altLang="en-US" dirty="0" smtClean="0"/>
              <a:t>확장 구조</a:t>
            </a:r>
            <a:endParaRPr lang="ko-KR" altLang="en-US" dirty="0"/>
          </a:p>
          <a:p>
            <a:pPr lvl="1"/>
            <a:r>
              <a:rPr lang="en-US" altLang="ko-KR" dirty="0"/>
              <a:t>OpenGL</a:t>
            </a:r>
            <a:r>
              <a:rPr lang="ko-KR" altLang="en-US" dirty="0"/>
              <a:t>구현은 함수마다 하드웨어가속 또는 소프트웨어루틴사용을 결정할 수 있다</a:t>
            </a:r>
            <a:r>
              <a:rPr lang="en-US" altLang="ko-KR" dirty="0"/>
              <a:t>. (</a:t>
            </a:r>
            <a:r>
              <a:rPr lang="ko-KR" altLang="en-US" dirty="0"/>
              <a:t>가정용</a:t>
            </a:r>
            <a:r>
              <a:rPr lang="en-US" altLang="ko-KR" dirty="0"/>
              <a:t>PC ~ </a:t>
            </a:r>
            <a:r>
              <a:rPr lang="ko-KR" altLang="en-US" dirty="0"/>
              <a:t>슈퍼컴퓨터</a:t>
            </a:r>
            <a:r>
              <a:rPr lang="en-US" altLang="ko-KR" dirty="0"/>
              <a:t>: </a:t>
            </a:r>
            <a:r>
              <a:rPr lang="ko-KR" altLang="en-US" dirty="0"/>
              <a:t>유연함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/>
              <a:t>OpenGL Extension</a:t>
            </a:r>
            <a:r>
              <a:rPr lang="ko-KR" altLang="en-US" dirty="0"/>
              <a:t>을 통한 하드웨어</a:t>
            </a:r>
            <a:r>
              <a:rPr lang="en-US" altLang="ko-KR" dirty="0"/>
              <a:t>, </a:t>
            </a:r>
            <a:r>
              <a:rPr lang="ko-KR" altLang="en-US" dirty="0" smtClean="0"/>
              <a:t>소프트웨어 성능 </a:t>
            </a:r>
            <a:r>
              <a:rPr lang="ko-KR" altLang="en-US" dirty="0"/>
              <a:t>차별화</a:t>
            </a:r>
          </a:p>
          <a:p>
            <a:pPr lvl="1"/>
            <a:r>
              <a:rPr lang="ko-KR" altLang="en-US" dirty="0" smtClean="0"/>
              <a:t>확장에 </a:t>
            </a:r>
            <a:r>
              <a:rPr lang="ko-KR" altLang="en-US" dirty="0"/>
              <a:t>대한 명명규칙</a:t>
            </a:r>
            <a:r>
              <a:rPr lang="en-US" altLang="ko-KR" dirty="0"/>
              <a:t>, </a:t>
            </a:r>
            <a:r>
              <a:rPr lang="ko-KR" altLang="en-US" dirty="0" smtClean="0"/>
              <a:t>새 확장 작성</a:t>
            </a:r>
            <a:r>
              <a:rPr lang="en-US" altLang="ko-KR" dirty="0"/>
              <a:t>, </a:t>
            </a:r>
            <a:r>
              <a:rPr lang="ko-KR" altLang="en-US" dirty="0"/>
              <a:t>사양서술</a:t>
            </a:r>
            <a:r>
              <a:rPr lang="en-US" altLang="ko-KR" dirty="0"/>
              <a:t>, </a:t>
            </a:r>
            <a:r>
              <a:rPr lang="ko-KR" altLang="en-US" dirty="0" smtClean="0"/>
              <a:t>문서화 안내 </a:t>
            </a:r>
            <a:r>
              <a:rPr lang="en-US" altLang="ko-KR" dirty="0"/>
              <a:t>(</a:t>
            </a:r>
            <a:r>
              <a:rPr lang="ko-KR" altLang="en-US" dirty="0"/>
              <a:t>일관된 확장관리</a:t>
            </a:r>
            <a:r>
              <a:rPr lang="en-US" altLang="ko-KR" dirty="0" smtClean="0"/>
              <a:t>)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45794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OpenGL</a:t>
            </a:r>
            <a:r>
              <a:rPr lang="ko-KR" altLang="en-US" dirty="0" smtClean="0"/>
              <a:t>의 특징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484672"/>
            <a:ext cx="8229600" cy="5099008"/>
          </a:xfrm>
        </p:spPr>
        <p:txBody>
          <a:bodyPr>
            <a:normAutofit/>
          </a:bodyPr>
          <a:lstStyle/>
          <a:p>
            <a:r>
              <a:rPr lang="ko-KR" altLang="en-US" dirty="0"/>
              <a:t>절차적 </a:t>
            </a:r>
            <a:r>
              <a:rPr lang="en-US" altLang="ko-KR" dirty="0"/>
              <a:t>State Machine </a:t>
            </a:r>
            <a:r>
              <a:rPr lang="ko-KR" altLang="en-US" dirty="0"/>
              <a:t>구조</a:t>
            </a:r>
          </a:p>
          <a:p>
            <a:pPr lvl="1"/>
            <a:r>
              <a:rPr lang="en-US" altLang="ko-KR" dirty="0" smtClean="0"/>
              <a:t>Client-Server </a:t>
            </a:r>
            <a:r>
              <a:rPr lang="ko-KR" altLang="en-US" dirty="0" smtClean="0"/>
              <a:t>구조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객체지향적이지 않음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GUI </a:t>
            </a:r>
            <a:r>
              <a:rPr lang="ko-KR" altLang="en-US" dirty="0" smtClean="0"/>
              <a:t>제어와 관련된 기능을 포함하지 않음</a:t>
            </a:r>
            <a:endParaRPr lang="en-US" altLang="ko-KR" dirty="0" smtClean="0"/>
          </a:p>
          <a:p>
            <a:pPr lvl="1"/>
            <a:endParaRPr lang="en-US" altLang="ko-KR" dirty="0" smtClean="0"/>
          </a:p>
          <a:p>
            <a:r>
              <a:rPr lang="ko-KR" altLang="en-US" dirty="0" smtClean="0"/>
              <a:t>다양한 </a:t>
            </a:r>
            <a:r>
              <a:rPr lang="en-US" altLang="ko-KR" dirty="0" smtClean="0"/>
              <a:t>State(Mode) </a:t>
            </a:r>
            <a:r>
              <a:rPr lang="ko-KR" altLang="en-US" dirty="0" smtClean="0"/>
              <a:t>분리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색상</a:t>
            </a:r>
            <a:r>
              <a:rPr lang="en-US" altLang="ko-KR" dirty="0" smtClean="0"/>
              <a:t>, </a:t>
            </a:r>
            <a:r>
              <a:rPr lang="ko-KR" altLang="en-US" dirty="0" smtClean="0"/>
              <a:t>변환</a:t>
            </a:r>
            <a:r>
              <a:rPr lang="en-US" altLang="ko-KR" dirty="0" smtClean="0"/>
              <a:t>, </a:t>
            </a:r>
            <a:r>
              <a:rPr lang="ko-KR" altLang="en-US" dirty="0" smtClean="0"/>
              <a:t>드로잉 모드 등 여러 종류의 상태를 각각 유지</a:t>
            </a:r>
            <a:endParaRPr lang="en-US" altLang="ko-KR" dirty="0" smtClean="0"/>
          </a:p>
          <a:p>
            <a:pPr lvl="1"/>
            <a:r>
              <a:rPr lang="ko-KR" altLang="en-US" dirty="0"/>
              <a:t>사용자가 각 상태를 바꾸기 전까지 유지</a:t>
            </a:r>
            <a:endParaRPr lang="en-US" altLang="ko-KR" dirty="0"/>
          </a:p>
          <a:p>
            <a:pPr lvl="2"/>
            <a:r>
              <a:rPr lang="en-US" altLang="ko-KR" dirty="0" smtClean="0"/>
              <a:t>Current Color: </a:t>
            </a:r>
            <a:r>
              <a:rPr lang="en-US" altLang="ko-KR" dirty="0" err="1" smtClean="0"/>
              <a:t>glColor</a:t>
            </a:r>
            <a:r>
              <a:rPr lang="ko-KR" altLang="en-US" dirty="0" smtClean="0"/>
              <a:t>를 통해 색상을 바꾸면 다음 번 </a:t>
            </a:r>
            <a:r>
              <a:rPr lang="en-US" altLang="ko-KR" dirty="0" err="1" smtClean="0"/>
              <a:t>glColor</a:t>
            </a:r>
            <a:r>
              <a:rPr lang="ko-KR" altLang="en-US" dirty="0" smtClean="0"/>
              <a:t>가 호출되기 전까지 모든 </a:t>
            </a:r>
            <a:r>
              <a:rPr lang="en-US" altLang="ko-KR" dirty="0" smtClean="0"/>
              <a:t>Vertex</a:t>
            </a:r>
            <a:r>
              <a:rPr lang="ko-KR" altLang="en-US" dirty="0" smtClean="0"/>
              <a:t>들이 같은 색상으로 출력</a:t>
            </a:r>
            <a:endParaRPr lang="en-US" altLang="ko-KR" dirty="0" smtClean="0"/>
          </a:p>
          <a:p>
            <a:pPr lvl="1"/>
            <a:endParaRPr lang="en-US" altLang="ko-KR" dirty="0" smtClean="0"/>
          </a:p>
          <a:p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3209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OpenGL ES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 smtClean="0"/>
              <a:t>Khronos</a:t>
            </a:r>
            <a:r>
              <a:rPr lang="en-US" altLang="ko-KR" dirty="0" smtClean="0"/>
              <a:t> </a:t>
            </a:r>
            <a:r>
              <a:rPr lang="en-US" altLang="ko-KR" dirty="0"/>
              <a:t>Group (</a:t>
            </a:r>
            <a:r>
              <a:rPr lang="en-US" altLang="ko-KR" dirty="0">
                <a:hlinkClick r:id="rId3"/>
              </a:rPr>
              <a:t>https://www.khronos.org</a:t>
            </a:r>
            <a:r>
              <a:rPr lang="en-US" altLang="ko-KR" dirty="0" smtClean="0">
                <a:hlinkClick r:id="rId3"/>
              </a:rPr>
              <a:t>/</a:t>
            </a:r>
            <a:r>
              <a:rPr lang="en-US" altLang="ko-KR" dirty="0" smtClean="0"/>
              <a:t>)</a:t>
            </a:r>
          </a:p>
          <a:p>
            <a:pPr lvl="1"/>
            <a:r>
              <a:rPr lang="ko-KR" altLang="en-US" dirty="0" err="1" smtClean="0"/>
              <a:t>임베디드</a:t>
            </a:r>
            <a:r>
              <a:rPr lang="ko-KR" altLang="en-US" dirty="0" smtClean="0"/>
              <a:t> 및 이동 단말장치의 오디오</a:t>
            </a:r>
            <a:r>
              <a:rPr lang="en-US" altLang="ko-KR" dirty="0" smtClean="0"/>
              <a:t>, </a:t>
            </a:r>
            <a:r>
              <a:rPr lang="ko-KR" altLang="en-US" dirty="0" smtClean="0"/>
              <a:t>비디오</a:t>
            </a:r>
            <a:r>
              <a:rPr lang="en-US" altLang="ko-KR" dirty="0" smtClean="0"/>
              <a:t>, 2D </a:t>
            </a:r>
            <a:r>
              <a:rPr lang="ko-KR" altLang="en-US" dirty="0" smtClean="0"/>
              <a:t>및 </a:t>
            </a:r>
            <a:r>
              <a:rPr lang="en-US" altLang="ko-KR" dirty="0" smtClean="0"/>
              <a:t>3D </a:t>
            </a:r>
            <a:r>
              <a:rPr lang="ko-KR" altLang="en-US" dirty="0" smtClean="0"/>
              <a:t>그래픽 </a:t>
            </a:r>
            <a:r>
              <a:rPr lang="en-US" altLang="ko-KR" dirty="0" smtClean="0"/>
              <a:t>API</a:t>
            </a:r>
            <a:r>
              <a:rPr lang="ko-KR" altLang="en-US" dirty="0" smtClean="0"/>
              <a:t>와 저작 환경의 표준화를 추진하는 컨소시엄 형태의 표준화 그룹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주요 사업은 </a:t>
            </a:r>
            <a:r>
              <a:rPr lang="en-US" altLang="ko-KR" dirty="0" smtClean="0"/>
              <a:t>OpenGL ES, </a:t>
            </a:r>
            <a:r>
              <a:rPr lang="en-US" altLang="ko-KR" dirty="0" err="1" smtClean="0"/>
              <a:t>OpenML</a:t>
            </a:r>
            <a:r>
              <a:rPr lang="en-US" altLang="ko-KR" dirty="0" smtClean="0"/>
              <a:t>, </a:t>
            </a:r>
            <a:r>
              <a:rPr lang="en-US" altLang="ko-KR" dirty="0" err="1" smtClean="0"/>
              <a:t>OpenMAX</a:t>
            </a:r>
            <a:r>
              <a:rPr lang="en-US" altLang="ko-KR" dirty="0" smtClean="0"/>
              <a:t>, </a:t>
            </a:r>
            <a:r>
              <a:rPr lang="en-US" altLang="ko-KR" dirty="0" err="1" smtClean="0"/>
              <a:t>OpenVG</a:t>
            </a:r>
            <a:r>
              <a:rPr lang="en-US" altLang="ko-KR" dirty="0" smtClean="0"/>
              <a:t> </a:t>
            </a:r>
            <a:r>
              <a:rPr lang="ko-KR" altLang="en-US" dirty="0" smtClean="0"/>
              <a:t>등의 표준 </a:t>
            </a:r>
            <a:r>
              <a:rPr lang="en-US" altLang="ko-KR" dirty="0" smtClean="0"/>
              <a:t>API </a:t>
            </a:r>
            <a:r>
              <a:rPr lang="ko-KR" altLang="en-US" dirty="0" smtClean="0"/>
              <a:t>개발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16</a:t>
            </a:fld>
            <a:endParaRPr lang="ko-KR" alt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2899410"/>
            <a:ext cx="6705600" cy="3848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741378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OpenGL ES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OpenGL for </a:t>
            </a:r>
            <a:r>
              <a:rPr lang="en-US" altLang="ko-KR" dirty="0" smtClean="0"/>
              <a:t>Embedded Systems</a:t>
            </a:r>
          </a:p>
          <a:p>
            <a:pPr lvl="1"/>
            <a:r>
              <a:rPr lang="en-US" altLang="ko-KR" dirty="0" err="1"/>
              <a:t>Khronos</a:t>
            </a:r>
            <a:r>
              <a:rPr lang="en-US" altLang="ko-KR" dirty="0"/>
              <a:t> Group</a:t>
            </a:r>
            <a:r>
              <a:rPr lang="ko-KR" altLang="en-US" dirty="0"/>
              <a:t>에서 </a:t>
            </a:r>
            <a:r>
              <a:rPr lang="ko-KR" altLang="en-US" dirty="0" err="1"/>
              <a:t>모바일</a:t>
            </a:r>
            <a:r>
              <a:rPr lang="ko-KR" altLang="en-US" dirty="0"/>
              <a:t> </a:t>
            </a:r>
            <a:r>
              <a:rPr lang="ko-KR" altLang="en-US" dirty="0" err="1"/>
              <a:t>임베디드</a:t>
            </a:r>
            <a:r>
              <a:rPr lang="ko-KR" altLang="en-US" dirty="0"/>
              <a:t> 기기를 위해 제작한 </a:t>
            </a:r>
            <a:r>
              <a:rPr lang="en-US" altLang="ko-KR" dirty="0"/>
              <a:t>3D Graphics </a:t>
            </a:r>
            <a:r>
              <a:rPr lang="en-US" altLang="ko-KR" dirty="0" smtClean="0"/>
              <a:t>API</a:t>
            </a:r>
          </a:p>
          <a:p>
            <a:pPr lvl="1"/>
            <a:r>
              <a:rPr lang="ko-KR" altLang="en-US" dirty="0"/>
              <a:t>거의 쓰이지 않거나 중복된 기능을 수행하는 </a:t>
            </a:r>
            <a:r>
              <a:rPr lang="en-US" altLang="ko-KR" dirty="0"/>
              <a:t>API</a:t>
            </a:r>
            <a:r>
              <a:rPr lang="ko-KR" altLang="en-US" dirty="0"/>
              <a:t>들을 과감히 </a:t>
            </a:r>
            <a:r>
              <a:rPr lang="ko-KR" altLang="en-US" dirty="0" smtClean="0"/>
              <a:t>제거</a:t>
            </a:r>
            <a:endParaRPr lang="en-US" altLang="ko-KR" dirty="0" smtClean="0"/>
          </a:p>
          <a:p>
            <a:pPr lvl="1"/>
            <a:r>
              <a:rPr lang="ko-KR" altLang="en-US" dirty="0" err="1"/>
              <a:t>임베디드</a:t>
            </a:r>
            <a:r>
              <a:rPr lang="ko-KR" altLang="en-US" dirty="0"/>
              <a:t> 시스템에 적합한 데이터 타입을 </a:t>
            </a:r>
            <a:r>
              <a:rPr lang="ko-KR" altLang="en-US" dirty="0" smtClean="0"/>
              <a:t>추가</a:t>
            </a:r>
            <a:endParaRPr lang="en-US" altLang="ko-KR" dirty="0" smtClean="0"/>
          </a:p>
          <a:p>
            <a:pPr lvl="1"/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endParaRPr lang="en-US" altLang="ko-KR" dirty="0" smtClean="0"/>
          </a:p>
          <a:p>
            <a:r>
              <a:rPr lang="ko-KR" altLang="en-US" dirty="0" smtClean="0"/>
              <a:t>장점</a:t>
            </a:r>
            <a:endParaRPr lang="en-US" altLang="ko-KR" dirty="0" smtClean="0"/>
          </a:p>
          <a:p>
            <a:pPr lvl="1"/>
            <a:r>
              <a:rPr lang="ko-KR" altLang="en-US" dirty="0"/>
              <a:t>로열티를 </a:t>
            </a:r>
            <a:r>
              <a:rPr lang="ko-KR" altLang="en-US" dirty="0" smtClean="0"/>
              <a:t>받지 </a:t>
            </a:r>
            <a:r>
              <a:rPr lang="ko-KR" altLang="en-US" dirty="0"/>
              <a:t>않는 </a:t>
            </a:r>
            <a:r>
              <a:rPr lang="ko-KR" altLang="en-US" dirty="0" err="1"/>
              <a:t>오픈소스</a:t>
            </a:r>
            <a:r>
              <a:rPr lang="ko-KR" altLang="en-US" dirty="0"/>
              <a:t> </a:t>
            </a:r>
            <a:r>
              <a:rPr lang="en-US" altLang="ko-KR" dirty="0" smtClean="0"/>
              <a:t>API</a:t>
            </a:r>
          </a:p>
          <a:p>
            <a:pPr lvl="1"/>
            <a:r>
              <a:rPr lang="ko-KR" altLang="en-US" dirty="0" err="1"/>
              <a:t>모바일</a:t>
            </a:r>
            <a:r>
              <a:rPr lang="ko-KR" altLang="en-US" dirty="0"/>
              <a:t> 환경을 </a:t>
            </a:r>
            <a:r>
              <a:rPr lang="ko-KR" altLang="en-US" dirty="0" smtClean="0"/>
              <a:t>감안한 </a:t>
            </a:r>
            <a:r>
              <a:rPr lang="ko-KR" altLang="en-US" dirty="0"/>
              <a:t>최소화</a:t>
            </a:r>
            <a:r>
              <a:rPr lang="en-US" altLang="ko-KR" dirty="0"/>
              <a:t>, </a:t>
            </a:r>
            <a:r>
              <a:rPr lang="ko-KR" altLang="en-US" dirty="0"/>
              <a:t>최적화된 </a:t>
            </a:r>
            <a:r>
              <a:rPr lang="en-US" altLang="ko-KR" dirty="0" smtClean="0"/>
              <a:t>API</a:t>
            </a:r>
            <a:r>
              <a:rPr lang="ko-KR" altLang="en-US" dirty="0" smtClean="0"/>
              <a:t> 제공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각각의 </a:t>
            </a:r>
            <a:r>
              <a:rPr lang="en-US" altLang="ko-KR" dirty="0" smtClean="0"/>
              <a:t>API</a:t>
            </a:r>
            <a:r>
              <a:rPr lang="ko-KR" altLang="en-US" dirty="0" smtClean="0"/>
              <a:t>는 소프트웨어나 하드웨어에서 다양한 조합으로 구현 가능</a:t>
            </a:r>
            <a:endParaRPr lang="en-US" altLang="ko-KR" dirty="0" smtClean="0"/>
          </a:p>
          <a:p>
            <a:pPr lvl="1"/>
            <a:r>
              <a:rPr lang="ko-KR" altLang="en-US" dirty="0" err="1"/>
              <a:t>익스텐션</a:t>
            </a:r>
            <a:r>
              <a:rPr lang="ko-KR" altLang="en-US" dirty="0"/>
              <a:t> 기능을 통해 새로운 하드웨어도 </a:t>
            </a:r>
            <a:r>
              <a:rPr lang="ko-KR" altLang="en-US" dirty="0" smtClean="0"/>
              <a:t>쉽게 </a:t>
            </a:r>
            <a:r>
              <a:rPr lang="en-US" altLang="ko-KR" dirty="0"/>
              <a:t>OpenGL </a:t>
            </a:r>
            <a:r>
              <a:rPr lang="ko-KR" altLang="en-US" dirty="0"/>
              <a:t>기능으로의 접근이 </a:t>
            </a:r>
            <a:r>
              <a:rPr lang="ko-KR" altLang="en-US" dirty="0" smtClean="0"/>
              <a:t>가능</a:t>
            </a:r>
            <a:endParaRPr lang="en-US" altLang="ko-KR" dirty="0" smtClean="0"/>
          </a:p>
          <a:p>
            <a:pPr lvl="1"/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17</a:t>
            </a:fld>
            <a:endParaRPr lang="ko-KR" altLang="en-US"/>
          </a:p>
        </p:txBody>
      </p:sp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4450" y="2854643"/>
            <a:ext cx="1943100" cy="714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93166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OpenGL ES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 smtClean="0"/>
              <a:t>OpenGL ES 1.0</a:t>
            </a:r>
          </a:p>
          <a:p>
            <a:pPr lvl="1"/>
            <a:r>
              <a:rPr lang="en-US" altLang="ko-KR" dirty="0" smtClean="0"/>
              <a:t>OpenGL 1.3 </a:t>
            </a:r>
            <a:r>
              <a:rPr lang="ko-KR" altLang="en-US" dirty="0" smtClean="0"/>
              <a:t>기반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고정소수점 데이터 형식 추가</a:t>
            </a:r>
            <a:r>
              <a:rPr lang="en-US" altLang="ko-KR" dirty="0" smtClean="0"/>
              <a:t>, </a:t>
            </a:r>
            <a:r>
              <a:rPr lang="en-US" altLang="ko-KR" dirty="0" err="1" smtClean="0"/>
              <a:t>glBegin</a:t>
            </a:r>
            <a:r>
              <a:rPr lang="ko-KR" altLang="en-US" dirty="0" smtClean="0"/>
              <a:t>과 </a:t>
            </a:r>
            <a:r>
              <a:rPr lang="en-US" altLang="ko-KR" dirty="0" err="1" smtClean="0"/>
              <a:t>glEnd</a:t>
            </a:r>
            <a:r>
              <a:rPr lang="en-US" altLang="ko-KR" dirty="0" smtClean="0"/>
              <a:t> </a:t>
            </a:r>
            <a:r>
              <a:rPr lang="ko-KR" altLang="en-US" dirty="0" smtClean="0"/>
              <a:t>제거</a:t>
            </a:r>
            <a:endParaRPr lang="en-US" altLang="ko-KR" dirty="0" smtClean="0"/>
          </a:p>
          <a:p>
            <a:pPr lvl="1"/>
            <a:r>
              <a:rPr lang="ko-KR" altLang="en-US" dirty="0" err="1" smtClean="0"/>
              <a:t>심비안</a:t>
            </a:r>
            <a:r>
              <a:rPr lang="ko-KR" altLang="en-US" dirty="0" smtClean="0"/>
              <a:t> </a:t>
            </a:r>
            <a:r>
              <a:rPr lang="en-US" altLang="ko-KR" dirty="0" smtClean="0"/>
              <a:t>OS</a:t>
            </a:r>
            <a:r>
              <a:rPr lang="ko-KR" altLang="en-US" dirty="0" smtClean="0"/>
              <a:t>와 </a:t>
            </a:r>
            <a:r>
              <a:rPr lang="ko-KR" altLang="en-US" dirty="0" err="1" smtClean="0"/>
              <a:t>안드로이드</a:t>
            </a:r>
            <a:r>
              <a:rPr lang="ko-KR" altLang="en-US" dirty="0" smtClean="0"/>
              <a:t> 플랫폼의 공식 </a:t>
            </a:r>
            <a:r>
              <a:rPr lang="en-US" altLang="ko-KR" dirty="0" smtClean="0"/>
              <a:t>3D API</a:t>
            </a:r>
          </a:p>
          <a:p>
            <a:pPr lvl="1"/>
            <a:r>
              <a:rPr lang="en-US" altLang="ko-KR" dirty="0" smtClean="0"/>
              <a:t>OpenGL ES 2.0</a:t>
            </a:r>
            <a:r>
              <a:rPr lang="ko-KR" altLang="en-US" dirty="0" smtClean="0"/>
              <a:t>의 일부 기능과 함께 </a:t>
            </a:r>
            <a:r>
              <a:rPr lang="ko-KR" altLang="en-US" dirty="0"/>
              <a:t>플레이스테이션 </a:t>
            </a:r>
            <a:r>
              <a:rPr lang="en-US" altLang="ko-KR" dirty="0"/>
              <a:t>3</a:t>
            </a:r>
            <a:r>
              <a:rPr lang="ko-KR" altLang="en-US" dirty="0"/>
              <a:t>의 공식 </a:t>
            </a:r>
            <a:r>
              <a:rPr lang="en-US" altLang="ko-KR" dirty="0"/>
              <a:t>API</a:t>
            </a:r>
            <a:r>
              <a:rPr lang="ko-KR" altLang="en-US" dirty="0"/>
              <a:t>로 </a:t>
            </a:r>
            <a:r>
              <a:rPr lang="ko-KR" altLang="en-US" dirty="0" smtClean="0"/>
              <a:t>지원</a:t>
            </a:r>
            <a:endParaRPr lang="en-US" altLang="ko-KR" dirty="0"/>
          </a:p>
          <a:p>
            <a:r>
              <a:rPr lang="en-US" altLang="ko-KR" dirty="0" smtClean="0"/>
              <a:t>OpenGL ES 1.1</a:t>
            </a:r>
          </a:p>
          <a:p>
            <a:pPr lvl="1"/>
            <a:r>
              <a:rPr lang="en-US" altLang="ko-KR" dirty="0" smtClean="0"/>
              <a:t>OpenGL 1.5 </a:t>
            </a:r>
            <a:r>
              <a:rPr lang="ko-KR" altLang="en-US" dirty="0" smtClean="0"/>
              <a:t>기반</a:t>
            </a:r>
            <a:endParaRPr lang="en-US" altLang="ko-KR" dirty="0" smtClean="0"/>
          </a:p>
          <a:p>
            <a:pPr lvl="1"/>
            <a:r>
              <a:rPr lang="ko-KR" altLang="en-US" dirty="0" err="1" smtClean="0"/>
              <a:t>텍스쳐</a:t>
            </a:r>
            <a:r>
              <a:rPr lang="ko-KR" altLang="en-US" dirty="0" smtClean="0"/>
              <a:t> 연산 추가</a:t>
            </a:r>
            <a:r>
              <a:rPr lang="en-US" altLang="ko-KR" dirty="0" smtClean="0"/>
              <a:t>, </a:t>
            </a:r>
            <a:r>
              <a:rPr lang="ko-KR" altLang="en-US" dirty="0" err="1" smtClean="0"/>
              <a:t>렌더링</a:t>
            </a:r>
            <a:r>
              <a:rPr lang="ko-KR" altLang="en-US" dirty="0" smtClean="0"/>
              <a:t> 규모 확대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Android 1.6, </a:t>
            </a:r>
            <a:r>
              <a:rPr lang="en-US" altLang="ko-KR" dirty="0" err="1" smtClean="0"/>
              <a:t>iOS</a:t>
            </a:r>
            <a:r>
              <a:rPr lang="en-US" altLang="ko-KR" dirty="0" smtClean="0"/>
              <a:t>, BlackBerry, Nintendo 3DS</a:t>
            </a:r>
            <a:endParaRPr lang="en-US" altLang="ko-KR" dirty="0"/>
          </a:p>
          <a:p>
            <a:r>
              <a:rPr lang="en-US" altLang="ko-KR" dirty="0" smtClean="0"/>
              <a:t>OpenGL ES 2.0</a:t>
            </a:r>
          </a:p>
          <a:p>
            <a:pPr lvl="1"/>
            <a:r>
              <a:rPr lang="en-US" altLang="ko-KR" dirty="0" smtClean="0"/>
              <a:t>OpenGL 2.0 </a:t>
            </a:r>
            <a:r>
              <a:rPr lang="ko-KR" altLang="en-US" dirty="0" smtClean="0"/>
              <a:t>기반</a:t>
            </a:r>
            <a:r>
              <a:rPr lang="en-US" altLang="ko-KR" dirty="0" smtClean="0"/>
              <a:t>, OpenGL ES 1.x</a:t>
            </a:r>
            <a:r>
              <a:rPr lang="ko-KR" altLang="en-US" dirty="0" smtClean="0"/>
              <a:t>와 호환되지 않음</a:t>
            </a:r>
            <a:endParaRPr lang="en-US" altLang="ko-KR" dirty="0"/>
          </a:p>
          <a:p>
            <a:pPr lvl="1"/>
            <a:r>
              <a:rPr lang="en-US" altLang="ko-KR" dirty="0" smtClean="0"/>
              <a:t>Vertex </a:t>
            </a:r>
            <a:r>
              <a:rPr lang="en-US" altLang="ko-KR" dirty="0" err="1"/>
              <a:t>shader</a:t>
            </a:r>
            <a:r>
              <a:rPr lang="ko-KR" altLang="en-US" dirty="0"/>
              <a:t>와 </a:t>
            </a:r>
            <a:r>
              <a:rPr lang="en-US" altLang="ko-KR" dirty="0" smtClean="0"/>
              <a:t>Fragment </a:t>
            </a:r>
            <a:r>
              <a:rPr lang="en-US" altLang="ko-KR" dirty="0" err="1" smtClean="0"/>
              <a:t>shader</a:t>
            </a:r>
            <a:r>
              <a:rPr lang="en-US" altLang="ko-KR" dirty="0" smtClean="0"/>
              <a:t> </a:t>
            </a:r>
            <a:r>
              <a:rPr lang="ko-KR" altLang="en-US" dirty="0" smtClean="0"/>
              <a:t>지원</a:t>
            </a:r>
            <a:r>
              <a:rPr lang="en-US" altLang="ko-KR" dirty="0" smtClean="0"/>
              <a:t>, GLSL ES </a:t>
            </a:r>
            <a:r>
              <a:rPr lang="ko-KR" altLang="en-US" dirty="0" err="1" smtClean="0"/>
              <a:t>쉐이딩</a:t>
            </a:r>
            <a:r>
              <a:rPr lang="ko-KR" altLang="en-US" dirty="0" smtClean="0"/>
              <a:t> 언어 지원</a:t>
            </a:r>
            <a:endParaRPr lang="en-US" altLang="ko-KR" dirty="0" smtClean="0"/>
          </a:p>
          <a:p>
            <a:pPr lvl="1"/>
            <a:r>
              <a:rPr lang="en-US" altLang="ko-KR" dirty="0" err="1"/>
              <a:t>WebGL</a:t>
            </a:r>
            <a:r>
              <a:rPr lang="ko-KR" altLang="en-US" dirty="0"/>
              <a:t>에서 </a:t>
            </a:r>
            <a:r>
              <a:rPr lang="ko-KR" altLang="en-US" dirty="0" smtClean="0"/>
              <a:t>사용</a:t>
            </a:r>
            <a:r>
              <a:rPr lang="en-US" altLang="ko-KR" dirty="0" smtClean="0"/>
              <a:t>, Android 2.2, </a:t>
            </a:r>
            <a:r>
              <a:rPr lang="en-US" altLang="ko-KR" dirty="0" err="1" smtClean="0"/>
              <a:t>iPad</a:t>
            </a:r>
            <a:r>
              <a:rPr lang="en-US" altLang="ko-KR" dirty="0" smtClean="0"/>
              <a:t> &amp; iPhone 3GS, Pandora console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0826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OpenGL ES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OpenGL ES 3.0: August 2012</a:t>
            </a:r>
          </a:p>
          <a:p>
            <a:pPr lvl="1"/>
            <a:r>
              <a:rPr lang="en-US" altLang="ko-KR" dirty="0"/>
              <a:t>OpenGL 4.3 provides full compatibility with OpenGL ES 3.0</a:t>
            </a:r>
          </a:p>
          <a:p>
            <a:pPr lvl="1"/>
            <a:r>
              <a:rPr lang="en-US" altLang="ko-KR" dirty="0"/>
              <a:t>High quality ETC2/EAC texture compression </a:t>
            </a:r>
          </a:p>
          <a:p>
            <a:pPr lvl="1"/>
            <a:r>
              <a:rPr lang="en-US" altLang="ko-KR" dirty="0"/>
              <a:t>GLSL ES shading language with full support for integer and 32-bit floating point operation</a:t>
            </a:r>
          </a:p>
          <a:p>
            <a:pPr lvl="1"/>
            <a:r>
              <a:rPr lang="en-US" altLang="ko-KR" dirty="0"/>
              <a:t>Greatly enhanced texturing functionality: 3D textures, depth textures, vertex textures…</a:t>
            </a:r>
          </a:p>
          <a:p>
            <a:pPr lvl="1"/>
            <a:r>
              <a:rPr lang="en-US" altLang="ko-KR" dirty="0"/>
              <a:t>Android 4.3, iOS 7, iPhone 5S, iPad Air, iPad Mini 2</a:t>
            </a:r>
          </a:p>
          <a:p>
            <a:r>
              <a:rPr lang="en-US" altLang="ko-KR" dirty="0" smtClean="0"/>
              <a:t>OpenGL ES 3.2:August 10</a:t>
            </a:r>
            <a:r>
              <a:rPr lang="en-US" altLang="ko-KR" baseline="30000" dirty="0" smtClean="0"/>
              <a:t>th</a:t>
            </a:r>
            <a:r>
              <a:rPr lang="en-US" altLang="ko-KR" dirty="0"/>
              <a:t> </a:t>
            </a:r>
            <a:r>
              <a:rPr lang="en-US" altLang="ko-KR" dirty="0" smtClean="0"/>
              <a:t>2015</a:t>
            </a:r>
          </a:p>
          <a:p>
            <a:pPr lvl="1"/>
            <a:r>
              <a:rPr lang="en-US" altLang="ko-KR" dirty="0" smtClean="0"/>
              <a:t>AEP </a:t>
            </a:r>
            <a:r>
              <a:rPr lang="ko-KR" altLang="en-US" dirty="0" smtClean="0"/>
              <a:t>기능 및 </a:t>
            </a:r>
            <a:r>
              <a:rPr lang="en-US" altLang="ko-KR" dirty="0" smtClean="0"/>
              <a:t>OpenGL ES</a:t>
            </a:r>
            <a:r>
              <a:rPr lang="ko-KR" altLang="en-US" dirty="0" smtClean="0"/>
              <a:t>의 </a:t>
            </a:r>
            <a:r>
              <a:rPr lang="en-US" altLang="ko-KR" dirty="0" smtClean="0"/>
              <a:t>core </a:t>
            </a:r>
            <a:r>
              <a:rPr lang="ko-KR" altLang="en-US" dirty="0" smtClean="0"/>
              <a:t>기능 추가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AEP : Set of OpenGL EX extensions</a:t>
            </a:r>
          </a:p>
          <a:p>
            <a:pPr lvl="1"/>
            <a:r>
              <a:rPr lang="en-US" altLang="ko-KR" dirty="0" smtClean="0"/>
              <a:t>GPU</a:t>
            </a:r>
            <a:r>
              <a:rPr lang="ko-KR" altLang="en-US" dirty="0" smtClean="0"/>
              <a:t>에서 </a:t>
            </a:r>
            <a:r>
              <a:rPr lang="en-US" altLang="ko-KR" dirty="0" smtClean="0"/>
              <a:t>Geometry &amp; tessellation </a:t>
            </a:r>
            <a:r>
              <a:rPr lang="en-US" altLang="ko-KR" dirty="0" err="1" smtClean="0"/>
              <a:t>shader</a:t>
            </a:r>
            <a:r>
              <a:rPr lang="en-US" altLang="ko-KR" dirty="0" smtClean="0"/>
              <a:t> </a:t>
            </a:r>
            <a:r>
              <a:rPr lang="ko-KR" altLang="en-US" dirty="0" smtClean="0"/>
              <a:t>효과를 증대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Floating point render target</a:t>
            </a:r>
            <a:r>
              <a:rPr lang="ko-KR" altLang="en-US" dirty="0" smtClean="0"/>
              <a:t>의 </a:t>
            </a:r>
            <a:r>
              <a:rPr lang="en-US" altLang="ko-KR" dirty="0" smtClean="0"/>
              <a:t>computing operation</a:t>
            </a:r>
            <a:r>
              <a:rPr lang="ko-KR" altLang="en-US" dirty="0"/>
              <a:t> </a:t>
            </a:r>
            <a:r>
              <a:rPr lang="ko-KR" altLang="en-US" dirty="0" smtClean="0"/>
              <a:t>효과를 증가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Etc.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3446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OpenGL</a:t>
            </a:r>
            <a:r>
              <a:rPr lang="ko-KR" altLang="en-US" dirty="0" smtClean="0"/>
              <a:t>과 </a:t>
            </a:r>
            <a:r>
              <a:rPr lang="en-US" altLang="ko-KR" dirty="0" smtClean="0"/>
              <a:t>ES</a:t>
            </a:r>
            <a:r>
              <a:rPr lang="ko-KR" altLang="en-US" dirty="0" smtClean="0"/>
              <a:t>의 차이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484672"/>
            <a:ext cx="8229600" cy="5236168"/>
          </a:xfrm>
        </p:spPr>
        <p:txBody>
          <a:bodyPr>
            <a:normAutofit lnSpcReduction="10000"/>
          </a:bodyPr>
          <a:lstStyle/>
          <a:p>
            <a:r>
              <a:rPr lang="ko-KR" altLang="en-US" dirty="0" err="1"/>
              <a:t>모바일</a:t>
            </a:r>
            <a:r>
              <a:rPr lang="ko-KR" altLang="en-US" dirty="0"/>
              <a:t> 환경의 제약성</a:t>
            </a:r>
          </a:p>
          <a:p>
            <a:pPr lvl="1"/>
            <a:r>
              <a:rPr lang="en-US" altLang="ko-KR" dirty="0" smtClean="0"/>
              <a:t>ES </a:t>
            </a:r>
            <a:r>
              <a:rPr lang="ko-KR" altLang="en-US" dirty="0"/>
              <a:t>는 </a:t>
            </a:r>
            <a:r>
              <a:rPr lang="en-US" altLang="ko-KR" dirty="0" smtClean="0"/>
              <a:t>OpenGL</a:t>
            </a:r>
            <a:r>
              <a:rPr lang="ko-KR" altLang="en-US" dirty="0" smtClean="0"/>
              <a:t>의 </a:t>
            </a:r>
            <a:r>
              <a:rPr lang="ko-KR" altLang="en-US" dirty="0"/>
              <a:t>일부 기능으로 </a:t>
            </a:r>
            <a:r>
              <a:rPr lang="ko-KR" altLang="en-US" dirty="0" smtClean="0"/>
              <a:t>정의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명령의 </a:t>
            </a:r>
            <a:r>
              <a:rPr lang="ko-KR" altLang="en-US" dirty="0"/>
              <a:t>수나 구현 동작에 필요한 메모리 양을 줄인 </a:t>
            </a:r>
            <a:r>
              <a:rPr lang="ko-KR" altLang="en-US" dirty="0" smtClean="0"/>
              <a:t>공용프로파일과 적은 </a:t>
            </a:r>
            <a:r>
              <a:rPr lang="ko-KR" altLang="en-US" dirty="0"/>
              <a:t>메모리와 자원을 가진 장치를 목적으로 축</a:t>
            </a:r>
            <a:r>
              <a:rPr lang="ko-KR" altLang="en-US" dirty="0" smtClean="0"/>
              <a:t>소 </a:t>
            </a:r>
            <a:r>
              <a:rPr lang="ko-KR" altLang="en-US" dirty="0"/>
              <a:t>작업을 거친 공용</a:t>
            </a:r>
            <a:r>
              <a:rPr lang="en-US" altLang="ko-KR" dirty="0"/>
              <a:t>-</a:t>
            </a:r>
            <a:r>
              <a:rPr lang="ko-KR" altLang="en-US" dirty="0" err="1"/>
              <a:t>라이트</a:t>
            </a:r>
            <a:r>
              <a:rPr lang="ko-KR" altLang="en-US" dirty="0"/>
              <a:t> 프로파일로 </a:t>
            </a:r>
            <a:r>
              <a:rPr lang="ko-KR" altLang="en-US" dirty="0" smtClean="0"/>
              <a:t>구성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ES </a:t>
            </a:r>
            <a:r>
              <a:rPr lang="ko-KR" altLang="en-US" dirty="0"/>
              <a:t>는 데스크톱에 비해 매우 작은 디스플레이 </a:t>
            </a:r>
            <a:r>
              <a:rPr lang="ko-KR" altLang="en-US" dirty="0" smtClean="0"/>
              <a:t>해상도와</a:t>
            </a:r>
            <a:r>
              <a:rPr lang="en-US" altLang="ko-KR" dirty="0" smtClean="0"/>
              <a:t> </a:t>
            </a:r>
            <a:r>
              <a:rPr lang="ko-KR" altLang="en-US" dirty="0"/>
              <a:t>낮은 연산 기능을 가지기 때문에 기존의 </a:t>
            </a:r>
            <a:r>
              <a:rPr lang="en-US" altLang="ko-KR" dirty="0" smtClean="0"/>
              <a:t>OpenGL</a:t>
            </a:r>
            <a:r>
              <a:rPr lang="ko-KR" altLang="en-US" dirty="0" smtClean="0"/>
              <a:t>이 </a:t>
            </a:r>
            <a:r>
              <a:rPr lang="ko-KR" altLang="en-US" dirty="0"/>
              <a:t>보여주는 화려한 영상을 보여주기에 </a:t>
            </a:r>
            <a:r>
              <a:rPr lang="ko-KR" altLang="en-US" dirty="0" smtClean="0"/>
              <a:t>부적합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꼭 </a:t>
            </a:r>
            <a:r>
              <a:rPr lang="ko-KR" altLang="en-US" dirty="0"/>
              <a:t>필요한 기능만을 갖추고</a:t>
            </a:r>
            <a:r>
              <a:rPr lang="en-US" altLang="ko-KR" dirty="0"/>
              <a:t>, </a:t>
            </a:r>
            <a:r>
              <a:rPr lang="ko-KR" altLang="en-US" dirty="0"/>
              <a:t>효율적으로 </a:t>
            </a:r>
            <a:r>
              <a:rPr lang="en-US" altLang="ko-KR" dirty="0"/>
              <a:t>3D </a:t>
            </a:r>
            <a:r>
              <a:rPr lang="ko-KR" altLang="en-US" dirty="0"/>
              <a:t>영상을 보여주는데 </a:t>
            </a:r>
            <a:r>
              <a:rPr lang="ko-KR" altLang="en-US" dirty="0" smtClean="0"/>
              <a:t>주력</a:t>
            </a:r>
            <a:endParaRPr lang="en-US" altLang="ko-KR" dirty="0" smtClean="0"/>
          </a:p>
          <a:p>
            <a:pPr lvl="1"/>
            <a:endParaRPr lang="en-US" altLang="ko-KR" dirty="0"/>
          </a:p>
          <a:p>
            <a:r>
              <a:rPr lang="ko-KR" altLang="en-US" dirty="0"/>
              <a:t>데이터 타입의 축소</a:t>
            </a:r>
          </a:p>
          <a:p>
            <a:pPr lvl="1"/>
            <a:r>
              <a:rPr lang="ko-KR" altLang="en-US" dirty="0" smtClean="0"/>
              <a:t>부피를 </a:t>
            </a:r>
            <a:r>
              <a:rPr lang="ko-KR" altLang="en-US" dirty="0"/>
              <a:t>줄이기 위해 중복되거나</a:t>
            </a:r>
            <a:r>
              <a:rPr lang="en-US" altLang="ko-KR" dirty="0"/>
              <a:t>, </a:t>
            </a:r>
            <a:r>
              <a:rPr lang="ko-KR" altLang="en-US" dirty="0"/>
              <a:t>잘 사용하지 않는 데이터</a:t>
            </a:r>
            <a:r>
              <a:rPr lang="en-US" altLang="ko-KR" dirty="0"/>
              <a:t>, </a:t>
            </a:r>
            <a:r>
              <a:rPr lang="ko-KR" altLang="en-US" dirty="0" err="1" smtClean="0"/>
              <a:t>모바일</a:t>
            </a:r>
            <a:r>
              <a:rPr lang="ko-KR" altLang="en-US" dirty="0" smtClean="0"/>
              <a:t> </a:t>
            </a:r>
            <a:r>
              <a:rPr lang="ko-KR" altLang="en-US" dirty="0"/>
              <a:t>환경에서 사용하기 힘든 넓은 범위의 데이터 타입들을 과감히 </a:t>
            </a:r>
            <a:r>
              <a:rPr lang="ko-KR" altLang="en-US" dirty="0" smtClean="0"/>
              <a:t>정리</a:t>
            </a:r>
            <a:endParaRPr lang="en-US" altLang="ko-KR" dirty="0"/>
          </a:p>
          <a:p>
            <a:pPr lvl="1"/>
            <a:r>
              <a:rPr lang="en-US" altLang="ko-KR" dirty="0" err="1" smtClean="0"/>
              <a:t>GLdouble</a:t>
            </a:r>
            <a:r>
              <a:rPr lang="ko-KR" altLang="en-US" dirty="0" smtClean="0"/>
              <a:t>과 </a:t>
            </a:r>
            <a:r>
              <a:rPr lang="ko-KR" altLang="en-US" dirty="0"/>
              <a:t>이를 사용하는 함수 변환까지 </a:t>
            </a:r>
            <a:r>
              <a:rPr lang="ko-KR" altLang="en-US" dirty="0" smtClean="0"/>
              <a:t>제거</a:t>
            </a:r>
            <a:endParaRPr lang="en-US" altLang="ko-KR" dirty="0" smtClean="0"/>
          </a:p>
          <a:p>
            <a:pPr lvl="1"/>
            <a:r>
              <a:rPr lang="en-US" altLang="ko-KR" dirty="0" err="1" smtClean="0"/>
              <a:t>GLdouble</a:t>
            </a:r>
            <a:r>
              <a:rPr lang="ko-KR" altLang="en-US" dirty="0" smtClean="0"/>
              <a:t>만을 </a:t>
            </a:r>
            <a:r>
              <a:rPr lang="ko-KR" altLang="en-US" dirty="0"/>
              <a:t>받는 함수</a:t>
            </a:r>
            <a:r>
              <a:rPr lang="en-US" altLang="ko-KR" dirty="0"/>
              <a:t>(</a:t>
            </a:r>
            <a:r>
              <a:rPr lang="en-US" altLang="ko-KR" dirty="0" err="1"/>
              <a:t>glOrtho</a:t>
            </a:r>
            <a:r>
              <a:rPr lang="en-US" altLang="ko-KR" dirty="0"/>
              <a:t>)</a:t>
            </a:r>
            <a:r>
              <a:rPr lang="ko-KR" altLang="en-US" dirty="0" smtClean="0"/>
              <a:t>는 부동소수점이나 </a:t>
            </a:r>
            <a:r>
              <a:rPr lang="ko-KR" altLang="en-US" dirty="0"/>
              <a:t>고정소수점을 사용하도록 </a:t>
            </a:r>
            <a:r>
              <a:rPr lang="ko-KR" altLang="en-US" dirty="0" smtClean="0"/>
              <a:t>수정</a:t>
            </a:r>
            <a:endParaRPr lang="en-US" altLang="ko-KR" dirty="0" smtClean="0"/>
          </a:p>
          <a:p>
            <a:pPr lvl="1"/>
            <a:r>
              <a:rPr lang="en-US" altLang="ko-KR" dirty="0" err="1" smtClean="0"/>
              <a:t>GLfloat</a:t>
            </a:r>
            <a:r>
              <a:rPr lang="ko-KR" altLang="en-US" dirty="0" smtClean="0"/>
              <a:t> 제거</a:t>
            </a:r>
            <a:r>
              <a:rPr lang="en-US" altLang="ko-KR" dirty="0" smtClean="0"/>
              <a:t>, </a:t>
            </a:r>
            <a:r>
              <a:rPr lang="en-US" altLang="ko-KR" dirty="0" err="1" smtClean="0"/>
              <a:t>GLfixed</a:t>
            </a:r>
            <a:r>
              <a:rPr lang="en-US" altLang="ko-KR" dirty="0" smtClean="0"/>
              <a:t> </a:t>
            </a:r>
            <a:r>
              <a:rPr lang="en-US" altLang="ko-KR" dirty="0"/>
              <a:t>(</a:t>
            </a:r>
            <a:r>
              <a:rPr lang="ko-KR" altLang="en-US" dirty="0"/>
              <a:t>고정소수점 십진수</a:t>
            </a:r>
            <a:r>
              <a:rPr lang="en-US" altLang="ko-KR" dirty="0" smtClean="0"/>
              <a:t>), </a:t>
            </a:r>
            <a:r>
              <a:rPr lang="en-US" altLang="ko-KR" dirty="0" err="1"/>
              <a:t>GLclampx</a:t>
            </a:r>
            <a:r>
              <a:rPr lang="en-US" altLang="ko-KR" dirty="0"/>
              <a:t> </a:t>
            </a:r>
            <a:r>
              <a:rPr lang="ko-KR" altLang="en-US" dirty="0" smtClean="0"/>
              <a:t>등의 새로운 </a:t>
            </a:r>
            <a:r>
              <a:rPr lang="ko-KR" altLang="en-US" dirty="0"/>
              <a:t>데이터 형이 </a:t>
            </a:r>
            <a:r>
              <a:rPr lang="ko-KR" altLang="en-US" dirty="0" smtClean="0"/>
              <a:t>추가</a:t>
            </a:r>
            <a:endParaRPr lang="en-US" altLang="ko-KR" dirty="0"/>
          </a:p>
          <a:p>
            <a:pPr lvl="1"/>
            <a:r>
              <a:rPr lang="en-US" altLang="ko-KR" dirty="0" err="1" smtClean="0"/>
              <a:t>GLbyte</a:t>
            </a:r>
            <a:r>
              <a:rPr lang="en-US" altLang="ko-KR" dirty="0"/>
              <a:t>, </a:t>
            </a:r>
            <a:r>
              <a:rPr lang="en-US" altLang="ko-KR" dirty="0" err="1"/>
              <a:t>GLubyte</a:t>
            </a:r>
            <a:r>
              <a:rPr lang="en-US" altLang="ko-KR" dirty="0"/>
              <a:t>, </a:t>
            </a:r>
            <a:r>
              <a:rPr lang="en-US" altLang="ko-KR" dirty="0" err="1"/>
              <a:t>GLshort</a:t>
            </a:r>
            <a:r>
              <a:rPr lang="en-US" altLang="ko-KR" dirty="0"/>
              <a:t> </a:t>
            </a:r>
            <a:r>
              <a:rPr lang="ko-KR" altLang="en-US" dirty="0"/>
              <a:t>함수 </a:t>
            </a:r>
            <a:r>
              <a:rPr lang="ko-KR" altLang="en-US" dirty="0" err="1"/>
              <a:t>접미어가</a:t>
            </a:r>
            <a:r>
              <a:rPr lang="ko-KR" altLang="en-US" dirty="0"/>
              <a:t> </a:t>
            </a:r>
            <a:r>
              <a:rPr lang="ko-KR" altLang="en-US" dirty="0" smtClean="0"/>
              <a:t>제거</a:t>
            </a:r>
            <a:endParaRPr lang="en-US" altLang="ko-KR" dirty="0" smtClean="0"/>
          </a:p>
          <a:p>
            <a:pPr lvl="1"/>
            <a:r>
              <a:rPr lang="ko-KR" altLang="en-US" dirty="0" err="1" smtClean="0"/>
              <a:t>색상값으로</a:t>
            </a:r>
            <a:r>
              <a:rPr lang="ko-KR" altLang="en-US" dirty="0" smtClean="0"/>
              <a:t> </a:t>
            </a:r>
            <a:r>
              <a:rPr lang="en-US" altLang="ko-KR" dirty="0"/>
              <a:t>short</a:t>
            </a:r>
            <a:r>
              <a:rPr lang="ko-KR" altLang="en-US" dirty="0"/>
              <a:t>가 아닌 </a:t>
            </a:r>
            <a:r>
              <a:rPr lang="en-US" altLang="ko-KR" dirty="0" err="1"/>
              <a:t>ubyte</a:t>
            </a:r>
            <a:r>
              <a:rPr lang="ko-KR" altLang="en-US" dirty="0"/>
              <a:t>를 </a:t>
            </a:r>
            <a:r>
              <a:rPr lang="ko-KR" altLang="en-US" dirty="0" smtClean="0"/>
              <a:t>이용</a:t>
            </a:r>
            <a:r>
              <a:rPr lang="en-US" altLang="ko-KR" dirty="0" smtClean="0"/>
              <a:t>, </a:t>
            </a:r>
            <a:r>
              <a:rPr lang="en-US" altLang="ko-KR" dirty="0" err="1"/>
              <a:t>ubyte</a:t>
            </a:r>
            <a:r>
              <a:rPr lang="ko-KR" altLang="en-US" dirty="0"/>
              <a:t>는 </a:t>
            </a:r>
            <a:r>
              <a:rPr lang="en-US" altLang="ko-KR" dirty="0"/>
              <a:t>short </a:t>
            </a:r>
            <a:r>
              <a:rPr lang="ko-KR" altLang="en-US" dirty="0"/>
              <a:t>보다 작은 </a:t>
            </a:r>
            <a:r>
              <a:rPr lang="ko-KR" altLang="en-US" dirty="0" err="1" smtClean="0"/>
              <a:t>데이터형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작은 데이터 </a:t>
            </a:r>
            <a:r>
              <a:rPr lang="ko-KR" altLang="en-US" dirty="0"/>
              <a:t>형을 </a:t>
            </a:r>
            <a:r>
              <a:rPr lang="ko-KR" altLang="en-US" dirty="0" smtClean="0"/>
              <a:t>제공</a:t>
            </a:r>
            <a:r>
              <a:rPr lang="en-US" altLang="ko-KR" dirty="0" smtClean="0"/>
              <a:t>, </a:t>
            </a:r>
            <a:r>
              <a:rPr lang="ko-KR" altLang="en-US" dirty="0"/>
              <a:t>프로그램크기와 메모리 </a:t>
            </a:r>
            <a:r>
              <a:rPr lang="ko-KR" altLang="en-US" dirty="0" smtClean="0"/>
              <a:t>사용량을</a:t>
            </a:r>
            <a:r>
              <a:rPr lang="en-US" altLang="ko-KR" dirty="0"/>
              <a:t> </a:t>
            </a:r>
            <a:r>
              <a:rPr lang="ko-KR" altLang="en-US" dirty="0" smtClean="0"/>
              <a:t>절약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63045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OpenGL</a:t>
            </a:r>
            <a:r>
              <a:rPr lang="ko-KR" altLang="en-US" dirty="0" smtClean="0"/>
              <a:t>과 </a:t>
            </a:r>
            <a:r>
              <a:rPr lang="en-US" altLang="ko-KR" dirty="0" smtClean="0"/>
              <a:t>ES</a:t>
            </a:r>
            <a:r>
              <a:rPr lang="ko-KR" altLang="en-US" dirty="0" smtClean="0"/>
              <a:t>의 차이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484672"/>
            <a:ext cx="8229600" cy="5236168"/>
          </a:xfrm>
        </p:spPr>
        <p:txBody>
          <a:bodyPr>
            <a:normAutofit/>
          </a:bodyPr>
          <a:lstStyle/>
          <a:p>
            <a:r>
              <a:rPr lang="ko-KR" altLang="en-US" dirty="0"/>
              <a:t>완전히 제거된 기능들</a:t>
            </a:r>
          </a:p>
          <a:p>
            <a:pPr lvl="1"/>
            <a:r>
              <a:rPr lang="en-US" altLang="ko-KR" dirty="0" err="1" smtClean="0"/>
              <a:t>glBegin</a:t>
            </a:r>
            <a:r>
              <a:rPr lang="en-US" altLang="ko-KR" dirty="0" smtClean="0"/>
              <a:t>/</a:t>
            </a:r>
            <a:r>
              <a:rPr lang="en-US" altLang="ko-KR" dirty="0" err="1" smtClean="0"/>
              <a:t>glEnd</a:t>
            </a:r>
            <a:r>
              <a:rPr lang="en-US" altLang="ko-KR" dirty="0" smtClean="0"/>
              <a:t> </a:t>
            </a:r>
            <a:r>
              <a:rPr lang="ko-KR" altLang="en-US" dirty="0"/>
              <a:t>가 </a:t>
            </a:r>
            <a:r>
              <a:rPr lang="ko-KR" altLang="en-US" dirty="0" smtClean="0"/>
              <a:t>제거</a:t>
            </a:r>
            <a:r>
              <a:rPr lang="en-US" altLang="ko-KR" dirty="0" smtClean="0"/>
              <a:t> </a:t>
            </a:r>
            <a:r>
              <a:rPr lang="en-US" altLang="ko-KR" dirty="0"/>
              <a:t>(ES</a:t>
            </a:r>
            <a:r>
              <a:rPr lang="ko-KR" altLang="en-US" dirty="0"/>
              <a:t>는 </a:t>
            </a:r>
            <a:r>
              <a:rPr lang="ko-KR" altLang="en-US" dirty="0" err="1"/>
              <a:t>버텍스</a:t>
            </a:r>
            <a:r>
              <a:rPr lang="ko-KR" altLang="en-US" dirty="0"/>
              <a:t> 배열만을 </a:t>
            </a:r>
            <a:r>
              <a:rPr lang="ko-KR" altLang="en-US" dirty="0" smtClean="0"/>
              <a:t>사용</a:t>
            </a:r>
            <a:r>
              <a:rPr lang="en-US" altLang="ko-KR" dirty="0" smtClean="0"/>
              <a:t>)</a:t>
            </a:r>
            <a:endParaRPr lang="en-US" altLang="ko-KR" dirty="0"/>
          </a:p>
          <a:p>
            <a:pPr lvl="1"/>
            <a:r>
              <a:rPr lang="en-US" altLang="ko-KR" dirty="0" smtClean="0"/>
              <a:t>interleaved </a:t>
            </a:r>
            <a:r>
              <a:rPr lang="ko-KR" altLang="en-US" dirty="0"/>
              <a:t>배열 혹은 </a:t>
            </a:r>
            <a:r>
              <a:rPr lang="en-US" altLang="ko-KR" dirty="0" err="1"/>
              <a:t>glArrayElement</a:t>
            </a:r>
            <a:r>
              <a:rPr lang="ko-KR" altLang="en-US" dirty="0"/>
              <a:t>를 </a:t>
            </a:r>
            <a:r>
              <a:rPr lang="ko-KR" altLang="en-US" dirty="0" smtClean="0"/>
              <a:t>지원</a:t>
            </a:r>
            <a:endParaRPr lang="en-US" altLang="ko-KR" dirty="0"/>
          </a:p>
          <a:p>
            <a:pPr lvl="1"/>
            <a:r>
              <a:rPr lang="ko-KR" altLang="en-US" dirty="0" smtClean="0"/>
              <a:t>출력 </a:t>
            </a:r>
            <a:r>
              <a:rPr lang="ko-KR" altLang="en-US" dirty="0"/>
              <a:t>목록</a:t>
            </a:r>
          </a:p>
          <a:p>
            <a:pPr lvl="1"/>
            <a:r>
              <a:rPr lang="ko-KR" altLang="en-US" dirty="0" smtClean="0"/>
              <a:t>평가자</a:t>
            </a:r>
            <a:endParaRPr lang="ko-KR" altLang="en-US" dirty="0"/>
          </a:p>
          <a:p>
            <a:pPr lvl="1"/>
            <a:r>
              <a:rPr lang="ko-KR" altLang="en-US" dirty="0" smtClean="0"/>
              <a:t>색상 </a:t>
            </a:r>
            <a:r>
              <a:rPr lang="ko-KR" altLang="en-US" dirty="0"/>
              <a:t>인덱스 모드</a:t>
            </a:r>
          </a:p>
          <a:p>
            <a:pPr lvl="1"/>
            <a:r>
              <a:rPr lang="ko-KR" altLang="en-US" dirty="0" smtClean="0"/>
              <a:t>사용자 </a:t>
            </a:r>
            <a:r>
              <a:rPr lang="ko-KR" altLang="en-US" dirty="0"/>
              <a:t>정의 </a:t>
            </a:r>
            <a:r>
              <a:rPr lang="ko-KR" altLang="en-US" dirty="0" err="1"/>
              <a:t>클리핑</a:t>
            </a:r>
            <a:r>
              <a:rPr lang="ko-KR" altLang="en-US" dirty="0"/>
              <a:t> 평면</a:t>
            </a:r>
          </a:p>
          <a:p>
            <a:pPr lvl="1"/>
            <a:r>
              <a:rPr lang="ko-KR" altLang="en-US" dirty="0" smtClean="0"/>
              <a:t>선</a:t>
            </a:r>
            <a:r>
              <a:rPr lang="en-US" altLang="ko-KR" dirty="0"/>
              <a:t>, </a:t>
            </a:r>
            <a:r>
              <a:rPr lang="ko-KR" altLang="en-US" dirty="0" err="1"/>
              <a:t>폴리곤</a:t>
            </a:r>
            <a:r>
              <a:rPr lang="ko-KR" altLang="en-US" dirty="0"/>
              <a:t> </a:t>
            </a:r>
            <a:r>
              <a:rPr lang="ko-KR" altLang="en-US" dirty="0" err="1"/>
              <a:t>점각법</a:t>
            </a:r>
            <a:endParaRPr lang="ko-KR" altLang="en-US" dirty="0"/>
          </a:p>
          <a:p>
            <a:pPr lvl="1"/>
            <a:r>
              <a:rPr lang="en-US" altLang="ko-KR" dirty="0" err="1" smtClean="0"/>
              <a:t>glRect</a:t>
            </a:r>
            <a:endParaRPr lang="en-US" altLang="ko-KR" dirty="0"/>
          </a:p>
          <a:p>
            <a:pPr lvl="1"/>
            <a:r>
              <a:rPr lang="ko-KR" altLang="en-US" dirty="0" err="1" smtClean="0"/>
              <a:t>이미징</a:t>
            </a:r>
            <a:r>
              <a:rPr lang="ko-KR" altLang="en-US" dirty="0" smtClean="0"/>
              <a:t> </a:t>
            </a:r>
            <a:r>
              <a:rPr lang="ko-KR" altLang="en-US" dirty="0" err="1"/>
              <a:t>서브셋</a:t>
            </a:r>
            <a:endParaRPr lang="ko-KR" altLang="en-US" dirty="0"/>
          </a:p>
          <a:p>
            <a:pPr lvl="1"/>
            <a:r>
              <a:rPr lang="ko-KR" altLang="en-US" dirty="0" smtClean="0"/>
              <a:t>피드백</a:t>
            </a:r>
            <a:endParaRPr lang="ko-KR" altLang="en-US" dirty="0"/>
          </a:p>
          <a:p>
            <a:pPr lvl="1"/>
            <a:r>
              <a:rPr lang="ko-KR" altLang="en-US" dirty="0" smtClean="0"/>
              <a:t>누적버퍼</a:t>
            </a:r>
            <a:endParaRPr lang="ko-KR" altLang="en-US" dirty="0"/>
          </a:p>
          <a:p>
            <a:pPr lvl="1"/>
            <a:r>
              <a:rPr lang="ko-KR" altLang="en-US" dirty="0" smtClean="0"/>
              <a:t>경계 </a:t>
            </a:r>
            <a:r>
              <a:rPr lang="ko-KR" altLang="en-US" dirty="0"/>
              <a:t>플래그</a:t>
            </a:r>
          </a:p>
          <a:p>
            <a:pPr lvl="1"/>
            <a:r>
              <a:rPr lang="en-US" altLang="ko-KR" dirty="0" err="1" smtClean="0"/>
              <a:t>glPolygonMode</a:t>
            </a:r>
            <a:endParaRPr lang="en-US" altLang="ko-KR" dirty="0"/>
          </a:p>
          <a:p>
            <a:pPr lvl="1"/>
            <a:r>
              <a:rPr lang="en-US" altLang="ko-KR" dirty="0" smtClean="0"/>
              <a:t>GL_QUADS</a:t>
            </a:r>
            <a:r>
              <a:rPr lang="en-US" altLang="ko-KR" dirty="0"/>
              <a:t>, GL_QUAD_STRIP, GL_POLYGON </a:t>
            </a:r>
            <a:r>
              <a:rPr lang="ko-KR" altLang="en-US" dirty="0"/>
              <a:t>등 기존 </a:t>
            </a:r>
            <a:r>
              <a:rPr lang="ko-KR" altLang="en-US" dirty="0" smtClean="0"/>
              <a:t>모델들</a:t>
            </a:r>
            <a:endParaRPr lang="ko-KR" altLang="en-US" dirty="0"/>
          </a:p>
          <a:p>
            <a:pPr lvl="1"/>
            <a:r>
              <a:rPr lang="en-US" altLang="ko-KR" dirty="0" err="1" smtClean="0"/>
              <a:t>glPushAttrib</a:t>
            </a:r>
            <a:r>
              <a:rPr lang="en-US" altLang="ko-KR" dirty="0"/>
              <a:t>, </a:t>
            </a:r>
            <a:r>
              <a:rPr lang="en-US" altLang="ko-KR" dirty="0" err="1"/>
              <a:t>glPopAttrib</a:t>
            </a:r>
            <a:r>
              <a:rPr lang="en-US" altLang="ko-KR" dirty="0"/>
              <a:t>, </a:t>
            </a:r>
            <a:r>
              <a:rPr lang="en-US" altLang="ko-KR" dirty="0" err="1"/>
              <a:t>glPushClientAttrib</a:t>
            </a:r>
            <a:r>
              <a:rPr lang="en-US" altLang="ko-KR" dirty="0"/>
              <a:t>, </a:t>
            </a:r>
            <a:r>
              <a:rPr lang="en-US" altLang="ko-KR" dirty="0" err="1"/>
              <a:t>glPopClientAttrib</a:t>
            </a:r>
            <a:r>
              <a:rPr lang="en-US" altLang="ko-KR" dirty="0"/>
              <a:t> </a:t>
            </a:r>
            <a:r>
              <a:rPr lang="ko-KR" altLang="en-US" dirty="0"/>
              <a:t>등 속성 저장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55851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OpenGL</a:t>
            </a:r>
            <a:r>
              <a:rPr lang="ko-KR" altLang="en-US" dirty="0" smtClean="0"/>
              <a:t>과 </a:t>
            </a:r>
            <a:r>
              <a:rPr lang="en-US" altLang="ko-KR" dirty="0" smtClean="0"/>
              <a:t>ES</a:t>
            </a:r>
            <a:r>
              <a:rPr lang="ko-KR" altLang="en-US" dirty="0" smtClean="0"/>
              <a:t>의 차이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484672"/>
            <a:ext cx="8229600" cy="5236168"/>
          </a:xfrm>
        </p:spPr>
        <p:txBody>
          <a:bodyPr>
            <a:normAutofit fontScale="92500" lnSpcReduction="10000"/>
          </a:bodyPr>
          <a:lstStyle/>
          <a:p>
            <a:r>
              <a:rPr lang="ko-KR" altLang="en-US" dirty="0"/>
              <a:t>축소되고 제한된 기능들</a:t>
            </a:r>
          </a:p>
          <a:p>
            <a:pPr lvl="1"/>
            <a:r>
              <a:rPr lang="en-US" altLang="ko-KR" dirty="0" smtClean="0"/>
              <a:t>ES </a:t>
            </a:r>
            <a:r>
              <a:rPr lang="ko-KR" altLang="en-US" dirty="0"/>
              <a:t>에서 </a:t>
            </a:r>
            <a:r>
              <a:rPr lang="ko-KR" altLang="en-US" dirty="0" err="1"/>
              <a:t>좌표값은</a:t>
            </a:r>
            <a:r>
              <a:rPr lang="ko-KR" altLang="en-US" dirty="0"/>
              <a:t> 전체가 하나의 </a:t>
            </a:r>
            <a:r>
              <a:rPr lang="ko-KR" altLang="en-US" dirty="0" err="1"/>
              <a:t>버텍스</a:t>
            </a:r>
            <a:r>
              <a:rPr lang="ko-KR" altLang="en-US" dirty="0"/>
              <a:t> 배열로 만들어져야 </a:t>
            </a:r>
            <a:r>
              <a:rPr lang="ko-KR" altLang="en-US" dirty="0" smtClean="0"/>
              <a:t>이용 가능</a:t>
            </a:r>
            <a:endParaRPr lang="en-US" altLang="ko-KR" dirty="0" smtClean="0"/>
          </a:p>
          <a:p>
            <a:pPr lvl="1"/>
            <a:r>
              <a:rPr lang="ko-KR" altLang="en-US" dirty="0" err="1" smtClean="0"/>
              <a:t>텍스쳐</a:t>
            </a:r>
            <a:r>
              <a:rPr lang="ko-KR" altLang="en-US" dirty="0" smtClean="0"/>
              <a:t> </a:t>
            </a:r>
            <a:r>
              <a:rPr lang="ko-KR" altLang="en-US" dirty="0" err="1"/>
              <a:t>맵핑</a:t>
            </a:r>
            <a:endParaRPr lang="ko-KR" altLang="en-US" dirty="0"/>
          </a:p>
          <a:p>
            <a:pPr marL="914400" lvl="2" indent="0">
              <a:buNone/>
            </a:pPr>
            <a:r>
              <a:rPr lang="en-US" altLang="ko-KR" dirty="0" smtClean="0"/>
              <a:t>1</a:t>
            </a:r>
            <a:r>
              <a:rPr lang="en-US" altLang="ko-KR" dirty="0"/>
              <a:t>) ES</a:t>
            </a:r>
            <a:r>
              <a:rPr lang="ko-KR" altLang="en-US" dirty="0"/>
              <a:t>는 </a:t>
            </a:r>
            <a:r>
              <a:rPr lang="en-US" altLang="ko-KR" dirty="0"/>
              <a:t>2D </a:t>
            </a:r>
            <a:r>
              <a:rPr lang="ko-KR" altLang="en-US" dirty="0" err="1"/>
              <a:t>텍스쳐만을</a:t>
            </a:r>
            <a:r>
              <a:rPr lang="ko-KR" altLang="en-US" dirty="0"/>
              <a:t> </a:t>
            </a:r>
            <a:r>
              <a:rPr lang="ko-KR" altLang="en-US" dirty="0" smtClean="0"/>
              <a:t>제공</a:t>
            </a:r>
            <a:endParaRPr lang="en-US" altLang="ko-KR" dirty="0"/>
          </a:p>
          <a:p>
            <a:pPr marL="914400" lvl="2" indent="0">
              <a:buNone/>
            </a:pPr>
            <a:r>
              <a:rPr lang="en-US" altLang="ko-KR" dirty="0"/>
              <a:t>2) </a:t>
            </a:r>
            <a:r>
              <a:rPr lang="ko-KR" altLang="en-US" dirty="0" err="1"/>
              <a:t>텍스쳐</a:t>
            </a:r>
            <a:r>
              <a:rPr lang="ko-KR" altLang="en-US" dirty="0"/>
              <a:t> </a:t>
            </a:r>
            <a:r>
              <a:rPr lang="ko-KR" altLang="en-US" dirty="0" smtClean="0"/>
              <a:t>압축 불가</a:t>
            </a:r>
            <a:r>
              <a:rPr lang="en-US" altLang="ko-KR" dirty="0" smtClean="0"/>
              <a:t>, glTexImage2D</a:t>
            </a:r>
            <a:r>
              <a:rPr lang="ko-KR" altLang="en-US" dirty="0"/>
              <a:t>는 </a:t>
            </a:r>
            <a:r>
              <a:rPr lang="ko-KR" altLang="en-US" dirty="0" smtClean="0"/>
              <a:t>제</a:t>
            </a:r>
            <a:r>
              <a:rPr lang="ko-KR" altLang="en-US" dirty="0"/>
              <a:t>거</a:t>
            </a:r>
            <a:endParaRPr lang="en-US" altLang="ko-KR" dirty="0"/>
          </a:p>
          <a:p>
            <a:pPr marL="914400" lvl="2" indent="0">
              <a:buNone/>
            </a:pPr>
            <a:r>
              <a:rPr lang="en-US" altLang="ko-KR" dirty="0"/>
              <a:t>3) GL_COMBINE, GL_CLAMP, GL_CLAMP_TO_BORDER </a:t>
            </a:r>
            <a:r>
              <a:rPr lang="ko-KR" altLang="en-US" dirty="0" smtClean="0"/>
              <a:t>제거</a:t>
            </a:r>
            <a:endParaRPr lang="en-US" altLang="ko-KR" dirty="0"/>
          </a:p>
          <a:p>
            <a:pPr marL="914400" lvl="2" indent="0">
              <a:buNone/>
            </a:pPr>
            <a:r>
              <a:rPr lang="en-US" altLang="ko-KR" dirty="0"/>
              <a:t>3) </a:t>
            </a:r>
            <a:r>
              <a:rPr lang="ko-KR" altLang="en-US" dirty="0" err="1"/>
              <a:t>텍스쳐</a:t>
            </a:r>
            <a:r>
              <a:rPr lang="ko-KR" altLang="en-US" dirty="0"/>
              <a:t> </a:t>
            </a:r>
            <a:r>
              <a:rPr lang="ko-KR" altLang="en-US" dirty="0" err="1"/>
              <a:t>프록시</a:t>
            </a:r>
            <a:r>
              <a:rPr lang="en-US" altLang="ko-KR" dirty="0"/>
              <a:t>, LOD </a:t>
            </a:r>
            <a:r>
              <a:rPr lang="ko-KR" altLang="en-US" dirty="0"/>
              <a:t>고정 등 </a:t>
            </a:r>
            <a:r>
              <a:rPr lang="ko-KR" altLang="en-US" dirty="0" smtClean="0"/>
              <a:t>제거</a:t>
            </a:r>
            <a:endParaRPr lang="en-US" altLang="ko-KR" dirty="0"/>
          </a:p>
          <a:p>
            <a:pPr lvl="1"/>
            <a:r>
              <a:rPr lang="ko-KR" altLang="en-US" dirty="0" err="1" smtClean="0"/>
              <a:t>래스터</a:t>
            </a:r>
            <a:r>
              <a:rPr lang="ko-KR" altLang="en-US" dirty="0" smtClean="0"/>
              <a:t> </a:t>
            </a:r>
            <a:r>
              <a:rPr lang="ko-KR" altLang="en-US" dirty="0"/>
              <a:t>작업</a:t>
            </a:r>
          </a:p>
          <a:p>
            <a:pPr marL="914400" lvl="2" indent="0">
              <a:buNone/>
            </a:pPr>
            <a:r>
              <a:rPr lang="en-US" altLang="ko-KR" dirty="0" smtClean="0"/>
              <a:t>1) </a:t>
            </a:r>
            <a:r>
              <a:rPr lang="en-US" altLang="ko-KR" dirty="0" err="1" smtClean="0"/>
              <a:t>glPolygonMode</a:t>
            </a:r>
            <a:r>
              <a:rPr lang="en-US" altLang="ko-KR" dirty="0" smtClean="0"/>
              <a:t> </a:t>
            </a:r>
            <a:r>
              <a:rPr lang="ko-KR" altLang="en-US" dirty="0"/>
              <a:t>등 대부분의 </a:t>
            </a:r>
            <a:r>
              <a:rPr lang="ko-KR" altLang="en-US" dirty="0" err="1"/>
              <a:t>래스터</a:t>
            </a:r>
            <a:r>
              <a:rPr lang="ko-KR" altLang="en-US" dirty="0"/>
              <a:t> 작업이 </a:t>
            </a:r>
            <a:r>
              <a:rPr lang="ko-KR" altLang="en-US" dirty="0" smtClean="0"/>
              <a:t>제거</a:t>
            </a:r>
            <a:endParaRPr lang="en-US" altLang="ko-KR" dirty="0"/>
          </a:p>
          <a:p>
            <a:pPr marL="914400" lvl="2" indent="0">
              <a:buNone/>
            </a:pPr>
            <a:r>
              <a:rPr lang="en-US" altLang="ko-KR" dirty="0"/>
              <a:t>2) </a:t>
            </a:r>
            <a:r>
              <a:rPr lang="en-US" altLang="ko-KR" dirty="0" err="1"/>
              <a:t>glPixelStore</a:t>
            </a:r>
            <a:r>
              <a:rPr lang="en-US" altLang="ko-KR" dirty="0"/>
              <a:t> </a:t>
            </a:r>
            <a:r>
              <a:rPr lang="ko-KR" altLang="en-US" dirty="0"/>
              <a:t>함수는 </a:t>
            </a:r>
            <a:r>
              <a:rPr lang="ko-KR" altLang="en-US" dirty="0" err="1"/>
              <a:t>텍스쳐의</a:t>
            </a:r>
            <a:r>
              <a:rPr lang="ko-KR" altLang="en-US" dirty="0"/>
              <a:t> 포장과 해제만 </a:t>
            </a:r>
            <a:r>
              <a:rPr lang="ko-KR" altLang="en-US" dirty="0" smtClean="0"/>
              <a:t>지원</a:t>
            </a:r>
            <a:endParaRPr lang="en-US" altLang="ko-KR" dirty="0"/>
          </a:p>
          <a:p>
            <a:pPr marL="914400" lvl="2" indent="0">
              <a:buNone/>
            </a:pPr>
            <a:r>
              <a:rPr lang="en-US" altLang="ko-KR" dirty="0"/>
              <a:t>3) </a:t>
            </a:r>
            <a:r>
              <a:rPr lang="en-US" altLang="ko-KR" dirty="0" err="1"/>
              <a:t>glReadPixels</a:t>
            </a:r>
            <a:r>
              <a:rPr lang="en-US" altLang="ko-KR" dirty="0"/>
              <a:t> </a:t>
            </a:r>
            <a:r>
              <a:rPr lang="ko-KR" altLang="en-US" dirty="0"/>
              <a:t>함수로 픽셀을 읽을 수 있지만</a:t>
            </a:r>
            <a:r>
              <a:rPr lang="en-US" altLang="ko-KR" dirty="0"/>
              <a:t>, </a:t>
            </a:r>
            <a:r>
              <a:rPr lang="en-US" altLang="ko-KR" dirty="0" err="1"/>
              <a:t>glDrawPixels</a:t>
            </a:r>
            <a:r>
              <a:rPr lang="en-US" altLang="ko-KR" dirty="0"/>
              <a:t>, </a:t>
            </a:r>
            <a:r>
              <a:rPr lang="en-US" altLang="ko-KR" dirty="0" err="1"/>
              <a:t>glPixelTransfer</a:t>
            </a:r>
            <a:r>
              <a:rPr lang="en-US" altLang="ko-KR" dirty="0"/>
              <a:t>, </a:t>
            </a:r>
            <a:r>
              <a:rPr lang="en-US" altLang="ko-KR" dirty="0" err="1"/>
              <a:t>glPixelZoom</a:t>
            </a:r>
            <a:r>
              <a:rPr lang="en-US" altLang="ko-KR" dirty="0"/>
              <a:t> </a:t>
            </a:r>
            <a:r>
              <a:rPr lang="ko-KR" altLang="en-US" dirty="0"/>
              <a:t>함수는 </a:t>
            </a:r>
            <a:r>
              <a:rPr lang="ko-KR" altLang="en-US" dirty="0" smtClean="0"/>
              <a:t>제</a:t>
            </a:r>
            <a:r>
              <a:rPr lang="ko-KR" altLang="en-US" dirty="0"/>
              <a:t>거</a:t>
            </a:r>
            <a:endParaRPr lang="en-US" altLang="ko-KR" dirty="0"/>
          </a:p>
          <a:p>
            <a:pPr marL="914400" lvl="2" indent="0">
              <a:buNone/>
            </a:pPr>
            <a:r>
              <a:rPr lang="en-US" altLang="ko-KR" dirty="0"/>
              <a:t>4) </a:t>
            </a:r>
            <a:r>
              <a:rPr lang="en-US" altLang="ko-KR" dirty="0" err="1"/>
              <a:t>glReadPixels</a:t>
            </a:r>
            <a:r>
              <a:rPr lang="en-US" altLang="ko-KR" dirty="0"/>
              <a:t> </a:t>
            </a:r>
            <a:r>
              <a:rPr lang="ko-KR" altLang="en-US" dirty="0"/>
              <a:t>함수로 깊이나 스텐실 버퍼를 </a:t>
            </a:r>
            <a:r>
              <a:rPr lang="ko-KR" altLang="en-US" dirty="0" smtClean="0"/>
              <a:t>읽을 수 없음</a:t>
            </a:r>
            <a:endParaRPr lang="en-US" altLang="ko-KR" dirty="0"/>
          </a:p>
          <a:p>
            <a:pPr marL="914400" lvl="2" indent="0">
              <a:buNone/>
            </a:pPr>
            <a:r>
              <a:rPr lang="en-US" altLang="ko-KR" dirty="0"/>
              <a:t>5) </a:t>
            </a:r>
            <a:r>
              <a:rPr lang="en-US" altLang="ko-KR" dirty="0" err="1"/>
              <a:t>glReadBuffer</a:t>
            </a:r>
            <a:r>
              <a:rPr lang="en-US" altLang="ko-KR" dirty="0"/>
              <a:t>, </a:t>
            </a:r>
            <a:r>
              <a:rPr lang="en-US" altLang="ko-KR" dirty="0" err="1"/>
              <a:t>glDrawBuffer</a:t>
            </a:r>
            <a:r>
              <a:rPr lang="en-US" altLang="ko-KR" dirty="0"/>
              <a:t>, </a:t>
            </a:r>
            <a:r>
              <a:rPr lang="en-US" altLang="ko-KR" dirty="0" err="1"/>
              <a:t>glCopyPixels</a:t>
            </a:r>
            <a:r>
              <a:rPr lang="en-US" altLang="ko-KR" dirty="0"/>
              <a:t> </a:t>
            </a:r>
            <a:r>
              <a:rPr lang="ko-KR" altLang="en-US" dirty="0"/>
              <a:t>함수 </a:t>
            </a:r>
            <a:r>
              <a:rPr lang="ko-KR" altLang="en-US" dirty="0" smtClean="0"/>
              <a:t>제</a:t>
            </a:r>
            <a:r>
              <a:rPr lang="ko-KR" altLang="en-US" dirty="0"/>
              <a:t>거</a:t>
            </a:r>
            <a:endParaRPr lang="en-US" altLang="ko-KR" dirty="0"/>
          </a:p>
          <a:p>
            <a:pPr marL="914400" lvl="2" indent="0">
              <a:buNone/>
            </a:pPr>
            <a:r>
              <a:rPr lang="en-US" altLang="ko-KR" dirty="0"/>
              <a:t>6) </a:t>
            </a:r>
            <a:r>
              <a:rPr lang="en-US" altLang="ko-KR" dirty="0" err="1"/>
              <a:t>glPolygonOffset</a:t>
            </a:r>
            <a:r>
              <a:rPr lang="ko-KR" altLang="en-US" dirty="0"/>
              <a:t>은 채움 모드에서만 </a:t>
            </a:r>
            <a:r>
              <a:rPr lang="ko-KR" altLang="en-US" dirty="0" smtClean="0"/>
              <a:t>지원</a:t>
            </a:r>
            <a:endParaRPr lang="en-US" altLang="ko-KR" dirty="0"/>
          </a:p>
          <a:p>
            <a:pPr lvl="1"/>
            <a:r>
              <a:rPr lang="ko-KR" altLang="en-US" dirty="0" smtClean="0"/>
              <a:t>조명</a:t>
            </a:r>
            <a:endParaRPr lang="ko-KR" altLang="en-US" dirty="0"/>
          </a:p>
          <a:p>
            <a:pPr marL="914400" lvl="2" indent="0">
              <a:buNone/>
            </a:pPr>
            <a:r>
              <a:rPr lang="en-US" altLang="ko-KR" dirty="0" smtClean="0"/>
              <a:t>1) 8</a:t>
            </a:r>
            <a:r>
              <a:rPr lang="ko-KR" altLang="en-US" dirty="0"/>
              <a:t>개의 광원</a:t>
            </a:r>
            <a:r>
              <a:rPr lang="en-US" altLang="ko-KR" dirty="0"/>
              <a:t>, </a:t>
            </a:r>
            <a:r>
              <a:rPr lang="ko-KR" altLang="en-US" dirty="0"/>
              <a:t>두 면 조명은 </a:t>
            </a:r>
            <a:r>
              <a:rPr lang="ko-KR" altLang="en-US" dirty="0" smtClean="0"/>
              <a:t>지원</a:t>
            </a:r>
            <a:endParaRPr lang="en-US" altLang="ko-KR" dirty="0"/>
          </a:p>
          <a:p>
            <a:pPr marL="914400" lvl="2" indent="0">
              <a:buNone/>
            </a:pPr>
            <a:r>
              <a:rPr lang="en-US" altLang="ko-KR" dirty="0" smtClean="0"/>
              <a:t>2) </a:t>
            </a:r>
            <a:r>
              <a:rPr lang="ko-KR" altLang="en-US" dirty="0" smtClean="0"/>
              <a:t>두 </a:t>
            </a:r>
            <a:r>
              <a:rPr lang="ko-KR" altLang="en-US" dirty="0"/>
              <a:t>면</a:t>
            </a:r>
            <a:r>
              <a:rPr lang="en-US" altLang="ko-KR" dirty="0"/>
              <a:t>(</a:t>
            </a:r>
            <a:r>
              <a:rPr lang="ko-KR" altLang="en-US" dirty="0"/>
              <a:t>앞</a:t>
            </a:r>
            <a:r>
              <a:rPr lang="en-US" altLang="ko-KR" dirty="0"/>
              <a:t>, </a:t>
            </a:r>
            <a:r>
              <a:rPr lang="ko-KR" altLang="en-US" dirty="0"/>
              <a:t>뒤</a:t>
            </a:r>
            <a:r>
              <a:rPr lang="en-US" altLang="ko-KR" dirty="0"/>
              <a:t>)</a:t>
            </a:r>
            <a:r>
              <a:rPr lang="ko-KR" altLang="en-US" dirty="0"/>
              <a:t>의 재질 속성이 같아야 함</a:t>
            </a:r>
          </a:p>
          <a:p>
            <a:pPr marL="914400" lvl="2" indent="0">
              <a:buNone/>
            </a:pPr>
            <a:r>
              <a:rPr lang="en-US" altLang="ko-KR" dirty="0" smtClean="0"/>
              <a:t>3) </a:t>
            </a:r>
            <a:r>
              <a:rPr lang="ko-KR" altLang="en-US" dirty="0" smtClean="0"/>
              <a:t>색상 </a:t>
            </a:r>
            <a:r>
              <a:rPr lang="ko-KR" altLang="en-US" dirty="0"/>
              <a:t>재질로 </a:t>
            </a:r>
            <a:r>
              <a:rPr lang="en-US" altLang="ko-KR" dirty="0"/>
              <a:t>GL_AMBIENT_AND_DIFFUSE </a:t>
            </a:r>
            <a:r>
              <a:rPr lang="ko-KR" altLang="en-US" dirty="0"/>
              <a:t>만 </a:t>
            </a:r>
            <a:r>
              <a:rPr lang="ko-KR" altLang="en-US" dirty="0" smtClean="0"/>
              <a:t>지원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31622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OpenGL</a:t>
            </a:r>
            <a:r>
              <a:rPr lang="ko-KR" altLang="en-US" dirty="0" smtClean="0"/>
              <a:t> </a:t>
            </a:r>
            <a:r>
              <a:rPr lang="en-US" altLang="ko-KR" dirty="0" smtClean="0"/>
              <a:t>ES 1.1 to</a:t>
            </a:r>
            <a:r>
              <a:rPr lang="ko-KR" altLang="en-US" dirty="0" smtClean="0"/>
              <a:t> </a:t>
            </a:r>
            <a:r>
              <a:rPr lang="en-US" altLang="ko-KR" dirty="0" smtClean="0"/>
              <a:t>3.2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484672"/>
            <a:ext cx="8229600" cy="5236168"/>
          </a:xfrm>
        </p:spPr>
        <p:txBody>
          <a:bodyPr>
            <a:normAutofit/>
          </a:bodyPr>
          <a:lstStyle/>
          <a:p>
            <a:r>
              <a:rPr lang="en-US" altLang="ko-KR" dirty="0" smtClean="0"/>
              <a:t>OpenGL ES 1.x</a:t>
            </a:r>
          </a:p>
          <a:p>
            <a:pPr lvl="1"/>
            <a:r>
              <a:rPr lang="ko-KR" altLang="en-US" dirty="0" smtClean="0"/>
              <a:t>저</a:t>
            </a:r>
            <a:r>
              <a:rPr lang="en-US" altLang="ko-KR" dirty="0" smtClean="0"/>
              <a:t> </a:t>
            </a:r>
            <a:r>
              <a:rPr lang="ko-KR" altLang="en-US" dirty="0" smtClean="0"/>
              <a:t>사양의 </a:t>
            </a:r>
            <a:r>
              <a:rPr lang="ko-KR" altLang="en-US" dirty="0" err="1" smtClean="0"/>
              <a:t>모바일</a:t>
            </a:r>
            <a:r>
              <a:rPr lang="ko-KR" altLang="en-US" dirty="0" smtClean="0"/>
              <a:t> 장치를 위해 계속 지원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비교적 쉬운 구현</a:t>
            </a:r>
            <a:endParaRPr lang="en-US" altLang="ko-KR" dirty="0" smtClean="0"/>
          </a:p>
          <a:p>
            <a:r>
              <a:rPr lang="en-US" altLang="ko-KR" dirty="0" smtClean="0"/>
              <a:t>OpenGL ES 2.x</a:t>
            </a:r>
          </a:p>
          <a:p>
            <a:pPr lvl="1"/>
            <a:r>
              <a:rPr lang="ko-KR" altLang="en-US" dirty="0"/>
              <a:t>고 사양의 하드웨어 가속 모바일 장치 지원</a:t>
            </a:r>
            <a:endParaRPr lang="en-US" altLang="ko-KR" dirty="0"/>
          </a:p>
          <a:p>
            <a:pPr lvl="1"/>
            <a:r>
              <a:rPr lang="en-US" altLang="ko-KR" dirty="0" err="1"/>
              <a:t>Shader</a:t>
            </a:r>
            <a:r>
              <a:rPr lang="en-US" altLang="ko-KR" dirty="0"/>
              <a:t> </a:t>
            </a:r>
            <a:r>
              <a:rPr lang="ko-KR" altLang="en-US" dirty="0"/>
              <a:t>지원</a:t>
            </a:r>
            <a:endParaRPr lang="en-US" altLang="ko-KR" dirty="0"/>
          </a:p>
          <a:p>
            <a:pPr lvl="1"/>
            <a:r>
              <a:rPr lang="ko-KR" altLang="en-US" dirty="0"/>
              <a:t>최신의 아이폰과 안드로이드 모두 </a:t>
            </a:r>
            <a:r>
              <a:rPr lang="en-US" altLang="ko-KR" dirty="0"/>
              <a:t>2.0</a:t>
            </a:r>
            <a:r>
              <a:rPr lang="ko-KR" altLang="en-US" dirty="0"/>
              <a:t>을 </a:t>
            </a:r>
            <a:r>
              <a:rPr lang="ko-KR" altLang="en-US" dirty="0" smtClean="0"/>
              <a:t>지원</a:t>
            </a:r>
            <a:endParaRPr lang="en-US" altLang="ko-KR" dirty="0" smtClean="0"/>
          </a:p>
          <a:p>
            <a:r>
              <a:rPr lang="en-US" altLang="ko-KR" dirty="0" smtClean="0"/>
              <a:t>OpenGL ES 3.x</a:t>
            </a:r>
          </a:p>
          <a:p>
            <a:pPr lvl="1"/>
            <a:r>
              <a:rPr lang="en-US" altLang="ko-KR" dirty="0" smtClean="0"/>
              <a:t>Multiple Render Target </a:t>
            </a:r>
            <a:r>
              <a:rPr lang="ko-KR" altLang="en-US" dirty="0" smtClean="0"/>
              <a:t>지원</a:t>
            </a:r>
            <a:endParaRPr lang="en-US" altLang="ko-KR" dirty="0"/>
          </a:p>
          <a:p>
            <a:pPr lvl="1"/>
            <a:r>
              <a:rPr lang="en-US" altLang="ko-KR" dirty="0" smtClean="0"/>
              <a:t>Compute </a:t>
            </a:r>
            <a:r>
              <a:rPr lang="en-US" altLang="ko-KR" dirty="0" err="1" smtClean="0"/>
              <a:t>Shaders</a:t>
            </a:r>
            <a:r>
              <a:rPr lang="en-US" altLang="ko-KR" dirty="0" smtClean="0"/>
              <a:t>  </a:t>
            </a:r>
            <a:r>
              <a:rPr lang="ko-KR" altLang="en-US" dirty="0" smtClean="0"/>
              <a:t>및 </a:t>
            </a:r>
            <a:r>
              <a:rPr lang="en-US" altLang="ko-KR" dirty="0"/>
              <a:t>Tessellation &amp; Geometry </a:t>
            </a:r>
            <a:r>
              <a:rPr lang="en-US" altLang="ko-KR" dirty="0" err="1"/>
              <a:t>shaders</a:t>
            </a:r>
            <a:r>
              <a:rPr lang="en-US" altLang="ko-KR" dirty="0"/>
              <a:t> </a:t>
            </a:r>
            <a:r>
              <a:rPr lang="ko-KR" altLang="en-US" dirty="0" smtClean="0"/>
              <a:t>지원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AEP </a:t>
            </a:r>
            <a:r>
              <a:rPr lang="ko-KR" altLang="en-US" dirty="0" smtClean="0"/>
              <a:t>지원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23</a:t>
            </a:fld>
            <a:endParaRPr lang="ko-KR" alt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215405"/>
            <a:ext cx="9144000" cy="11959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62184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OpenGL ES 1.1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비교적 쉬운 </a:t>
            </a:r>
            <a:r>
              <a:rPr lang="en-US" altLang="ko-KR" dirty="0" smtClean="0"/>
              <a:t>1.1 </a:t>
            </a:r>
            <a:r>
              <a:rPr lang="ko-KR" altLang="en-US" dirty="0" smtClean="0"/>
              <a:t>버전으로 실습</a:t>
            </a:r>
            <a:endParaRPr lang="en-US" altLang="ko-KR" dirty="0" smtClean="0"/>
          </a:p>
          <a:p>
            <a:pPr lvl="1"/>
            <a:r>
              <a:rPr lang="en-US" altLang="ko-KR" dirty="0">
                <a:hlinkClick r:id="rId3"/>
              </a:rPr>
              <a:t>http://www.khronos.org/opengles/sdk/1.1/docs/man</a:t>
            </a:r>
            <a:r>
              <a:rPr lang="en-US" altLang="ko-KR" dirty="0" smtClean="0">
                <a:hlinkClick r:id="rId3"/>
              </a:rPr>
              <a:t>/</a:t>
            </a:r>
            <a:endParaRPr lang="en-US" altLang="ko-KR" dirty="0" smtClean="0"/>
          </a:p>
          <a:p>
            <a:pPr lvl="1"/>
            <a:endParaRPr lang="en-US" altLang="ko-KR" dirty="0"/>
          </a:p>
          <a:p>
            <a:r>
              <a:rPr lang="en-US" altLang="ko-KR" dirty="0" smtClean="0"/>
              <a:t>OpenGL 2.x </a:t>
            </a:r>
            <a:r>
              <a:rPr lang="ko-KR" altLang="en-US" dirty="0" smtClean="0"/>
              <a:t>및 </a:t>
            </a:r>
            <a:r>
              <a:rPr lang="en-US" altLang="ko-KR" dirty="0" smtClean="0"/>
              <a:t>3.x </a:t>
            </a:r>
            <a:r>
              <a:rPr lang="ko-KR" altLang="en-US" dirty="0" smtClean="0"/>
              <a:t>버전은 참고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OpenGL 2.0 : </a:t>
            </a:r>
            <a:r>
              <a:rPr lang="en-US" altLang="ko-KR" dirty="0" smtClean="0">
                <a:hlinkClick r:id="rId4"/>
              </a:rPr>
              <a:t>http</a:t>
            </a:r>
            <a:r>
              <a:rPr lang="en-US" altLang="ko-KR" dirty="0">
                <a:hlinkClick r:id="rId4"/>
              </a:rPr>
              <a:t>://www.khronos.org/opengles/sdk/docs/man</a:t>
            </a:r>
            <a:r>
              <a:rPr lang="en-US" altLang="ko-KR" dirty="0" smtClean="0">
                <a:hlinkClick r:id="rId4"/>
              </a:rPr>
              <a:t>/</a:t>
            </a:r>
            <a:endParaRPr lang="en-US" altLang="ko-KR" dirty="0" smtClean="0"/>
          </a:p>
          <a:p>
            <a:pPr marL="457200" lvl="1" indent="0">
              <a:buNone/>
            </a:pPr>
            <a:endParaRPr lang="en-US" altLang="ko-KR" sz="800" dirty="0" smtClean="0"/>
          </a:p>
          <a:p>
            <a:pPr lvl="1"/>
            <a:r>
              <a:rPr lang="en-US" altLang="ko-KR" dirty="0"/>
              <a:t>OpenGL 3.2 : </a:t>
            </a:r>
            <a:r>
              <a:rPr lang="en-US" altLang="ko-KR" dirty="0">
                <a:hlinkClick r:id="rId5"/>
              </a:rPr>
              <a:t>https://www.khronos.org/opengles/sdk/docs/man32</a:t>
            </a:r>
            <a:r>
              <a:rPr lang="en-US" altLang="ko-KR" dirty="0" smtClean="0">
                <a:hlinkClick r:id="rId5"/>
              </a:rPr>
              <a:t>/</a:t>
            </a:r>
            <a:endParaRPr lang="en-US" altLang="ko-KR" dirty="0" smtClean="0"/>
          </a:p>
          <a:p>
            <a:pPr lvl="1"/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3972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Example #11_1</a:t>
            </a:r>
            <a:endParaRPr lang="ko-KR" altLang="en-US" dirty="0"/>
          </a:p>
        </p:txBody>
      </p:sp>
      <p:sp>
        <p:nvSpPr>
          <p:cNvPr id="6" name="텍스트 개체 틀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OpenGL ES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25</a:t>
            </a:fld>
            <a:endParaRPr lang="ko-KR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7383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New Project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새로운 프로젝트 시작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Android Project</a:t>
            </a:r>
          </a:p>
          <a:p>
            <a:pPr lvl="1"/>
            <a:r>
              <a:rPr lang="en-US" altLang="ko-KR" dirty="0"/>
              <a:t>Application name</a:t>
            </a:r>
            <a:r>
              <a:rPr lang="en-US" altLang="ko-KR" dirty="0" smtClean="0"/>
              <a:t>: </a:t>
            </a:r>
            <a:r>
              <a:rPr lang="en-US" altLang="ko-KR" dirty="0" err="1" smtClean="0"/>
              <a:t>Ex_GLES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Build Target: Android </a:t>
            </a:r>
            <a:r>
              <a:rPr lang="en-US" altLang="ko-KR" dirty="0"/>
              <a:t>5</a:t>
            </a:r>
            <a:r>
              <a:rPr lang="en-US" altLang="ko-KR" dirty="0" smtClean="0"/>
              <a:t>.1</a:t>
            </a:r>
          </a:p>
          <a:p>
            <a:pPr lvl="1"/>
            <a:r>
              <a:rPr lang="en-US" altLang="ko-KR" dirty="0" smtClean="0"/>
              <a:t>Package name: vrlab.example.com</a:t>
            </a:r>
          </a:p>
          <a:p>
            <a:pPr lvl="1"/>
            <a:r>
              <a:rPr lang="en-US" altLang="ko-KR" dirty="0" smtClean="0"/>
              <a:t>Create Activity: Act1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26</a:t>
            </a:fld>
            <a:endParaRPr lang="ko-KR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pic>
        <p:nvPicPr>
          <p:cNvPr id="2050" name="Picture 2" descr="C:\Users\msKim\Desktop\2016-2 모바일앱프로그래밍 (교재)\drive-download-20161109T111332Z\dddfcv\스크린샷 2016-11-10 오후 3.25.06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1849" b="16410"/>
          <a:stretch/>
        </p:blipFill>
        <p:spPr bwMode="auto">
          <a:xfrm>
            <a:off x="4222859" y="1380195"/>
            <a:ext cx="4921142" cy="54778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428606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27</a:t>
            </a:fld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GLSurfaceView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97230" y="1926491"/>
            <a:ext cx="6301725" cy="341632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public class Act1 extends Activity {</a:t>
            </a:r>
          </a:p>
          <a:p>
            <a:endParaRPr lang="ko-KR" altLang="en-US" dirty="0">
              <a:latin typeface="돋움체"/>
              <a:ea typeface="돋움체"/>
            </a:endParaRPr>
          </a:p>
          <a:p>
            <a:r>
              <a:rPr lang="en-US" altLang="ko-KR" dirty="0" smtClean="0">
                <a:solidFill>
                  <a:srgbClr val="7F0055"/>
                </a:solidFill>
                <a:latin typeface="돋움체"/>
                <a:ea typeface="돋움체"/>
              </a:rPr>
              <a:t>    private</a:t>
            </a:r>
            <a:r>
              <a:rPr lang="en-US" altLang="ko-KR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b="1" dirty="0" err="1">
                <a:solidFill>
                  <a:srgbClr val="000000"/>
                </a:solidFill>
                <a:latin typeface="돋움체"/>
                <a:ea typeface="돋움체"/>
              </a:rPr>
              <a:t>GLSurfaceView</a:t>
            </a:r>
            <a:r>
              <a:rPr lang="en-US" altLang="ko-KR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dirty="0" err="1">
                <a:solidFill>
                  <a:srgbClr val="0000C0"/>
                </a:solidFill>
                <a:latin typeface="돋움체"/>
                <a:ea typeface="돋움체"/>
              </a:rPr>
              <a:t>glSurface</a:t>
            </a:r>
            <a:r>
              <a:rPr lang="en-US" altLang="ko-KR" dirty="0">
                <a:solidFill>
                  <a:srgbClr val="000000"/>
                </a:solidFill>
                <a:latin typeface="돋움체"/>
                <a:ea typeface="돋움체"/>
              </a:rPr>
              <a:t>;</a:t>
            </a:r>
          </a:p>
          <a:p>
            <a:endParaRPr lang="ko-KR" altLang="en-US" dirty="0">
              <a:latin typeface="돋움체"/>
              <a:ea typeface="돋움체"/>
            </a:endParaRPr>
          </a:p>
          <a:p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/** Called when the activity is first created. */</a:t>
            </a:r>
          </a:p>
          <a:p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@Override</a:t>
            </a:r>
          </a:p>
          <a:p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public void </a:t>
            </a:r>
            <a:r>
              <a:rPr lang="en-US" altLang="ko-KR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onCreate</a:t>
            </a: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(Bundle </a:t>
            </a:r>
            <a:r>
              <a:rPr lang="en-US" altLang="ko-KR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savedInstanceState</a:t>
            </a: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) {</a:t>
            </a:r>
          </a:p>
          <a:p>
            <a:r>
              <a:rPr lang="en-US" altLang="ko-KR" dirty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dirty="0" err="1">
                <a:solidFill>
                  <a:srgbClr val="7F0055"/>
                </a:solidFill>
                <a:latin typeface="돋움체"/>
                <a:ea typeface="돋움체"/>
              </a:rPr>
              <a:t>super</a:t>
            </a:r>
            <a:r>
              <a:rPr lang="en-US" altLang="ko-KR" dirty="0" err="1">
                <a:solidFill>
                  <a:srgbClr val="000000"/>
                </a:solidFill>
                <a:latin typeface="돋움체"/>
                <a:ea typeface="돋움체"/>
              </a:rPr>
              <a:t>.onCreate</a:t>
            </a:r>
            <a:r>
              <a:rPr lang="en-US" altLang="ko-KR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dirty="0" err="1">
                <a:solidFill>
                  <a:srgbClr val="000000"/>
                </a:solidFill>
                <a:latin typeface="돋움체"/>
                <a:ea typeface="돋움체"/>
              </a:rPr>
              <a:t>savedInstanceState</a:t>
            </a:r>
            <a:r>
              <a:rPr lang="en-US" altLang="ko-KR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dirty="0" smtClean="0">
                <a:solidFill>
                  <a:srgbClr val="0000C0"/>
                </a:solidFill>
                <a:latin typeface="돋움체"/>
                <a:ea typeface="돋움체"/>
              </a:rPr>
              <a:t>        </a:t>
            </a:r>
            <a:r>
              <a:rPr lang="en-US" altLang="ko-KR" dirty="0" err="1" smtClean="0">
                <a:solidFill>
                  <a:srgbClr val="0000C0"/>
                </a:solidFill>
                <a:latin typeface="돋움체"/>
                <a:ea typeface="돋움체"/>
              </a:rPr>
              <a:t>glSurface</a:t>
            </a:r>
            <a:r>
              <a:rPr lang="en-US" altLang="ko-KR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dirty="0">
                <a:solidFill>
                  <a:srgbClr val="000000"/>
                </a:solidFill>
                <a:latin typeface="돋움체"/>
                <a:ea typeface="돋움체"/>
              </a:rPr>
              <a:t>= </a:t>
            </a:r>
            <a:r>
              <a:rPr lang="en-US" altLang="ko-KR" dirty="0">
                <a:solidFill>
                  <a:srgbClr val="7F0055"/>
                </a:solidFill>
                <a:latin typeface="돋움체"/>
                <a:ea typeface="돋움체"/>
              </a:rPr>
              <a:t>new</a:t>
            </a:r>
            <a:r>
              <a:rPr lang="en-US" altLang="ko-KR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latin typeface="돋움체"/>
                <a:ea typeface="돋움체"/>
              </a:rPr>
              <a:t>GLSurfaceView</a:t>
            </a:r>
            <a:r>
              <a:rPr lang="en-US" altLang="ko-KR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dirty="0">
                <a:solidFill>
                  <a:srgbClr val="7F0055"/>
                </a:solidFill>
                <a:latin typeface="돋움체"/>
                <a:ea typeface="돋움체"/>
              </a:rPr>
              <a:t>this</a:t>
            </a:r>
            <a:r>
              <a:rPr lang="en-US" altLang="ko-KR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dirty="0" smtClean="0">
                <a:solidFill>
                  <a:srgbClr val="0000C0"/>
                </a:solidFill>
                <a:latin typeface="돋움체"/>
                <a:ea typeface="돋움체"/>
              </a:rPr>
              <a:t>        </a:t>
            </a:r>
            <a:r>
              <a:rPr lang="en-US" altLang="ko-KR" dirty="0" err="1" smtClean="0">
                <a:solidFill>
                  <a:srgbClr val="0000C0"/>
                </a:solidFill>
                <a:latin typeface="돋움체"/>
                <a:ea typeface="돋움체"/>
              </a:rPr>
              <a:t>glSurface</a:t>
            </a:r>
            <a:r>
              <a:rPr lang="en-US" altLang="ko-KR" dirty="0" err="1" smtClean="0">
                <a:solidFill>
                  <a:srgbClr val="000000"/>
                </a:solidFill>
                <a:latin typeface="돋움체"/>
                <a:ea typeface="돋움체"/>
              </a:rPr>
              <a:t>.</a:t>
            </a:r>
            <a:r>
              <a:rPr lang="en-US" altLang="ko-KR" b="1" dirty="0" err="1" smtClean="0">
                <a:solidFill>
                  <a:srgbClr val="000000"/>
                </a:solidFill>
                <a:latin typeface="돋움체"/>
                <a:ea typeface="돋움체"/>
              </a:rPr>
              <a:t>setRenderer</a:t>
            </a:r>
            <a:r>
              <a:rPr lang="en-US" altLang="ko-KR" dirty="0" smtClean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dirty="0" smtClean="0">
                <a:solidFill>
                  <a:srgbClr val="7F0055"/>
                </a:solidFill>
                <a:latin typeface="돋움체"/>
                <a:ea typeface="돋움체"/>
              </a:rPr>
              <a:t>new</a:t>
            </a:r>
            <a:r>
              <a:rPr lang="en-US" altLang="ko-KR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latin typeface="돋움체"/>
                <a:ea typeface="돋움체"/>
              </a:rPr>
              <a:t>MyRenderer</a:t>
            </a:r>
            <a:r>
              <a:rPr lang="en-US" altLang="ko-KR" dirty="0">
                <a:solidFill>
                  <a:srgbClr val="000000"/>
                </a:solidFill>
                <a:latin typeface="돋움체"/>
                <a:ea typeface="돋움체"/>
              </a:rPr>
              <a:t>());</a:t>
            </a:r>
          </a:p>
          <a:p>
            <a:r>
              <a:rPr lang="en-US" altLang="ko-KR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dirty="0" err="1" smtClean="0">
                <a:solidFill>
                  <a:srgbClr val="000000"/>
                </a:solidFill>
                <a:latin typeface="돋움체"/>
                <a:ea typeface="돋움체"/>
              </a:rPr>
              <a:t>setContentView</a:t>
            </a:r>
            <a:r>
              <a:rPr lang="en-US" altLang="ko-KR" dirty="0" smtClean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dirty="0" err="1" smtClean="0">
                <a:solidFill>
                  <a:srgbClr val="0000C0"/>
                </a:solidFill>
                <a:latin typeface="돋움체"/>
                <a:ea typeface="돋움체"/>
              </a:rPr>
              <a:t>glSurface</a:t>
            </a:r>
            <a:r>
              <a:rPr lang="en-US" altLang="ko-KR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ko-KR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</a:t>
            </a:r>
            <a:r>
              <a:rPr lang="en-US" altLang="ko-KR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}</a:t>
            </a:r>
            <a:endParaRPr lang="en-US" altLang="ko-KR" dirty="0">
              <a:solidFill>
                <a:schemeClr val="tx1">
                  <a:lumMod val="50000"/>
                  <a:lumOff val="50000"/>
                </a:schemeClr>
              </a:solidFill>
              <a:latin typeface="돋움체"/>
              <a:ea typeface="돋움체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97230" y="1280160"/>
            <a:ext cx="15634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 smtClean="0">
                <a:solidFill>
                  <a:prstClr val="black"/>
                </a:solidFill>
              </a:rPr>
              <a:t>Ex_GLES</a:t>
            </a:r>
            <a:endParaRPr lang="en-US" altLang="ko-KR" b="1" dirty="0" smtClean="0">
              <a:solidFill>
                <a:prstClr val="black"/>
              </a:solidFill>
            </a:endParaRPr>
          </a:p>
          <a:p>
            <a:r>
              <a:rPr lang="en-US" altLang="ko-KR" dirty="0" smtClean="0">
                <a:solidFill>
                  <a:prstClr val="black"/>
                </a:solidFill>
              </a:rPr>
              <a:t>/</a:t>
            </a:r>
            <a:r>
              <a:rPr lang="en-US" altLang="ko-KR" dirty="0" err="1" smtClean="0">
                <a:solidFill>
                  <a:prstClr val="black"/>
                </a:solidFill>
              </a:rPr>
              <a:t>src</a:t>
            </a:r>
            <a:r>
              <a:rPr lang="en-US" altLang="ko-KR" dirty="0" smtClean="0">
                <a:solidFill>
                  <a:prstClr val="black"/>
                </a:solidFill>
              </a:rPr>
              <a:t>/Act1.java</a:t>
            </a:r>
            <a:endParaRPr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0656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28</a:t>
            </a:fld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GLSurfaceView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97230" y="1926491"/>
            <a:ext cx="6424332" cy="341632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ko-KR" altLang="en-US" dirty="0">
              <a:latin typeface="돋움체"/>
              <a:ea typeface="돋움체"/>
            </a:endParaRPr>
          </a:p>
          <a:p>
            <a:r>
              <a:rPr lang="en-US" altLang="ko-KR" dirty="0">
                <a:solidFill>
                  <a:srgbClr val="000000"/>
                </a:solidFill>
                <a:latin typeface="돋움체"/>
                <a:ea typeface="돋움체"/>
              </a:rPr>
              <a:t>    </a:t>
            </a:r>
            <a:r>
              <a:rPr lang="en-US" altLang="ko-KR" dirty="0">
                <a:solidFill>
                  <a:srgbClr val="646464"/>
                </a:solidFill>
                <a:latin typeface="돋움체"/>
                <a:ea typeface="돋움체"/>
              </a:rPr>
              <a:t>@Override</a:t>
            </a:r>
          </a:p>
          <a:p>
            <a:r>
              <a:rPr lang="en-US" altLang="ko-KR" dirty="0" smtClean="0">
                <a:solidFill>
                  <a:srgbClr val="7F0055"/>
                </a:solidFill>
                <a:latin typeface="돋움체"/>
                <a:ea typeface="돋움체"/>
              </a:rPr>
              <a:t>    protected</a:t>
            </a:r>
            <a:r>
              <a:rPr lang="en-US" altLang="ko-KR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dirty="0">
                <a:solidFill>
                  <a:srgbClr val="7F0055"/>
                </a:solidFill>
                <a:latin typeface="돋움체"/>
                <a:ea typeface="돋움체"/>
              </a:rPr>
              <a:t>void</a:t>
            </a:r>
            <a:r>
              <a:rPr lang="en-US" altLang="ko-KR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latin typeface="돋움체"/>
                <a:ea typeface="돋움체"/>
              </a:rPr>
              <a:t>onResume</a:t>
            </a:r>
            <a:r>
              <a:rPr lang="en-US" altLang="ko-KR" dirty="0">
                <a:solidFill>
                  <a:srgbClr val="000000"/>
                </a:solidFill>
                <a:latin typeface="돋움체"/>
                <a:ea typeface="돋움체"/>
              </a:rPr>
              <a:t>() {</a:t>
            </a:r>
          </a:p>
          <a:p>
            <a:r>
              <a:rPr lang="en-US" altLang="ko-KR" dirty="0" smtClean="0">
                <a:solidFill>
                  <a:srgbClr val="7F0055"/>
                </a:solidFill>
                <a:latin typeface="돋움체"/>
                <a:ea typeface="돋움체"/>
              </a:rPr>
              <a:t>        </a:t>
            </a:r>
            <a:r>
              <a:rPr lang="en-US" altLang="ko-KR" dirty="0" err="1" smtClean="0">
                <a:solidFill>
                  <a:srgbClr val="7F0055"/>
                </a:solidFill>
                <a:latin typeface="돋움체"/>
                <a:ea typeface="돋움체"/>
              </a:rPr>
              <a:t>super</a:t>
            </a:r>
            <a:r>
              <a:rPr lang="en-US" altLang="ko-KR" dirty="0" err="1" smtClean="0">
                <a:solidFill>
                  <a:srgbClr val="000000"/>
                </a:solidFill>
                <a:latin typeface="돋움체"/>
                <a:ea typeface="돋움체"/>
              </a:rPr>
              <a:t>.onResume</a:t>
            </a:r>
            <a:r>
              <a:rPr lang="en-US" altLang="ko-KR" dirty="0">
                <a:solidFill>
                  <a:srgbClr val="000000"/>
                </a:solidFill>
                <a:latin typeface="돋움체"/>
                <a:ea typeface="돋움체"/>
              </a:rPr>
              <a:t>();</a:t>
            </a:r>
          </a:p>
          <a:p>
            <a:r>
              <a:rPr lang="en-US" altLang="ko-KR" dirty="0" smtClean="0">
                <a:solidFill>
                  <a:srgbClr val="0000C0"/>
                </a:solidFill>
                <a:latin typeface="돋움체"/>
                <a:ea typeface="돋움체"/>
              </a:rPr>
              <a:t>        </a:t>
            </a:r>
            <a:r>
              <a:rPr lang="en-US" altLang="ko-KR" dirty="0" err="1" smtClean="0">
                <a:solidFill>
                  <a:srgbClr val="0000C0"/>
                </a:solidFill>
                <a:latin typeface="돋움체"/>
                <a:ea typeface="돋움체"/>
              </a:rPr>
              <a:t>glSurface</a:t>
            </a:r>
            <a:r>
              <a:rPr lang="en-US" altLang="ko-KR" dirty="0" err="1" smtClean="0">
                <a:solidFill>
                  <a:srgbClr val="000000"/>
                </a:solidFill>
                <a:latin typeface="돋움체"/>
                <a:ea typeface="돋움체"/>
              </a:rPr>
              <a:t>.</a:t>
            </a:r>
            <a:r>
              <a:rPr lang="en-US" altLang="ko-KR" b="1" dirty="0" err="1" smtClean="0">
                <a:solidFill>
                  <a:srgbClr val="000000"/>
                </a:solidFill>
                <a:latin typeface="돋움체"/>
                <a:ea typeface="돋움체"/>
              </a:rPr>
              <a:t>onResume</a:t>
            </a:r>
            <a:r>
              <a:rPr lang="en-US" altLang="ko-KR" dirty="0">
                <a:solidFill>
                  <a:srgbClr val="000000"/>
                </a:solidFill>
                <a:latin typeface="돋움체"/>
                <a:ea typeface="돋움체"/>
              </a:rPr>
              <a:t>();</a:t>
            </a:r>
          </a:p>
          <a:p>
            <a:r>
              <a:rPr lang="en-US" altLang="ko-KR" dirty="0" smtClean="0">
                <a:solidFill>
                  <a:srgbClr val="000000"/>
                </a:solidFill>
                <a:latin typeface="돋움체"/>
                <a:ea typeface="돋움체"/>
              </a:rPr>
              <a:t>    }</a:t>
            </a:r>
            <a:endParaRPr lang="en-US" altLang="ko-KR" dirty="0">
              <a:solidFill>
                <a:srgbClr val="000000"/>
              </a:solidFill>
              <a:latin typeface="돋움체"/>
              <a:ea typeface="돋움체"/>
            </a:endParaRPr>
          </a:p>
          <a:p>
            <a:endParaRPr lang="ko-KR" altLang="en-US" dirty="0">
              <a:latin typeface="돋움체"/>
              <a:ea typeface="돋움체"/>
            </a:endParaRPr>
          </a:p>
          <a:p>
            <a:r>
              <a:rPr lang="en-US" altLang="ko-KR" dirty="0" smtClean="0">
                <a:solidFill>
                  <a:srgbClr val="646464"/>
                </a:solidFill>
                <a:latin typeface="돋움체"/>
                <a:ea typeface="돋움체"/>
              </a:rPr>
              <a:t>    @</a:t>
            </a:r>
            <a:r>
              <a:rPr lang="en-US" altLang="ko-KR" dirty="0">
                <a:solidFill>
                  <a:srgbClr val="646464"/>
                </a:solidFill>
                <a:latin typeface="돋움체"/>
                <a:ea typeface="돋움체"/>
              </a:rPr>
              <a:t>Override</a:t>
            </a:r>
          </a:p>
          <a:p>
            <a:r>
              <a:rPr lang="en-US" altLang="ko-KR" dirty="0" smtClean="0">
                <a:solidFill>
                  <a:srgbClr val="7F0055"/>
                </a:solidFill>
                <a:latin typeface="돋움체"/>
                <a:ea typeface="돋움체"/>
              </a:rPr>
              <a:t>    protected</a:t>
            </a:r>
            <a:r>
              <a:rPr lang="en-US" altLang="ko-KR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dirty="0">
                <a:solidFill>
                  <a:srgbClr val="7F0055"/>
                </a:solidFill>
                <a:latin typeface="돋움체"/>
                <a:ea typeface="돋움체"/>
              </a:rPr>
              <a:t>void</a:t>
            </a:r>
            <a:r>
              <a:rPr lang="en-US" altLang="ko-KR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latin typeface="돋움체"/>
                <a:ea typeface="돋움체"/>
              </a:rPr>
              <a:t>onPause</a:t>
            </a:r>
            <a:r>
              <a:rPr lang="en-US" altLang="ko-KR" dirty="0">
                <a:solidFill>
                  <a:srgbClr val="000000"/>
                </a:solidFill>
                <a:latin typeface="돋움체"/>
                <a:ea typeface="돋움체"/>
              </a:rPr>
              <a:t>() {</a:t>
            </a:r>
          </a:p>
          <a:p>
            <a:r>
              <a:rPr lang="en-US" altLang="ko-KR" dirty="0" smtClean="0">
                <a:solidFill>
                  <a:srgbClr val="7F0055"/>
                </a:solidFill>
                <a:latin typeface="돋움체"/>
                <a:ea typeface="돋움체"/>
              </a:rPr>
              <a:t>        </a:t>
            </a:r>
            <a:r>
              <a:rPr lang="en-US" altLang="ko-KR" dirty="0" err="1" smtClean="0">
                <a:solidFill>
                  <a:srgbClr val="7F0055"/>
                </a:solidFill>
                <a:latin typeface="돋움체"/>
                <a:ea typeface="돋움체"/>
              </a:rPr>
              <a:t>super</a:t>
            </a:r>
            <a:r>
              <a:rPr lang="en-US" altLang="ko-KR" dirty="0" err="1" smtClean="0">
                <a:solidFill>
                  <a:srgbClr val="000000"/>
                </a:solidFill>
                <a:latin typeface="돋움체"/>
                <a:ea typeface="돋움체"/>
              </a:rPr>
              <a:t>.onPause</a:t>
            </a:r>
            <a:r>
              <a:rPr lang="en-US" altLang="ko-KR" dirty="0">
                <a:solidFill>
                  <a:srgbClr val="000000"/>
                </a:solidFill>
                <a:latin typeface="돋움체"/>
                <a:ea typeface="돋움체"/>
              </a:rPr>
              <a:t>();</a:t>
            </a:r>
          </a:p>
          <a:p>
            <a:r>
              <a:rPr lang="en-US" altLang="ko-KR" dirty="0" smtClean="0">
                <a:solidFill>
                  <a:srgbClr val="0000C0"/>
                </a:solidFill>
                <a:latin typeface="돋움체"/>
                <a:ea typeface="돋움체"/>
              </a:rPr>
              <a:t>        </a:t>
            </a:r>
            <a:r>
              <a:rPr lang="en-US" altLang="ko-KR" dirty="0" err="1" smtClean="0">
                <a:solidFill>
                  <a:srgbClr val="0000C0"/>
                </a:solidFill>
                <a:latin typeface="돋움체"/>
                <a:ea typeface="돋움체"/>
              </a:rPr>
              <a:t>glSurface</a:t>
            </a:r>
            <a:r>
              <a:rPr lang="en-US" altLang="ko-KR" dirty="0" err="1" smtClean="0">
                <a:solidFill>
                  <a:srgbClr val="000000"/>
                </a:solidFill>
                <a:latin typeface="돋움체"/>
                <a:ea typeface="돋움체"/>
              </a:rPr>
              <a:t>.</a:t>
            </a:r>
            <a:r>
              <a:rPr lang="en-US" altLang="ko-KR" b="1" dirty="0" err="1" smtClean="0">
                <a:solidFill>
                  <a:srgbClr val="000000"/>
                </a:solidFill>
                <a:latin typeface="돋움체"/>
                <a:ea typeface="돋움체"/>
              </a:rPr>
              <a:t>onPause</a:t>
            </a:r>
            <a:r>
              <a:rPr lang="en-US" altLang="ko-KR" dirty="0">
                <a:solidFill>
                  <a:srgbClr val="000000"/>
                </a:solidFill>
                <a:latin typeface="돋움체"/>
                <a:ea typeface="돋움체"/>
              </a:rPr>
              <a:t>();</a:t>
            </a:r>
          </a:p>
          <a:p>
            <a:r>
              <a:rPr lang="en-US" altLang="ko-KR" dirty="0" smtClean="0">
                <a:solidFill>
                  <a:srgbClr val="000000"/>
                </a:solidFill>
                <a:latin typeface="돋움체"/>
                <a:ea typeface="돋움체"/>
              </a:rPr>
              <a:t>    }</a:t>
            </a:r>
            <a:endParaRPr lang="en-US" altLang="ko-KR" dirty="0">
              <a:solidFill>
                <a:srgbClr val="000000"/>
              </a:solidFill>
              <a:latin typeface="돋움체"/>
              <a:ea typeface="돋움체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97230" y="1280160"/>
            <a:ext cx="15634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 smtClean="0">
                <a:solidFill>
                  <a:prstClr val="black"/>
                </a:solidFill>
              </a:rPr>
              <a:t>Ex_GLES</a:t>
            </a:r>
            <a:endParaRPr lang="en-US" altLang="ko-KR" b="1" dirty="0" smtClean="0">
              <a:solidFill>
                <a:prstClr val="black"/>
              </a:solidFill>
            </a:endParaRPr>
          </a:p>
          <a:p>
            <a:r>
              <a:rPr lang="en-US" altLang="ko-KR" dirty="0" smtClean="0">
                <a:solidFill>
                  <a:prstClr val="black"/>
                </a:solidFill>
              </a:rPr>
              <a:t>/</a:t>
            </a:r>
            <a:r>
              <a:rPr lang="en-US" altLang="ko-KR" dirty="0" err="1" smtClean="0">
                <a:solidFill>
                  <a:prstClr val="black"/>
                </a:solidFill>
              </a:rPr>
              <a:t>src</a:t>
            </a:r>
            <a:r>
              <a:rPr lang="en-US" altLang="ko-KR" dirty="0" smtClean="0">
                <a:solidFill>
                  <a:prstClr val="black"/>
                </a:solidFill>
              </a:rPr>
              <a:t>/Act1.java</a:t>
            </a:r>
            <a:endParaRPr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57897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29</a:t>
            </a:fld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Renderer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520505" y="1926490"/>
            <a:ext cx="8454683" cy="403187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sz="1600" dirty="0" smtClean="0">
                <a:solidFill>
                  <a:srgbClr val="7F0055"/>
                </a:solidFill>
                <a:latin typeface="돋움체"/>
                <a:ea typeface="돋움체"/>
              </a:rPr>
              <a:t>    class</a:t>
            </a:r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MyRenderer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600" dirty="0">
                <a:solidFill>
                  <a:srgbClr val="7F0055"/>
                </a:solidFill>
                <a:latin typeface="돋움체"/>
                <a:ea typeface="돋움체"/>
              </a:rPr>
              <a:t>implements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Renderer {</a:t>
            </a:r>
          </a:p>
          <a:p>
            <a:endParaRPr lang="ko-KR" altLang="en-US" sz="1600" dirty="0">
              <a:latin typeface="돋움체"/>
              <a:ea typeface="돋움체"/>
            </a:endParaRPr>
          </a:p>
          <a:p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600" dirty="0">
                <a:solidFill>
                  <a:srgbClr val="7F0055"/>
                </a:solidFill>
                <a:latin typeface="돋움체"/>
                <a:ea typeface="돋움체"/>
              </a:rPr>
              <a:t>private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FloatBuffer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600" dirty="0" err="1">
                <a:solidFill>
                  <a:srgbClr val="0000C0"/>
                </a:solidFill>
                <a:latin typeface="돋움체"/>
                <a:ea typeface="돋움체"/>
              </a:rPr>
              <a:t>vertexBuffer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;</a:t>
            </a:r>
          </a:p>
          <a:p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600" dirty="0">
                <a:solidFill>
                  <a:srgbClr val="7F0055"/>
                </a:solidFill>
                <a:latin typeface="돋움체"/>
                <a:ea typeface="돋움체"/>
              </a:rPr>
              <a:t>private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600" dirty="0">
                <a:solidFill>
                  <a:srgbClr val="7F0055"/>
                </a:solidFill>
                <a:latin typeface="돋움체"/>
                <a:ea typeface="돋움체"/>
              </a:rPr>
              <a:t>float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600" dirty="0">
                <a:solidFill>
                  <a:srgbClr val="0000C0"/>
                </a:solidFill>
                <a:latin typeface="돋움체"/>
                <a:ea typeface="돋움체"/>
              </a:rPr>
              <a:t>vertices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[] = { </a:t>
            </a:r>
          </a:p>
          <a:p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     0.0f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, </a:t>
            </a:r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 1.0f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, 0.0f, </a:t>
            </a:r>
            <a:r>
              <a:rPr lang="en-US" altLang="ko-KR" sz="1600" dirty="0">
                <a:solidFill>
                  <a:srgbClr val="3F7F5F"/>
                </a:solidFill>
                <a:latin typeface="돋움체"/>
                <a:ea typeface="돋움체"/>
              </a:rPr>
              <a:t>//Top</a:t>
            </a:r>
          </a:p>
          <a:p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    -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1.0f, -1.0f, 0.0f, </a:t>
            </a:r>
            <a:r>
              <a:rPr lang="en-US" altLang="ko-KR" sz="1600" dirty="0">
                <a:solidFill>
                  <a:srgbClr val="3F7F5F"/>
                </a:solidFill>
                <a:latin typeface="돋움체"/>
                <a:ea typeface="돋움체"/>
              </a:rPr>
              <a:t>//Bottom Left</a:t>
            </a:r>
          </a:p>
          <a:p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     1.0f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, -1.0f, 0.0f </a:t>
            </a:r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600" dirty="0" smtClean="0">
                <a:solidFill>
                  <a:srgbClr val="3F7F5F"/>
                </a:solidFill>
                <a:latin typeface="돋움체"/>
                <a:ea typeface="돋움체"/>
              </a:rPr>
              <a:t>//</a:t>
            </a:r>
            <a:r>
              <a:rPr lang="en-US" altLang="ko-KR" sz="1600" dirty="0">
                <a:solidFill>
                  <a:srgbClr val="3F7F5F"/>
                </a:solidFill>
                <a:latin typeface="돋움체"/>
                <a:ea typeface="돋움체"/>
              </a:rPr>
              <a:t>Bottom Right</a:t>
            </a:r>
          </a:p>
          <a:p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};</a:t>
            </a:r>
            <a:endParaRPr lang="en-US" altLang="ko-KR" sz="1600" dirty="0">
              <a:solidFill>
                <a:srgbClr val="000000"/>
              </a:solidFill>
              <a:latin typeface="돋움체"/>
              <a:ea typeface="돋움체"/>
            </a:endParaRPr>
          </a:p>
          <a:p>
            <a:endParaRPr lang="ko-KR" altLang="en-US" sz="1600" dirty="0">
              <a:latin typeface="돋움체"/>
              <a:ea typeface="돋움체"/>
            </a:endParaRPr>
          </a:p>
          <a:p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600" dirty="0">
                <a:solidFill>
                  <a:srgbClr val="7F0055"/>
                </a:solidFill>
                <a:latin typeface="돋움체"/>
                <a:ea typeface="돋움체"/>
              </a:rPr>
              <a:t>public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MyRenderer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() {</a:t>
            </a:r>
          </a:p>
          <a:p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ByteBuffer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byteBuf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= 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ByteBuffer.allocateDirect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600" dirty="0" err="1">
                <a:solidFill>
                  <a:srgbClr val="0000C0"/>
                </a:solidFill>
                <a:latin typeface="돋움체"/>
                <a:ea typeface="돋움체"/>
              </a:rPr>
              <a:t>vertices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.</a:t>
            </a:r>
            <a:r>
              <a:rPr lang="en-US" altLang="ko-KR" sz="1600" dirty="0" err="1">
                <a:solidFill>
                  <a:srgbClr val="0000C0"/>
                </a:solidFill>
                <a:latin typeface="돋움체"/>
                <a:ea typeface="돋움체"/>
              </a:rPr>
              <a:t>length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* 4);</a:t>
            </a:r>
          </a:p>
          <a:p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byteBuf.order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ByteOrder.nativeOrder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());</a:t>
            </a:r>
          </a:p>
          <a:p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600" dirty="0" err="1">
                <a:solidFill>
                  <a:srgbClr val="0000C0"/>
                </a:solidFill>
                <a:latin typeface="돋움체"/>
                <a:ea typeface="돋움체"/>
              </a:rPr>
              <a:t>vertexBuffer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= 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byteBuf.asFloatBuffer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();</a:t>
            </a:r>
          </a:p>
          <a:p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600" dirty="0" err="1">
                <a:solidFill>
                  <a:srgbClr val="0000C0"/>
                </a:solidFill>
                <a:latin typeface="돋움체"/>
                <a:ea typeface="돋움체"/>
              </a:rPr>
              <a:t>vertexBuffer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.put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600" dirty="0">
                <a:solidFill>
                  <a:srgbClr val="0000C0"/>
                </a:solidFill>
                <a:latin typeface="돋움체"/>
                <a:ea typeface="돋움체"/>
              </a:rPr>
              <a:t>vertices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600" dirty="0" err="1">
                <a:solidFill>
                  <a:srgbClr val="0000C0"/>
                </a:solidFill>
                <a:latin typeface="돋움체"/>
                <a:ea typeface="돋움체"/>
              </a:rPr>
              <a:t>vertexBuffer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.position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(0);</a:t>
            </a:r>
          </a:p>
          <a:p>
            <a:r>
              <a:rPr lang="ko-KR" altLang="en-US" sz="1600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}</a:t>
            </a:r>
            <a:endParaRPr lang="en-US" altLang="ko-KR" sz="1600" dirty="0">
              <a:solidFill>
                <a:srgbClr val="000000"/>
              </a:solidFill>
              <a:latin typeface="돋움체"/>
              <a:ea typeface="돋움체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97230" y="1280160"/>
            <a:ext cx="15634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 smtClean="0">
                <a:solidFill>
                  <a:prstClr val="black"/>
                </a:solidFill>
              </a:rPr>
              <a:t>Ex_GLES</a:t>
            </a:r>
            <a:endParaRPr lang="en-US" altLang="ko-KR" b="1" dirty="0" smtClean="0">
              <a:solidFill>
                <a:prstClr val="black"/>
              </a:solidFill>
            </a:endParaRPr>
          </a:p>
          <a:p>
            <a:r>
              <a:rPr lang="en-US" altLang="ko-KR" dirty="0" smtClean="0">
                <a:solidFill>
                  <a:prstClr val="black"/>
                </a:solidFill>
              </a:rPr>
              <a:t>/</a:t>
            </a:r>
            <a:r>
              <a:rPr lang="en-US" altLang="ko-KR" dirty="0" err="1" smtClean="0">
                <a:solidFill>
                  <a:prstClr val="black"/>
                </a:solidFill>
              </a:rPr>
              <a:t>src</a:t>
            </a:r>
            <a:r>
              <a:rPr lang="en-US" altLang="ko-KR" dirty="0" smtClean="0">
                <a:solidFill>
                  <a:prstClr val="black"/>
                </a:solidFill>
              </a:rPr>
              <a:t>/Act1.java</a:t>
            </a:r>
            <a:endParaRPr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98159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30</a:t>
            </a:fld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Renderer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97230" y="1926491"/>
            <a:ext cx="8084264" cy="304698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endParaRPr lang="ko-KR" altLang="en-US" sz="1600" dirty="0">
              <a:latin typeface="돋움체"/>
              <a:ea typeface="돋움체"/>
            </a:endParaRPr>
          </a:p>
          <a:p>
            <a:r>
              <a:rPr lang="en-US" altLang="ko-KR" sz="1600" dirty="0" smtClean="0">
                <a:solidFill>
                  <a:srgbClr val="646464"/>
                </a:solidFill>
                <a:latin typeface="돋움체"/>
                <a:ea typeface="돋움체"/>
              </a:rPr>
              <a:t>        @</a:t>
            </a:r>
            <a:r>
              <a:rPr lang="en-US" altLang="ko-KR" sz="1600" dirty="0">
                <a:solidFill>
                  <a:srgbClr val="646464"/>
                </a:solidFill>
                <a:latin typeface="돋움체"/>
                <a:ea typeface="돋움체"/>
              </a:rPr>
              <a:t>Override</a:t>
            </a:r>
          </a:p>
          <a:p>
            <a:r>
              <a:rPr lang="en-US" altLang="ko-KR" sz="1600" dirty="0" smtClean="0">
                <a:solidFill>
                  <a:srgbClr val="7F0055"/>
                </a:solidFill>
                <a:latin typeface="돋움체"/>
                <a:ea typeface="돋움체"/>
              </a:rPr>
              <a:t>        public</a:t>
            </a:r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600" dirty="0">
                <a:solidFill>
                  <a:srgbClr val="7F0055"/>
                </a:solidFill>
                <a:latin typeface="돋움체"/>
                <a:ea typeface="돋움체"/>
              </a:rPr>
              <a:t>void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600" b="1" dirty="0" err="1">
                <a:solidFill>
                  <a:srgbClr val="000000"/>
                </a:solidFill>
                <a:latin typeface="돋움체"/>
                <a:ea typeface="돋움체"/>
              </a:rPr>
              <a:t>onSurfaceCreated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(GL10 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gl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, 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EGLConfig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config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) {</a:t>
            </a:r>
          </a:p>
          <a:p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600" dirty="0" err="1" smtClean="0">
                <a:solidFill>
                  <a:srgbClr val="000000"/>
                </a:solidFill>
                <a:latin typeface="돋움체"/>
                <a:ea typeface="돋움체"/>
              </a:rPr>
              <a:t>gl.glShadeModel</a:t>
            </a:r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(GL10.</a:t>
            </a:r>
            <a:r>
              <a:rPr lang="en-US" altLang="ko-KR" sz="1600" dirty="0" smtClean="0">
                <a:solidFill>
                  <a:srgbClr val="0000C0"/>
                </a:solidFill>
                <a:latin typeface="돋움체"/>
                <a:ea typeface="돋움체"/>
              </a:rPr>
              <a:t>GL_SMOOTH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); </a:t>
            </a:r>
            <a:r>
              <a:rPr lang="en-US" altLang="ko-KR" sz="1600" dirty="0">
                <a:solidFill>
                  <a:srgbClr val="3F7F5F"/>
                </a:solidFill>
                <a:latin typeface="돋움체"/>
                <a:ea typeface="돋움체"/>
              </a:rPr>
              <a:t>//Enable Smooth Shading</a:t>
            </a:r>
          </a:p>
          <a:p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600" dirty="0" err="1" smtClean="0">
                <a:solidFill>
                  <a:srgbClr val="000000"/>
                </a:solidFill>
                <a:latin typeface="돋움체"/>
                <a:ea typeface="돋움체"/>
              </a:rPr>
              <a:t>gl.glClearColor</a:t>
            </a:r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(0.0f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, 0.0f, 0.0f, 0.5f); </a:t>
            </a:r>
            <a:r>
              <a:rPr lang="en-US" altLang="ko-KR" sz="1600" dirty="0">
                <a:solidFill>
                  <a:srgbClr val="3F7F5F"/>
                </a:solidFill>
                <a:latin typeface="돋움체"/>
                <a:ea typeface="돋움체"/>
              </a:rPr>
              <a:t>//Black Background</a:t>
            </a:r>
          </a:p>
          <a:p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600" dirty="0" err="1" smtClean="0">
                <a:solidFill>
                  <a:srgbClr val="000000"/>
                </a:solidFill>
                <a:latin typeface="돋움체"/>
                <a:ea typeface="돋움체"/>
              </a:rPr>
              <a:t>gl.glClearDepthf</a:t>
            </a:r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(1.0f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); </a:t>
            </a:r>
            <a:r>
              <a:rPr lang="en-US" altLang="ko-KR" sz="1600" dirty="0">
                <a:solidFill>
                  <a:srgbClr val="3F7F5F"/>
                </a:solidFill>
                <a:latin typeface="돋움체"/>
                <a:ea typeface="돋움체"/>
              </a:rPr>
              <a:t>//Depth Buffer Setup</a:t>
            </a:r>
          </a:p>
          <a:p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600" dirty="0" err="1" smtClean="0">
                <a:solidFill>
                  <a:srgbClr val="000000"/>
                </a:solidFill>
                <a:latin typeface="돋움체"/>
                <a:ea typeface="돋움체"/>
              </a:rPr>
              <a:t>gl.glEnable</a:t>
            </a:r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(GL10.</a:t>
            </a:r>
            <a:r>
              <a:rPr lang="en-US" altLang="ko-KR" sz="1600" dirty="0" smtClean="0">
                <a:solidFill>
                  <a:srgbClr val="0000C0"/>
                </a:solidFill>
                <a:latin typeface="돋움체"/>
                <a:ea typeface="돋움체"/>
              </a:rPr>
              <a:t>GL_DEPTH_TEST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); </a:t>
            </a:r>
            <a:r>
              <a:rPr lang="en-US" altLang="ko-KR" sz="1600" dirty="0">
                <a:solidFill>
                  <a:srgbClr val="3F7F5F"/>
                </a:solidFill>
                <a:latin typeface="돋움체"/>
                <a:ea typeface="돋움체"/>
              </a:rPr>
              <a:t>//Enables Depth Testing</a:t>
            </a:r>
          </a:p>
          <a:p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600" dirty="0" err="1" smtClean="0">
                <a:solidFill>
                  <a:srgbClr val="000000"/>
                </a:solidFill>
                <a:latin typeface="돋움체"/>
                <a:ea typeface="돋움체"/>
              </a:rPr>
              <a:t>gl.glDepthFunc</a:t>
            </a:r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(GL10.</a:t>
            </a:r>
            <a:r>
              <a:rPr lang="en-US" altLang="ko-KR" sz="1600" dirty="0" smtClean="0">
                <a:solidFill>
                  <a:srgbClr val="0000C0"/>
                </a:solidFill>
                <a:latin typeface="돋움체"/>
                <a:ea typeface="돋움체"/>
              </a:rPr>
              <a:t>GL_LEQUAL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); </a:t>
            </a:r>
            <a:r>
              <a:rPr lang="en-US" altLang="ko-KR" sz="1600" dirty="0">
                <a:solidFill>
                  <a:srgbClr val="3F7F5F"/>
                </a:solidFill>
                <a:latin typeface="돋움체"/>
                <a:ea typeface="돋움체"/>
              </a:rPr>
              <a:t>//The Type Of Depth Testing To Do</a:t>
            </a:r>
          </a:p>
          <a:p>
            <a:endParaRPr lang="ko-KR" altLang="en-US" sz="1600" dirty="0">
              <a:latin typeface="돋움체"/>
              <a:ea typeface="돋움체"/>
            </a:endParaRPr>
          </a:p>
          <a:p>
            <a:r>
              <a:rPr lang="en-US" altLang="ko-KR" sz="1600" dirty="0" smtClean="0">
                <a:solidFill>
                  <a:srgbClr val="3F7F5F"/>
                </a:solidFill>
                <a:latin typeface="돋움체"/>
                <a:ea typeface="돋움체"/>
              </a:rPr>
              <a:t>            //</a:t>
            </a:r>
            <a:r>
              <a:rPr lang="en-US" altLang="ko-KR" sz="1600" dirty="0">
                <a:solidFill>
                  <a:srgbClr val="3F7F5F"/>
                </a:solidFill>
                <a:latin typeface="돋움체"/>
                <a:ea typeface="돋움체"/>
              </a:rPr>
              <a:t>Really Nice Perspective Calculations</a:t>
            </a:r>
          </a:p>
          <a:p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600" dirty="0" err="1" smtClean="0">
                <a:solidFill>
                  <a:srgbClr val="000000"/>
                </a:solidFill>
                <a:latin typeface="돋움체"/>
                <a:ea typeface="돋움체"/>
              </a:rPr>
              <a:t>gl.glHint</a:t>
            </a:r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(GL10.</a:t>
            </a:r>
            <a:r>
              <a:rPr lang="en-US" altLang="ko-KR" sz="1600" dirty="0" smtClean="0">
                <a:solidFill>
                  <a:srgbClr val="0000C0"/>
                </a:solidFill>
                <a:latin typeface="돋움체"/>
                <a:ea typeface="돋움체"/>
              </a:rPr>
              <a:t>GL_PERSPECTIVE_CORRECTION_HINT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, GL10.</a:t>
            </a:r>
            <a:r>
              <a:rPr lang="en-US" altLang="ko-KR" sz="1600" dirty="0">
                <a:solidFill>
                  <a:srgbClr val="0000C0"/>
                </a:solidFill>
                <a:latin typeface="돋움체"/>
                <a:ea typeface="돋움체"/>
              </a:rPr>
              <a:t>GL_NICEST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); </a:t>
            </a:r>
          </a:p>
          <a:p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        }</a:t>
            </a:r>
            <a:endParaRPr lang="en-US" altLang="ko-KR" sz="1600" dirty="0">
              <a:solidFill>
                <a:srgbClr val="000000"/>
              </a:solidFill>
              <a:latin typeface="돋움체"/>
              <a:ea typeface="돋움체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97230" y="1280160"/>
            <a:ext cx="15634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 smtClean="0">
                <a:solidFill>
                  <a:prstClr val="black"/>
                </a:solidFill>
              </a:rPr>
              <a:t>Ex_GLES</a:t>
            </a:r>
            <a:endParaRPr lang="en-US" altLang="ko-KR" b="1" dirty="0" smtClean="0">
              <a:solidFill>
                <a:prstClr val="black"/>
              </a:solidFill>
            </a:endParaRPr>
          </a:p>
          <a:p>
            <a:r>
              <a:rPr lang="en-US" altLang="ko-KR" dirty="0" smtClean="0">
                <a:solidFill>
                  <a:prstClr val="black"/>
                </a:solidFill>
              </a:rPr>
              <a:t>/</a:t>
            </a:r>
            <a:r>
              <a:rPr lang="en-US" altLang="ko-KR" dirty="0" err="1" smtClean="0">
                <a:solidFill>
                  <a:prstClr val="black"/>
                </a:solidFill>
              </a:rPr>
              <a:t>src</a:t>
            </a:r>
            <a:r>
              <a:rPr lang="en-US" altLang="ko-KR" dirty="0" smtClean="0">
                <a:solidFill>
                  <a:prstClr val="black"/>
                </a:solidFill>
              </a:rPr>
              <a:t>/Act1.java</a:t>
            </a:r>
            <a:endParaRPr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14147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31</a:t>
            </a:fld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Renderer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36406" y="1926491"/>
            <a:ext cx="9007594" cy="427809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endParaRPr lang="ko-KR" altLang="en-US" sz="1600" dirty="0">
              <a:latin typeface="돋움체"/>
              <a:ea typeface="돋움체"/>
            </a:endParaRPr>
          </a:p>
          <a:p>
            <a:r>
              <a:rPr lang="en-US" altLang="ko-KR" sz="1600" dirty="0" smtClean="0">
                <a:solidFill>
                  <a:srgbClr val="646464"/>
                </a:solidFill>
                <a:latin typeface="돋움체"/>
                <a:ea typeface="돋움체"/>
              </a:rPr>
              <a:t>        @</a:t>
            </a:r>
            <a:r>
              <a:rPr lang="en-US" altLang="ko-KR" sz="1600" dirty="0">
                <a:solidFill>
                  <a:srgbClr val="646464"/>
                </a:solidFill>
                <a:latin typeface="돋움체"/>
                <a:ea typeface="돋움체"/>
              </a:rPr>
              <a:t>Override</a:t>
            </a:r>
          </a:p>
          <a:p>
            <a:r>
              <a:rPr lang="en-US" altLang="ko-KR" sz="1600" dirty="0" smtClean="0">
                <a:solidFill>
                  <a:srgbClr val="7F0055"/>
                </a:solidFill>
                <a:latin typeface="돋움체"/>
                <a:ea typeface="돋움체"/>
              </a:rPr>
              <a:t>        public</a:t>
            </a:r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600" dirty="0">
                <a:solidFill>
                  <a:srgbClr val="7F0055"/>
                </a:solidFill>
                <a:latin typeface="돋움체"/>
                <a:ea typeface="돋움체"/>
              </a:rPr>
              <a:t>void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600" b="1" dirty="0" err="1">
                <a:solidFill>
                  <a:srgbClr val="000000"/>
                </a:solidFill>
                <a:latin typeface="돋움체"/>
                <a:ea typeface="돋움체"/>
              </a:rPr>
              <a:t>onSurfaceChanged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(GL10 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gl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, </a:t>
            </a:r>
            <a:r>
              <a:rPr lang="en-US" altLang="ko-KR" sz="1600" dirty="0" err="1">
                <a:solidFill>
                  <a:srgbClr val="7F0055"/>
                </a:solidFill>
                <a:latin typeface="돋움체"/>
                <a:ea typeface="돋움체"/>
              </a:rPr>
              <a:t>int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width, </a:t>
            </a:r>
            <a:r>
              <a:rPr lang="en-US" altLang="ko-KR" sz="1600" dirty="0" err="1">
                <a:solidFill>
                  <a:srgbClr val="7F0055"/>
                </a:solidFill>
                <a:latin typeface="돋움체"/>
                <a:ea typeface="돋움체"/>
              </a:rPr>
              <a:t>int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height) {</a:t>
            </a:r>
          </a:p>
          <a:p>
            <a:r>
              <a:rPr lang="en-US" altLang="ko-KR" sz="1600" dirty="0" smtClean="0">
                <a:solidFill>
                  <a:srgbClr val="7F0055"/>
                </a:solidFill>
                <a:latin typeface="돋움체"/>
                <a:ea typeface="돋움체"/>
              </a:rPr>
              <a:t>            if </a:t>
            </a:r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(height 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== 0) { </a:t>
            </a:r>
            <a:r>
              <a:rPr lang="en-US" altLang="ko-KR" sz="1600" dirty="0">
                <a:solidFill>
                  <a:srgbClr val="3F7F5F"/>
                </a:solidFill>
                <a:latin typeface="돋움체"/>
                <a:ea typeface="돋움체"/>
              </a:rPr>
              <a:t>//Prevent A Divide By Zero By</a:t>
            </a:r>
          </a:p>
          <a:p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    height 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= 1; </a:t>
            </a:r>
            <a:r>
              <a:rPr lang="en-US" altLang="ko-KR" sz="1600" dirty="0">
                <a:solidFill>
                  <a:srgbClr val="3F7F5F"/>
                </a:solidFill>
                <a:latin typeface="돋움체"/>
                <a:ea typeface="돋움체"/>
              </a:rPr>
              <a:t>//Making Height Equal One</a:t>
            </a:r>
          </a:p>
          <a:p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}</a:t>
            </a:r>
            <a:endParaRPr lang="en-US" altLang="ko-KR" sz="1600" dirty="0">
              <a:solidFill>
                <a:srgbClr val="000000"/>
              </a:solidFill>
              <a:latin typeface="돋움체"/>
              <a:ea typeface="돋움체"/>
            </a:endParaRPr>
          </a:p>
          <a:p>
            <a:endParaRPr lang="ko-KR" altLang="en-US" sz="1600" dirty="0">
              <a:latin typeface="돋움체"/>
              <a:ea typeface="돋움체"/>
            </a:endParaRPr>
          </a:p>
          <a:p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600" dirty="0" err="1" smtClean="0">
                <a:solidFill>
                  <a:srgbClr val="000000"/>
                </a:solidFill>
                <a:latin typeface="돋움체"/>
                <a:ea typeface="돋움체"/>
              </a:rPr>
              <a:t>gl.glViewport</a:t>
            </a:r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(0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, 0, width, height); </a:t>
            </a:r>
            <a:r>
              <a:rPr lang="en-US" altLang="ko-KR" sz="1600" dirty="0">
                <a:solidFill>
                  <a:srgbClr val="3F7F5F"/>
                </a:solidFill>
                <a:latin typeface="돋움체"/>
                <a:ea typeface="돋움체"/>
              </a:rPr>
              <a:t>//Reset The Current Viewport</a:t>
            </a:r>
          </a:p>
          <a:p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600" dirty="0" err="1" smtClean="0">
                <a:solidFill>
                  <a:srgbClr val="000000"/>
                </a:solidFill>
                <a:latin typeface="돋움체"/>
                <a:ea typeface="돋움체"/>
              </a:rPr>
              <a:t>gl.glMatrixMode</a:t>
            </a:r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(GL10.</a:t>
            </a:r>
            <a:r>
              <a:rPr lang="en-US" altLang="ko-KR" sz="1600" dirty="0" smtClean="0">
                <a:solidFill>
                  <a:srgbClr val="0000C0"/>
                </a:solidFill>
                <a:latin typeface="돋움체"/>
                <a:ea typeface="돋움체"/>
              </a:rPr>
              <a:t>GL_PROJECTION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); </a:t>
            </a:r>
            <a:r>
              <a:rPr lang="en-US" altLang="ko-KR" sz="1600" dirty="0">
                <a:solidFill>
                  <a:srgbClr val="3F7F5F"/>
                </a:solidFill>
                <a:latin typeface="돋움체"/>
                <a:ea typeface="돋움체"/>
              </a:rPr>
              <a:t>//Select The Projection Matrix</a:t>
            </a:r>
          </a:p>
          <a:p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600" dirty="0" err="1" smtClean="0">
                <a:solidFill>
                  <a:srgbClr val="000000"/>
                </a:solidFill>
                <a:latin typeface="돋움체"/>
                <a:ea typeface="돋움체"/>
              </a:rPr>
              <a:t>gl.glLoadIdentity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(); </a:t>
            </a:r>
            <a:r>
              <a:rPr lang="en-US" altLang="ko-KR" sz="1600" dirty="0">
                <a:solidFill>
                  <a:srgbClr val="3F7F5F"/>
                </a:solidFill>
                <a:latin typeface="돋움체"/>
                <a:ea typeface="돋움체"/>
              </a:rPr>
              <a:t>//Reset The Projection Matrix</a:t>
            </a:r>
          </a:p>
          <a:p>
            <a:endParaRPr lang="ko-KR" altLang="en-US" sz="1600" dirty="0">
              <a:latin typeface="돋움체"/>
              <a:ea typeface="돋움체"/>
            </a:endParaRPr>
          </a:p>
          <a:p>
            <a:r>
              <a:rPr lang="en-US" altLang="ko-KR" sz="1600" dirty="0" smtClean="0">
                <a:solidFill>
                  <a:srgbClr val="3F7F5F"/>
                </a:solidFill>
                <a:latin typeface="돋움체"/>
                <a:ea typeface="돋움체"/>
              </a:rPr>
              <a:t>            //</a:t>
            </a:r>
            <a:r>
              <a:rPr lang="en-US" altLang="ko-KR" sz="1600" dirty="0">
                <a:solidFill>
                  <a:srgbClr val="3F7F5F"/>
                </a:solidFill>
                <a:latin typeface="돋움체"/>
                <a:ea typeface="돋움체"/>
              </a:rPr>
              <a:t>Calculate The Aspect Ratio Of The Window</a:t>
            </a:r>
          </a:p>
          <a:p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600" dirty="0" err="1" smtClean="0">
                <a:solidFill>
                  <a:srgbClr val="000000"/>
                </a:solidFill>
                <a:latin typeface="돋움체"/>
                <a:ea typeface="돋움체"/>
              </a:rPr>
              <a:t>GLU.gluPerspective</a:t>
            </a:r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600" dirty="0" err="1" smtClean="0">
                <a:solidFill>
                  <a:srgbClr val="000000"/>
                </a:solidFill>
                <a:latin typeface="돋움체"/>
                <a:ea typeface="돋움체"/>
              </a:rPr>
              <a:t>gl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, 45.0f, (</a:t>
            </a:r>
            <a:r>
              <a:rPr lang="en-US" altLang="ko-KR" sz="1600" dirty="0">
                <a:solidFill>
                  <a:srgbClr val="7F0055"/>
                </a:solidFill>
                <a:latin typeface="돋움체"/>
                <a:ea typeface="돋움체"/>
              </a:rPr>
              <a:t>float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)width / (</a:t>
            </a:r>
            <a:r>
              <a:rPr lang="en-US" altLang="ko-KR" sz="1600" dirty="0">
                <a:solidFill>
                  <a:srgbClr val="7F0055"/>
                </a:solidFill>
                <a:latin typeface="돋움체"/>
                <a:ea typeface="돋움체"/>
              </a:rPr>
              <a:t>float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)height, 0.1f, 100.0f);</a:t>
            </a:r>
          </a:p>
          <a:p>
            <a:endParaRPr lang="ko-KR" altLang="en-US" sz="1600" dirty="0">
              <a:latin typeface="돋움체"/>
              <a:ea typeface="돋움체"/>
            </a:endParaRPr>
          </a:p>
          <a:p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600" dirty="0" err="1" smtClean="0">
                <a:solidFill>
                  <a:srgbClr val="000000"/>
                </a:solidFill>
                <a:latin typeface="돋움체"/>
                <a:ea typeface="돋움체"/>
              </a:rPr>
              <a:t>gl.glMatrixMode</a:t>
            </a:r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(GL10.</a:t>
            </a:r>
            <a:r>
              <a:rPr lang="en-US" altLang="ko-KR" sz="1600" dirty="0" smtClean="0">
                <a:solidFill>
                  <a:srgbClr val="0000C0"/>
                </a:solidFill>
                <a:latin typeface="돋움체"/>
                <a:ea typeface="돋움체"/>
              </a:rPr>
              <a:t>GL_MODELVIEW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); </a:t>
            </a:r>
            <a:r>
              <a:rPr lang="en-US" altLang="ko-KR" sz="1600" dirty="0">
                <a:solidFill>
                  <a:srgbClr val="3F7F5F"/>
                </a:solidFill>
                <a:latin typeface="돋움체"/>
                <a:ea typeface="돋움체"/>
              </a:rPr>
              <a:t>//Select The </a:t>
            </a:r>
            <a:r>
              <a:rPr lang="en-US" altLang="ko-KR" sz="1600" dirty="0" err="1">
                <a:solidFill>
                  <a:srgbClr val="3F7F5F"/>
                </a:solidFill>
                <a:latin typeface="돋움체"/>
                <a:ea typeface="돋움체"/>
              </a:rPr>
              <a:t>Modelview</a:t>
            </a:r>
            <a:r>
              <a:rPr lang="en-US" altLang="ko-KR" sz="1600" dirty="0">
                <a:solidFill>
                  <a:srgbClr val="3F7F5F"/>
                </a:solidFill>
                <a:latin typeface="돋움체"/>
                <a:ea typeface="돋움체"/>
              </a:rPr>
              <a:t> Matrix</a:t>
            </a:r>
          </a:p>
          <a:p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600" dirty="0" err="1" smtClean="0">
                <a:solidFill>
                  <a:srgbClr val="000000"/>
                </a:solidFill>
                <a:latin typeface="돋움체"/>
                <a:ea typeface="돋움체"/>
              </a:rPr>
              <a:t>gl.glLoadIdentity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(); </a:t>
            </a:r>
            <a:r>
              <a:rPr lang="en-US" altLang="ko-KR" sz="1600" dirty="0">
                <a:solidFill>
                  <a:srgbClr val="3F7F5F"/>
                </a:solidFill>
                <a:latin typeface="돋움체"/>
                <a:ea typeface="돋움체"/>
              </a:rPr>
              <a:t>//Reset The </a:t>
            </a:r>
            <a:r>
              <a:rPr lang="en-US" altLang="ko-KR" sz="1600" dirty="0" err="1">
                <a:solidFill>
                  <a:srgbClr val="3F7F5F"/>
                </a:solidFill>
                <a:latin typeface="돋움체"/>
                <a:ea typeface="돋움체"/>
              </a:rPr>
              <a:t>Modelview</a:t>
            </a:r>
            <a:r>
              <a:rPr lang="en-US" altLang="ko-KR" sz="1600" dirty="0">
                <a:solidFill>
                  <a:srgbClr val="3F7F5F"/>
                </a:solidFill>
                <a:latin typeface="돋움체"/>
                <a:ea typeface="돋움체"/>
              </a:rPr>
              <a:t> Matrix</a:t>
            </a:r>
          </a:p>
          <a:p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        }</a:t>
            </a:r>
            <a:endParaRPr lang="en-US" altLang="ko-KR" sz="1600" dirty="0">
              <a:solidFill>
                <a:srgbClr val="000000"/>
              </a:solidFill>
              <a:latin typeface="돋움체"/>
              <a:ea typeface="돋움체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97230" y="1280160"/>
            <a:ext cx="15634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 smtClean="0">
                <a:solidFill>
                  <a:prstClr val="black"/>
                </a:solidFill>
              </a:rPr>
              <a:t>Ex_GLES</a:t>
            </a:r>
            <a:endParaRPr lang="en-US" altLang="ko-KR" b="1" dirty="0" smtClean="0">
              <a:solidFill>
                <a:prstClr val="black"/>
              </a:solidFill>
            </a:endParaRPr>
          </a:p>
          <a:p>
            <a:r>
              <a:rPr lang="en-US" altLang="ko-KR" dirty="0" smtClean="0">
                <a:solidFill>
                  <a:prstClr val="black"/>
                </a:solidFill>
              </a:rPr>
              <a:t>/</a:t>
            </a:r>
            <a:r>
              <a:rPr lang="en-US" altLang="ko-KR" dirty="0" err="1" smtClean="0">
                <a:solidFill>
                  <a:prstClr val="black"/>
                </a:solidFill>
              </a:rPr>
              <a:t>src</a:t>
            </a:r>
            <a:r>
              <a:rPr lang="en-US" altLang="ko-KR" dirty="0" smtClean="0">
                <a:solidFill>
                  <a:prstClr val="black"/>
                </a:solidFill>
              </a:rPr>
              <a:t>/Act1.java</a:t>
            </a:r>
            <a:endParaRPr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25864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32</a:t>
            </a:fld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Renderer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97230" y="1926491"/>
            <a:ext cx="7462032" cy="461664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sz="1400" dirty="0" smtClean="0">
                <a:solidFill>
                  <a:srgbClr val="646464"/>
                </a:solidFill>
                <a:latin typeface="돋움체"/>
                <a:ea typeface="돋움체"/>
              </a:rPr>
              <a:t>        @Override</a:t>
            </a:r>
          </a:p>
          <a:p>
            <a:r>
              <a:rPr lang="en-US" altLang="ko-KR" sz="1400" dirty="0" smtClean="0">
                <a:solidFill>
                  <a:srgbClr val="7F0055"/>
                </a:solidFill>
                <a:latin typeface="돋움체"/>
                <a:ea typeface="돋움체"/>
              </a:rPr>
              <a:t>        public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>
                <a:solidFill>
                  <a:srgbClr val="7F0055"/>
                </a:solidFill>
                <a:latin typeface="돋움체"/>
                <a:ea typeface="돋움체"/>
              </a:rPr>
              <a:t>void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b="1" dirty="0" err="1">
                <a:solidFill>
                  <a:srgbClr val="000000"/>
                </a:solidFill>
                <a:latin typeface="돋움체"/>
                <a:ea typeface="돋움체"/>
              </a:rPr>
              <a:t>onDrawFrame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(GL10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gl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) {</a:t>
            </a:r>
          </a:p>
          <a:p>
            <a:r>
              <a:rPr lang="en-US" altLang="ko-KR" sz="1400" dirty="0" smtClean="0">
                <a:solidFill>
                  <a:srgbClr val="3F7F5F"/>
                </a:solidFill>
                <a:latin typeface="돋움체"/>
                <a:ea typeface="돋움체"/>
              </a:rPr>
              <a:t>            //</a:t>
            </a:r>
            <a:r>
              <a:rPr lang="en-US" altLang="ko-KR" sz="1400" dirty="0">
                <a:solidFill>
                  <a:srgbClr val="3F7F5F"/>
                </a:solidFill>
                <a:latin typeface="돋움체"/>
                <a:ea typeface="돋움체"/>
              </a:rPr>
              <a:t>Clear Screen And Depth Buffer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dirty="0" err="1" smtClean="0">
                <a:solidFill>
                  <a:srgbClr val="000000"/>
                </a:solidFill>
                <a:latin typeface="돋움체"/>
                <a:ea typeface="돋움체"/>
              </a:rPr>
              <a:t>gl.glClear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(GL10.</a:t>
            </a:r>
            <a:r>
              <a:rPr lang="en-US" altLang="ko-KR" sz="1400" dirty="0" smtClean="0">
                <a:solidFill>
                  <a:srgbClr val="0000C0"/>
                </a:solidFill>
                <a:latin typeface="돋움체"/>
                <a:ea typeface="돋움체"/>
              </a:rPr>
              <a:t>GL_COLOR_BUFFER_BIT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| GL10.</a:t>
            </a:r>
            <a:r>
              <a:rPr lang="en-US" altLang="ko-KR" sz="1400" dirty="0">
                <a:solidFill>
                  <a:srgbClr val="0000C0"/>
                </a:solidFill>
                <a:latin typeface="돋움체"/>
                <a:ea typeface="돋움체"/>
              </a:rPr>
              <a:t>GL_DEPTH_BUFFER_BIT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400" dirty="0" smtClean="0">
                <a:solidFill>
                  <a:srgbClr val="3F7F5F"/>
                </a:solidFill>
                <a:latin typeface="돋움체"/>
                <a:ea typeface="돋움체"/>
              </a:rPr>
              <a:t>            //</a:t>
            </a:r>
            <a:r>
              <a:rPr lang="en-US" altLang="ko-KR" sz="1400" dirty="0">
                <a:solidFill>
                  <a:srgbClr val="3F7F5F"/>
                </a:solidFill>
                <a:latin typeface="돋움체"/>
                <a:ea typeface="돋움체"/>
              </a:rPr>
              <a:t>Reset The Current </a:t>
            </a:r>
            <a:r>
              <a:rPr lang="en-US" altLang="ko-KR" sz="1400" dirty="0" err="1">
                <a:solidFill>
                  <a:srgbClr val="3F7F5F"/>
                </a:solidFill>
                <a:latin typeface="돋움체"/>
                <a:ea typeface="돋움체"/>
              </a:rPr>
              <a:t>Modelview</a:t>
            </a:r>
            <a:r>
              <a:rPr lang="en-US" altLang="ko-KR" sz="1400" dirty="0">
                <a:solidFill>
                  <a:srgbClr val="3F7F5F"/>
                </a:solidFill>
                <a:latin typeface="돋움체"/>
                <a:ea typeface="돋움체"/>
              </a:rPr>
              <a:t> Matrix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dirty="0" err="1" smtClean="0">
                <a:solidFill>
                  <a:srgbClr val="000000"/>
                </a:solidFill>
                <a:latin typeface="돋움체"/>
                <a:ea typeface="돋움체"/>
              </a:rPr>
              <a:t>gl.glLoadIdentity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();</a:t>
            </a:r>
          </a:p>
          <a:p>
            <a:endParaRPr lang="ko-KR" altLang="en-US" sz="1400" dirty="0">
              <a:latin typeface="돋움체"/>
              <a:ea typeface="돋움체"/>
            </a:endParaRPr>
          </a:p>
          <a:p>
            <a:r>
              <a:rPr lang="en-US" altLang="ko-KR" sz="1400" dirty="0" smtClean="0">
                <a:solidFill>
                  <a:srgbClr val="3F7F5F"/>
                </a:solidFill>
                <a:latin typeface="돋움체"/>
                <a:ea typeface="돋움체"/>
              </a:rPr>
              <a:t>            //</a:t>
            </a:r>
            <a:r>
              <a:rPr lang="en-US" altLang="ko-KR" sz="1400" dirty="0">
                <a:solidFill>
                  <a:srgbClr val="3F7F5F"/>
                </a:solidFill>
                <a:latin typeface="돋움체"/>
                <a:ea typeface="돋움체"/>
              </a:rPr>
              <a:t>Move into The Screen 6.0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dirty="0" err="1" smtClean="0">
                <a:solidFill>
                  <a:srgbClr val="000000"/>
                </a:solidFill>
                <a:latin typeface="돋움체"/>
                <a:ea typeface="돋움체"/>
              </a:rPr>
              <a:t>gl.glTranslatef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(0.0f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, 0.0f, -6.0f);</a:t>
            </a:r>
          </a:p>
          <a:p>
            <a:r>
              <a:rPr lang="en-US" altLang="ko-KR" sz="1400" dirty="0" smtClean="0">
                <a:solidFill>
                  <a:srgbClr val="3F7F5F"/>
                </a:solidFill>
                <a:latin typeface="돋움체"/>
                <a:ea typeface="돋움체"/>
              </a:rPr>
              <a:t>            //</a:t>
            </a:r>
            <a:r>
              <a:rPr lang="en-US" altLang="ko-KR" sz="1400" dirty="0">
                <a:solidFill>
                  <a:srgbClr val="3F7F5F"/>
                </a:solidFill>
                <a:latin typeface="돋움체"/>
                <a:ea typeface="돋움체"/>
              </a:rPr>
              <a:t>Set the face rotation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dirty="0" err="1" smtClean="0">
                <a:solidFill>
                  <a:srgbClr val="000000"/>
                </a:solidFill>
                <a:latin typeface="돋움체"/>
                <a:ea typeface="돋움체"/>
              </a:rPr>
              <a:t>gl.glFrontFace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(GL10.</a:t>
            </a:r>
            <a:r>
              <a:rPr lang="en-US" altLang="ko-KR" sz="1400" dirty="0" smtClean="0">
                <a:solidFill>
                  <a:srgbClr val="0000C0"/>
                </a:solidFill>
                <a:latin typeface="돋움체"/>
                <a:ea typeface="돋움체"/>
              </a:rPr>
              <a:t>GL_CW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400" dirty="0" smtClean="0">
                <a:solidFill>
                  <a:srgbClr val="3F7F5F"/>
                </a:solidFill>
                <a:latin typeface="돋움체"/>
                <a:ea typeface="돋움체"/>
              </a:rPr>
              <a:t>            //</a:t>
            </a:r>
            <a:r>
              <a:rPr lang="en-US" altLang="ko-KR" sz="1400" dirty="0">
                <a:solidFill>
                  <a:srgbClr val="3F7F5F"/>
                </a:solidFill>
                <a:latin typeface="돋움체"/>
                <a:ea typeface="돋움체"/>
              </a:rPr>
              <a:t>Point to our vertex buffer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dirty="0" err="1" smtClean="0">
                <a:solidFill>
                  <a:srgbClr val="000000"/>
                </a:solidFill>
                <a:latin typeface="돋움체"/>
                <a:ea typeface="돋움체"/>
              </a:rPr>
              <a:t>gl.glVertexPointer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(3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, GL10.</a:t>
            </a:r>
            <a:r>
              <a:rPr lang="en-US" altLang="ko-KR" sz="1400" dirty="0">
                <a:solidFill>
                  <a:srgbClr val="0000C0"/>
                </a:solidFill>
                <a:latin typeface="돋움체"/>
                <a:ea typeface="돋움체"/>
              </a:rPr>
              <a:t>GL_FLOAT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, 0, </a:t>
            </a:r>
            <a:r>
              <a:rPr lang="en-US" altLang="ko-KR" sz="1400" dirty="0" err="1">
                <a:solidFill>
                  <a:srgbClr val="0000C0"/>
                </a:solidFill>
                <a:latin typeface="돋움체"/>
                <a:ea typeface="돋움체"/>
              </a:rPr>
              <a:t>vertexBuffer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400" dirty="0" smtClean="0">
                <a:solidFill>
                  <a:srgbClr val="3F7F5F"/>
                </a:solidFill>
                <a:latin typeface="돋움체"/>
                <a:ea typeface="돋움체"/>
              </a:rPr>
              <a:t>            //</a:t>
            </a:r>
            <a:r>
              <a:rPr lang="en-US" altLang="ko-KR" sz="1400" dirty="0">
                <a:solidFill>
                  <a:srgbClr val="3F7F5F"/>
                </a:solidFill>
                <a:latin typeface="돋움체"/>
                <a:ea typeface="돋움체"/>
              </a:rPr>
              <a:t>Enable vertex buffer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dirty="0" err="1" smtClean="0">
                <a:solidFill>
                  <a:srgbClr val="000000"/>
                </a:solidFill>
                <a:latin typeface="돋움체"/>
                <a:ea typeface="돋움체"/>
              </a:rPr>
              <a:t>gl.glEnableClientState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(GL10.</a:t>
            </a:r>
            <a:r>
              <a:rPr lang="en-US" altLang="ko-KR" sz="1400" dirty="0" smtClean="0">
                <a:solidFill>
                  <a:srgbClr val="0000C0"/>
                </a:solidFill>
                <a:latin typeface="돋움체"/>
                <a:ea typeface="돋움체"/>
              </a:rPr>
              <a:t>GL_VERTEX_ARRAY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400" dirty="0" smtClean="0">
                <a:solidFill>
                  <a:srgbClr val="3F7F5F"/>
                </a:solidFill>
                <a:latin typeface="돋움체"/>
                <a:ea typeface="돋움체"/>
              </a:rPr>
              <a:t>            //</a:t>
            </a:r>
            <a:r>
              <a:rPr lang="en-US" altLang="ko-KR" sz="1400" dirty="0">
                <a:solidFill>
                  <a:srgbClr val="3F7F5F"/>
                </a:solidFill>
                <a:latin typeface="돋움체"/>
                <a:ea typeface="돋움체"/>
              </a:rPr>
              <a:t>Draw the vertices as triangle strip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dirty="0" err="1" smtClean="0">
                <a:solidFill>
                  <a:srgbClr val="000000"/>
                </a:solidFill>
                <a:latin typeface="돋움체"/>
                <a:ea typeface="돋움체"/>
              </a:rPr>
              <a:t>gl.glDrawArrays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(GL10.</a:t>
            </a:r>
            <a:r>
              <a:rPr lang="en-US" altLang="ko-KR" sz="1400" dirty="0" smtClean="0">
                <a:solidFill>
                  <a:srgbClr val="0000C0"/>
                </a:solidFill>
                <a:latin typeface="돋움체"/>
                <a:ea typeface="돋움체"/>
              </a:rPr>
              <a:t>GL_TRIANGLE_STRIP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, 0, </a:t>
            </a:r>
            <a:r>
              <a:rPr lang="en-US" altLang="ko-KR" sz="1400" dirty="0" err="1">
                <a:solidFill>
                  <a:srgbClr val="0000C0"/>
                </a:solidFill>
                <a:latin typeface="돋움체"/>
                <a:ea typeface="돋움체"/>
              </a:rPr>
              <a:t>vertices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.</a:t>
            </a:r>
            <a:r>
              <a:rPr lang="en-US" altLang="ko-KR" sz="1400" dirty="0" err="1">
                <a:solidFill>
                  <a:srgbClr val="0000C0"/>
                </a:solidFill>
                <a:latin typeface="돋움체"/>
                <a:ea typeface="돋움체"/>
              </a:rPr>
              <a:t>length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/ 3);</a:t>
            </a:r>
          </a:p>
          <a:p>
            <a:r>
              <a:rPr lang="en-US" altLang="ko-KR" sz="1400" dirty="0" smtClean="0">
                <a:solidFill>
                  <a:srgbClr val="3F7F5F"/>
                </a:solidFill>
                <a:latin typeface="돋움체"/>
                <a:ea typeface="돋움체"/>
              </a:rPr>
              <a:t>            //</a:t>
            </a:r>
            <a:r>
              <a:rPr lang="en-US" altLang="ko-KR" sz="1400" dirty="0">
                <a:solidFill>
                  <a:srgbClr val="3F7F5F"/>
                </a:solidFill>
                <a:latin typeface="돋움체"/>
                <a:ea typeface="돋움체"/>
              </a:rPr>
              <a:t>Disable the client state before leaving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dirty="0" err="1" smtClean="0">
                <a:solidFill>
                  <a:srgbClr val="000000"/>
                </a:solidFill>
                <a:latin typeface="돋움체"/>
                <a:ea typeface="돋움체"/>
              </a:rPr>
              <a:t>gl.glDisableClientState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(GL10.</a:t>
            </a:r>
            <a:r>
              <a:rPr lang="en-US" altLang="ko-KR" sz="1400" dirty="0" smtClean="0">
                <a:solidFill>
                  <a:srgbClr val="0000C0"/>
                </a:solidFill>
                <a:latin typeface="돋움체"/>
                <a:ea typeface="돋움체"/>
              </a:rPr>
              <a:t>GL_VERTEX_ARRAY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}</a:t>
            </a:r>
            <a:endParaRPr lang="en-US" altLang="ko-KR" sz="1400" dirty="0">
              <a:solidFill>
                <a:srgbClr val="000000"/>
              </a:solidFill>
              <a:latin typeface="돋움체"/>
              <a:ea typeface="돋움체"/>
            </a:endParaRPr>
          </a:p>
          <a:p>
            <a:r>
              <a:rPr lang="ko-KR" altLang="en-US" sz="1400" dirty="0">
                <a:solidFill>
                  <a:srgbClr val="000000"/>
                </a:solidFill>
                <a:latin typeface="돋움체"/>
                <a:ea typeface="돋움체"/>
              </a:rPr>
              <a:t>    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7230" y="1280160"/>
            <a:ext cx="15634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 smtClean="0">
                <a:solidFill>
                  <a:prstClr val="black"/>
                </a:solidFill>
              </a:rPr>
              <a:t>Ex_GLES</a:t>
            </a:r>
            <a:endParaRPr lang="en-US" altLang="ko-KR" b="1" dirty="0" smtClean="0">
              <a:solidFill>
                <a:prstClr val="black"/>
              </a:solidFill>
            </a:endParaRPr>
          </a:p>
          <a:p>
            <a:r>
              <a:rPr lang="en-US" altLang="ko-KR" dirty="0" smtClean="0">
                <a:solidFill>
                  <a:prstClr val="black"/>
                </a:solidFill>
              </a:rPr>
              <a:t>/</a:t>
            </a:r>
            <a:r>
              <a:rPr lang="en-US" altLang="ko-KR" dirty="0" err="1" smtClean="0">
                <a:solidFill>
                  <a:prstClr val="black"/>
                </a:solidFill>
              </a:rPr>
              <a:t>src</a:t>
            </a:r>
            <a:r>
              <a:rPr lang="en-US" altLang="ko-KR" dirty="0" smtClean="0">
                <a:solidFill>
                  <a:prstClr val="black"/>
                </a:solidFill>
              </a:rPr>
              <a:t>/Act1.java</a:t>
            </a:r>
            <a:endParaRPr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62406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33</a:t>
            </a:fld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OpenGL ES: Triangle</a:t>
            </a:r>
            <a:endParaRPr lang="ko-KR" altLang="en-US" dirty="0"/>
          </a:p>
        </p:txBody>
      </p:sp>
      <p:pic>
        <p:nvPicPr>
          <p:cNvPr id="3074" name="Picture 2" descr="C:\Users\msKim\Desktop\2016-2 모바일앱프로그래밍 (교재)\drive-download-20161109T111332Z\dddfcv\Screenshot_1478760673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5300" y="1369599"/>
            <a:ext cx="2909925" cy="517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158117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34</a:t>
            </a:fld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Renderer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97230" y="1926491"/>
            <a:ext cx="7366119" cy="375487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class </a:t>
            </a:r>
            <a:r>
              <a:rPr lang="en-US" altLang="ko-KR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MyRenderer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implements Renderer {</a:t>
            </a:r>
          </a:p>
          <a:p>
            <a:endParaRPr lang="ko-KR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돋움체"/>
              <a:ea typeface="돋움체"/>
            </a:endParaRPr>
          </a:p>
          <a:p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private </a:t>
            </a:r>
            <a:r>
              <a:rPr lang="en-US" altLang="ko-KR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FloatBuffer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vertexBuffer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;</a:t>
            </a:r>
          </a:p>
          <a:p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private float vertices[] = { 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    -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1.0f, -1.0f, 0.0f, </a:t>
            </a:r>
            <a:r>
              <a:rPr lang="en-US" altLang="ko-KR" sz="1400" dirty="0">
                <a:solidFill>
                  <a:srgbClr val="3F7F5F"/>
                </a:solidFill>
                <a:latin typeface="돋움체"/>
                <a:ea typeface="돋움체"/>
              </a:rPr>
              <a:t>//Bottom Left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     1.0f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, -1.0f, 0.0f, </a:t>
            </a:r>
            <a:r>
              <a:rPr lang="en-US" altLang="ko-KR" sz="1400" dirty="0">
                <a:solidFill>
                  <a:srgbClr val="3F7F5F"/>
                </a:solidFill>
                <a:latin typeface="돋움체"/>
                <a:ea typeface="돋움체"/>
              </a:rPr>
              <a:t>//Bottom Right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    -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1.0f, 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1.0f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, 0.0f, </a:t>
            </a:r>
            <a:r>
              <a:rPr lang="en-US" altLang="ko-KR" sz="1400" dirty="0">
                <a:solidFill>
                  <a:srgbClr val="3F7F5F"/>
                </a:solidFill>
                <a:latin typeface="돋움체"/>
                <a:ea typeface="돋움체"/>
              </a:rPr>
              <a:t>//Top Left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     1.0f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, 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1.0f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, 0.0f 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 smtClean="0">
                <a:solidFill>
                  <a:srgbClr val="3F7F5F"/>
                </a:solidFill>
                <a:latin typeface="돋움체"/>
                <a:ea typeface="돋움체"/>
              </a:rPr>
              <a:t>//</a:t>
            </a:r>
            <a:r>
              <a:rPr lang="en-US" altLang="ko-KR" sz="1400" dirty="0">
                <a:solidFill>
                  <a:srgbClr val="3F7F5F"/>
                </a:solidFill>
                <a:latin typeface="돋움체"/>
                <a:ea typeface="돋움체"/>
              </a:rPr>
              <a:t>Top Right</a:t>
            </a:r>
          </a:p>
          <a:p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    };</a:t>
            </a:r>
            <a:endParaRPr lang="en-US" altLang="ko-KR" sz="1400" dirty="0">
              <a:solidFill>
                <a:schemeClr val="tx1">
                  <a:lumMod val="50000"/>
                  <a:lumOff val="50000"/>
                </a:schemeClr>
              </a:solidFill>
              <a:latin typeface="돋움체"/>
              <a:ea typeface="돋움체"/>
            </a:endParaRPr>
          </a:p>
          <a:p>
            <a:endParaRPr lang="ko-KR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돋움체"/>
              <a:ea typeface="돋움체"/>
            </a:endParaRPr>
          </a:p>
          <a:p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public </a:t>
            </a:r>
            <a:r>
              <a:rPr lang="en-US" altLang="ko-KR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MyRenderer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() {</a:t>
            </a:r>
          </a:p>
          <a:p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ByteBuffer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byteBuf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= </a:t>
            </a:r>
            <a:r>
              <a:rPr lang="en-US" altLang="ko-KR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ByteBuffer.allocateDirect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(</a:t>
            </a:r>
            <a:r>
              <a:rPr lang="en-US" altLang="ko-KR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vertices.length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* 4);</a:t>
            </a:r>
          </a:p>
          <a:p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byteBuf.order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(</a:t>
            </a:r>
            <a:r>
              <a:rPr lang="en-US" altLang="ko-KR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ByteOrder.nativeOrder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());</a:t>
            </a:r>
          </a:p>
          <a:p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vertexBuffer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= </a:t>
            </a:r>
            <a:r>
              <a:rPr lang="en-US" altLang="ko-KR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byteBuf.asFloatBuffer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();</a:t>
            </a:r>
          </a:p>
          <a:p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vertexBuffer.put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(vertices);</a:t>
            </a:r>
          </a:p>
          <a:p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vertexBuffer.position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(0);</a:t>
            </a:r>
          </a:p>
          <a:p>
            <a:r>
              <a:rPr lang="ko-KR" altLang="en-US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}</a:t>
            </a:r>
            <a:endParaRPr lang="en-US" altLang="ko-KR" sz="1400" dirty="0">
              <a:solidFill>
                <a:schemeClr val="tx1">
                  <a:lumMod val="50000"/>
                  <a:lumOff val="50000"/>
                </a:schemeClr>
              </a:solidFill>
              <a:latin typeface="돋움체"/>
              <a:ea typeface="돋움체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97230" y="1280160"/>
            <a:ext cx="15634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 smtClean="0">
                <a:solidFill>
                  <a:prstClr val="black"/>
                </a:solidFill>
              </a:rPr>
              <a:t>Ex_GLES</a:t>
            </a:r>
            <a:endParaRPr lang="en-US" altLang="ko-KR" b="1" dirty="0" smtClean="0">
              <a:solidFill>
                <a:prstClr val="black"/>
              </a:solidFill>
            </a:endParaRPr>
          </a:p>
          <a:p>
            <a:r>
              <a:rPr lang="en-US" altLang="ko-KR" dirty="0" smtClean="0">
                <a:solidFill>
                  <a:prstClr val="black"/>
                </a:solidFill>
              </a:rPr>
              <a:t>/</a:t>
            </a:r>
            <a:r>
              <a:rPr lang="en-US" altLang="ko-KR" dirty="0" err="1" smtClean="0">
                <a:solidFill>
                  <a:prstClr val="black"/>
                </a:solidFill>
              </a:rPr>
              <a:t>src</a:t>
            </a:r>
            <a:r>
              <a:rPr lang="en-US" altLang="ko-KR" dirty="0" smtClean="0">
                <a:solidFill>
                  <a:prstClr val="black"/>
                </a:solidFill>
              </a:rPr>
              <a:t>/Act1.java</a:t>
            </a:r>
            <a:endParaRPr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12597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35</a:t>
            </a:fld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OpenGL ES: Rectangle</a:t>
            </a:r>
            <a:endParaRPr lang="ko-KR" altLang="en-US" dirty="0"/>
          </a:p>
        </p:txBody>
      </p:sp>
      <p:pic>
        <p:nvPicPr>
          <p:cNvPr id="4098" name="Picture 2" descr="C:\Users\msKim\Desktop\2016-2 모바일앱프로그래밍 (교재)\drive-download-20161109T111332Z\dddfcv\Screenshot_1478761521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4944" y="1323752"/>
            <a:ext cx="2944350" cy="523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56178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36</a:t>
            </a:fld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Renderer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97230" y="1926491"/>
            <a:ext cx="7007046" cy="461664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public void </a:t>
            </a:r>
            <a:r>
              <a:rPr lang="en-US" altLang="ko-KR" sz="1400" b="1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onDrawFrame</a:t>
            </a:r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(GL10 </a:t>
            </a:r>
            <a:r>
              <a:rPr lang="en-US" altLang="ko-KR" sz="14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gl</a:t>
            </a:r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) {</a:t>
            </a:r>
          </a:p>
          <a:p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    //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Clear Screen And Depth Buffer</a:t>
            </a:r>
          </a:p>
          <a:p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gl.glClear</a:t>
            </a:r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(GL10.GL_COLOR_BUFFER_BIT 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| GL10.GL_DEPTH_BUFFER_BIT);</a:t>
            </a:r>
          </a:p>
          <a:p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    //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Reset The Current </a:t>
            </a:r>
            <a:r>
              <a:rPr lang="en-US" altLang="ko-KR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Modelview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Matrix</a:t>
            </a:r>
          </a:p>
          <a:p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gl.glLoadIdentity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();</a:t>
            </a:r>
          </a:p>
          <a:p>
            <a:endParaRPr lang="ko-KR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돋움체"/>
              <a:ea typeface="돋움체"/>
            </a:endParaRPr>
          </a:p>
          <a:p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    //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Move into The Screen 6.0</a:t>
            </a:r>
          </a:p>
          <a:p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gl.glTranslatef</a:t>
            </a:r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(0.0f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, 0.0f, -6.0f);</a:t>
            </a:r>
          </a:p>
          <a:p>
            <a:r>
              <a:rPr lang="en-US" altLang="ko-KR" sz="1400" dirty="0" smtClean="0">
                <a:solidFill>
                  <a:srgbClr val="3F7F5F"/>
                </a:solidFill>
                <a:latin typeface="돋움체"/>
                <a:ea typeface="돋움체"/>
              </a:rPr>
              <a:t>            //</a:t>
            </a:r>
            <a:r>
              <a:rPr lang="en-US" altLang="ko-KR" sz="1400" dirty="0">
                <a:solidFill>
                  <a:srgbClr val="3F7F5F"/>
                </a:solidFill>
                <a:latin typeface="돋움체"/>
                <a:ea typeface="돋움체"/>
              </a:rPr>
              <a:t>Red color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b="1" dirty="0" smtClean="0">
                <a:solidFill>
                  <a:srgbClr val="000000"/>
                </a:solidFill>
                <a:latin typeface="돋움체"/>
                <a:ea typeface="돋움체"/>
              </a:rPr>
              <a:t>gl.glColor4f(1.0f</a:t>
            </a:r>
            <a:r>
              <a:rPr lang="en-US" altLang="ko-KR" sz="1400" b="1" dirty="0">
                <a:solidFill>
                  <a:srgbClr val="000000"/>
                </a:solidFill>
                <a:latin typeface="돋움체"/>
                <a:ea typeface="돋움체"/>
              </a:rPr>
              <a:t>, 0.0f, 0.0f, 1.0f);</a:t>
            </a:r>
          </a:p>
          <a:p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    //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Set the face rotation</a:t>
            </a:r>
          </a:p>
          <a:p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gl.glFrontFace</a:t>
            </a:r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(GL10.GL_CW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    //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Point to our vertex buffer</a:t>
            </a:r>
          </a:p>
          <a:p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gl.glVertexPointer</a:t>
            </a:r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(3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, GL10.GL_FLOAT, 0, </a:t>
            </a:r>
            <a:r>
              <a:rPr lang="en-US" altLang="ko-KR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vertexBuffer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    //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Enable vertex buffer</a:t>
            </a:r>
          </a:p>
          <a:p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gl.glEnableClientState</a:t>
            </a:r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(GL10.GL_VERTEX_ARRAY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    //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Draw the vertices as triangle strip</a:t>
            </a:r>
          </a:p>
          <a:p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gl.glDrawArrays</a:t>
            </a:r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(GL10.GL_TRIANGLE_STRIP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, 0, </a:t>
            </a:r>
            <a:r>
              <a:rPr lang="en-US" altLang="ko-KR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vertices.length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/ 3);</a:t>
            </a:r>
          </a:p>
          <a:p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    //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Disable the client state before leaving</a:t>
            </a:r>
          </a:p>
          <a:p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gl.glDisableClientState</a:t>
            </a:r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(GL10.GL_VERTEX_ARRAY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}</a:t>
            </a:r>
            <a:endParaRPr lang="en-US" altLang="ko-KR" sz="1400" dirty="0">
              <a:solidFill>
                <a:schemeClr val="tx1">
                  <a:lumMod val="50000"/>
                  <a:lumOff val="50000"/>
                </a:schemeClr>
              </a:solidFill>
              <a:latin typeface="돋움체"/>
              <a:ea typeface="돋움체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97230" y="1280160"/>
            <a:ext cx="15634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 smtClean="0">
                <a:solidFill>
                  <a:prstClr val="black"/>
                </a:solidFill>
              </a:rPr>
              <a:t>Ex_GLES</a:t>
            </a:r>
            <a:endParaRPr lang="en-US" altLang="ko-KR" b="1" dirty="0" smtClean="0">
              <a:solidFill>
                <a:prstClr val="black"/>
              </a:solidFill>
            </a:endParaRPr>
          </a:p>
          <a:p>
            <a:r>
              <a:rPr lang="en-US" altLang="ko-KR" dirty="0" smtClean="0">
                <a:solidFill>
                  <a:prstClr val="black"/>
                </a:solidFill>
              </a:rPr>
              <a:t>/</a:t>
            </a:r>
            <a:r>
              <a:rPr lang="en-US" altLang="ko-KR" dirty="0" err="1" smtClean="0">
                <a:solidFill>
                  <a:prstClr val="black"/>
                </a:solidFill>
              </a:rPr>
              <a:t>src</a:t>
            </a:r>
            <a:r>
              <a:rPr lang="en-US" altLang="ko-KR" dirty="0" smtClean="0">
                <a:solidFill>
                  <a:prstClr val="black"/>
                </a:solidFill>
              </a:rPr>
              <a:t>/Act1.java</a:t>
            </a:r>
            <a:endParaRPr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37510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37</a:t>
            </a:fld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OpenGL ES: Rectangle</a:t>
            </a:r>
            <a:endParaRPr lang="ko-KR" altLang="en-US" dirty="0"/>
          </a:p>
        </p:txBody>
      </p:sp>
      <p:pic>
        <p:nvPicPr>
          <p:cNvPr id="5122" name="Picture 2" descr="C:\Users\msKim\Desktop\2016-2 모바일앱프로그래밍 (교재)\drive-download-20161109T111332Z\dddfcv\Screenshot_1478761704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0679" y="1284485"/>
            <a:ext cx="2944350" cy="523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985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38</a:t>
            </a:fld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Renderer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97230" y="1926491"/>
            <a:ext cx="8353569" cy="353943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class </a:t>
            </a:r>
            <a:r>
              <a:rPr lang="en-US" altLang="ko-KR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MyRenderer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implements Renderer {</a:t>
            </a:r>
          </a:p>
          <a:p>
            <a:endParaRPr lang="ko-KR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돋움체"/>
              <a:ea typeface="돋움체"/>
            </a:endParaRPr>
          </a:p>
          <a:p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private </a:t>
            </a:r>
            <a:r>
              <a:rPr lang="en-US" altLang="ko-KR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FloatBuffer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vertexBuffer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;</a:t>
            </a:r>
          </a:p>
          <a:p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private float vertices[] = { </a:t>
            </a:r>
          </a:p>
          <a:p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        -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1.0f, -1.0f, 0.0f, //Bottom Left</a:t>
            </a:r>
          </a:p>
          <a:p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         1.0f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, -1.0f, 0.0f, //Bottom Right</a:t>
            </a:r>
          </a:p>
          <a:p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        -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1.0f, </a:t>
            </a:r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1.0f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, 0.0f, //Top Left</a:t>
            </a:r>
          </a:p>
          <a:p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         1.0f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, </a:t>
            </a:r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1.0f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, 0.0f </a:t>
            </a:r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//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Top Right</a:t>
            </a:r>
          </a:p>
          <a:p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    };</a:t>
            </a:r>
            <a:endParaRPr lang="en-US" altLang="ko-KR" sz="1400" dirty="0">
              <a:solidFill>
                <a:schemeClr val="tx1">
                  <a:lumMod val="50000"/>
                  <a:lumOff val="50000"/>
                </a:schemeClr>
              </a:solidFill>
              <a:latin typeface="돋움체"/>
              <a:ea typeface="돋움체"/>
            </a:endParaRPr>
          </a:p>
          <a:p>
            <a:r>
              <a:rPr lang="en-US" altLang="ko-KR" sz="1400" dirty="0" smtClean="0">
                <a:solidFill>
                  <a:srgbClr val="7F0055"/>
                </a:solidFill>
                <a:latin typeface="돋움체"/>
                <a:ea typeface="돋움체"/>
              </a:rPr>
              <a:t>        private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FloatBuffer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 err="1">
                <a:solidFill>
                  <a:srgbClr val="0000C0"/>
                </a:solidFill>
                <a:latin typeface="돋움체"/>
                <a:ea typeface="돋움체"/>
              </a:rPr>
              <a:t>colorBuffer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;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>
                <a:solidFill>
                  <a:srgbClr val="7F0055"/>
                </a:solidFill>
                <a:latin typeface="돋움체"/>
                <a:ea typeface="돋움체"/>
              </a:rPr>
              <a:t>private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>
                <a:solidFill>
                  <a:srgbClr val="7F0055"/>
                </a:solidFill>
                <a:latin typeface="돋움체"/>
                <a:ea typeface="돋움체"/>
              </a:rPr>
              <a:t>float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>
                <a:solidFill>
                  <a:srgbClr val="0000C0"/>
                </a:solidFill>
                <a:latin typeface="돋움체"/>
                <a:ea typeface="돋움체"/>
              </a:rPr>
              <a:t>colors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[] = {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   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1.0f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, 0.0f, 0.0f, 1.0f, </a:t>
            </a:r>
            <a:r>
              <a:rPr lang="en-US" altLang="ko-KR" sz="1400" dirty="0">
                <a:solidFill>
                  <a:srgbClr val="3F7F5F"/>
                </a:solidFill>
                <a:latin typeface="돋움체"/>
                <a:ea typeface="돋움체"/>
              </a:rPr>
              <a:t>//Set The Color To Red, last value 100% luminance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    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0.0f, 1.0f, 0.0f, 1.0f, </a:t>
            </a:r>
            <a:r>
              <a:rPr lang="en-US" altLang="ko-KR" sz="1400" dirty="0">
                <a:solidFill>
                  <a:srgbClr val="3F7F5F"/>
                </a:solidFill>
                <a:latin typeface="돋움체"/>
                <a:ea typeface="돋움체"/>
              </a:rPr>
              <a:t>//Set The Color To Green, last value 100% luminance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    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0.0f, 0.0f, 1.0f, 1.0f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, </a:t>
            </a:r>
            <a:r>
              <a:rPr lang="en-US" altLang="ko-KR" sz="1400" dirty="0" smtClean="0">
                <a:solidFill>
                  <a:srgbClr val="3F7F5F"/>
                </a:solidFill>
                <a:latin typeface="돋움체"/>
                <a:ea typeface="돋움체"/>
              </a:rPr>
              <a:t>//</a:t>
            </a:r>
            <a:r>
              <a:rPr lang="en-US" altLang="ko-KR" sz="1400" dirty="0">
                <a:solidFill>
                  <a:srgbClr val="3F7F5F"/>
                </a:solidFill>
                <a:latin typeface="돋움체"/>
                <a:ea typeface="돋움체"/>
              </a:rPr>
              <a:t>Set The Color To Blue, last value 100% luminance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    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1.0f, 1.0f, 1.0f, 1.0f 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 smtClean="0">
                <a:solidFill>
                  <a:srgbClr val="3F7F5F"/>
                </a:solidFill>
                <a:latin typeface="돋움체"/>
                <a:ea typeface="돋움체"/>
              </a:rPr>
              <a:t>//</a:t>
            </a:r>
            <a:r>
              <a:rPr lang="en-US" altLang="ko-KR" sz="1400" dirty="0">
                <a:solidFill>
                  <a:srgbClr val="3F7F5F"/>
                </a:solidFill>
                <a:latin typeface="돋움체"/>
                <a:ea typeface="돋움체"/>
              </a:rPr>
              <a:t>Set The Color To White, last value 100% luminance</a:t>
            </a:r>
          </a:p>
          <a:p>
            <a:r>
              <a:rPr lang="ko-KR" altLang="en-US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};</a:t>
            </a:r>
            <a:endParaRPr lang="ko-KR" altLang="en-US" sz="1400" dirty="0" smtClean="0">
              <a:solidFill>
                <a:schemeClr val="tx1">
                  <a:lumMod val="50000"/>
                  <a:lumOff val="50000"/>
                </a:schemeClr>
              </a:solidFill>
              <a:latin typeface="돋움체"/>
              <a:ea typeface="돋움체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97230" y="1280160"/>
            <a:ext cx="15634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 smtClean="0">
                <a:solidFill>
                  <a:prstClr val="black"/>
                </a:solidFill>
              </a:rPr>
              <a:t>Ex_GLES</a:t>
            </a:r>
            <a:endParaRPr lang="en-US" altLang="ko-KR" b="1" dirty="0" smtClean="0">
              <a:solidFill>
                <a:prstClr val="black"/>
              </a:solidFill>
            </a:endParaRPr>
          </a:p>
          <a:p>
            <a:r>
              <a:rPr lang="en-US" altLang="ko-KR" dirty="0" smtClean="0">
                <a:solidFill>
                  <a:prstClr val="black"/>
                </a:solidFill>
              </a:rPr>
              <a:t>/</a:t>
            </a:r>
            <a:r>
              <a:rPr lang="en-US" altLang="ko-KR" dirty="0" err="1" smtClean="0">
                <a:solidFill>
                  <a:prstClr val="black"/>
                </a:solidFill>
              </a:rPr>
              <a:t>src</a:t>
            </a:r>
            <a:r>
              <a:rPr lang="en-US" altLang="ko-KR" dirty="0" smtClean="0">
                <a:solidFill>
                  <a:prstClr val="black"/>
                </a:solidFill>
              </a:rPr>
              <a:t>/Act1.java</a:t>
            </a:r>
            <a:endParaRPr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51113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39</a:t>
            </a:fld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Renderer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97230" y="1926491"/>
            <a:ext cx="7366119" cy="28931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public </a:t>
            </a:r>
            <a:r>
              <a:rPr lang="en-US" altLang="ko-KR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MyRenderer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() {</a:t>
            </a:r>
          </a:p>
          <a:p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ByteBuffer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byteBuf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= </a:t>
            </a:r>
            <a:r>
              <a:rPr lang="en-US" altLang="ko-KR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ByteBuffer.allocateDirect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(</a:t>
            </a:r>
            <a:r>
              <a:rPr lang="en-US" altLang="ko-KR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vertices.length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* 4);</a:t>
            </a:r>
          </a:p>
          <a:p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byteBuf.order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(</a:t>
            </a:r>
            <a:r>
              <a:rPr lang="en-US" altLang="ko-KR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ByteOrder.nativeOrder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());</a:t>
            </a:r>
          </a:p>
          <a:p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vertexBuffer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= </a:t>
            </a:r>
            <a:r>
              <a:rPr lang="en-US" altLang="ko-KR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byteBuf.asFloatBuffer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();</a:t>
            </a:r>
          </a:p>
          <a:p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vertexBuffer.put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(vertices);</a:t>
            </a:r>
          </a:p>
          <a:p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vertexBuffer.position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(0);</a:t>
            </a:r>
          </a:p>
          <a:p>
            <a:endParaRPr lang="ko-KR" altLang="en-US" sz="1400" dirty="0">
              <a:latin typeface="돋움체"/>
              <a:ea typeface="돋움체"/>
            </a:endParaRP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b="1" dirty="0" err="1">
                <a:solidFill>
                  <a:srgbClr val="000000"/>
                </a:solidFill>
                <a:latin typeface="돋움체"/>
                <a:ea typeface="돋움체"/>
              </a:rPr>
              <a:t>byteBuf</a:t>
            </a:r>
            <a:r>
              <a:rPr lang="en-US" altLang="ko-KR" sz="1400" b="1" dirty="0">
                <a:solidFill>
                  <a:srgbClr val="000000"/>
                </a:solidFill>
                <a:latin typeface="돋움체"/>
                <a:ea typeface="돋움체"/>
              </a:rPr>
              <a:t> = </a:t>
            </a:r>
            <a:r>
              <a:rPr lang="en-US" altLang="ko-KR" sz="1400" b="1" dirty="0" err="1">
                <a:solidFill>
                  <a:srgbClr val="000000"/>
                </a:solidFill>
                <a:latin typeface="돋움체"/>
                <a:ea typeface="돋움체"/>
              </a:rPr>
              <a:t>ByteBuffer.allocateDirect</a:t>
            </a:r>
            <a:r>
              <a:rPr lang="en-US" altLang="ko-KR" sz="1400" b="1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400" b="1" dirty="0" err="1">
                <a:solidFill>
                  <a:srgbClr val="0000C0"/>
                </a:solidFill>
                <a:latin typeface="돋움체"/>
                <a:ea typeface="돋움체"/>
              </a:rPr>
              <a:t>colors</a:t>
            </a:r>
            <a:r>
              <a:rPr lang="en-US" altLang="ko-KR" sz="1400" b="1" dirty="0" err="1">
                <a:solidFill>
                  <a:srgbClr val="000000"/>
                </a:solidFill>
                <a:latin typeface="돋움체"/>
                <a:ea typeface="돋움체"/>
              </a:rPr>
              <a:t>.</a:t>
            </a:r>
            <a:r>
              <a:rPr lang="en-US" altLang="ko-KR" sz="1400" b="1" dirty="0" err="1">
                <a:solidFill>
                  <a:srgbClr val="0000C0"/>
                </a:solidFill>
                <a:latin typeface="돋움체"/>
                <a:ea typeface="돋움체"/>
              </a:rPr>
              <a:t>length</a:t>
            </a:r>
            <a:r>
              <a:rPr lang="en-US" altLang="ko-KR" sz="1400" b="1" dirty="0">
                <a:solidFill>
                  <a:srgbClr val="000000"/>
                </a:solidFill>
                <a:latin typeface="돋움체"/>
                <a:ea typeface="돋움체"/>
              </a:rPr>
              <a:t> * 4);</a:t>
            </a:r>
          </a:p>
          <a:p>
            <a:r>
              <a:rPr lang="en-US" altLang="ko-KR" sz="1400" b="1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b="1" dirty="0" err="1">
                <a:solidFill>
                  <a:srgbClr val="000000"/>
                </a:solidFill>
                <a:latin typeface="돋움체"/>
                <a:ea typeface="돋움체"/>
              </a:rPr>
              <a:t>byteBuf.order</a:t>
            </a:r>
            <a:r>
              <a:rPr lang="en-US" altLang="ko-KR" sz="1400" b="1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400" b="1" dirty="0" err="1">
                <a:solidFill>
                  <a:srgbClr val="000000"/>
                </a:solidFill>
                <a:latin typeface="돋움체"/>
                <a:ea typeface="돋움체"/>
              </a:rPr>
              <a:t>ByteOrder.nativeOrder</a:t>
            </a:r>
            <a:r>
              <a:rPr lang="en-US" altLang="ko-KR" sz="1400" b="1" dirty="0">
                <a:solidFill>
                  <a:srgbClr val="000000"/>
                </a:solidFill>
                <a:latin typeface="돋움체"/>
                <a:ea typeface="돋움체"/>
              </a:rPr>
              <a:t>());</a:t>
            </a:r>
          </a:p>
          <a:p>
            <a:r>
              <a:rPr lang="en-US" altLang="ko-KR" sz="1400" b="1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b="1" dirty="0" err="1">
                <a:solidFill>
                  <a:srgbClr val="0000C0"/>
                </a:solidFill>
                <a:latin typeface="돋움체"/>
                <a:ea typeface="돋움체"/>
              </a:rPr>
              <a:t>colorBuffer</a:t>
            </a:r>
            <a:r>
              <a:rPr lang="en-US" altLang="ko-KR" sz="1400" b="1" dirty="0">
                <a:solidFill>
                  <a:srgbClr val="000000"/>
                </a:solidFill>
                <a:latin typeface="돋움체"/>
                <a:ea typeface="돋움체"/>
              </a:rPr>
              <a:t> = </a:t>
            </a:r>
            <a:r>
              <a:rPr lang="en-US" altLang="ko-KR" sz="1400" b="1" dirty="0" err="1">
                <a:solidFill>
                  <a:srgbClr val="000000"/>
                </a:solidFill>
                <a:latin typeface="돋움체"/>
                <a:ea typeface="돋움체"/>
              </a:rPr>
              <a:t>byteBuf.asFloatBuffer</a:t>
            </a:r>
            <a:r>
              <a:rPr lang="en-US" altLang="ko-KR" sz="1400" b="1" dirty="0">
                <a:solidFill>
                  <a:srgbClr val="000000"/>
                </a:solidFill>
                <a:latin typeface="돋움체"/>
                <a:ea typeface="돋움체"/>
              </a:rPr>
              <a:t>();</a:t>
            </a:r>
          </a:p>
          <a:p>
            <a:r>
              <a:rPr lang="en-US" altLang="ko-KR" sz="1400" b="1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b="1" dirty="0" err="1">
                <a:solidFill>
                  <a:srgbClr val="0000C0"/>
                </a:solidFill>
                <a:latin typeface="돋움체"/>
                <a:ea typeface="돋움체"/>
              </a:rPr>
              <a:t>colorBuffer</a:t>
            </a:r>
            <a:r>
              <a:rPr lang="en-US" altLang="ko-KR" sz="1400" b="1" dirty="0" err="1">
                <a:solidFill>
                  <a:srgbClr val="000000"/>
                </a:solidFill>
                <a:latin typeface="돋움체"/>
                <a:ea typeface="돋움체"/>
              </a:rPr>
              <a:t>.put</a:t>
            </a:r>
            <a:r>
              <a:rPr lang="en-US" altLang="ko-KR" sz="1400" b="1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400" b="1" dirty="0">
                <a:solidFill>
                  <a:srgbClr val="0000C0"/>
                </a:solidFill>
                <a:latin typeface="돋움체"/>
                <a:ea typeface="돋움체"/>
              </a:rPr>
              <a:t>colors</a:t>
            </a:r>
            <a:r>
              <a:rPr lang="en-US" altLang="ko-KR" sz="1400" b="1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400" b="1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b="1" dirty="0" err="1">
                <a:solidFill>
                  <a:srgbClr val="0000C0"/>
                </a:solidFill>
                <a:latin typeface="돋움체"/>
                <a:ea typeface="돋움체"/>
              </a:rPr>
              <a:t>colorBuffer</a:t>
            </a:r>
            <a:r>
              <a:rPr lang="en-US" altLang="ko-KR" sz="1400" b="1" dirty="0" err="1">
                <a:solidFill>
                  <a:srgbClr val="000000"/>
                </a:solidFill>
                <a:latin typeface="돋움체"/>
                <a:ea typeface="돋움체"/>
              </a:rPr>
              <a:t>.position</a:t>
            </a:r>
            <a:r>
              <a:rPr lang="en-US" altLang="ko-KR" sz="1400" b="1" dirty="0">
                <a:solidFill>
                  <a:srgbClr val="000000"/>
                </a:solidFill>
                <a:latin typeface="돋움체"/>
                <a:ea typeface="돋움체"/>
              </a:rPr>
              <a:t>(0);</a:t>
            </a:r>
          </a:p>
          <a:p>
            <a:r>
              <a:rPr lang="ko-KR" altLang="en-US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}</a:t>
            </a:r>
            <a:endParaRPr lang="en-US" altLang="ko-KR" sz="1400" dirty="0">
              <a:solidFill>
                <a:schemeClr val="tx1">
                  <a:lumMod val="50000"/>
                  <a:lumOff val="50000"/>
                </a:schemeClr>
              </a:solidFill>
              <a:latin typeface="돋움체"/>
              <a:ea typeface="돋움체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97230" y="1280160"/>
            <a:ext cx="15634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 smtClean="0">
                <a:solidFill>
                  <a:prstClr val="black"/>
                </a:solidFill>
              </a:rPr>
              <a:t>Ex_GLES</a:t>
            </a:r>
            <a:endParaRPr lang="en-US" altLang="ko-KR" b="1" dirty="0" smtClean="0">
              <a:solidFill>
                <a:prstClr val="black"/>
              </a:solidFill>
            </a:endParaRPr>
          </a:p>
          <a:p>
            <a:r>
              <a:rPr lang="en-US" altLang="ko-KR" dirty="0" smtClean="0">
                <a:solidFill>
                  <a:prstClr val="black"/>
                </a:solidFill>
              </a:rPr>
              <a:t>/</a:t>
            </a:r>
            <a:r>
              <a:rPr lang="en-US" altLang="ko-KR" dirty="0" err="1" smtClean="0">
                <a:solidFill>
                  <a:prstClr val="black"/>
                </a:solidFill>
              </a:rPr>
              <a:t>src</a:t>
            </a:r>
            <a:r>
              <a:rPr lang="en-US" altLang="ko-KR" dirty="0" smtClean="0">
                <a:solidFill>
                  <a:prstClr val="black"/>
                </a:solidFill>
              </a:rPr>
              <a:t>/Act1.java</a:t>
            </a:r>
            <a:endParaRPr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76295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40</a:t>
            </a:fld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Renderer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97230" y="1926491"/>
            <a:ext cx="7007046" cy="483209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public 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void </a:t>
            </a:r>
            <a:r>
              <a:rPr lang="en-US" altLang="ko-KR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onDrawFrame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(GL10 </a:t>
            </a:r>
            <a:r>
              <a:rPr lang="en-US" altLang="ko-KR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gl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) {</a:t>
            </a:r>
          </a:p>
          <a:p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    //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Clear Screen And Depth Buffer</a:t>
            </a:r>
          </a:p>
          <a:p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gl.glClear</a:t>
            </a:r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(GL10.GL_COLOR_BUFFER_BIT 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| GL10.GL_DEPTH_BUFFER_BIT);</a:t>
            </a:r>
          </a:p>
          <a:p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    //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Reset The Current </a:t>
            </a:r>
            <a:r>
              <a:rPr lang="en-US" altLang="ko-KR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Modelview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Matrix</a:t>
            </a:r>
          </a:p>
          <a:p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gl.glLoadIdentity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();</a:t>
            </a:r>
          </a:p>
          <a:p>
            <a:endParaRPr lang="ko-KR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돋움체"/>
              <a:ea typeface="돋움체"/>
            </a:endParaRPr>
          </a:p>
          <a:p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    //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Move into The Screen 6.0</a:t>
            </a:r>
          </a:p>
          <a:p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gl.glTranslatef</a:t>
            </a:r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(0.0f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, 0.0f, -6.0f);</a:t>
            </a:r>
          </a:p>
          <a:p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    //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Set the face rotation</a:t>
            </a:r>
          </a:p>
          <a:p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gl.glFrontFace</a:t>
            </a:r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(GL10.GL_CW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400" dirty="0" smtClean="0">
                <a:solidFill>
                  <a:srgbClr val="3F7F5F"/>
                </a:solidFill>
                <a:latin typeface="돋움체"/>
                <a:ea typeface="돋움체"/>
              </a:rPr>
              <a:t>            //</a:t>
            </a:r>
            <a:r>
              <a:rPr lang="en-US" altLang="ko-KR" sz="1400" dirty="0">
                <a:solidFill>
                  <a:srgbClr val="3F7F5F"/>
                </a:solidFill>
                <a:latin typeface="돋움체"/>
                <a:ea typeface="돋움체"/>
              </a:rPr>
              <a:t>Point to our vertex buffer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dirty="0" err="1" smtClean="0">
                <a:solidFill>
                  <a:srgbClr val="000000"/>
                </a:solidFill>
                <a:latin typeface="돋움체"/>
                <a:ea typeface="돋움체"/>
              </a:rPr>
              <a:t>gl.glVertexPointer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(3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, GL10.</a:t>
            </a:r>
            <a:r>
              <a:rPr lang="en-US" altLang="ko-KR" sz="1400" dirty="0">
                <a:solidFill>
                  <a:srgbClr val="0000C0"/>
                </a:solidFill>
                <a:latin typeface="돋움체"/>
                <a:ea typeface="돋움체"/>
              </a:rPr>
              <a:t>GL_FLOAT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, 0, </a:t>
            </a:r>
            <a:r>
              <a:rPr lang="en-US" altLang="ko-KR" sz="1400" dirty="0" err="1">
                <a:solidFill>
                  <a:srgbClr val="0000C0"/>
                </a:solidFill>
                <a:latin typeface="돋움체"/>
                <a:ea typeface="돋움체"/>
              </a:rPr>
              <a:t>vertexBuffer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b="1" dirty="0" err="1" smtClean="0">
                <a:solidFill>
                  <a:srgbClr val="000000"/>
                </a:solidFill>
                <a:latin typeface="돋움체"/>
                <a:ea typeface="돋움체"/>
              </a:rPr>
              <a:t>gl.glColorPointer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(4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, GL10.</a:t>
            </a:r>
            <a:r>
              <a:rPr lang="en-US" altLang="ko-KR" sz="1400" dirty="0">
                <a:solidFill>
                  <a:srgbClr val="0000C0"/>
                </a:solidFill>
                <a:latin typeface="돋움체"/>
                <a:ea typeface="돋움체"/>
              </a:rPr>
              <a:t>GL_FLOAT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, 0, </a:t>
            </a:r>
            <a:r>
              <a:rPr lang="en-US" altLang="ko-KR" sz="1400" dirty="0" err="1">
                <a:solidFill>
                  <a:srgbClr val="0000C0"/>
                </a:solidFill>
                <a:latin typeface="돋움체"/>
                <a:ea typeface="돋움체"/>
              </a:rPr>
              <a:t>colorBuffer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400" dirty="0" smtClean="0">
                <a:solidFill>
                  <a:srgbClr val="3F7F5F"/>
                </a:solidFill>
                <a:latin typeface="돋움체"/>
                <a:ea typeface="돋움체"/>
              </a:rPr>
              <a:t>            //</a:t>
            </a:r>
            <a:r>
              <a:rPr lang="en-US" altLang="ko-KR" sz="1400" dirty="0">
                <a:solidFill>
                  <a:srgbClr val="3F7F5F"/>
                </a:solidFill>
                <a:latin typeface="돋움체"/>
                <a:ea typeface="돋움체"/>
              </a:rPr>
              <a:t>Enable vertex buffer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dirty="0" err="1" smtClean="0">
                <a:solidFill>
                  <a:srgbClr val="000000"/>
                </a:solidFill>
                <a:latin typeface="돋움체"/>
                <a:ea typeface="돋움체"/>
              </a:rPr>
              <a:t>gl.glEnableClientState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(GL10.</a:t>
            </a:r>
            <a:r>
              <a:rPr lang="en-US" altLang="ko-KR" sz="1400" dirty="0" smtClean="0">
                <a:solidFill>
                  <a:srgbClr val="0000C0"/>
                </a:solidFill>
                <a:latin typeface="돋움체"/>
                <a:ea typeface="돋움체"/>
              </a:rPr>
              <a:t>GL_VERTEX_ARRAY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b="1" dirty="0" err="1" smtClean="0">
                <a:solidFill>
                  <a:srgbClr val="000000"/>
                </a:solidFill>
                <a:latin typeface="돋움체"/>
                <a:ea typeface="돋움체"/>
              </a:rPr>
              <a:t>gl.glEnableClientState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(GL10.</a:t>
            </a:r>
            <a:r>
              <a:rPr lang="en-US" altLang="ko-KR" sz="1400" dirty="0" smtClean="0">
                <a:solidFill>
                  <a:srgbClr val="0000C0"/>
                </a:solidFill>
                <a:latin typeface="돋움체"/>
                <a:ea typeface="돋움체"/>
              </a:rPr>
              <a:t>GL_COLOR_ARRAY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    //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Draw the vertices as triangle strip</a:t>
            </a:r>
          </a:p>
          <a:p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gl.glDrawArrays</a:t>
            </a:r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(GL10.GL_TRIANGLE_STRIP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, 0, </a:t>
            </a:r>
            <a:r>
              <a:rPr lang="en-US" altLang="ko-KR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vertices.length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/ 3);</a:t>
            </a:r>
          </a:p>
          <a:p>
            <a:r>
              <a:rPr lang="en-US" altLang="ko-KR" sz="1400" dirty="0" smtClean="0">
                <a:solidFill>
                  <a:srgbClr val="3F7F5F"/>
                </a:solidFill>
                <a:latin typeface="돋움체"/>
                <a:ea typeface="돋움체"/>
              </a:rPr>
              <a:t>            //</a:t>
            </a:r>
            <a:r>
              <a:rPr lang="en-US" altLang="ko-KR" sz="1400" dirty="0">
                <a:solidFill>
                  <a:srgbClr val="3F7F5F"/>
                </a:solidFill>
                <a:latin typeface="돋움체"/>
                <a:ea typeface="돋움체"/>
              </a:rPr>
              <a:t>Disable the client state before leaving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dirty="0" err="1" smtClean="0">
                <a:solidFill>
                  <a:srgbClr val="000000"/>
                </a:solidFill>
                <a:latin typeface="돋움체"/>
                <a:ea typeface="돋움체"/>
              </a:rPr>
              <a:t>gl.glDisableClientState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(GL10.</a:t>
            </a:r>
            <a:r>
              <a:rPr lang="en-US" altLang="ko-KR" sz="1400" dirty="0" smtClean="0">
                <a:solidFill>
                  <a:srgbClr val="0000C0"/>
                </a:solidFill>
                <a:latin typeface="돋움체"/>
                <a:ea typeface="돋움체"/>
              </a:rPr>
              <a:t>GL_VERTEX_ARRAY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b="1" dirty="0" err="1" smtClean="0">
                <a:solidFill>
                  <a:srgbClr val="000000"/>
                </a:solidFill>
                <a:latin typeface="돋움체"/>
                <a:ea typeface="돋움체"/>
              </a:rPr>
              <a:t>gl.glDisableClientState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(GL10.</a:t>
            </a:r>
            <a:r>
              <a:rPr lang="en-US" altLang="ko-KR" sz="1400" dirty="0" smtClean="0">
                <a:solidFill>
                  <a:srgbClr val="0000C0"/>
                </a:solidFill>
                <a:latin typeface="돋움체"/>
                <a:ea typeface="돋움체"/>
              </a:rPr>
              <a:t>GL_COLOR_ARRAY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}</a:t>
            </a:r>
            <a:endParaRPr lang="en-US" altLang="ko-KR" sz="1400" dirty="0">
              <a:solidFill>
                <a:schemeClr val="tx1">
                  <a:lumMod val="50000"/>
                  <a:lumOff val="50000"/>
                </a:schemeClr>
              </a:solidFill>
              <a:latin typeface="돋움체"/>
              <a:ea typeface="돋움체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97230" y="1280160"/>
            <a:ext cx="15634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 smtClean="0">
                <a:solidFill>
                  <a:prstClr val="black"/>
                </a:solidFill>
              </a:rPr>
              <a:t>Ex_GLES</a:t>
            </a:r>
            <a:endParaRPr lang="en-US" altLang="ko-KR" b="1" dirty="0" smtClean="0">
              <a:solidFill>
                <a:prstClr val="black"/>
              </a:solidFill>
            </a:endParaRPr>
          </a:p>
          <a:p>
            <a:r>
              <a:rPr lang="en-US" altLang="ko-KR" dirty="0" smtClean="0">
                <a:solidFill>
                  <a:prstClr val="black"/>
                </a:solidFill>
              </a:rPr>
              <a:t>/</a:t>
            </a:r>
            <a:r>
              <a:rPr lang="en-US" altLang="ko-KR" dirty="0" err="1" smtClean="0">
                <a:solidFill>
                  <a:prstClr val="black"/>
                </a:solidFill>
              </a:rPr>
              <a:t>src</a:t>
            </a:r>
            <a:r>
              <a:rPr lang="en-US" altLang="ko-KR" dirty="0" smtClean="0">
                <a:solidFill>
                  <a:prstClr val="black"/>
                </a:solidFill>
              </a:rPr>
              <a:t>/Act1.java</a:t>
            </a:r>
            <a:endParaRPr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27792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41</a:t>
            </a:fld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OpenGL ES: Coloring</a:t>
            </a:r>
            <a:endParaRPr lang="ko-KR" altLang="en-US" dirty="0"/>
          </a:p>
        </p:txBody>
      </p:sp>
      <p:pic>
        <p:nvPicPr>
          <p:cNvPr id="6146" name="Picture 2" descr="C:\Users\msKim\Desktop\2016-2 모바일앱프로그래밍 (교재)\drive-download-20161109T111332Z\dddfcv\Screenshot_1478762539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0677" y="1271283"/>
            <a:ext cx="2944350" cy="523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13839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Example #11_2</a:t>
            </a:r>
            <a:endParaRPr lang="ko-KR" altLang="en-US" dirty="0"/>
          </a:p>
        </p:txBody>
      </p:sp>
      <p:sp>
        <p:nvSpPr>
          <p:cNvPr id="6" name="텍스트 개체 틀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Translation &amp; Rotation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42</a:t>
            </a:fld>
            <a:endParaRPr lang="ko-KR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2526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43</a:t>
            </a:fld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Obj</a:t>
            </a:r>
            <a:r>
              <a:rPr lang="en-US" altLang="ko-KR" dirty="0" smtClean="0"/>
              <a:t> class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97230" y="1926491"/>
            <a:ext cx="4224233" cy="267765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rgbClr val="7F0055"/>
                </a:solidFill>
                <a:latin typeface="돋움체"/>
                <a:ea typeface="돋움체"/>
              </a:rPr>
              <a:t>public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>
                <a:solidFill>
                  <a:srgbClr val="7F0055"/>
                </a:solidFill>
                <a:latin typeface="돋움체"/>
                <a:ea typeface="돋움체"/>
              </a:rPr>
              <a:t>class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Obj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{</a:t>
            </a:r>
          </a:p>
          <a:p>
            <a:r>
              <a:rPr lang="en-US" altLang="ko-KR" sz="1400" dirty="0" smtClean="0">
                <a:solidFill>
                  <a:srgbClr val="7F0055"/>
                </a:solidFill>
                <a:latin typeface="돋움체"/>
                <a:ea typeface="돋움체"/>
              </a:rPr>
              <a:t>    protected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FloatBuffer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 err="1">
                <a:solidFill>
                  <a:srgbClr val="0000C0"/>
                </a:solidFill>
                <a:latin typeface="돋움체"/>
                <a:ea typeface="돋움체"/>
              </a:rPr>
              <a:t>vertexBuffer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;</a:t>
            </a:r>
          </a:p>
          <a:p>
            <a:r>
              <a:rPr lang="en-US" altLang="ko-KR" sz="1400" dirty="0" smtClean="0">
                <a:solidFill>
                  <a:srgbClr val="7F0055"/>
                </a:solidFill>
                <a:latin typeface="돋움체"/>
                <a:ea typeface="돋움체"/>
              </a:rPr>
              <a:t>    protected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FloatBuffer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 err="1">
                <a:solidFill>
                  <a:srgbClr val="0000C0"/>
                </a:solidFill>
                <a:latin typeface="돋움체"/>
                <a:ea typeface="돋움체"/>
              </a:rPr>
              <a:t>colorBuffer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;</a:t>
            </a:r>
          </a:p>
          <a:p>
            <a:r>
              <a:rPr lang="en-US" altLang="ko-KR" sz="1400" dirty="0" smtClean="0">
                <a:solidFill>
                  <a:srgbClr val="7F0055"/>
                </a:solidFill>
                <a:latin typeface="돋움체"/>
                <a:ea typeface="돋움체"/>
              </a:rPr>
              <a:t>    protected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 err="1">
                <a:solidFill>
                  <a:srgbClr val="7F0055"/>
                </a:solidFill>
                <a:latin typeface="돋움체"/>
                <a:ea typeface="돋움체"/>
              </a:rPr>
              <a:t>int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 err="1">
                <a:solidFill>
                  <a:srgbClr val="0000C0"/>
                </a:solidFill>
                <a:latin typeface="돋움체"/>
                <a:ea typeface="돋움체"/>
              </a:rPr>
              <a:t>polygonMode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;</a:t>
            </a:r>
          </a:p>
          <a:p>
            <a:r>
              <a:rPr lang="en-US" altLang="ko-KR" sz="1400" dirty="0" smtClean="0">
                <a:solidFill>
                  <a:srgbClr val="7F0055"/>
                </a:solidFill>
                <a:latin typeface="돋움체"/>
                <a:ea typeface="돋움체"/>
              </a:rPr>
              <a:t>    protected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 err="1" smtClean="0">
                <a:solidFill>
                  <a:srgbClr val="7F0055"/>
                </a:solidFill>
                <a:latin typeface="돋움체"/>
                <a:ea typeface="돋움체"/>
              </a:rPr>
              <a:t>int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 err="1" smtClean="0">
                <a:solidFill>
                  <a:srgbClr val="0000C0"/>
                </a:solidFill>
                <a:latin typeface="돋움체"/>
                <a:ea typeface="돋움체"/>
              </a:rPr>
              <a:t>vertexLength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;</a:t>
            </a:r>
          </a:p>
          <a:p>
            <a:r>
              <a:rPr lang="en-US" altLang="ko-KR" sz="1400" dirty="0" smtClean="0">
                <a:solidFill>
                  <a:srgbClr val="7F0055"/>
                </a:solidFill>
                <a:latin typeface="돋움체"/>
                <a:ea typeface="돋움체"/>
              </a:rPr>
              <a:t>    protected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 err="1">
                <a:solidFill>
                  <a:srgbClr val="7F0055"/>
                </a:solidFill>
                <a:latin typeface="돋움체"/>
                <a:ea typeface="돋움체"/>
              </a:rPr>
              <a:t>boolean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 err="1">
                <a:solidFill>
                  <a:srgbClr val="0000C0"/>
                </a:solidFill>
                <a:latin typeface="돋움체"/>
                <a:ea typeface="돋움체"/>
              </a:rPr>
              <a:t>colorVertex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;</a:t>
            </a:r>
          </a:p>
          <a:p>
            <a:endParaRPr lang="ko-KR" altLang="en-US" sz="1400" dirty="0">
              <a:latin typeface="돋움체"/>
              <a:ea typeface="돋움체"/>
            </a:endParaRPr>
          </a:p>
          <a:p>
            <a:r>
              <a:rPr lang="en-US" altLang="ko-KR" sz="1400" dirty="0" smtClean="0">
                <a:solidFill>
                  <a:srgbClr val="7F0055"/>
                </a:solidFill>
                <a:latin typeface="돋움체"/>
                <a:ea typeface="돋움체"/>
              </a:rPr>
              <a:t>    public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Obj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() {</a:t>
            </a:r>
          </a:p>
          <a:p>
            <a:r>
              <a:rPr lang="en-US" altLang="ko-KR" sz="1400" dirty="0" smtClean="0">
                <a:solidFill>
                  <a:srgbClr val="0000C0"/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 err="1" smtClean="0">
                <a:solidFill>
                  <a:srgbClr val="0000C0"/>
                </a:solidFill>
                <a:latin typeface="돋움체"/>
                <a:ea typeface="돋움체"/>
              </a:rPr>
              <a:t>polygonMode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= GL10.</a:t>
            </a:r>
            <a:r>
              <a:rPr lang="en-US" altLang="ko-KR" sz="1400" dirty="0">
                <a:solidFill>
                  <a:srgbClr val="0000C0"/>
                </a:solidFill>
                <a:latin typeface="돋움체"/>
                <a:ea typeface="돋움체"/>
              </a:rPr>
              <a:t>GL_TRIANGLE_STRIP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;</a:t>
            </a:r>
          </a:p>
          <a:p>
            <a:r>
              <a:rPr lang="en-US" altLang="ko-KR" sz="1400" dirty="0" smtClean="0">
                <a:solidFill>
                  <a:srgbClr val="0000C0"/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 err="1" smtClean="0">
                <a:solidFill>
                  <a:srgbClr val="0000C0"/>
                </a:solidFill>
                <a:latin typeface="돋움체"/>
                <a:ea typeface="돋움체"/>
              </a:rPr>
              <a:t>vertexLength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= 0;</a:t>
            </a:r>
          </a:p>
          <a:p>
            <a:r>
              <a:rPr lang="en-US" altLang="ko-KR" sz="1400" dirty="0" smtClean="0">
                <a:solidFill>
                  <a:srgbClr val="0000C0"/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 err="1" smtClean="0">
                <a:solidFill>
                  <a:srgbClr val="0000C0"/>
                </a:solidFill>
                <a:latin typeface="돋움체"/>
                <a:ea typeface="돋움체"/>
              </a:rPr>
              <a:t>colorVertex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= </a:t>
            </a:r>
            <a:r>
              <a:rPr lang="en-US" altLang="ko-KR" sz="1400" dirty="0">
                <a:solidFill>
                  <a:srgbClr val="7F0055"/>
                </a:solidFill>
                <a:latin typeface="돋움체"/>
                <a:ea typeface="돋움체"/>
              </a:rPr>
              <a:t>false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;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}</a:t>
            </a:r>
            <a:endParaRPr lang="en-US" altLang="ko-KR" sz="1400" dirty="0">
              <a:solidFill>
                <a:srgbClr val="000000"/>
              </a:solidFill>
              <a:latin typeface="돋움체"/>
              <a:ea typeface="돋움체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97230" y="1280160"/>
            <a:ext cx="145443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 smtClean="0">
                <a:solidFill>
                  <a:prstClr val="black"/>
                </a:solidFill>
              </a:rPr>
              <a:t>Ex_GLES</a:t>
            </a:r>
            <a:endParaRPr lang="en-US" altLang="ko-KR" b="1" dirty="0" smtClean="0">
              <a:solidFill>
                <a:prstClr val="black"/>
              </a:solidFill>
            </a:endParaRPr>
          </a:p>
          <a:p>
            <a:r>
              <a:rPr lang="en-US" altLang="ko-KR" dirty="0" smtClean="0">
                <a:solidFill>
                  <a:prstClr val="black"/>
                </a:solidFill>
              </a:rPr>
              <a:t>/</a:t>
            </a:r>
            <a:r>
              <a:rPr lang="en-US" altLang="ko-KR" dirty="0" err="1" smtClean="0">
                <a:solidFill>
                  <a:prstClr val="black"/>
                </a:solidFill>
              </a:rPr>
              <a:t>src</a:t>
            </a:r>
            <a:r>
              <a:rPr lang="en-US" altLang="ko-KR" dirty="0" smtClean="0">
                <a:solidFill>
                  <a:prstClr val="black"/>
                </a:solidFill>
              </a:rPr>
              <a:t>/Obj.java</a:t>
            </a:r>
            <a:endParaRPr lang="ko-KR" altLang="en-US" dirty="0">
              <a:solidFill>
                <a:prstClr val="black"/>
              </a:solidFill>
            </a:endParaRPr>
          </a:p>
        </p:txBody>
      </p:sp>
      <p:sp>
        <p:nvSpPr>
          <p:cNvPr id="7" name="가로로 말린 두루마리 모양 6"/>
          <p:cNvSpPr/>
          <p:nvPr/>
        </p:nvSpPr>
        <p:spPr>
          <a:xfrm>
            <a:off x="5383530" y="1706193"/>
            <a:ext cx="3268979" cy="762687"/>
          </a:xfrm>
          <a:prstGeom prst="horizontalScroll">
            <a:avLst>
              <a:gd name="adj" fmla="val 13671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err="1" smtClean="0"/>
              <a:t>Obj</a:t>
            </a:r>
            <a:r>
              <a:rPr lang="en-US" altLang="ko-KR" dirty="0" smtClean="0"/>
              <a:t> </a:t>
            </a:r>
            <a:r>
              <a:rPr lang="ko-KR" altLang="en-US" dirty="0" smtClean="0"/>
              <a:t>클래스 추가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17650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44</a:t>
            </a:fld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Obj</a:t>
            </a:r>
            <a:r>
              <a:rPr lang="en-US" altLang="ko-KR" dirty="0"/>
              <a:t> class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97230" y="1926491"/>
            <a:ext cx="6109365" cy="440120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endParaRPr lang="ko-KR" altLang="en-US" sz="1400" dirty="0">
              <a:latin typeface="돋움체"/>
              <a:ea typeface="돋움체"/>
            </a:endParaRPr>
          </a:p>
          <a:p>
            <a:r>
              <a:rPr lang="en-US" altLang="ko-KR" sz="1400" dirty="0" smtClean="0">
                <a:solidFill>
                  <a:srgbClr val="7F0055"/>
                </a:solidFill>
                <a:latin typeface="돋움체"/>
                <a:ea typeface="돋움체"/>
              </a:rPr>
              <a:t>    public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>
                <a:solidFill>
                  <a:srgbClr val="7F0055"/>
                </a:solidFill>
                <a:latin typeface="돋움체"/>
                <a:ea typeface="돋움체"/>
              </a:rPr>
              <a:t>void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draw(GL10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gl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) {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 err="1" smtClean="0">
                <a:solidFill>
                  <a:srgbClr val="000000"/>
                </a:solidFill>
                <a:latin typeface="돋움체"/>
                <a:ea typeface="돋움체"/>
              </a:rPr>
              <a:t>gl.glFrontFace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(GL10.</a:t>
            </a:r>
            <a:r>
              <a:rPr lang="en-US" altLang="ko-KR" sz="1400" dirty="0" smtClean="0">
                <a:solidFill>
                  <a:srgbClr val="0000C0"/>
                </a:solidFill>
                <a:latin typeface="돋움체"/>
                <a:ea typeface="돋움체"/>
              </a:rPr>
              <a:t>GL_CW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400" dirty="0" smtClean="0">
                <a:solidFill>
                  <a:srgbClr val="7F0055"/>
                </a:solidFill>
                <a:latin typeface="돋움체"/>
                <a:ea typeface="돋움체"/>
              </a:rPr>
              <a:t>        if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400" dirty="0" err="1">
                <a:solidFill>
                  <a:srgbClr val="0000C0"/>
                </a:solidFill>
                <a:latin typeface="돋움체"/>
                <a:ea typeface="돋움체"/>
              </a:rPr>
              <a:t>colorVertex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) {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dirty="0" err="1" smtClean="0">
                <a:solidFill>
                  <a:srgbClr val="000000"/>
                </a:solidFill>
                <a:latin typeface="돋움체"/>
                <a:ea typeface="돋움체"/>
              </a:rPr>
              <a:t>gl.glVertexPointer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(3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, GL10.</a:t>
            </a:r>
            <a:r>
              <a:rPr lang="en-US" altLang="ko-KR" sz="1400" dirty="0">
                <a:solidFill>
                  <a:srgbClr val="0000C0"/>
                </a:solidFill>
                <a:latin typeface="돋움체"/>
                <a:ea typeface="돋움체"/>
              </a:rPr>
              <a:t>GL_FLOAT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, 0, </a:t>
            </a:r>
            <a:r>
              <a:rPr lang="en-US" altLang="ko-KR" sz="1400" dirty="0" err="1">
                <a:solidFill>
                  <a:srgbClr val="0000C0"/>
                </a:solidFill>
                <a:latin typeface="돋움체"/>
                <a:ea typeface="돋움체"/>
              </a:rPr>
              <a:t>vertexBuffer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dirty="0" err="1" smtClean="0">
                <a:solidFill>
                  <a:srgbClr val="000000"/>
                </a:solidFill>
                <a:latin typeface="돋움체"/>
                <a:ea typeface="돋움체"/>
              </a:rPr>
              <a:t>gl.glColorPointer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(4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, GL10.</a:t>
            </a:r>
            <a:r>
              <a:rPr lang="en-US" altLang="ko-KR" sz="1400" dirty="0">
                <a:solidFill>
                  <a:srgbClr val="0000C0"/>
                </a:solidFill>
                <a:latin typeface="돋움체"/>
                <a:ea typeface="돋움체"/>
              </a:rPr>
              <a:t>GL_FLOAT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, 0, </a:t>
            </a:r>
            <a:r>
              <a:rPr lang="en-US" altLang="ko-KR" sz="1400" dirty="0" err="1">
                <a:solidFill>
                  <a:srgbClr val="0000C0"/>
                </a:solidFill>
                <a:latin typeface="돋움체"/>
                <a:ea typeface="돋움체"/>
              </a:rPr>
              <a:t>colorBuffer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dirty="0" err="1" smtClean="0">
                <a:solidFill>
                  <a:srgbClr val="000000"/>
                </a:solidFill>
                <a:latin typeface="돋움체"/>
                <a:ea typeface="돋움체"/>
              </a:rPr>
              <a:t>gl.glEnableClientState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(GL10.</a:t>
            </a:r>
            <a:r>
              <a:rPr lang="en-US" altLang="ko-KR" sz="1400" dirty="0" smtClean="0">
                <a:solidFill>
                  <a:srgbClr val="0000C0"/>
                </a:solidFill>
                <a:latin typeface="돋움체"/>
                <a:ea typeface="돋움체"/>
              </a:rPr>
              <a:t>GL_VERTEX_ARRAY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dirty="0" err="1" smtClean="0">
                <a:solidFill>
                  <a:srgbClr val="000000"/>
                </a:solidFill>
                <a:latin typeface="돋움체"/>
                <a:ea typeface="돋움체"/>
              </a:rPr>
              <a:t>gl.glEnableClientState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(GL10.</a:t>
            </a:r>
            <a:r>
              <a:rPr lang="en-US" altLang="ko-KR" sz="1400" dirty="0" smtClean="0">
                <a:solidFill>
                  <a:srgbClr val="0000C0"/>
                </a:solidFill>
                <a:latin typeface="돋움체"/>
                <a:ea typeface="돋움체"/>
              </a:rPr>
              <a:t>GL_COLOR_ARRAY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dirty="0" err="1" smtClean="0">
                <a:solidFill>
                  <a:srgbClr val="000000"/>
                </a:solidFill>
                <a:latin typeface="돋움체"/>
                <a:ea typeface="돋움체"/>
              </a:rPr>
              <a:t>gl.glDrawArrays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400" dirty="0" err="1" smtClean="0">
                <a:solidFill>
                  <a:srgbClr val="0000C0"/>
                </a:solidFill>
                <a:latin typeface="돋움체"/>
                <a:ea typeface="돋움체"/>
              </a:rPr>
              <a:t>polygonMode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, 0, </a:t>
            </a:r>
            <a:r>
              <a:rPr lang="en-US" altLang="ko-KR" sz="1400" dirty="0" err="1">
                <a:solidFill>
                  <a:srgbClr val="0000C0"/>
                </a:solidFill>
                <a:latin typeface="돋움체"/>
                <a:ea typeface="돋움체"/>
              </a:rPr>
              <a:t>vertexLength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dirty="0" err="1" smtClean="0">
                <a:solidFill>
                  <a:srgbClr val="000000"/>
                </a:solidFill>
                <a:latin typeface="돋움체"/>
                <a:ea typeface="돋움체"/>
              </a:rPr>
              <a:t>gl.glDisableClientState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(GL10.</a:t>
            </a:r>
            <a:r>
              <a:rPr lang="en-US" altLang="ko-KR" sz="1400" dirty="0" smtClean="0">
                <a:solidFill>
                  <a:srgbClr val="0000C0"/>
                </a:solidFill>
                <a:latin typeface="돋움체"/>
                <a:ea typeface="돋움체"/>
              </a:rPr>
              <a:t>GL_VERTEX_ARRAY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dirty="0" err="1" smtClean="0">
                <a:solidFill>
                  <a:srgbClr val="000000"/>
                </a:solidFill>
                <a:latin typeface="돋움체"/>
                <a:ea typeface="돋움체"/>
              </a:rPr>
              <a:t>gl.glDisableClientState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(GL10.</a:t>
            </a:r>
            <a:r>
              <a:rPr lang="en-US" altLang="ko-KR" sz="1400" dirty="0" smtClean="0">
                <a:solidFill>
                  <a:srgbClr val="0000C0"/>
                </a:solidFill>
                <a:latin typeface="돋움체"/>
                <a:ea typeface="돋움체"/>
              </a:rPr>
              <a:t>GL_COLOR_ARRAY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}</a:t>
            </a:r>
            <a:endParaRPr lang="en-US" altLang="ko-KR" sz="1400" dirty="0">
              <a:solidFill>
                <a:srgbClr val="000000"/>
              </a:solidFill>
              <a:latin typeface="돋움체"/>
              <a:ea typeface="돋움체"/>
            </a:endParaRPr>
          </a:p>
          <a:p>
            <a:r>
              <a:rPr lang="en-US" altLang="ko-KR" sz="1400" dirty="0" smtClean="0">
                <a:solidFill>
                  <a:srgbClr val="7F0055"/>
                </a:solidFill>
                <a:latin typeface="돋움체"/>
                <a:ea typeface="돋움체"/>
              </a:rPr>
              <a:t>        else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{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dirty="0" err="1" smtClean="0">
                <a:solidFill>
                  <a:srgbClr val="000000"/>
                </a:solidFill>
                <a:latin typeface="돋움체"/>
                <a:ea typeface="돋움체"/>
              </a:rPr>
              <a:t>gl.glVertexPointer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(3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, GL10.</a:t>
            </a:r>
            <a:r>
              <a:rPr lang="en-US" altLang="ko-KR" sz="1400" dirty="0">
                <a:solidFill>
                  <a:srgbClr val="0000C0"/>
                </a:solidFill>
                <a:latin typeface="돋움체"/>
                <a:ea typeface="돋움체"/>
              </a:rPr>
              <a:t>GL_FLOAT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, 0, </a:t>
            </a:r>
            <a:r>
              <a:rPr lang="en-US" altLang="ko-KR" sz="1400" dirty="0" err="1">
                <a:solidFill>
                  <a:srgbClr val="0000C0"/>
                </a:solidFill>
                <a:latin typeface="돋움체"/>
                <a:ea typeface="돋움체"/>
              </a:rPr>
              <a:t>vertexBuffer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dirty="0" err="1" smtClean="0">
                <a:solidFill>
                  <a:srgbClr val="000000"/>
                </a:solidFill>
                <a:latin typeface="돋움체"/>
                <a:ea typeface="돋움체"/>
              </a:rPr>
              <a:t>gl.glEnableClientState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(GL10.</a:t>
            </a:r>
            <a:r>
              <a:rPr lang="en-US" altLang="ko-KR" sz="1400" dirty="0" smtClean="0">
                <a:solidFill>
                  <a:srgbClr val="0000C0"/>
                </a:solidFill>
                <a:latin typeface="돋움체"/>
                <a:ea typeface="돋움체"/>
              </a:rPr>
              <a:t>GL_VERTEX_ARRAY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gl.glDrawArrays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400" dirty="0" err="1">
                <a:solidFill>
                  <a:srgbClr val="0000C0"/>
                </a:solidFill>
                <a:latin typeface="돋움체"/>
                <a:ea typeface="돋움체"/>
              </a:rPr>
              <a:t>polygonMode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, 0, </a:t>
            </a:r>
            <a:r>
              <a:rPr lang="en-US" altLang="ko-KR" sz="1400" dirty="0" err="1">
                <a:solidFill>
                  <a:srgbClr val="0000C0"/>
                </a:solidFill>
                <a:latin typeface="돋움체"/>
                <a:ea typeface="돋움체"/>
              </a:rPr>
              <a:t>vertexLength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dirty="0" err="1" smtClean="0">
                <a:solidFill>
                  <a:srgbClr val="000000"/>
                </a:solidFill>
                <a:latin typeface="돋움체"/>
                <a:ea typeface="돋움체"/>
              </a:rPr>
              <a:t>gl.glDisableClientState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(GL10.</a:t>
            </a:r>
            <a:r>
              <a:rPr lang="en-US" altLang="ko-KR" sz="1400" dirty="0" smtClean="0">
                <a:solidFill>
                  <a:srgbClr val="0000C0"/>
                </a:solidFill>
                <a:latin typeface="돋움체"/>
                <a:ea typeface="돋움체"/>
              </a:rPr>
              <a:t>GL_VERTEX_ARRAY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}</a:t>
            </a:r>
            <a:endParaRPr lang="en-US" altLang="ko-KR" sz="1400" dirty="0">
              <a:solidFill>
                <a:srgbClr val="000000"/>
              </a:solidFill>
              <a:latin typeface="돋움체"/>
              <a:ea typeface="돋움체"/>
            </a:endParaRP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}</a:t>
            </a:r>
            <a:endParaRPr lang="en-US" altLang="ko-KR" sz="1400" dirty="0">
              <a:solidFill>
                <a:srgbClr val="000000"/>
              </a:solidFill>
              <a:latin typeface="돋움체"/>
              <a:ea typeface="돋움체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7230" y="1280160"/>
            <a:ext cx="145443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 smtClean="0">
                <a:solidFill>
                  <a:prstClr val="black"/>
                </a:solidFill>
              </a:rPr>
              <a:t>Ex_GLES</a:t>
            </a:r>
            <a:endParaRPr lang="en-US" altLang="ko-KR" b="1" dirty="0" smtClean="0">
              <a:solidFill>
                <a:prstClr val="black"/>
              </a:solidFill>
            </a:endParaRPr>
          </a:p>
          <a:p>
            <a:r>
              <a:rPr lang="en-US" altLang="ko-KR" dirty="0" smtClean="0">
                <a:solidFill>
                  <a:prstClr val="black"/>
                </a:solidFill>
              </a:rPr>
              <a:t>/</a:t>
            </a:r>
            <a:r>
              <a:rPr lang="en-US" altLang="ko-KR" dirty="0" err="1" smtClean="0">
                <a:solidFill>
                  <a:prstClr val="black"/>
                </a:solidFill>
              </a:rPr>
              <a:t>src</a:t>
            </a:r>
            <a:r>
              <a:rPr lang="en-US" altLang="ko-KR" dirty="0" smtClean="0">
                <a:solidFill>
                  <a:prstClr val="black"/>
                </a:solidFill>
              </a:rPr>
              <a:t>/Obj.java</a:t>
            </a:r>
            <a:endParaRPr lang="ko-KR" altLang="en-US" dirty="0">
              <a:solidFill>
                <a:prstClr val="black"/>
              </a:solidFill>
            </a:endParaRPr>
          </a:p>
        </p:txBody>
      </p:sp>
      <p:sp>
        <p:nvSpPr>
          <p:cNvPr id="7" name="가로로 말린 두루마리 모양 6"/>
          <p:cNvSpPr/>
          <p:nvPr/>
        </p:nvSpPr>
        <p:spPr>
          <a:xfrm>
            <a:off x="5109210" y="1706193"/>
            <a:ext cx="3543299" cy="888417"/>
          </a:xfrm>
          <a:prstGeom prst="horizontalScroll">
            <a:avLst>
              <a:gd name="adj" fmla="val 13671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smtClean="0"/>
              <a:t>draw </a:t>
            </a:r>
            <a:r>
              <a:rPr lang="ko-KR" altLang="en-US" dirty="0" err="1" smtClean="0"/>
              <a:t>매서드에서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버텍스</a:t>
            </a:r>
            <a:r>
              <a:rPr lang="ko-KR" altLang="en-US" dirty="0" smtClean="0"/>
              <a:t> 버퍼에 있는 내용을 </a:t>
            </a:r>
            <a:r>
              <a:rPr lang="en-US" altLang="ko-KR" dirty="0" smtClean="0"/>
              <a:t>GL</a:t>
            </a:r>
            <a:r>
              <a:rPr lang="ko-KR" altLang="en-US" dirty="0" smtClean="0"/>
              <a:t>로 그리기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05891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45</a:t>
            </a:fld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Tri class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97230" y="1926491"/>
            <a:ext cx="3775393" cy="246221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rgbClr val="7F0055"/>
                </a:solidFill>
                <a:latin typeface="돋움체"/>
                <a:ea typeface="돋움체"/>
              </a:rPr>
              <a:t>public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>
                <a:solidFill>
                  <a:srgbClr val="7F0055"/>
                </a:solidFill>
                <a:latin typeface="돋움체"/>
                <a:ea typeface="돋움체"/>
              </a:rPr>
              <a:t>class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Tri </a:t>
            </a:r>
            <a:r>
              <a:rPr lang="en-US" altLang="ko-KR" sz="1400" dirty="0">
                <a:solidFill>
                  <a:srgbClr val="7F0055"/>
                </a:solidFill>
                <a:latin typeface="돋움체"/>
                <a:ea typeface="돋움체"/>
              </a:rPr>
              <a:t>extends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Obj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{</a:t>
            </a:r>
          </a:p>
          <a:p>
            <a:r>
              <a:rPr lang="en-US" altLang="ko-KR" sz="1400" dirty="0" smtClean="0">
                <a:solidFill>
                  <a:srgbClr val="7F0055"/>
                </a:solidFill>
                <a:latin typeface="돋움체"/>
                <a:ea typeface="돋움체"/>
              </a:rPr>
              <a:t>    private static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 smtClean="0">
                <a:solidFill>
                  <a:srgbClr val="7F0055"/>
                </a:solidFill>
                <a:latin typeface="돋움체"/>
                <a:ea typeface="돋움체"/>
              </a:rPr>
              <a:t>float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>
                <a:solidFill>
                  <a:srgbClr val="0000C0"/>
                </a:solidFill>
                <a:latin typeface="돋움체"/>
                <a:ea typeface="돋움체"/>
              </a:rPr>
              <a:t>vertices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[] = { 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 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0.0f,  1.0f, 0.0f,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-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1.0f, -1.0f, 0.0f,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 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1.0f, -1.0f, 0.0f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};</a:t>
            </a:r>
            <a:endParaRPr lang="en-US" altLang="ko-KR" sz="1400" dirty="0">
              <a:solidFill>
                <a:srgbClr val="000000"/>
              </a:solidFill>
              <a:latin typeface="돋움체"/>
              <a:ea typeface="돋움체"/>
            </a:endParaRPr>
          </a:p>
          <a:p>
            <a:r>
              <a:rPr lang="en-US" altLang="ko-KR" sz="1400" dirty="0" smtClean="0">
                <a:solidFill>
                  <a:srgbClr val="7F0055"/>
                </a:solidFill>
                <a:latin typeface="돋움체"/>
                <a:ea typeface="돋움체"/>
              </a:rPr>
              <a:t>    private static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>
                <a:solidFill>
                  <a:srgbClr val="7F0055"/>
                </a:solidFill>
                <a:latin typeface="돋움체"/>
                <a:ea typeface="돋움체"/>
              </a:rPr>
              <a:t>float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>
                <a:solidFill>
                  <a:srgbClr val="0000C0"/>
                </a:solidFill>
                <a:latin typeface="돋움체"/>
                <a:ea typeface="돋움체"/>
              </a:rPr>
              <a:t>colors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[] = {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1.0f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, 0.0f, 0.0f, 1.0f,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0.0f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, 1.0f, 0.0f, 1.0f,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0.0f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, 0.0f, 1.0f, 1.0f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};</a:t>
            </a:r>
            <a:endParaRPr lang="en-US" altLang="ko-KR" sz="1400" dirty="0">
              <a:solidFill>
                <a:srgbClr val="000000"/>
              </a:solidFill>
              <a:latin typeface="돋움체"/>
              <a:ea typeface="돋움체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97230" y="1280160"/>
            <a:ext cx="13739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 smtClean="0">
                <a:solidFill>
                  <a:prstClr val="black"/>
                </a:solidFill>
              </a:rPr>
              <a:t>Ex_GLES</a:t>
            </a:r>
            <a:endParaRPr lang="en-US" altLang="ko-KR" b="1" dirty="0" smtClean="0">
              <a:solidFill>
                <a:prstClr val="black"/>
              </a:solidFill>
            </a:endParaRPr>
          </a:p>
          <a:p>
            <a:r>
              <a:rPr lang="en-US" altLang="ko-KR" dirty="0" smtClean="0">
                <a:solidFill>
                  <a:prstClr val="black"/>
                </a:solidFill>
              </a:rPr>
              <a:t>/</a:t>
            </a:r>
            <a:r>
              <a:rPr lang="en-US" altLang="ko-KR" dirty="0" err="1" smtClean="0">
                <a:solidFill>
                  <a:prstClr val="black"/>
                </a:solidFill>
              </a:rPr>
              <a:t>src</a:t>
            </a:r>
            <a:r>
              <a:rPr lang="en-US" altLang="ko-KR" dirty="0" smtClean="0">
                <a:solidFill>
                  <a:prstClr val="black"/>
                </a:solidFill>
              </a:rPr>
              <a:t>/Tri.java</a:t>
            </a:r>
            <a:endParaRPr lang="ko-KR" altLang="en-US" dirty="0">
              <a:solidFill>
                <a:prstClr val="black"/>
              </a:solidFill>
            </a:endParaRPr>
          </a:p>
        </p:txBody>
      </p:sp>
      <p:sp>
        <p:nvSpPr>
          <p:cNvPr id="7" name="가로로 말린 두루마리 모양 6"/>
          <p:cNvSpPr/>
          <p:nvPr/>
        </p:nvSpPr>
        <p:spPr>
          <a:xfrm>
            <a:off x="5383530" y="1706193"/>
            <a:ext cx="3268979" cy="762687"/>
          </a:xfrm>
          <a:prstGeom prst="horizontalScroll">
            <a:avLst>
              <a:gd name="adj" fmla="val 13671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smtClean="0"/>
              <a:t>Tri </a:t>
            </a:r>
            <a:r>
              <a:rPr lang="ko-KR" altLang="en-US" dirty="0" smtClean="0"/>
              <a:t>클래스 추가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586260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46</a:t>
            </a:fld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Tri class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97230" y="1926491"/>
            <a:ext cx="7007046" cy="397031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endParaRPr lang="ko-KR" altLang="en-US" sz="1400" dirty="0">
              <a:latin typeface="돋움체"/>
              <a:ea typeface="돋움체"/>
            </a:endParaRPr>
          </a:p>
          <a:p>
            <a:r>
              <a:rPr lang="en-US" altLang="ko-KR" sz="1400" dirty="0" smtClean="0">
                <a:solidFill>
                  <a:srgbClr val="7F0055"/>
                </a:solidFill>
                <a:latin typeface="돋움체"/>
                <a:ea typeface="돋움체"/>
              </a:rPr>
              <a:t>    public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Tri() {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 err="1" smtClean="0">
                <a:solidFill>
                  <a:srgbClr val="000000"/>
                </a:solidFill>
                <a:latin typeface="돋움체"/>
                <a:ea typeface="돋움체"/>
              </a:rPr>
              <a:t>ByteBuffer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byteBuf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=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ByteBuffer.allocateDirect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400" dirty="0" err="1">
                <a:solidFill>
                  <a:srgbClr val="0000C0"/>
                </a:solidFill>
                <a:latin typeface="돋움체"/>
                <a:ea typeface="돋움체"/>
              </a:rPr>
              <a:t>vertices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.</a:t>
            </a:r>
            <a:r>
              <a:rPr lang="en-US" altLang="ko-KR" sz="1400" dirty="0" err="1">
                <a:solidFill>
                  <a:srgbClr val="0000C0"/>
                </a:solidFill>
                <a:latin typeface="돋움체"/>
                <a:ea typeface="돋움체"/>
              </a:rPr>
              <a:t>length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* 4);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 err="1" smtClean="0">
                <a:solidFill>
                  <a:srgbClr val="000000"/>
                </a:solidFill>
                <a:latin typeface="돋움체"/>
                <a:ea typeface="돋움체"/>
              </a:rPr>
              <a:t>byteBuf.order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400" dirty="0" err="1" smtClean="0">
                <a:solidFill>
                  <a:srgbClr val="000000"/>
                </a:solidFill>
                <a:latin typeface="돋움체"/>
                <a:ea typeface="돋움체"/>
              </a:rPr>
              <a:t>ByteOrder.nativeOrder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());</a:t>
            </a:r>
          </a:p>
          <a:p>
            <a:r>
              <a:rPr lang="en-US" altLang="ko-KR" sz="1400" dirty="0" smtClean="0">
                <a:solidFill>
                  <a:srgbClr val="0000C0"/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 err="1" smtClean="0">
                <a:solidFill>
                  <a:srgbClr val="0000C0"/>
                </a:solidFill>
                <a:latin typeface="돋움체"/>
                <a:ea typeface="돋움체"/>
              </a:rPr>
              <a:t>vertexBuffer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=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byteBuf.asFloatBuffer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();</a:t>
            </a:r>
          </a:p>
          <a:p>
            <a:r>
              <a:rPr lang="en-US" altLang="ko-KR" sz="1400" dirty="0" smtClean="0">
                <a:solidFill>
                  <a:srgbClr val="0000C0"/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 err="1" smtClean="0">
                <a:solidFill>
                  <a:srgbClr val="0000C0"/>
                </a:solidFill>
                <a:latin typeface="돋움체"/>
                <a:ea typeface="돋움체"/>
              </a:rPr>
              <a:t>vertexBuffer</a:t>
            </a:r>
            <a:r>
              <a:rPr lang="en-US" altLang="ko-KR" sz="1400" dirty="0" err="1" smtClean="0">
                <a:solidFill>
                  <a:srgbClr val="000000"/>
                </a:solidFill>
                <a:latin typeface="돋움체"/>
                <a:ea typeface="돋움체"/>
              </a:rPr>
              <a:t>.put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400" dirty="0" smtClean="0">
                <a:solidFill>
                  <a:srgbClr val="0000C0"/>
                </a:solidFill>
                <a:latin typeface="돋움체"/>
                <a:ea typeface="돋움체"/>
              </a:rPr>
              <a:t>vertices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400" dirty="0" smtClean="0">
                <a:solidFill>
                  <a:srgbClr val="0000C0"/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 err="1" smtClean="0">
                <a:solidFill>
                  <a:srgbClr val="0000C0"/>
                </a:solidFill>
                <a:latin typeface="돋움체"/>
                <a:ea typeface="돋움체"/>
              </a:rPr>
              <a:t>vertexBuffer</a:t>
            </a:r>
            <a:r>
              <a:rPr lang="en-US" altLang="ko-KR" sz="1400" dirty="0" err="1" smtClean="0">
                <a:solidFill>
                  <a:srgbClr val="000000"/>
                </a:solidFill>
                <a:latin typeface="돋움체"/>
                <a:ea typeface="돋움체"/>
              </a:rPr>
              <a:t>.position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(0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endParaRPr lang="ko-KR" altLang="en-US" sz="1400" dirty="0">
              <a:latin typeface="돋움체"/>
              <a:ea typeface="돋움체"/>
            </a:endParaRP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 err="1" smtClean="0">
                <a:solidFill>
                  <a:srgbClr val="000000"/>
                </a:solidFill>
                <a:latin typeface="돋움체"/>
                <a:ea typeface="돋움체"/>
              </a:rPr>
              <a:t>byteBuf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=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ByteBuffer.allocateDirect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400" dirty="0" err="1">
                <a:solidFill>
                  <a:srgbClr val="0000C0"/>
                </a:solidFill>
                <a:latin typeface="돋움체"/>
                <a:ea typeface="돋움체"/>
              </a:rPr>
              <a:t>colors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.</a:t>
            </a:r>
            <a:r>
              <a:rPr lang="en-US" altLang="ko-KR" sz="1400" dirty="0" err="1">
                <a:solidFill>
                  <a:srgbClr val="0000C0"/>
                </a:solidFill>
                <a:latin typeface="돋움체"/>
                <a:ea typeface="돋움체"/>
              </a:rPr>
              <a:t>length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* 4);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 err="1" smtClean="0">
                <a:solidFill>
                  <a:srgbClr val="000000"/>
                </a:solidFill>
                <a:latin typeface="돋움체"/>
                <a:ea typeface="돋움체"/>
              </a:rPr>
              <a:t>byteBuf.order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400" dirty="0" err="1" smtClean="0">
                <a:solidFill>
                  <a:srgbClr val="000000"/>
                </a:solidFill>
                <a:latin typeface="돋움체"/>
                <a:ea typeface="돋움체"/>
              </a:rPr>
              <a:t>ByteOrder.nativeOrder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());</a:t>
            </a:r>
          </a:p>
          <a:p>
            <a:r>
              <a:rPr lang="en-US" altLang="ko-KR" sz="1400" dirty="0" smtClean="0">
                <a:solidFill>
                  <a:srgbClr val="0000C0"/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 err="1" smtClean="0">
                <a:solidFill>
                  <a:srgbClr val="0000C0"/>
                </a:solidFill>
                <a:latin typeface="돋움체"/>
                <a:ea typeface="돋움체"/>
              </a:rPr>
              <a:t>colorBuffer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=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byteBuf.asFloatBuffer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();</a:t>
            </a:r>
          </a:p>
          <a:p>
            <a:r>
              <a:rPr lang="en-US" altLang="ko-KR" sz="1400" dirty="0" smtClean="0">
                <a:solidFill>
                  <a:srgbClr val="0000C0"/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 err="1" smtClean="0">
                <a:solidFill>
                  <a:srgbClr val="0000C0"/>
                </a:solidFill>
                <a:latin typeface="돋움체"/>
                <a:ea typeface="돋움체"/>
              </a:rPr>
              <a:t>colorBuffer</a:t>
            </a:r>
            <a:r>
              <a:rPr lang="en-US" altLang="ko-KR" sz="1400" dirty="0" err="1" smtClean="0">
                <a:solidFill>
                  <a:srgbClr val="000000"/>
                </a:solidFill>
                <a:latin typeface="돋움체"/>
                <a:ea typeface="돋움체"/>
              </a:rPr>
              <a:t>.put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400" dirty="0" smtClean="0">
                <a:solidFill>
                  <a:srgbClr val="0000C0"/>
                </a:solidFill>
                <a:latin typeface="돋움체"/>
                <a:ea typeface="돋움체"/>
              </a:rPr>
              <a:t>colors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400" dirty="0" smtClean="0">
                <a:solidFill>
                  <a:srgbClr val="0000C0"/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 err="1" smtClean="0">
                <a:solidFill>
                  <a:srgbClr val="0000C0"/>
                </a:solidFill>
                <a:latin typeface="돋움체"/>
                <a:ea typeface="돋움체"/>
              </a:rPr>
              <a:t>colorBuffer</a:t>
            </a:r>
            <a:r>
              <a:rPr lang="en-US" altLang="ko-KR" sz="1400" dirty="0" err="1" smtClean="0">
                <a:solidFill>
                  <a:srgbClr val="000000"/>
                </a:solidFill>
                <a:latin typeface="돋움체"/>
                <a:ea typeface="돋움체"/>
              </a:rPr>
              <a:t>.position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(0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endParaRPr lang="ko-KR" altLang="en-US" sz="1400" dirty="0">
              <a:latin typeface="돋움체"/>
              <a:ea typeface="돋움체"/>
            </a:endParaRPr>
          </a:p>
          <a:p>
            <a:r>
              <a:rPr lang="en-US" altLang="ko-KR" sz="1400" dirty="0" smtClean="0">
                <a:solidFill>
                  <a:srgbClr val="0000C0"/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 err="1" smtClean="0">
                <a:solidFill>
                  <a:srgbClr val="0000C0"/>
                </a:solidFill>
                <a:latin typeface="돋움체"/>
                <a:ea typeface="돋움체"/>
              </a:rPr>
              <a:t>vertexLength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= </a:t>
            </a:r>
            <a:r>
              <a:rPr lang="en-US" altLang="ko-KR" sz="1400" dirty="0" err="1">
                <a:solidFill>
                  <a:srgbClr val="0000C0"/>
                </a:solidFill>
                <a:latin typeface="돋움체"/>
                <a:ea typeface="돋움체"/>
              </a:rPr>
              <a:t>vertices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.</a:t>
            </a:r>
            <a:r>
              <a:rPr lang="en-US" altLang="ko-KR" sz="1400" dirty="0" err="1">
                <a:solidFill>
                  <a:srgbClr val="0000C0"/>
                </a:solidFill>
                <a:latin typeface="돋움체"/>
                <a:ea typeface="돋움체"/>
              </a:rPr>
              <a:t>length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/ 3;</a:t>
            </a:r>
          </a:p>
          <a:p>
            <a:r>
              <a:rPr lang="en-US" altLang="ko-KR" sz="1400" dirty="0" smtClean="0">
                <a:solidFill>
                  <a:srgbClr val="0000C0"/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 err="1" smtClean="0">
                <a:solidFill>
                  <a:srgbClr val="0000C0"/>
                </a:solidFill>
                <a:latin typeface="돋움체"/>
                <a:ea typeface="돋움체"/>
              </a:rPr>
              <a:t>colorVertex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= </a:t>
            </a:r>
            <a:r>
              <a:rPr lang="en-US" altLang="ko-KR" sz="1400" dirty="0">
                <a:solidFill>
                  <a:srgbClr val="7F0055"/>
                </a:solidFill>
                <a:latin typeface="돋움체"/>
                <a:ea typeface="돋움체"/>
              </a:rPr>
              <a:t>true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;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}</a:t>
            </a:r>
            <a:endParaRPr lang="en-US" altLang="ko-KR" sz="1400" dirty="0">
              <a:solidFill>
                <a:srgbClr val="000000"/>
              </a:solidFill>
              <a:latin typeface="돋움체"/>
              <a:ea typeface="돋움체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7230" y="1280160"/>
            <a:ext cx="13739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 smtClean="0">
                <a:solidFill>
                  <a:prstClr val="black"/>
                </a:solidFill>
              </a:rPr>
              <a:t>Ex_GLES</a:t>
            </a:r>
            <a:endParaRPr lang="en-US" altLang="ko-KR" b="1" dirty="0" smtClean="0">
              <a:solidFill>
                <a:prstClr val="black"/>
              </a:solidFill>
            </a:endParaRPr>
          </a:p>
          <a:p>
            <a:r>
              <a:rPr lang="en-US" altLang="ko-KR" dirty="0" smtClean="0">
                <a:solidFill>
                  <a:prstClr val="black"/>
                </a:solidFill>
              </a:rPr>
              <a:t>/</a:t>
            </a:r>
            <a:r>
              <a:rPr lang="en-US" altLang="ko-KR" dirty="0" err="1" smtClean="0">
                <a:solidFill>
                  <a:prstClr val="black"/>
                </a:solidFill>
              </a:rPr>
              <a:t>src</a:t>
            </a:r>
            <a:r>
              <a:rPr lang="en-US" altLang="ko-KR" dirty="0" smtClean="0">
                <a:solidFill>
                  <a:prstClr val="black"/>
                </a:solidFill>
              </a:rPr>
              <a:t>/Tri.java</a:t>
            </a:r>
            <a:endParaRPr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087055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47</a:t>
            </a:fld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Rect</a:t>
            </a:r>
            <a:r>
              <a:rPr lang="en-US" altLang="ko-KR" dirty="0" smtClean="0"/>
              <a:t> class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97230" y="1926491"/>
            <a:ext cx="3775393" cy="310854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rgbClr val="7F0055"/>
                </a:solidFill>
                <a:latin typeface="돋움체"/>
                <a:ea typeface="돋움체"/>
              </a:rPr>
              <a:t>public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>
                <a:solidFill>
                  <a:srgbClr val="7F0055"/>
                </a:solidFill>
                <a:latin typeface="돋움체"/>
                <a:ea typeface="돋움체"/>
              </a:rPr>
              <a:t>class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Rect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>
                <a:solidFill>
                  <a:srgbClr val="7F0055"/>
                </a:solidFill>
                <a:latin typeface="돋움체"/>
                <a:ea typeface="돋움체"/>
              </a:rPr>
              <a:t>extends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Obj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{</a:t>
            </a:r>
          </a:p>
          <a:p>
            <a:r>
              <a:rPr lang="en-US" altLang="ko-KR" sz="1400" dirty="0" smtClean="0">
                <a:solidFill>
                  <a:srgbClr val="7F0055"/>
                </a:solidFill>
                <a:latin typeface="돋움체"/>
                <a:ea typeface="돋움체"/>
              </a:rPr>
              <a:t>    private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>
                <a:solidFill>
                  <a:srgbClr val="7F0055"/>
                </a:solidFill>
                <a:latin typeface="돋움체"/>
                <a:ea typeface="돋움체"/>
              </a:rPr>
              <a:t>static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>
                <a:solidFill>
                  <a:srgbClr val="7F0055"/>
                </a:solidFill>
                <a:latin typeface="돋움체"/>
                <a:ea typeface="돋움체"/>
              </a:rPr>
              <a:t>float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>
                <a:solidFill>
                  <a:srgbClr val="0000C0"/>
                </a:solidFill>
                <a:latin typeface="돋움체"/>
                <a:ea typeface="돋움체"/>
              </a:rPr>
              <a:t>vertices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[] = { 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-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1.0f, -1.0f, 0.0f,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 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1.0f, -1.0f, 0.0f,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-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1.0f,  1.0f, 0.0f,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 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1.0f,  1.0f, 0.0f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};</a:t>
            </a:r>
            <a:endParaRPr lang="en-US" altLang="ko-KR" sz="1400" dirty="0">
              <a:solidFill>
                <a:srgbClr val="000000"/>
              </a:solidFill>
              <a:latin typeface="돋움체"/>
              <a:ea typeface="돋움체"/>
            </a:endParaRPr>
          </a:p>
          <a:p>
            <a:r>
              <a:rPr lang="en-US" altLang="ko-KR" sz="1400" dirty="0" smtClean="0">
                <a:solidFill>
                  <a:srgbClr val="7F0055"/>
                </a:solidFill>
                <a:latin typeface="돋움체"/>
                <a:ea typeface="돋움체"/>
              </a:rPr>
              <a:t>    private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>
                <a:solidFill>
                  <a:srgbClr val="7F0055"/>
                </a:solidFill>
                <a:latin typeface="돋움체"/>
                <a:ea typeface="돋움체"/>
              </a:rPr>
              <a:t>static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>
                <a:solidFill>
                  <a:srgbClr val="7F0055"/>
                </a:solidFill>
                <a:latin typeface="돋움체"/>
                <a:ea typeface="돋움체"/>
              </a:rPr>
              <a:t>float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>
                <a:solidFill>
                  <a:srgbClr val="0000C0"/>
                </a:solidFill>
                <a:latin typeface="돋움체"/>
                <a:ea typeface="돋움체"/>
              </a:rPr>
              <a:t>colors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[] = {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1.0f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, 0.0f, 0.0f, 1.0f,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0.0f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, 1.0f, 0.0f, 1.0f,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0.0f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, 0.0f, 1.0f, 1.0f,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1.0f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, 1.0f, 1.0f, 1.0f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};</a:t>
            </a:r>
            <a:endParaRPr lang="en-US" altLang="ko-KR" sz="1400" dirty="0">
              <a:solidFill>
                <a:srgbClr val="000000"/>
              </a:solidFill>
              <a:latin typeface="돋움체"/>
              <a:ea typeface="돋움체"/>
            </a:endParaRPr>
          </a:p>
          <a:p>
            <a:endParaRPr lang="ko-KR" altLang="en-US" sz="1400" dirty="0">
              <a:latin typeface="돋움체"/>
              <a:ea typeface="돋움체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97230" y="1280160"/>
            <a:ext cx="15329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 smtClean="0">
                <a:solidFill>
                  <a:prstClr val="black"/>
                </a:solidFill>
              </a:rPr>
              <a:t>Ex_GLES</a:t>
            </a:r>
            <a:endParaRPr lang="en-US" altLang="ko-KR" b="1" dirty="0" smtClean="0">
              <a:solidFill>
                <a:prstClr val="black"/>
              </a:solidFill>
            </a:endParaRPr>
          </a:p>
          <a:p>
            <a:r>
              <a:rPr lang="en-US" altLang="ko-KR" dirty="0" smtClean="0">
                <a:solidFill>
                  <a:prstClr val="black"/>
                </a:solidFill>
              </a:rPr>
              <a:t>/</a:t>
            </a:r>
            <a:r>
              <a:rPr lang="en-US" altLang="ko-KR" dirty="0" err="1" smtClean="0">
                <a:solidFill>
                  <a:prstClr val="black"/>
                </a:solidFill>
              </a:rPr>
              <a:t>src</a:t>
            </a:r>
            <a:r>
              <a:rPr lang="en-US" altLang="ko-KR" dirty="0" smtClean="0">
                <a:solidFill>
                  <a:prstClr val="black"/>
                </a:solidFill>
              </a:rPr>
              <a:t>/Rect.java</a:t>
            </a:r>
            <a:endParaRPr lang="ko-KR" altLang="en-US" dirty="0">
              <a:solidFill>
                <a:prstClr val="black"/>
              </a:solidFill>
            </a:endParaRPr>
          </a:p>
        </p:txBody>
      </p:sp>
      <p:sp>
        <p:nvSpPr>
          <p:cNvPr id="7" name="가로로 말린 두루마리 모양 6"/>
          <p:cNvSpPr/>
          <p:nvPr/>
        </p:nvSpPr>
        <p:spPr>
          <a:xfrm>
            <a:off x="5383530" y="1706193"/>
            <a:ext cx="3268979" cy="762687"/>
          </a:xfrm>
          <a:prstGeom prst="horizontalScroll">
            <a:avLst>
              <a:gd name="adj" fmla="val 13671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err="1" smtClean="0"/>
              <a:t>Rect</a:t>
            </a:r>
            <a:r>
              <a:rPr lang="en-US" altLang="ko-KR" dirty="0" smtClean="0"/>
              <a:t> </a:t>
            </a:r>
            <a:r>
              <a:rPr lang="ko-KR" altLang="en-US" dirty="0" smtClean="0"/>
              <a:t>클래스 추가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7668390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48</a:t>
            </a:fld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Rect</a:t>
            </a:r>
            <a:r>
              <a:rPr lang="en-US" altLang="ko-KR" dirty="0"/>
              <a:t> class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97230" y="1926491"/>
            <a:ext cx="7007046" cy="397031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endParaRPr lang="en-US" altLang="ko-KR" sz="1400" dirty="0" smtClean="0">
              <a:solidFill>
                <a:srgbClr val="7F0055"/>
              </a:solidFill>
              <a:latin typeface="돋움체"/>
              <a:ea typeface="돋움체"/>
            </a:endParaRPr>
          </a:p>
          <a:p>
            <a:r>
              <a:rPr lang="en-US" altLang="ko-KR" sz="1400" dirty="0" smtClean="0">
                <a:solidFill>
                  <a:srgbClr val="7F0055"/>
                </a:solidFill>
                <a:latin typeface="돋움체"/>
                <a:ea typeface="돋움체"/>
              </a:rPr>
              <a:t>    public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Rect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() 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{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 err="1" smtClean="0">
                <a:solidFill>
                  <a:srgbClr val="000000"/>
                </a:solidFill>
                <a:latin typeface="돋움체"/>
                <a:ea typeface="돋움체"/>
              </a:rPr>
              <a:t>ByteBuffer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byteBuf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=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ByteBuffer.allocateDirect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400" dirty="0" err="1">
                <a:solidFill>
                  <a:srgbClr val="0000C0"/>
                </a:solidFill>
                <a:latin typeface="돋움체"/>
                <a:ea typeface="돋움체"/>
              </a:rPr>
              <a:t>vertices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.</a:t>
            </a:r>
            <a:r>
              <a:rPr lang="en-US" altLang="ko-KR" sz="1400" dirty="0" err="1">
                <a:solidFill>
                  <a:srgbClr val="0000C0"/>
                </a:solidFill>
                <a:latin typeface="돋움체"/>
                <a:ea typeface="돋움체"/>
              </a:rPr>
              <a:t>length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* 4);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 err="1" smtClean="0">
                <a:solidFill>
                  <a:srgbClr val="000000"/>
                </a:solidFill>
                <a:latin typeface="돋움체"/>
                <a:ea typeface="돋움체"/>
              </a:rPr>
              <a:t>byteBuf.order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400" dirty="0" err="1" smtClean="0">
                <a:solidFill>
                  <a:srgbClr val="000000"/>
                </a:solidFill>
                <a:latin typeface="돋움체"/>
                <a:ea typeface="돋움체"/>
              </a:rPr>
              <a:t>ByteOrder.nativeOrder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());</a:t>
            </a:r>
          </a:p>
          <a:p>
            <a:r>
              <a:rPr lang="en-US" altLang="ko-KR" sz="1400" dirty="0" smtClean="0">
                <a:solidFill>
                  <a:srgbClr val="0000C0"/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 err="1" smtClean="0">
                <a:solidFill>
                  <a:srgbClr val="0000C0"/>
                </a:solidFill>
                <a:latin typeface="돋움체"/>
                <a:ea typeface="돋움체"/>
              </a:rPr>
              <a:t>vertexBuffer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=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byteBuf.asFloatBuffer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();</a:t>
            </a:r>
          </a:p>
          <a:p>
            <a:r>
              <a:rPr lang="en-US" altLang="ko-KR" sz="1400" dirty="0" smtClean="0">
                <a:solidFill>
                  <a:srgbClr val="0000C0"/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 err="1" smtClean="0">
                <a:solidFill>
                  <a:srgbClr val="0000C0"/>
                </a:solidFill>
                <a:latin typeface="돋움체"/>
                <a:ea typeface="돋움체"/>
              </a:rPr>
              <a:t>vertexBuffer</a:t>
            </a:r>
            <a:r>
              <a:rPr lang="en-US" altLang="ko-KR" sz="1400" dirty="0" err="1" smtClean="0">
                <a:solidFill>
                  <a:srgbClr val="000000"/>
                </a:solidFill>
                <a:latin typeface="돋움체"/>
                <a:ea typeface="돋움체"/>
              </a:rPr>
              <a:t>.put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400" dirty="0" smtClean="0">
                <a:solidFill>
                  <a:srgbClr val="0000C0"/>
                </a:solidFill>
                <a:latin typeface="돋움체"/>
                <a:ea typeface="돋움체"/>
              </a:rPr>
              <a:t>vertices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400" dirty="0" smtClean="0">
                <a:solidFill>
                  <a:srgbClr val="0000C0"/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 err="1" smtClean="0">
                <a:solidFill>
                  <a:srgbClr val="0000C0"/>
                </a:solidFill>
                <a:latin typeface="돋움체"/>
                <a:ea typeface="돋움체"/>
              </a:rPr>
              <a:t>vertexBuffer</a:t>
            </a:r>
            <a:r>
              <a:rPr lang="en-US" altLang="ko-KR" sz="1400" dirty="0" err="1" smtClean="0">
                <a:solidFill>
                  <a:srgbClr val="000000"/>
                </a:solidFill>
                <a:latin typeface="돋움체"/>
                <a:ea typeface="돋움체"/>
              </a:rPr>
              <a:t>.position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(0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endParaRPr lang="ko-KR" altLang="en-US" sz="1400" dirty="0">
              <a:latin typeface="돋움체"/>
              <a:ea typeface="돋움체"/>
            </a:endParaRP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 err="1" smtClean="0">
                <a:solidFill>
                  <a:srgbClr val="000000"/>
                </a:solidFill>
                <a:latin typeface="돋움체"/>
                <a:ea typeface="돋움체"/>
              </a:rPr>
              <a:t>byteBuf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=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ByteBuffer.allocateDirect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400" dirty="0" err="1">
                <a:solidFill>
                  <a:srgbClr val="0000C0"/>
                </a:solidFill>
                <a:latin typeface="돋움체"/>
                <a:ea typeface="돋움체"/>
              </a:rPr>
              <a:t>colors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.</a:t>
            </a:r>
            <a:r>
              <a:rPr lang="en-US" altLang="ko-KR" sz="1400" dirty="0" err="1">
                <a:solidFill>
                  <a:srgbClr val="0000C0"/>
                </a:solidFill>
                <a:latin typeface="돋움체"/>
                <a:ea typeface="돋움체"/>
              </a:rPr>
              <a:t>length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* 4);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 err="1" smtClean="0">
                <a:solidFill>
                  <a:srgbClr val="000000"/>
                </a:solidFill>
                <a:latin typeface="돋움체"/>
                <a:ea typeface="돋움체"/>
              </a:rPr>
              <a:t>byteBuf.order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400" dirty="0" err="1" smtClean="0">
                <a:solidFill>
                  <a:srgbClr val="000000"/>
                </a:solidFill>
                <a:latin typeface="돋움체"/>
                <a:ea typeface="돋움체"/>
              </a:rPr>
              <a:t>ByteOrder.nativeOrder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());</a:t>
            </a:r>
          </a:p>
          <a:p>
            <a:r>
              <a:rPr lang="en-US" altLang="ko-KR" sz="1400" dirty="0" smtClean="0">
                <a:solidFill>
                  <a:srgbClr val="0000C0"/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 err="1" smtClean="0">
                <a:solidFill>
                  <a:srgbClr val="0000C0"/>
                </a:solidFill>
                <a:latin typeface="돋움체"/>
                <a:ea typeface="돋움체"/>
              </a:rPr>
              <a:t>colorBuffer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=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byteBuf.asFloatBuffer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();</a:t>
            </a:r>
          </a:p>
          <a:p>
            <a:r>
              <a:rPr lang="en-US" altLang="ko-KR" sz="1400" dirty="0" smtClean="0">
                <a:solidFill>
                  <a:srgbClr val="0000C0"/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 err="1" smtClean="0">
                <a:solidFill>
                  <a:srgbClr val="0000C0"/>
                </a:solidFill>
                <a:latin typeface="돋움체"/>
                <a:ea typeface="돋움체"/>
              </a:rPr>
              <a:t>colorBuffer</a:t>
            </a:r>
            <a:r>
              <a:rPr lang="en-US" altLang="ko-KR" sz="1400" dirty="0" err="1" smtClean="0">
                <a:solidFill>
                  <a:srgbClr val="000000"/>
                </a:solidFill>
                <a:latin typeface="돋움체"/>
                <a:ea typeface="돋움체"/>
              </a:rPr>
              <a:t>.put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400" dirty="0" smtClean="0">
                <a:solidFill>
                  <a:srgbClr val="0000C0"/>
                </a:solidFill>
                <a:latin typeface="돋움체"/>
                <a:ea typeface="돋움체"/>
              </a:rPr>
              <a:t>colors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400" dirty="0" smtClean="0">
                <a:solidFill>
                  <a:srgbClr val="0000C0"/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 err="1" smtClean="0">
                <a:solidFill>
                  <a:srgbClr val="0000C0"/>
                </a:solidFill>
                <a:latin typeface="돋움체"/>
                <a:ea typeface="돋움체"/>
              </a:rPr>
              <a:t>colorBuffer</a:t>
            </a:r>
            <a:r>
              <a:rPr lang="en-US" altLang="ko-KR" sz="1400" dirty="0" err="1" smtClean="0">
                <a:solidFill>
                  <a:srgbClr val="000000"/>
                </a:solidFill>
                <a:latin typeface="돋움체"/>
                <a:ea typeface="돋움체"/>
              </a:rPr>
              <a:t>.position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(0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endParaRPr lang="ko-KR" altLang="en-US" sz="1400" dirty="0">
              <a:latin typeface="돋움체"/>
              <a:ea typeface="돋움체"/>
            </a:endParaRPr>
          </a:p>
          <a:p>
            <a:r>
              <a:rPr lang="en-US" altLang="ko-KR" sz="1400" dirty="0" smtClean="0">
                <a:solidFill>
                  <a:srgbClr val="0000C0"/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 err="1" smtClean="0">
                <a:solidFill>
                  <a:srgbClr val="0000C0"/>
                </a:solidFill>
                <a:latin typeface="돋움체"/>
                <a:ea typeface="돋움체"/>
              </a:rPr>
              <a:t>vertexLength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= </a:t>
            </a:r>
            <a:r>
              <a:rPr lang="en-US" altLang="ko-KR" sz="1400" dirty="0" err="1">
                <a:solidFill>
                  <a:srgbClr val="0000C0"/>
                </a:solidFill>
                <a:latin typeface="돋움체"/>
                <a:ea typeface="돋움체"/>
              </a:rPr>
              <a:t>vertices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.</a:t>
            </a:r>
            <a:r>
              <a:rPr lang="en-US" altLang="ko-KR" sz="1400" dirty="0" err="1">
                <a:solidFill>
                  <a:srgbClr val="0000C0"/>
                </a:solidFill>
                <a:latin typeface="돋움체"/>
                <a:ea typeface="돋움체"/>
              </a:rPr>
              <a:t>length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/ 3;</a:t>
            </a:r>
          </a:p>
          <a:p>
            <a:r>
              <a:rPr lang="en-US" altLang="ko-KR" sz="1400" dirty="0" smtClean="0">
                <a:solidFill>
                  <a:srgbClr val="0000C0"/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 err="1" smtClean="0">
                <a:solidFill>
                  <a:srgbClr val="0000C0"/>
                </a:solidFill>
                <a:latin typeface="돋움체"/>
                <a:ea typeface="돋움체"/>
              </a:rPr>
              <a:t>colorVertex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= </a:t>
            </a:r>
            <a:r>
              <a:rPr lang="en-US" altLang="ko-KR" sz="1400" dirty="0">
                <a:solidFill>
                  <a:srgbClr val="7F0055"/>
                </a:solidFill>
                <a:latin typeface="돋움체"/>
                <a:ea typeface="돋움체"/>
              </a:rPr>
              <a:t>true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;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}</a:t>
            </a:r>
            <a:endParaRPr lang="en-US" altLang="ko-KR" sz="1400" dirty="0">
              <a:solidFill>
                <a:srgbClr val="000000"/>
              </a:solidFill>
              <a:latin typeface="돋움체"/>
              <a:ea typeface="돋움체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7230" y="1280160"/>
            <a:ext cx="15329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 smtClean="0">
                <a:solidFill>
                  <a:prstClr val="black"/>
                </a:solidFill>
              </a:rPr>
              <a:t>Ex_GLES</a:t>
            </a:r>
            <a:endParaRPr lang="en-US" altLang="ko-KR" b="1" dirty="0" smtClean="0">
              <a:solidFill>
                <a:prstClr val="black"/>
              </a:solidFill>
            </a:endParaRPr>
          </a:p>
          <a:p>
            <a:r>
              <a:rPr lang="en-US" altLang="ko-KR" dirty="0" smtClean="0">
                <a:solidFill>
                  <a:prstClr val="black"/>
                </a:solidFill>
              </a:rPr>
              <a:t>/</a:t>
            </a:r>
            <a:r>
              <a:rPr lang="en-US" altLang="ko-KR" dirty="0" err="1" smtClean="0">
                <a:solidFill>
                  <a:prstClr val="black"/>
                </a:solidFill>
              </a:rPr>
              <a:t>src</a:t>
            </a:r>
            <a:r>
              <a:rPr lang="en-US" altLang="ko-KR" dirty="0" smtClean="0">
                <a:solidFill>
                  <a:prstClr val="black"/>
                </a:solidFill>
              </a:rPr>
              <a:t>/Rect.java</a:t>
            </a:r>
            <a:endParaRPr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952197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49</a:t>
            </a:fld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Triangle &amp; Rectangle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97230" y="1926491"/>
            <a:ext cx="7007046" cy="483209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public class Act1 extends Activity {</a:t>
            </a:r>
          </a:p>
          <a:p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private </a:t>
            </a:r>
            <a:r>
              <a:rPr lang="en-US" altLang="ko-KR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GLSurfaceView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glSurface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;</a:t>
            </a:r>
          </a:p>
          <a:p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…</a:t>
            </a:r>
          </a:p>
          <a:p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class </a:t>
            </a:r>
            <a:r>
              <a:rPr lang="en-US" altLang="ko-KR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MyRenderer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implements Renderer {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>
                <a:solidFill>
                  <a:srgbClr val="7F0055"/>
                </a:solidFill>
                <a:latin typeface="돋움체"/>
                <a:ea typeface="돋움체"/>
              </a:rPr>
              <a:t>private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Tri </a:t>
            </a:r>
            <a:r>
              <a:rPr lang="en-US" altLang="ko-KR" sz="1400" dirty="0">
                <a:solidFill>
                  <a:srgbClr val="0000C0"/>
                </a:solidFill>
                <a:latin typeface="돋움체"/>
                <a:ea typeface="돋움체"/>
              </a:rPr>
              <a:t>triangle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   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</a:t>
            </a:r>
            <a:r>
              <a:rPr lang="en-US" altLang="ko-KR" sz="1400" dirty="0" smtClean="0">
                <a:solidFill>
                  <a:srgbClr val="7F0055"/>
                </a:solidFill>
                <a:latin typeface="돋움체"/>
                <a:ea typeface="돋움체"/>
              </a:rPr>
              <a:t>private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Rect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>
                <a:solidFill>
                  <a:srgbClr val="0000C0"/>
                </a:solidFill>
                <a:latin typeface="돋움체"/>
                <a:ea typeface="돋움체"/>
              </a:rPr>
              <a:t>rectangle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;</a:t>
            </a:r>
          </a:p>
          <a:p>
            <a:endParaRPr lang="en-US" altLang="ko-KR" sz="1400" dirty="0" smtClean="0">
              <a:solidFill>
                <a:srgbClr val="7F0055"/>
              </a:solidFill>
              <a:latin typeface="돋움체"/>
              <a:ea typeface="돋움체"/>
            </a:endParaRPr>
          </a:p>
          <a:p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public </a:t>
            </a:r>
            <a:r>
              <a:rPr lang="en-US" altLang="ko-KR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MyRenderer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() {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dirty="0">
                <a:solidFill>
                  <a:srgbClr val="0000C0"/>
                </a:solidFill>
                <a:latin typeface="돋움체"/>
                <a:ea typeface="돋움체"/>
              </a:rPr>
              <a:t>triangle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= </a:t>
            </a:r>
            <a:r>
              <a:rPr lang="en-US" altLang="ko-KR" sz="1400" dirty="0">
                <a:solidFill>
                  <a:srgbClr val="7F0055"/>
                </a:solidFill>
                <a:latin typeface="돋움체"/>
                <a:ea typeface="돋움체"/>
              </a:rPr>
              <a:t>new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Tri();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dirty="0">
                <a:solidFill>
                  <a:srgbClr val="0000C0"/>
                </a:solidFill>
                <a:latin typeface="돋움체"/>
                <a:ea typeface="돋움체"/>
              </a:rPr>
              <a:t>rectangle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= </a:t>
            </a:r>
            <a:r>
              <a:rPr lang="en-US" altLang="ko-KR" sz="1400" dirty="0">
                <a:solidFill>
                  <a:srgbClr val="7F0055"/>
                </a:solidFill>
                <a:latin typeface="돋움체"/>
                <a:ea typeface="돋움체"/>
              </a:rPr>
              <a:t>new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Rect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();</a:t>
            </a:r>
          </a:p>
          <a:p>
            <a:r>
              <a:rPr lang="ko-KR" altLang="en-US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}</a:t>
            </a:r>
          </a:p>
          <a:p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…</a:t>
            </a:r>
          </a:p>
          <a:p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@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Override</a:t>
            </a:r>
          </a:p>
          <a:p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public 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void </a:t>
            </a:r>
            <a:r>
              <a:rPr lang="en-US" altLang="ko-KR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onDrawFrame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(GL10 </a:t>
            </a:r>
            <a:r>
              <a:rPr lang="en-US" altLang="ko-KR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gl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) {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dirty="0" err="1" smtClean="0">
                <a:solidFill>
                  <a:srgbClr val="000000"/>
                </a:solidFill>
                <a:latin typeface="돋움체"/>
                <a:ea typeface="돋움체"/>
              </a:rPr>
              <a:t>gl.glClear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(GL10.</a:t>
            </a:r>
            <a:r>
              <a:rPr lang="en-US" altLang="ko-KR" sz="1400" dirty="0" smtClean="0">
                <a:solidFill>
                  <a:srgbClr val="0000C0"/>
                </a:solidFill>
                <a:latin typeface="돋움체"/>
                <a:ea typeface="돋움체"/>
              </a:rPr>
              <a:t>GL_COLOR_BUFFER_BIT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| GL10.</a:t>
            </a:r>
            <a:r>
              <a:rPr lang="en-US" altLang="ko-KR" sz="1400" dirty="0">
                <a:solidFill>
                  <a:srgbClr val="0000C0"/>
                </a:solidFill>
                <a:latin typeface="돋움체"/>
                <a:ea typeface="돋움체"/>
              </a:rPr>
              <a:t>GL_DEPTH_BUFFER_BIT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dirty="0" err="1" smtClean="0">
                <a:solidFill>
                  <a:srgbClr val="000000"/>
                </a:solidFill>
                <a:latin typeface="돋움체"/>
                <a:ea typeface="돋움체"/>
              </a:rPr>
              <a:t>gl.glLoadIdentity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();</a:t>
            </a:r>
          </a:p>
          <a:p>
            <a:endParaRPr lang="ko-KR" altLang="en-US" sz="1400" dirty="0">
              <a:latin typeface="돋움체"/>
              <a:ea typeface="돋움체"/>
            </a:endParaRP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dirty="0" err="1" smtClean="0">
                <a:solidFill>
                  <a:srgbClr val="000000"/>
                </a:solidFill>
                <a:latin typeface="돋움체"/>
                <a:ea typeface="돋움체"/>
              </a:rPr>
              <a:t>gl.</a:t>
            </a:r>
            <a:r>
              <a:rPr lang="en-US" altLang="ko-KR" sz="1400" b="1" dirty="0" err="1" smtClean="0">
                <a:solidFill>
                  <a:srgbClr val="000000"/>
                </a:solidFill>
                <a:latin typeface="돋움체"/>
                <a:ea typeface="돋움체"/>
              </a:rPr>
              <a:t>glTranslatef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(0.0f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, -1.2f, -6.0f);</a:t>
            </a:r>
          </a:p>
          <a:p>
            <a:r>
              <a:rPr lang="en-US" altLang="ko-KR" sz="1400" dirty="0" smtClean="0">
                <a:solidFill>
                  <a:srgbClr val="0000C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dirty="0" err="1" smtClean="0">
                <a:solidFill>
                  <a:srgbClr val="0000C0"/>
                </a:solidFill>
                <a:latin typeface="돋움체"/>
                <a:ea typeface="돋움체"/>
              </a:rPr>
              <a:t>rectangle</a:t>
            </a:r>
            <a:r>
              <a:rPr lang="en-US" altLang="ko-KR" sz="1400" dirty="0" err="1" smtClean="0">
                <a:solidFill>
                  <a:srgbClr val="000000"/>
                </a:solidFill>
                <a:latin typeface="돋움체"/>
                <a:ea typeface="돋움체"/>
              </a:rPr>
              <a:t>.draw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400" dirty="0" err="1" smtClean="0">
                <a:solidFill>
                  <a:srgbClr val="000000"/>
                </a:solidFill>
                <a:latin typeface="돋움체"/>
                <a:ea typeface="돋움체"/>
              </a:rPr>
              <a:t>gl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dirty="0" err="1" smtClean="0">
                <a:solidFill>
                  <a:srgbClr val="000000"/>
                </a:solidFill>
                <a:latin typeface="돋움체"/>
                <a:ea typeface="돋움체"/>
              </a:rPr>
              <a:t>gl.</a:t>
            </a:r>
            <a:r>
              <a:rPr lang="en-US" altLang="ko-KR" sz="1400" b="1" dirty="0" err="1" smtClean="0">
                <a:solidFill>
                  <a:srgbClr val="000000"/>
                </a:solidFill>
                <a:latin typeface="돋움체"/>
                <a:ea typeface="돋움체"/>
              </a:rPr>
              <a:t>glTranslatef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(0.0f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, 2.5f, 0.0f);</a:t>
            </a:r>
          </a:p>
          <a:p>
            <a:r>
              <a:rPr lang="en-US" altLang="ko-KR" sz="1400" dirty="0" smtClean="0">
                <a:solidFill>
                  <a:srgbClr val="0000C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dirty="0" err="1" smtClean="0">
                <a:solidFill>
                  <a:srgbClr val="0000C0"/>
                </a:solidFill>
                <a:latin typeface="돋움체"/>
                <a:ea typeface="돋움체"/>
              </a:rPr>
              <a:t>triangle</a:t>
            </a:r>
            <a:r>
              <a:rPr lang="en-US" altLang="ko-KR" sz="1400" dirty="0" err="1" smtClean="0">
                <a:solidFill>
                  <a:srgbClr val="000000"/>
                </a:solidFill>
                <a:latin typeface="돋움체"/>
                <a:ea typeface="돋움체"/>
              </a:rPr>
              <a:t>.draw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400" dirty="0" err="1" smtClean="0">
                <a:solidFill>
                  <a:srgbClr val="000000"/>
                </a:solidFill>
                <a:latin typeface="돋움체"/>
                <a:ea typeface="돋움체"/>
              </a:rPr>
              <a:t>gl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}</a:t>
            </a:r>
            <a:endParaRPr lang="en-US" altLang="ko-KR" sz="1400" dirty="0">
              <a:solidFill>
                <a:schemeClr val="tx1">
                  <a:lumMod val="50000"/>
                  <a:lumOff val="50000"/>
                </a:schemeClr>
              </a:solidFill>
              <a:latin typeface="돋움체"/>
              <a:ea typeface="돋움체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97230" y="1280160"/>
            <a:ext cx="15634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 smtClean="0">
                <a:solidFill>
                  <a:prstClr val="black"/>
                </a:solidFill>
              </a:rPr>
              <a:t>Ex_GLES</a:t>
            </a:r>
            <a:endParaRPr lang="en-US" altLang="ko-KR" b="1" dirty="0" smtClean="0">
              <a:solidFill>
                <a:prstClr val="black"/>
              </a:solidFill>
            </a:endParaRPr>
          </a:p>
          <a:p>
            <a:r>
              <a:rPr lang="en-US" altLang="ko-KR" dirty="0" smtClean="0">
                <a:solidFill>
                  <a:prstClr val="black"/>
                </a:solidFill>
              </a:rPr>
              <a:t>/</a:t>
            </a:r>
            <a:r>
              <a:rPr lang="en-US" altLang="ko-KR" dirty="0" err="1" smtClean="0">
                <a:solidFill>
                  <a:prstClr val="black"/>
                </a:solidFill>
              </a:rPr>
              <a:t>src</a:t>
            </a:r>
            <a:r>
              <a:rPr lang="en-US" altLang="ko-KR" dirty="0" smtClean="0">
                <a:solidFill>
                  <a:prstClr val="black"/>
                </a:solidFill>
              </a:rPr>
              <a:t>/Act1.java</a:t>
            </a:r>
            <a:endParaRPr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304135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50</a:t>
            </a:fld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Triangle &amp; Rectangle</a:t>
            </a:r>
            <a:endParaRPr lang="ko-KR" altLang="en-US" dirty="0"/>
          </a:p>
        </p:txBody>
      </p:sp>
      <p:pic>
        <p:nvPicPr>
          <p:cNvPr id="4" name="Picture 2" descr="C:\Users\msKim\Desktop\2016-2 모바일앱프로그래밍 (교재)\drive-download-20161109T111332Z\dddfcv\Screenshot_1478764812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8814" y="1314643"/>
            <a:ext cx="2944350" cy="523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860249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51</a:t>
            </a:fld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Translate &amp; Rotate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97230" y="1926491"/>
            <a:ext cx="7866256" cy="461562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 pitchFamily="49" charset="-127"/>
                <a:ea typeface="돋움체" pitchFamily="49" charset="-127"/>
              </a:rPr>
              <a:t>    class </a:t>
            </a:r>
            <a:r>
              <a:rPr lang="en-US" altLang="ko-KR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 pitchFamily="49" charset="-127"/>
                <a:ea typeface="돋움체" pitchFamily="49" charset="-127"/>
              </a:rPr>
              <a:t>MyRenderer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 pitchFamily="49" charset="-127"/>
                <a:ea typeface="돋움체" pitchFamily="49" charset="-127"/>
              </a:rPr>
              <a:t> implements Renderer </a:t>
            </a:r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 pitchFamily="49" charset="-127"/>
                <a:ea typeface="돋움체" pitchFamily="49" charset="-127"/>
              </a:rPr>
              <a:t>{</a:t>
            </a:r>
            <a:endParaRPr lang="en-US" altLang="ko-KR" sz="1400" dirty="0" smtClean="0">
              <a:latin typeface="돋움체" pitchFamily="49" charset="-127"/>
              <a:ea typeface="돋움체" pitchFamily="49" charset="-127"/>
            </a:endParaRPr>
          </a:p>
          <a:p>
            <a:pPr latinLnBrk="0">
              <a:lnSpc>
                <a:spcPct val="115000"/>
              </a:lnSpc>
            </a:pPr>
            <a:r>
              <a:rPr lang="en-US" altLang="ko-KR" sz="1400" kern="0" dirty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  <a:cs typeface="Times New Roman"/>
              </a:rPr>
              <a:t>	</a:t>
            </a:r>
            <a:r>
              <a:rPr lang="en-US" altLang="ko-KR" sz="1400" b="1" kern="0" dirty="0">
                <a:solidFill>
                  <a:srgbClr val="7F0055"/>
                </a:solidFill>
                <a:latin typeface="돋움체" pitchFamily="49" charset="-127"/>
                <a:ea typeface="돋움체" pitchFamily="49" charset="-127"/>
                <a:cs typeface="Times New Roman"/>
              </a:rPr>
              <a:t>float</a:t>
            </a:r>
            <a:r>
              <a:rPr lang="en-US" altLang="ko-KR" sz="1400" kern="0" dirty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  <a:cs typeface="Times New Roman"/>
              </a:rPr>
              <a:t> </a:t>
            </a:r>
            <a:r>
              <a:rPr lang="en-US" altLang="ko-KR" sz="1400" kern="0" dirty="0" err="1">
                <a:solidFill>
                  <a:srgbClr val="0000C0"/>
                </a:solidFill>
                <a:latin typeface="돋움체" pitchFamily="49" charset="-127"/>
                <a:ea typeface="돋움체" pitchFamily="49" charset="-127"/>
                <a:cs typeface="Times New Roman"/>
              </a:rPr>
              <a:t>rotateRect</a:t>
            </a:r>
            <a:r>
              <a:rPr lang="en-US" altLang="ko-KR" sz="1400" kern="0" dirty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  <a:cs typeface="Times New Roman"/>
              </a:rPr>
              <a:t> = 0.0f;</a:t>
            </a:r>
            <a:endParaRPr lang="ko-KR" altLang="ko-KR" sz="1400" kern="100" dirty="0">
              <a:latin typeface="돋움체" pitchFamily="49" charset="-127"/>
              <a:ea typeface="돋움체" pitchFamily="49" charset="-127"/>
              <a:cs typeface="Times New Roman"/>
            </a:endParaRPr>
          </a:p>
          <a:p>
            <a:pPr latinLnBrk="0">
              <a:lnSpc>
                <a:spcPct val="115000"/>
              </a:lnSpc>
            </a:pPr>
            <a:r>
              <a:rPr lang="en-US" altLang="ko-KR" sz="1400" kern="0" dirty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  <a:cs typeface="Times New Roman"/>
              </a:rPr>
              <a:t>	</a:t>
            </a:r>
            <a:r>
              <a:rPr lang="en-US" altLang="ko-KR" sz="1400" b="1" kern="0" dirty="0">
                <a:solidFill>
                  <a:srgbClr val="7F0055"/>
                </a:solidFill>
                <a:latin typeface="돋움체" pitchFamily="49" charset="-127"/>
                <a:ea typeface="돋움체" pitchFamily="49" charset="-127"/>
                <a:cs typeface="Times New Roman"/>
              </a:rPr>
              <a:t>float</a:t>
            </a:r>
            <a:r>
              <a:rPr lang="en-US" altLang="ko-KR" sz="1400" kern="0" dirty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  <a:cs typeface="Times New Roman"/>
              </a:rPr>
              <a:t> </a:t>
            </a:r>
            <a:r>
              <a:rPr lang="en-US" altLang="ko-KR" sz="1400" kern="0" dirty="0" err="1">
                <a:solidFill>
                  <a:srgbClr val="0000C0"/>
                </a:solidFill>
                <a:latin typeface="돋움체" pitchFamily="49" charset="-127"/>
                <a:ea typeface="돋움체" pitchFamily="49" charset="-127"/>
                <a:cs typeface="Times New Roman"/>
              </a:rPr>
              <a:t>rotateTri</a:t>
            </a:r>
            <a:r>
              <a:rPr lang="en-US" altLang="ko-KR" sz="1400" kern="0" dirty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  <a:cs typeface="Times New Roman"/>
              </a:rPr>
              <a:t> = 0.0f</a:t>
            </a:r>
            <a:r>
              <a:rPr lang="en-US" altLang="ko-KR" sz="1400" kern="0" dirty="0" smtClean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  <a:cs typeface="Times New Roman"/>
              </a:rPr>
              <a:t>;</a:t>
            </a:r>
            <a:r>
              <a:rPr lang="en-US" altLang="ko-KR" sz="1400" kern="0" dirty="0">
                <a:latin typeface="돋움체" pitchFamily="49" charset="-127"/>
                <a:ea typeface="돋움체" pitchFamily="49" charset="-127"/>
                <a:cs typeface="Times New Roman"/>
              </a:rPr>
              <a:t> </a:t>
            </a:r>
            <a:endParaRPr lang="ko-KR" altLang="ko-KR" sz="1400" kern="100" dirty="0">
              <a:latin typeface="돋움체" pitchFamily="49" charset="-127"/>
              <a:ea typeface="돋움체" pitchFamily="49" charset="-127"/>
              <a:cs typeface="Times New Roman"/>
            </a:endParaRPr>
          </a:p>
          <a:p>
            <a:pPr latinLnBrk="0">
              <a:lnSpc>
                <a:spcPct val="115000"/>
              </a:lnSpc>
            </a:pPr>
            <a:r>
              <a:rPr lang="en-US" altLang="ko-KR" sz="1400" kern="0" dirty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  <a:cs typeface="Times New Roman"/>
              </a:rPr>
              <a:t>	</a:t>
            </a:r>
            <a:r>
              <a:rPr lang="en-US" altLang="ko-KR" sz="1400" kern="0" dirty="0">
                <a:solidFill>
                  <a:srgbClr val="646464"/>
                </a:solidFill>
                <a:latin typeface="돋움체" pitchFamily="49" charset="-127"/>
                <a:ea typeface="돋움체" pitchFamily="49" charset="-127"/>
                <a:cs typeface="Times New Roman"/>
              </a:rPr>
              <a:t>@Override</a:t>
            </a:r>
            <a:endParaRPr lang="ko-KR" altLang="ko-KR" sz="1400" kern="100" dirty="0">
              <a:latin typeface="돋움체" pitchFamily="49" charset="-127"/>
              <a:ea typeface="돋움체" pitchFamily="49" charset="-127"/>
              <a:cs typeface="Times New Roman"/>
            </a:endParaRPr>
          </a:p>
          <a:p>
            <a:pPr latinLnBrk="0">
              <a:lnSpc>
                <a:spcPct val="115000"/>
              </a:lnSpc>
            </a:pPr>
            <a:r>
              <a:rPr lang="en-US" altLang="ko-KR" sz="1400" kern="0" dirty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  <a:cs typeface="Times New Roman"/>
              </a:rPr>
              <a:t>	</a:t>
            </a:r>
            <a:r>
              <a:rPr lang="en-US" altLang="ko-KR" sz="1400" b="1" kern="0" dirty="0">
                <a:solidFill>
                  <a:srgbClr val="7F0055"/>
                </a:solidFill>
                <a:latin typeface="돋움체" pitchFamily="49" charset="-127"/>
                <a:ea typeface="돋움체" pitchFamily="49" charset="-127"/>
                <a:cs typeface="Times New Roman"/>
              </a:rPr>
              <a:t>public</a:t>
            </a:r>
            <a:r>
              <a:rPr lang="en-US" altLang="ko-KR" sz="1400" kern="0" dirty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  <a:cs typeface="Times New Roman"/>
              </a:rPr>
              <a:t> </a:t>
            </a:r>
            <a:r>
              <a:rPr lang="en-US" altLang="ko-KR" sz="1400" b="1" kern="0" dirty="0">
                <a:solidFill>
                  <a:srgbClr val="7F0055"/>
                </a:solidFill>
                <a:latin typeface="돋움체" pitchFamily="49" charset="-127"/>
                <a:ea typeface="돋움체" pitchFamily="49" charset="-127"/>
                <a:cs typeface="Times New Roman"/>
              </a:rPr>
              <a:t>void</a:t>
            </a:r>
            <a:r>
              <a:rPr lang="en-US" altLang="ko-KR" sz="1400" kern="0" dirty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  <a:cs typeface="Times New Roman"/>
              </a:rPr>
              <a:t> </a:t>
            </a:r>
            <a:r>
              <a:rPr lang="en-US" altLang="ko-KR" sz="1400" kern="0" dirty="0" err="1">
                <a:solidFill>
                  <a:srgbClr val="000000"/>
                </a:solidFill>
                <a:latin typeface="돋움체" pitchFamily="49" charset="-127"/>
                <a:ea typeface="돋움체" pitchFamily="49" charset="-127"/>
                <a:cs typeface="Times New Roman"/>
              </a:rPr>
              <a:t>onDrawFrame</a:t>
            </a:r>
            <a:r>
              <a:rPr lang="en-US" altLang="ko-KR" sz="1400" kern="0" dirty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  <a:cs typeface="Times New Roman"/>
              </a:rPr>
              <a:t>(GL10 </a:t>
            </a:r>
            <a:r>
              <a:rPr lang="en-US" altLang="ko-KR" sz="1400" kern="0" dirty="0" err="1">
                <a:solidFill>
                  <a:srgbClr val="000000"/>
                </a:solidFill>
                <a:latin typeface="돋움체" pitchFamily="49" charset="-127"/>
                <a:ea typeface="돋움체" pitchFamily="49" charset="-127"/>
                <a:cs typeface="Times New Roman"/>
              </a:rPr>
              <a:t>gl</a:t>
            </a:r>
            <a:r>
              <a:rPr lang="en-US" altLang="ko-KR" sz="1400" kern="0" dirty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  <a:cs typeface="Times New Roman"/>
              </a:rPr>
              <a:t>) {</a:t>
            </a:r>
            <a:endParaRPr lang="ko-KR" altLang="ko-KR" sz="1400" kern="100" dirty="0">
              <a:latin typeface="돋움체" pitchFamily="49" charset="-127"/>
              <a:ea typeface="돋움체" pitchFamily="49" charset="-127"/>
              <a:cs typeface="Times New Roman"/>
            </a:endParaRPr>
          </a:p>
          <a:p>
            <a:pPr latinLnBrk="0">
              <a:lnSpc>
                <a:spcPct val="115000"/>
              </a:lnSpc>
            </a:pPr>
            <a:r>
              <a:rPr lang="en-US" altLang="ko-KR" sz="1400" kern="0" dirty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  <a:cs typeface="Times New Roman"/>
              </a:rPr>
              <a:t>		</a:t>
            </a:r>
            <a:r>
              <a:rPr lang="en-US" altLang="ko-KR" sz="1400" kern="0" dirty="0" err="1">
                <a:solidFill>
                  <a:srgbClr val="000000"/>
                </a:solidFill>
                <a:latin typeface="돋움체" pitchFamily="49" charset="-127"/>
                <a:ea typeface="돋움체" pitchFamily="49" charset="-127"/>
                <a:cs typeface="Times New Roman"/>
              </a:rPr>
              <a:t>gl.glClear</a:t>
            </a:r>
            <a:r>
              <a:rPr lang="en-US" altLang="ko-KR" sz="1400" kern="0" dirty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  <a:cs typeface="Times New Roman"/>
              </a:rPr>
              <a:t>(GL10.</a:t>
            </a:r>
            <a:r>
              <a:rPr lang="en-US" altLang="ko-KR" sz="1400" i="1" kern="0" dirty="0">
                <a:solidFill>
                  <a:srgbClr val="0000C0"/>
                </a:solidFill>
                <a:latin typeface="돋움체" pitchFamily="49" charset="-127"/>
                <a:ea typeface="돋움체" pitchFamily="49" charset="-127"/>
                <a:cs typeface="Times New Roman"/>
              </a:rPr>
              <a:t>GL_COLOR_BUFFER_BIT</a:t>
            </a:r>
            <a:r>
              <a:rPr lang="en-US" altLang="ko-KR" sz="1400" kern="0" dirty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  <a:cs typeface="Times New Roman"/>
              </a:rPr>
              <a:t> | GL10.</a:t>
            </a:r>
            <a:r>
              <a:rPr lang="en-US" altLang="ko-KR" sz="1400" i="1" kern="0" dirty="0">
                <a:solidFill>
                  <a:srgbClr val="0000C0"/>
                </a:solidFill>
                <a:latin typeface="돋움체" pitchFamily="49" charset="-127"/>
                <a:ea typeface="돋움체" pitchFamily="49" charset="-127"/>
                <a:cs typeface="Times New Roman"/>
              </a:rPr>
              <a:t>GL_DEPTH_BUFFER_BIT</a:t>
            </a:r>
            <a:r>
              <a:rPr lang="en-US" altLang="ko-KR" sz="1400" kern="0" dirty="0" smtClean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  <a:cs typeface="Times New Roman"/>
              </a:rPr>
              <a:t>);</a:t>
            </a:r>
            <a:r>
              <a:rPr lang="en-US" altLang="ko-KR" sz="1400" kern="0" dirty="0">
                <a:latin typeface="돋움체" pitchFamily="49" charset="-127"/>
                <a:ea typeface="돋움체" pitchFamily="49" charset="-127"/>
                <a:cs typeface="Times New Roman"/>
              </a:rPr>
              <a:t> </a:t>
            </a:r>
            <a:endParaRPr lang="ko-KR" altLang="ko-KR" sz="1400" kern="100" dirty="0">
              <a:latin typeface="돋움체" pitchFamily="49" charset="-127"/>
              <a:ea typeface="돋움체" pitchFamily="49" charset="-127"/>
              <a:cs typeface="Times New Roman"/>
            </a:endParaRPr>
          </a:p>
          <a:p>
            <a:pPr latinLnBrk="0">
              <a:lnSpc>
                <a:spcPct val="115000"/>
              </a:lnSpc>
            </a:pPr>
            <a:r>
              <a:rPr lang="en-US" altLang="ko-KR" sz="1400" kern="0" dirty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  <a:cs typeface="Times New Roman"/>
              </a:rPr>
              <a:t>		</a:t>
            </a:r>
            <a:r>
              <a:rPr lang="en-US" altLang="ko-KR" sz="1400" kern="0" dirty="0" err="1">
                <a:solidFill>
                  <a:srgbClr val="000000"/>
                </a:solidFill>
                <a:latin typeface="돋움체" pitchFamily="49" charset="-127"/>
                <a:ea typeface="돋움체" pitchFamily="49" charset="-127"/>
                <a:cs typeface="Times New Roman"/>
              </a:rPr>
              <a:t>gl.glLoadIdentity</a:t>
            </a:r>
            <a:r>
              <a:rPr lang="en-US" altLang="ko-KR" sz="1400" kern="0" dirty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  <a:cs typeface="Times New Roman"/>
              </a:rPr>
              <a:t>();</a:t>
            </a:r>
            <a:endParaRPr lang="ko-KR" altLang="ko-KR" sz="1400" kern="100" dirty="0">
              <a:latin typeface="돋움체" pitchFamily="49" charset="-127"/>
              <a:ea typeface="돋움체" pitchFamily="49" charset="-127"/>
              <a:cs typeface="Times New Roman"/>
            </a:endParaRPr>
          </a:p>
          <a:p>
            <a:pPr latinLnBrk="0">
              <a:lnSpc>
                <a:spcPct val="115000"/>
              </a:lnSpc>
            </a:pPr>
            <a:r>
              <a:rPr lang="en-US" altLang="ko-KR" sz="1400" kern="0" dirty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  <a:cs typeface="Times New Roman"/>
              </a:rPr>
              <a:t>		</a:t>
            </a:r>
            <a:r>
              <a:rPr lang="en-US" altLang="ko-KR" sz="1400" kern="0" dirty="0" err="1">
                <a:solidFill>
                  <a:srgbClr val="000000"/>
                </a:solidFill>
                <a:latin typeface="돋움체" pitchFamily="49" charset="-127"/>
                <a:ea typeface="돋움체" pitchFamily="49" charset="-127"/>
                <a:cs typeface="Times New Roman"/>
              </a:rPr>
              <a:t>gl.</a:t>
            </a:r>
            <a:r>
              <a:rPr lang="en-US" altLang="ko-KR" sz="1400" kern="0" dirty="0" err="1">
                <a:solidFill>
                  <a:srgbClr val="000000"/>
                </a:solidFill>
                <a:highlight>
                  <a:srgbClr val="C0C0C0"/>
                </a:highlight>
                <a:latin typeface="돋움체" pitchFamily="49" charset="-127"/>
                <a:ea typeface="돋움체" pitchFamily="49" charset="-127"/>
                <a:cs typeface="Times New Roman"/>
              </a:rPr>
              <a:t>glTranslatef</a:t>
            </a:r>
            <a:r>
              <a:rPr lang="en-US" altLang="ko-KR" sz="1400" kern="0" dirty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  <a:cs typeface="Times New Roman"/>
              </a:rPr>
              <a:t>(0.0f, -1.2f, -6.0f);</a:t>
            </a:r>
            <a:endParaRPr lang="ko-KR" altLang="ko-KR" sz="1400" kern="100" dirty="0">
              <a:latin typeface="돋움체" pitchFamily="49" charset="-127"/>
              <a:ea typeface="돋움체" pitchFamily="49" charset="-127"/>
              <a:cs typeface="Times New Roman"/>
            </a:endParaRPr>
          </a:p>
          <a:p>
            <a:pPr latinLnBrk="0">
              <a:lnSpc>
                <a:spcPct val="115000"/>
              </a:lnSpc>
            </a:pPr>
            <a:r>
              <a:rPr lang="en-US" altLang="ko-KR" sz="1400" kern="0" dirty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  <a:cs typeface="Times New Roman"/>
              </a:rPr>
              <a:t>		</a:t>
            </a:r>
            <a:r>
              <a:rPr lang="en-US" altLang="ko-KR" sz="1400" kern="0" dirty="0" err="1">
                <a:solidFill>
                  <a:srgbClr val="000000"/>
                </a:solidFill>
                <a:latin typeface="돋움체" pitchFamily="49" charset="-127"/>
                <a:ea typeface="돋움체" pitchFamily="49" charset="-127"/>
                <a:cs typeface="Times New Roman"/>
              </a:rPr>
              <a:t>gl.glRotatef</a:t>
            </a:r>
            <a:r>
              <a:rPr lang="en-US" altLang="ko-KR" sz="1400" kern="0" dirty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  <a:cs typeface="Times New Roman"/>
              </a:rPr>
              <a:t>(</a:t>
            </a:r>
            <a:r>
              <a:rPr lang="en-US" altLang="ko-KR" sz="1400" kern="0" dirty="0" err="1">
                <a:solidFill>
                  <a:srgbClr val="0000C0"/>
                </a:solidFill>
                <a:latin typeface="돋움체" pitchFamily="49" charset="-127"/>
                <a:ea typeface="돋움체" pitchFamily="49" charset="-127"/>
                <a:cs typeface="Times New Roman"/>
              </a:rPr>
              <a:t>rotateRect</a:t>
            </a:r>
            <a:r>
              <a:rPr lang="en-US" altLang="ko-KR" sz="1400" kern="0" dirty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  <a:cs typeface="Times New Roman"/>
              </a:rPr>
              <a:t>, 1.0f, 0.0f, 0.0f);</a:t>
            </a:r>
            <a:endParaRPr lang="ko-KR" altLang="ko-KR" sz="1400" kern="100" dirty="0">
              <a:latin typeface="돋움체" pitchFamily="49" charset="-127"/>
              <a:ea typeface="돋움체" pitchFamily="49" charset="-127"/>
              <a:cs typeface="Times New Roman"/>
            </a:endParaRPr>
          </a:p>
          <a:p>
            <a:pPr latinLnBrk="0">
              <a:lnSpc>
                <a:spcPct val="115000"/>
              </a:lnSpc>
            </a:pPr>
            <a:r>
              <a:rPr lang="en-US" altLang="ko-KR" sz="1400" kern="0" dirty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  <a:cs typeface="Times New Roman"/>
              </a:rPr>
              <a:t>		</a:t>
            </a:r>
            <a:r>
              <a:rPr lang="en-US" altLang="ko-KR" sz="1400" kern="0" dirty="0" err="1">
                <a:solidFill>
                  <a:srgbClr val="0000C0"/>
                </a:solidFill>
                <a:latin typeface="돋움체" pitchFamily="49" charset="-127"/>
                <a:ea typeface="돋움체" pitchFamily="49" charset="-127"/>
                <a:cs typeface="Times New Roman"/>
              </a:rPr>
              <a:t>rectangle</a:t>
            </a:r>
            <a:r>
              <a:rPr lang="en-US" altLang="ko-KR" sz="1400" kern="0" dirty="0" err="1">
                <a:solidFill>
                  <a:srgbClr val="000000"/>
                </a:solidFill>
                <a:latin typeface="돋움체" pitchFamily="49" charset="-127"/>
                <a:ea typeface="돋움체" pitchFamily="49" charset="-127"/>
                <a:cs typeface="Times New Roman"/>
              </a:rPr>
              <a:t>.draw</a:t>
            </a:r>
            <a:r>
              <a:rPr lang="en-US" altLang="ko-KR" sz="1400" kern="0" dirty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  <a:cs typeface="Times New Roman"/>
              </a:rPr>
              <a:t>(</a:t>
            </a:r>
            <a:r>
              <a:rPr lang="en-US" altLang="ko-KR" sz="1400" kern="0" dirty="0" err="1">
                <a:solidFill>
                  <a:srgbClr val="000000"/>
                </a:solidFill>
                <a:latin typeface="돋움체" pitchFamily="49" charset="-127"/>
                <a:ea typeface="돋움체" pitchFamily="49" charset="-127"/>
                <a:cs typeface="Times New Roman"/>
              </a:rPr>
              <a:t>gl</a:t>
            </a:r>
            <a:r>
              <a:rPr lang="en-US" altLang="ko-KR" sz="1400" kern="0" dirty="0" smtClean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  <a:cs typeface="Times New Roman"/>
              </a:rPr>
              <a:t>);</a:t>
            </a:r>
            <a:r>
              <a:rPr lang="en-US" altLang="ko-KR" sz="1400" kern="0" dirty="0">
                <a:latin typeface="돋움체" pitchFamily="49" charset="-127"/>
                <a:ea typeface="돋움체" pitchFamily="49" charset="-127"/>
                <a:cs typeface="Times New Roman"/>
              </a:rPr>
              <a:t> </a:t>
            </a:r>
            <a:endParaRPr lang="ko-KR" altLang="ko-KR" sz="1400" kern="100" dirty="0">
              <a:latin typeface="돋움체" pitchFamily="49" charset="-127"/>
              <a:ea typeface="돋움체" pitchFamily="49" charset="-127"/>
              <a:cs typeface="Times New Roman"/>
            </a:endParaRPr>
          </a:p>
          <a:p>
            <a:pPr latinLnBrk="0">
              <a:lnSpc>
                <a:spcPct val="115000"/>
              </a:lnSpc>
            </a:pPr>
            <a:r>
              <a:rPr lang="en-US" altLang="ko-KR" sz="1400" kern="0" dirty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  <a:cs typeface="Times New Roman"/>
              </a:rPr>
              <a:t>		</a:t>
            </a:r>
            <a:r>
              <a:rPr lang="en-US" altLang="ko-KR" sz="1400" kern="0" dirty="0" err="1">
                <a:solidFill>
                  <a:srgbClr val="000000"/>
                </a:solidFill>
                <a:latin typeface="돋움체" pitchFamily="49" charset="-127"/>
                <a:ea typeface="돋움체" pitchFamily="49" charset="-127"/>
                <a:cs typeface="Times New Roman"/>
              </a:rPr>
              <a:t>gl.glLoadIdentity</a:t>
            </a:r>
            <a:r>
              <a:rPr lang="en-US" altLang="ko-KR" sz="1400" kern="0" dirty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  <a:cs typeface="Times New Roman"/>
              </a:rPr>
              <a:t>();</a:t>
            </a:r>
            <a:endParaRPr lang="ko-KR" altLang="ko-KR" sz="1400" kern="100" dirty="0">
              <a:latin typeface="돋움체" pitchFamily="49" charset="-127"/>
              <a:ea typeface="돋움체" pitchFamily="49" charset="-127"/>
              <a:cs typeface="Times New Roman"/>
            </a:endParaRPr>
          </a:p>
          <a:p>
            <a:pPr latinLnBrk="0">
              <a:lnSpc>
                <a:spcPct val="115000"/>
              </a:lnSpc>
            </a:pPr>
            <a:r>
              <a:rPr lang="en-US" altLang="ko-KR" sz="1400" kern="0" dirty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  <a:cs typeface="Times New Roman"/>
              </a:rPr>
              <a:t>		</a:t>
            </a:r>
            <a:r>
              <a:rPr lang="en-US" altLang="ko-KR" sz="1400" kern="0" dirty="0" err="1">
                <a:solidFill>
                  <a:srgbClr val="000000"/>
                </a:solidFill>
                <a:latin typeface="돋움체" pitchFamily="49" charset="-127"/>
                <a:ea typeface="돋움체" pitchFamily="49" charset="-127"/>
                <a:cs typeface="Times New Roman"/>
              </a:rPr>
              <a:t>gl.</a:t>
            </a:r>
            <a:r>
              <a:rPr lang="en-US" altLang="ko-KR" sz="1400" kern="0" dirty="0" err="1">
                <a:solidFill>
                  <a:srgbClr val="000000"/>
                </a:solidFill>
                <a:highlight>
                  <a:srgbClr val="C0C0C0"/>
                </a:highlight>
                <a:latin typeface="돋움체" pitchFamily="49" charset="-127"/>
                <a:ea typeface="돋움체" pitchFamily="49" charset="-127"/>
                <a:cs typeface="Times New Roman"/>
              </a:rPr>
              <a:t>glTranslatef</a:t>
            </a:r>
            <a:r>
              <a:rPr lang="en-US" altLang="ko-KR" sz="1400" kern="0" dirty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  <a:cs typeface="Times New Roman"/>
              </a:rPr>
              <a:t>(0.0f, 1.3f, -6.0f);</a:t>
            </a:r>
            <a:endParaRPr lang="ko-KR" altLang="ko-KR" sz="1400" kern="100" dirty="0">
              <a:latin typeface="돋움체" pitchFamily="49" charset="-127"/>
              <a:ea typeface="돋움체" pitchFamily="49" charset="-127"/>
              <a:cs typeface="Times New Roman"/>
            </a:endParaRPr>
          </a:p>
          <a:p>
            <a:pPr latinLnBrk="0">
              <a:lnSpc>
                <a:spcPct val="115000"/>
              </a:lnSpc>
            </a:pPr>
            <a:r>
              <a:rPr lang="en-US" altLang="ko-KR" sz="1400" kern="0" dirty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  <a:cs typeface="Times New Roman"/>
              </a:rPr>
              <a:t>		</a:t>
            </a:r>
            <a:r>
              <a:rPr lang="en-US" altLang="ko-KR" sz="1400" kern="0" dirty="0" err="1">
                <a:solidFill>
                  <a:srgbClr val="000000"/>
                </a:solidFill>
                <a:latin typeface="돋움체" pitchFamily="49" charset="-127"/>
                <a:ea typeface="돋움체" pitchFamily="49" charset="-127"/>
                <a:cs typeface="Times New Roman"/>
              </a:rPr>
              <a:t>gl.glRotatef</a:t>
            </a:r>
            <a:r>
              <a:rPr lang="en-US" altLang="ko-KR" sz="1400" kern="0" dirty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  <a:cs typeface="Times New Roman"/>
              </a:rPr>
              <a:t>(</a:t>
            </a:r>
            <a:r>
              <a:rPr lang="en-US" altLang="ko-KR" sz="1400" kern="0" dirty="0" err="1">
                <a:solidFill>
                  <a:srgbClr val="0000C0"/>
                </a:solidFill>
                <a:latin typeface="돋움체" pitchFamily="49" charset="-127"/>
                <a:ea typeface="돋움체" pitchFamily="49" charset="-127"/>
                <a:cs typeface="Times New Roman"/>
              </a:rPr>
              <a:t>rotateTri</a:t>
            </a:r>
            <a:r>
              <a:rPr lang="en-US" altLang="ko-KR" sz="1400" kern="0" dirty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  <a:cs typeface="Times New Roman"/>
              </a:rPr>
              <a:t>, 0.0f, 1.0f, 0.0f);</a:t>
            </a:r>
            <a:endParaRPr lang="ko-KR" altLang="ko-KR" sz="1400" kern="100" dirty="0">
              <a:latin typeface="돋움체" pitchFamily="49" charset="-127"/>
              <a:ea typeface="돋움체" pitchFamily="49" charset="-127"/>
              <a:cs typeface="Times New Roman"/>
            </a:endParaRPr>
          </a:p>
          <a:p>
            <a:pPr latinLnBrk="0">
              <a:lnSpc>
                <a:spcPct val="115000"/>
              </a:lnSpc>
            </a:pPr>
            <a:r>
              <a:rPr lang="en-US" altLang="ko-KR" sz="1400" kern="0" dirty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  <a:cs typeface="Times New Roman"/>
              </a:rPr>
              <a:t>		</a:t>
            </a:r>
            <a:r>
              <a:rPr lang="en-US" altLang="ko-KR" sz="1400" kern="0" dirty="0" err="1">
                <a:solidFill>
                  <a:srgbClr val="0000C0"/>
                </a:solidFill>
                <a:latin typeface="돋움체" pitchFamily="49" charset="-127"/>
                <a:ea typeface="돋움체" pitchFamily="49" charset="-127"/>
                <a:cs typeface="Times New Roman"/>
              </a:rPr>
              <a:t>triangle</a:t>
            </a:r>
            <a:r>
              <a:rPr lang="en-US" altLang="ko-KR" sz="1400" kern="0" dirty="0" err="1">
                <a:solidFill>
                  <a:srgbClr val="000000"/>
                </a:solidFill>
                <a:latin typeface="돋움체" pitchFamily="49" charset="-127"/>
                <a:ea typeface="돋움체" pitchFamily="49" charset="-127"/>
                <a:cs typeface="Times New Roman"/>
              </a:rPr>
              <a:t>.draw</a:t>
            </a:r>
            <a:r>
              <a:rPr lang="en-US" altLang="ko-KR" sz="1400" kern="0" dirty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  <a:cs typeface="Times New Roman"/>
              </a:rPr>
              <a:t>(</a:t>
            </a:r>
            <a:r>
              <a:rPr lang="en-US" altLang="ko-KR" sz="1400" kern="0" dirty="0" err="1">
                <a:solidFill>
                  <a:srgbClr val="000000"/>
                </a:solidFill>
                <a:latin typeface="돋움체" pitchFamily="49" charset="-127"/>
                <a:ea typeface="돋움체" pitchFamily="49" charset="-127"/>
                <a:cs typeface="Times New Roman"/>
              </a:rPr>
              <a:t>gl</a:t>
            </a:r>
            <a:r>
              <a:rPr lang="en-US" altLang="ko-KR" sz="1400" kern="0" dirty="0" smtClean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  <a:cs typeface="Times New Roman"/>
              </a:rPr>
              <a:t>);</a:t>
            </a:r>
            <a:r>
              <a:rPr lang="en-US" altLang="ko-KR" sz="1400" kern="0" dirty="0">
                <a:latin typeface="돋움체" pitchFamily="49" charset="-127"/>
                <a:ea typeface="돋움체" pitchFamily="49" charset="-127"/>
                <a:cs typeface="Times New Roman"/>
              </a:rPr>
              <a:t> </a:t>
            </a:r>
            <a:endParaRPr lang="ko-KR" altLang="ko-KR" sz="1400" kern="100" dirty="0">
              <a:latin typeface="돋움체" pitchFamily="49" charset="-127"/>
              <a:ea typeface="돋움체" pitchFamily="49" charset="-127"/>
              <a:cs typeface="Times New Roman"/>
            </a:endParaRPr>
          </a:p>
          <a:p>
            <a:pPr latinLnBrk="0">
              <a:lnSpc>
                <a:spcPct val="115000"/>
              </a:lnSpc>
            </a:pPr>
            <a:r>
              <a:rPr lang="en-US" altLang="ko-KR" sz="1400" kern="0" dirty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  <a:cs typeface="Times New Roman"/>
              </a:rPr>
              <a:t>		</a:t>
            </a:r>
            <a:r>
              <a:rPr lang="en-US" altLang="ko-KR" sz="1400" kern="0" dirty="0" err="1">
                <a:solidFill>
                  <a:srgbClr val="0000C0"/>
                </a:solidFill>
                <a:latin typeface="돋움체" pitchFamily="49" charset="-127"/>
                <a:ea typeface="돋움체" pitchFamily="49" charset="-127"/>
                <a:cs typeface="Times New Roman"/>
              </a:rPr>
              <a:t>rotateTri</a:t>
            </a:r>
            <a:r>
              <a:rPr lang="en-US" altLang="ko-KR" sz="1400" kern="0" dirty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  <a:cs typeface="Times New Roman"/>
              </a:rPr>
              <a:t> += 1.0f;</a:t>
            </a:r>
            <a:endParaRPr lang="ko-KR" altLang="ko-KR" sz="1400" kern="100" dirty="0">
              <a:latin typeface="돋움체" pitchFamily="49" charset="-127"/>
              <a:ea typeface="돋움체" pitchFamily="49" charset="-127"/>
              <a:cs typeface="Times New Roman"/>
            </a:endParaRPr>
          </a:p>
          <a:p>
            <a:pPr latinLnBrk="0">
              <a:lnSpc>
                <a:spcPct val="115000"/>
              </a:lnSpc>
            </a:pPr>
            <a:r>
              <a:rPr lang="en-US" altLang="ko-KR" sz="1400" kern="0" dirty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  <a:cs typeface="Times New Roman"/>
              </a:rPr>
              <a:t>		</a:t>
            </a:r>
            <a:r>
              <a:rPr lang="en-US" altLang="ko-KR" sz="1400" kern="0" dirty="0" err="1">
                <a:solidFill>
                  <a:srgbClr val="0000C0"/>
                </a:solidFill>
                <a:latin typeface="돋움체" pitchFamily="49" charset="-127"/>
                <a:ea typeface="돋움체" pitchFamily="49" charset="-127"/>
                <a:cs typeface="Times New Roman"/>
              </a:rPr>
              <a:t>rotateRect</a:t>
            </a:r>
            <a:r>
              <a:rPr lang="en-US" altLang="ko-KR" sz="1400" kern="0" dirty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  <a:cs typeface="Times New Roman"/>
              </a:rPr>
              <a:t> -= 1.0f;</a:t>
            </a:r>
            <a:endParaRPr lang="ko-KR" altLang="ko-KR" sz="1400" kern="100" dirty="0">
              <a:latin typeface="돋움체" pitchFamily="49" charset="-127"/>
              <a:ea typeface="돋움체" pitchFamily="49" charset="-127"/>
              <a:cs typeface="Times New Roman"/>
            </a:endParaRP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en-US" altLang="ko-KR" sz="1400" kern="0" dirty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  <a:cs typeface="Times New Roman"/>
              </a:rPr>
              <a:t>	}</a:t>
            </a:r>
            <a:endParaRPr lang="ko-KR" altLang="ko-KR" sz="1400" kern="100" dirty="0">
              <a:latin typeface="돋움체" pitchFamily="49" charset="-127"/>
              <a:ea typeface="돋움체" pitchFamily="49" charset="-127"/>
              <a:cs typeface="Times New Roman"/>
            </a:endParaRP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 pitchFamily="49" charset="-127"/>
                <a:ea typeface="돋움체" pitchFamily="49" charset="-127"/>
              </a:rPr>
              <a:t>        }</a:t>
            </a:r>
            <a:endParaRPr lang="en-US" altLang="ko-KR" sz="1400" dirty="0">
              <a:solidFill>
                <a:srgbClr val="000000"/>
              </a:solidFill>
              <a:latin typeface="돋움체" pitchFamily="49" charset="-127"/>
              <a:ea typeface="돋움체" pitchFamily="49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97230" y="1280160"/>
            <a:ext cx="15634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 smtClean="0">
                <a:solidFill>
                  <a:prstClr val="black"/>
                </a:solidFill>
              </a:rPr>
              <a:t>Ex_GLES</a:t>
            </a:r>
            <a:endParaRPr lang="en-US" altLang="ko-KR" b="1" dirty="0" smtClean="0">
              <a:solidFill>
                <a:prstClr val="black"/>
              </a:solidFill>
            </a:endParaRPr>
          </a:p>
          <a:p>
            <a:r>
              <a:rPr lang="en-US" altLang="ko-KR" dirty="0" smtClean="0">
                <a:solidFill>
                  <a:prstClr val="black"/>
                </a:solidFill>
              </a:rPr>
              <a:t>/</a:t>
            </a:r>
            <a:r>
              <a:rPr lang="en-US" altLang="ko-KR" dirty="0" err="1" smtClean="0">
                <a:solidFill>
                  <a:prstClr val="black"/>
                </a:solidFill>
              </a:rPr>
              <a:t>src</a:t>
            </a:r>
            <a:r>
              <a:rPr lang="en-US" altLang="ko-KR" dirty="0" smtClean="0">
                <a:solidFill>
                  <a:prstClr val="black"/>
                </a:solidFill>
              </a:rPr>
              <a:t>/Act1.java</a:t>
            </a:r>
            <a:endParaRPr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235791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52</a:t>
            </a:fld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Translate &amp; Rotate</a:t>
            </a:r>
            <a:endParaRPr lang="ko-KR" altLang="en-US" dirty="0"/>
          </a:p>
        </p:txBody>
      </p:sp>
      <p:pic>
        <p:nvPicPr>
          <p:cNvPr id="4" name="Picture 2" descr="C:\Users\msKim\Desktop\2016-2 모바일앱프로그래밍 (교재)\drive-download-20161109T111332Z\dddfcv\Screenshot_1478766215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6832" y="1262835"/>
            <a:ext cx="2944350" cy="523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189304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Example #11_3</a:t>
            </a:r>
            <a:endParaRPr lang="ko-KR" altLang="en-US" dirty="0"/>
          </a:p>
        </p:txBody>
      </p:sp>
      <p:sp>
        <p:nvSpPr>
          <p:cNvPr id="6" name="텍스트 개체 틀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3D Shapes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53</a:t>
            </a:fld>
            <a:endParaRPr lang="ko-KR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67818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54</a:t>
            </a:fld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Obj</a:t>
            </a:r>
            <a:r>
              <a:rPr lang="en-US" altLang="ko-KR" dirty="0" smtClean="0"/>
              <a:t> class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97230" y="1926491"/>
            <a:ext cx="4801314" cy="403187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public class </a:t>
            </a:r>
            <a:r>
              <a:rPr lang="en-US" altLang="ko-KR" sz="16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Obj</a:t>
            </a:r>
            <a:r>
              <a:rPr lang="en-US" altLang="ko-K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</a:t>
            </a:r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{</a:t>
            </a:r>
          </a:p>
          <a:p>
            <a:r>
              <a:rPr lang="en-US" altLang="ko-K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protected </a:t>
            </a:r>
            <a:r>
              <a:rPr lang="en-US" altLang="ko-KR" sz="1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FloatBuffer</a:t>
            </a:r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</a:t>
            </a:r>
            <a:r>
              <a:rPr lang="en-US" altLang="ko-KR" sz="1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vertexBuffer</a:t>
            </a:r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;</a:t>
            </a:r>
          </a:p>
          <a:p>
            <a:r>
              <a:rPr lang="en-US" altLang="ko-K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protected </a:t>
            </a:r>
            <a:r>
              <a:rPr lang="en-US" altLang="ko-KR" sz="1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FloatBuffer</a:t>
            </a:r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</a:t>
            </a:r>
            <a:r>
              <a:rPr lang="en-US" altLang="ko-KR" sz="1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colorBuffer</a:t>
            </a:r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;</a:t>
            </a:r>
          </a:p>
          <a:p>
            <a:r>
              <a:rPr lang="en-US" altLang="ko-KR" sz="1600" dirty="0" smtClean="0">
                <a:solidFill>
                  <a:srgbClr val="7F0055"/>
                </a:solidFill>
                <a:latin typeface="돋움체"/>
                <a:ea typeface="돋움체"/>
              </a:rPr>
              <a:t>    protected</a:t>
            </a:r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ByteBuffer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 </a:t>
            </a:r>
            <a:r>
              <a:rPr lang="en-US" altLang="ko-KR" sz="1600" dirty="0" err="1">
                <a:solidFill>
                  <a:srgbClr val="0000C0"/>
                </a:solidFill>
                <a:latin typeface="돋움체"/>
                <a:ea typeface="돋움체"/>
              </a:rPr>
              <a:t>indexBuffer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;</a:t>
            </a:r>
          </a:p>
          <a:p>
            <a:r>
              <a:rPr lang="en-US" altLang="ko-K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protected </a:t>
            </a:r>
            <a:r>
              <a:rPr lang="en-US" altLang="ko-KR" sz="1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int</a:t>
            </a:r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</a:t>
            </a:r>
            <a:r>
              <a:rPr lang="en-US" altLang="ko-KR" sz="1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polygonMode</a:t>
            </a:r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;</a:t>
            </a:r>
          </a:p>
          <a:p>
            <a:r>
              <a:rPr lang="en-US" altLang="ko-K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protected </a:t>
            </a:r>
            <a:r>
              <a:rPr lang="en-US" altLang="ko-KR" sz="1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int</a:t>
            </a:r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</a:t>
            </a:r>
            <a:r>
              <a:rPr lang="en-US" altLang="ko-KR" sz="1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vertexLength</a:t>
            </a:r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;</a:t>
            </a:r>
          </a:p>
          <a:p>
            <a:r>
              <a:rPr lang="en-US" altLang="ko-K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protected </a:t>
            </a:r>
            <a:r>
              <a:rPr lang="en-US" altLang="ko-KR" sz="1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boolean</a:t>
            </a:r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</a:t>
            </a:r>
            <a:r>
              <a:rPr lang="en-US" altLang="ko-KR" sz="1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colorVertex</a:t>
            </a:r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;</a:t>
            </a:r>
          </a:p>
          <a:p>
            <a:r>
              <a:rPr lang="en-US" altLang="ko-KR" sz="1600" dirty="0" smtClean="0">
                <a:solidFill>
                  <a:srgbClr val="7F0055"/>
                </a:solidFill>
                <a:latin typeface="돋움체"/>
                <a:ea typeface="돋움체"/>
              </a:rPr>
              <a:t>    protected</a:t>
            </a:r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600" dirty="0" err="1">
                <a:solidFill>
                  <a:srgbClr val="7F0055"/>
                </a:solidFill>
                <a:latin typeface="돋움체"/>
                <a:ea typeface="돋움체"/>
              </a:rPr>
              <a:t>boolean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600" dirty="0" err="1">
                <a:solidFill>
                  <a:srgbClr val="0000C0"/>
                </a:solidFill>
                <a:latin typeface="돋움체"/>
                <a:ea typeface="돋움체"/>
              </a:rPr>
              <a:t>indexVertex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;</a:t>
            </a:r>
          </a:p>
          <a:p>
            <a:endParaRPr lang="ko-KR" altLang="en-US" sz="1600" dirty="0">
              <a:latin typeface="돋움체"/>
              <a:ea typeface="돋움체"/>
            </a:endParaRPr>
          </a:p>
          <a:p>
            <a:r>
              <a:rPr lang="en-US" altLang="ko-K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public </a:t>
            </a:r>
            <a:r>
              <a:rPr lang="en-US" altLang="ko-KR" sz="1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Obj</a:t>
            </a:r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() {</a:t>
            </a:r>
          </a:p>
          <a:p>
            <a:r>
              <a:rPr lang="en-US" altLang="ko-K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</a:t>
            </a:r>
            <a:r>
              <a:rPr lang="en-US" altLang="ko-KR" sz="16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polygonMode</a:t>
            </a:r>
            <a:r>
              <a:rPr lang="en-US" altLang="ko-K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</a:t>
            </a:r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= GL10.GL_TRIANGLE_STRIP;</a:t>
            </a:r>
          </a:p>
          <a:p>
            <a:r>
              <a:rPr lang="en-US" altLang="ko-K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</a:t>
            </a:r>
            <a:r>
              <a:rPr lang="en-US" altLang="ko-KR" sz="16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vertexLength</a:t>
            </a:r>
            <a:r>
              <a:rPr lang="en-US" altLang="ko-K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</a:t>
            </a:r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= 0;</a:t>
            </a:r>
          </a:p>
          <a:p>
            <a:r>
              <a:rPr lang="en-US" altLang="ko-K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</a:t>
            </a:r>
            <a:r>
              <a:rPr lang="en-US" altLang="ko-KR" sz="16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colorVertex</a:t>
            </a:r>
            <a:r>
              <a:rPr lang="en-US" altLang="ko-K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</a:t>
            </a:r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= false;</a:t>
            </a:r>
          </a:p>
          <a:p>
            <a:r>
              <a:rPr lang="en-US" altLang="ko-KR" sz="1600" dirty="0" smtClean="0">
                <a:solidFill>
                  <a:srgbClr val="0000C0"/>
                </a:solidFill>
                <a:latin typeface="돋움체"/>
                <a:ea typeface="돋움체"/>
              </a:rPr>
              <a:t>        </a:t>
            </a:r>
            <a:r>
              <a:rPr lang="en-US" altLang="ko-KR" sz="1600" dirty="0" err="1" smtClean="0">
                <a:solidFill>
                  <a:srgbClr val="0000C0"/>
                </a:solidFill>
                <a:latin typeface="돋움체"/>
                <a:ea typeface="돋움체"/>
              </a:rPr>
              <a:t>indexVertex</a:t>
            </a:r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= </a:t>
            </a:r>
            <a:r>
              <a:rPr lang="en-US" altLang="ko-KR" sz="1600" dirty="0">
                <a:solidFill>
                  <a:srgbClr val="7F0055"/>
                </a:solidFill>
                <a:latin typeface="돋움체"/>
                <a:ea typeface="돋움체"/>
              </a:rPr>
              <a:t>false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;</a:t>
            </a:r>
          </a:p>
          <a:p>
            <a:r>
              <a:rPr lang="en-US" altLang="ko-K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}</a:t>
            </a:r>
          </a:p>
          <a:p>
            <a:endParaRPr lang="en-US" altLang="ko-KR" sz="1600" dirty="0">
              <a:solidFill>
                <a:schemeClr val="tx1">
                  <a:lumMod val="50000"/>
                  <a:lumOff val="50000"/>
                </a:schemeClr>
              </a:solidFill>
              <a:latin typeface="돋움체"/>
              <a:ea typeface="돋움체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97230" y="1280160"/>
            <a:ext cx="145443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 smtClean="0">
                <a:solidFill>
                  <a:prstClr val="black"/>
                </a:solidFill>
              </a:rPr>
              <a:t>Ex_GLES</a:t>
            </a:r>
            <a:endParaRPr lang="en-US" altLang="ko-KR" b="1" dirty="0" smtClean="0">
              <a:solidFill>
                <a:prstClr val="black"/>
              </a:solidFill>
            </a:endParaRPr>
          </a:p>
          <a:p>
            <a:r>
              <a:rPr lang="en-US" altLang="ko-KR" dirty="0" smtClean="0">
                <a:solidFill>
                  <a:prstClr val="black"/>
                </a:solidFill>
              </a:rPr>
              <a:t>/</a:t>
            </a:r>
            <a:r>
              <a:rPr lang="en-US" altLang="ko-KR" dirty="0" err="1" smtClean="0">
                <a:solidFill>
                  <a:prstClr val="black"/>
                </a:solidFill>
              </a:rPr>
              <a:t>src</a:t>
            </a:r>
            <a:r>
              <a:rPr lang="en-US" altLang="ko-KR" dirty="0" smtClean="0">
                <a:solidFill>
                  <a:prstClr val="black"/>
                </a:solidFill>
              </a:rPr>
              <a:t>/Obj.java</a:t>
            </a:r>
            <a:endParaRPr lang="ko-KR" altLang="en-US" dirty="0">
              <a:solidFill>
                <a:prstClr val="black"/>
              </a:solidFill>
            </a:endParaRPr>
          </a:p>
        </p:txBody>
      </p:sp>
      <p:sp>
        <p:nvSpPr>
          <p:cNvPr id="7" name="가로로 말린 두루마리 모양 6"/>
          <p:cNvSpPr/>
          <p:nvPr/>
        </p:nvSpPr>
        <p:spPr>
          <a:xfrm>
            <a:off x="5383530" y="1706193"/>
            <a:ext cx="3268979" cy="762687"/>
          </a:xfrm>
          <a:prstGeom prst="horizontalScroll">
            <a:avLst>
              <a:gd name="adj" fmla="val 13671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err="1" smtClean="0"/>
              <a:t>Obj</a:t>
            </a:r>
            <a:r>
              <a:rPr lang="en-US" altLang="ko-KR" dirty="0" smtClean="0"/>
              <a:t> </a:t>
            </a:r>
            <a:r>
              <a:rPr lang="ko-KR" altLang="en-US" dirty="0" smtClean="0"/>
              <a:t>클래스 업그레이드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745707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55</a:t>
            </a:fld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Obj</a:t>
            </a:r>
            <a:r>
              <a:rPr lang="en-US" altLang="ko-KR" dirty="0"/>
              <a:t> class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97230" y="1926491"/>
            <a:ext cx="6109365" cy="375487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public 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void draw(GL10 </a:t>
            </a:r>
            <a:r>
              <a:rPr lang="en-US" altLang="ko-KR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gl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) {</a:t>
            </a:r>
          </a:p>
          <a:p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gl.glFrontFace</a:t>
            </a:r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(GL10.GL_CW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if 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(</a:t>
            </a:r>
            <a:r>
              <a:rPr lang="en-US" altLang="ko-KR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colorVertex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) {</a:t>
            </a:r>
          </a:p>
          <a:p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gl.glVertexPointer</a:t>
            </a:r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(3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, GL10.GL_FLOAT, 0, </a:t>
            </a:r>
            <a:r>
              <a:rPr lang="en-US" altLang="ko-KR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vertexBuffer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gl.glColorPointer</a:t>
            </a:r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(4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, GL10.GL_FLOAT, 0, </a:t>
            </a:r>
            <a:r>
              <a:rPr lang="en-US" altLang="ko-KR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colorBuffer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gl.glEnableClientState</a:t>
            </a:r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(GL10.GL_VERTEX_ARRAY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gl.glEnableClientState</a:t>
            </a:r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(GL10.GL_COLOR_ARRAY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400" dirty="0" smtClean="0">
                <a:solidFill>
                  <a:srgbClr val="7F0055"/>
                </a:solidFill>
                <a:latin typeface="돋움체"/>
                <a:ea typeface="돋움체"/>
              </a:rPr>
              <a:t>            if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400" dirty="0" err="1">
                <a:solidFill>
                  <a:srgbClr val="0000C0"/>
                </a:solidFill>
                <a:latin typeface="돋움체"/>
                <a:ea typeface="돋움체"/>
              </a:rPr>
              <a:t>indexVertex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) {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    </a:t>
            </a:r>
            <a:r>
              <a:rPr lang="en-US" altLang="ko-KR" sz="1400" dirty="0" err="1" smtClean="0">
                <a:solidFill>
                  <a:srgbClr val="000000"/>
                </a:solidFill>
                <a:latin typeface="돋움체"/>
                <a:ea typeface="돋움체"/>
              </a:rPr>
              <a:t>gl.glDrawElements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400" dirty="0" err="1" smtClean="0">
                <a:solidFill>
                  <a:srgbClr val="0000C0"/>
                </a:solidFill>
                <a:latin typeface="돋움체"/>
                <a:ea typeface="돋움체"/>
              </a:rPr>
              <a:t>polygonMode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, </a:t>
            </a:r>
            <a:r>
              <a:rPr lang="en-US" altLang="ko-KR" sz="1400" dirty="0" err="1" smtClean="0">
                <a:solidFill>
                  <a:srgbClr val="0000C0"/>
                </a:solidFill>
                <a:latin typeface="돋움체"/>
                <a:ea typeface="돋움체"/>
              </a:rPr>
              <a:t>vertexLength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,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           GL10.</a:t>
            </a:r>
            <a:r>
              <a:rPr lang="en-US" altLang="ko-KR" sz="1400" dirty="0" smtClean="0">
                <a:solidFill>
                  <a:srgbClr val="0000C0"/>
                </a:solidFill>
                <a:latin typeface="돋움체"/>
                <a:ea typeface="돋움체"/>
              </a:rPr>
              <a:t>GL_UNSIGNED_BYTE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, </a:t>
            </a:r>
            <a:r>
              <a:rPr lang="en-US" altLang="ko-KR" sz="1400" dirty="0" err="1">
                <a:solidFill>
                  <a:srgbClr val="0000C0"/>
                </a:solidFill>
                <a:latin typeface="돋움체"/>
                <a:ea typeface="돋움체"/>
              </a:rPr>
              <a:t>indexBuffer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}</a:t>
            </a:r>
            <a:endParaRPr lang="en-US" altLang="ko-KR" sz="1400" dirty="0">
              <a:solidFill>
                <a:srgbClr val="000000"/>
              </a:solidFill>
              <a:latin typeface="돋움체"/>
              <a:ea typeface="돋움체"/>
            </a:endParaRPr>
          </a:p>
          <a:p>
            <a:r>
              <a:rPr lang="en-US" altLang="ko-KR" sz="1400" dirty="0" smtClean="0">
                <a:solidFill>
                  <a:srgbClr val="7F0055"/>
                </a:solidFill>
                <a:latin typeface="돋움체"/>
                <a:ea typeface="돋움체"/>
              </a:rPr>
              <a:t>            else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{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    </a:t>
            </a:r>
            <a:r>
              <a:rPr lang="en-US" altLang="ko-KR" sz="1400" dirty="0" err="1" smtClean="0">
                <a:solidFill>
                  <a:srgbClr val="000000"/>
                </a:solidFill>
                <a:latin typeface="돋움체"/>
                <a:ea typeface="돋움체"/>
              </a:rPr>
              <a:t>gl.glDrawArrays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400" dirty="0" err="1" smtClean="0">
                <a:solidFill>
                  <a:srgbClr val="0000C0"/>
                </a:solidFill>
                <a:latin typeface="돋움체"/>
                <a:ea typeface="돋움체"/>
              </a:rPr>
              <a:t>polygonMode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, 0, </a:t>
            </a:r>
            <a:r>
              <a:rPr lang="en-US" altLang="ko-KR" sz="1400" dirty="0" err="1">
                <a:solidFill>
                  <a:srgbClr val="0000C0"/>
                </a:solidFill>
                <a:latin typeface="돋움체"/>
                <a:ea typeface="돋움체"/>
              </a:rPr>
              <a:t>vertexLength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}</a:t>
            </a:r>
            <a:endParaRPr lang="en-US" altLang="ko-KR" sz="1400" dirty="0">
              <a:solidFill>
                <a:srgbClr val="000000"/>
              </a:solidFill>
              <a:latin typeface="돋움체"/>
              <a:ea typeface="돋움체"/>
            </a:endParaRPr>
          </a:p>
          <a:p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gl.glDisableClientState</a:t>
            </a:r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(GL10.GL_VERTEX_ARRAY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gl.glDisableClientState</a:t>
            </a:r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(GL10.GL_COLOR_ARRAY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}</a:t>
            </a:r>
            <a:endParaRPr lang="en-US" altLang="ko-KR" sz="1400" dirty="0">
              <a:solidFill>
                <a:schemeClr val="tx1">
                  <a:lumMod val="50000"/>
                  <a:lumOff val="50000"/>
                </a:schemeClr>
              </a:solidFill>
              <a:latin typeface="돋움체"/>
              <a:ea typeface="돋움체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97230" y="1280160"/>
            <a:ext cx="145443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 smtClean="0">
                <a:solidFill>
                  <a:prstClr val="black"/>
                </a:solidFill>
              </a:rPr>
              <a:t>Ex_GLES</a:t>
            </a:r>
            <a:endParaRPr lang="en-US" altLang="ko-KR" b="1" dirty="0" smtClean="0">
              <a:solidFill>
                <a:prstClr val="black"/>
              </a:solidFill>
            </a:endParaRPr>
          </a:p>
          <a:p>
            <a:r>
              <a:rPr lang="en-US" altLang="ko-KR" dirty="0" smtClean="0">
                <a:solidFill>
                  <a:prstClr val="black"/>
                </a:solidFill>
              </a:rPr>
              <a:t>/</a:t>
            </a:r>
            <a:r>
              <a:rPr lang="en-US" altLang="ko-KR" dirty="0" err="1" smtClean="0">
                <a:solidFill>
                  <a:prstClr val="black"/>
                </a:solidFill>
              </a:rPr>
              <a:t>src</a:t>
            </a:r>
            <a:r>
              <a:rPr lang="en-US" altLang="ko-KR" dirty="0" smtClean="0">
                <a:solidFill>
                  <a:prstClr val="black"/>
                </a:solidFill>
              </a:rPr>
              <a:t>/Obj.java</a:t>
            </a:r>
            <a:endParaRPr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93536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56</a:t>
            </a:fld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Obj</a:t>
            </a:r>
            <a:r>
              <a:rPr lang="en-US" altLang="ko-KR" dirty="0"/>
              <a:t> class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97230" y="1926491"/>
            <a:ext cx="6109365" cy="28931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else {</a:t>
            </a:r>
          </a:p>
          <a:p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gl.glVertexPointer</a:t>
            </a:r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(3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, GL10.GL_FLOAT, 0, </a:t>
            </a:r>
            <a:r>
              <a:rPr lang="en-US" altLang="ko-KR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vertexBuffer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gl.glEnableClientState</a:t>
            </a:r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(GL10.GL_VERTEX_ARRAY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400" dirty="0" smtClean="0">
                <a:solidFill>
                  <a:srgbClr val="7F0055"/>
                </a:solidFill>
                <a:latin typeface="돋움체"/>
                <a:ea typeface="돋움체"/>
              </a:rPr>
              <a:t>            if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400" dirty="0" err="1">
                <a:solidFill>
                  <a:srgbClr val="0000C0"/>
                </a:solidFill>
                <a:latin typeface="돋움체"/>
                <a:ea typeface="돋움체"/>
              </a:rPr>
              <a:t>indexVertex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) {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    </a:t>
            </a:r>
            <a:r>
              <a:rPr lang="en-US" altLang="ko-KR" sz="1400" dirty="0" err="1" smtClean="0">
                <a:solidFill>
                  <a:srgbClr val="000000"/>
                </a:solidFill>
                <a:latin typeface="돋움체"/>
                <a:ea typeface="돋움체"/>
              </a:rPr>
              <a:t>gl.glDrawElements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400" dirty="0" err="1" smtClean="0">
                <a:solidFill>
                  <a:srgbClr val="0000C0"/>
                </a:solidFill>
                <a:latin typeface="돋움체"/>
                <a:ea typeface="돋움체"/>
              </a:rPr>
              <a:t>polygonMode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, </a:t>
            </a:r>
            <a:r>
              <a:rPr lang="en-US" altLang="ko-KR" sz="1400" dirty="0" err="1" smtClean="0">
                <a:solidFill>
                  <a:srgbClr val="0000C0"/>
                </a:solidFill>
                <a:latin typeface="돋움체"/>
                <a:ea typeface="돋움체"/>
              </a:rPr>
              <a:t>vertexLength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,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           GL10.</a:t>
            </a:r>
            <a:r>
              <a:rPr lang="en-US" altLang="ko-KR" sz="1400" dirty="0" smtClean="0">
                <a:solidFill>
                  <a:srgbClr val="0000C0"/>
                </a:solidFill>
                <a:latin typeface="돋움체"/>
                <a:ea typeface="돋움체"/>
              </a:rPr>
              <a:t>GL_UNSIGNED_BYTE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, </a:t>
            </a:r>
            <a:r>
              <a:rPr lang="en-US" altLang="ko-KR" sz="1400" dirty="0" err="1">
                <a:solidFill>
                  <a:srgbClr val="0000C0"/>
                </a:solidFill>
                <a:latin typeface="돋움체"/>
                <a:ea typeface="돋움체"/>
              </a:rPr>
              <a:t>indexBuffer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}</a:t>
            </a:r>
            <a:endParaRPr lang="en-US" altLang="ko-KR" sz="1400" dirty="0">
              <a:solidFill>
                <a:srgbClr val="000000"/>
              </a:solidFill>
              <a:latin typeface="돋움체"/>
              <a:ea typeface="돋움체"/>
            </a:endParaRPr>
          </a:p>
          <a:p>
            <a:r>
              <a:rPr lang="en-US" altLang="ko-KR" sz="1400" dirty="0" smtClean="0">
                <a:solidFill>
                  <a:srgbClr val="7F0055"/>
                </a:solidFill>
                <a:latin typeface="돋움체"/>
                <a:ea typeface="돋움체"/>
              </a:rPr>
              <a:t>            else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{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    </a:t>
            </a:r>
            <a:r>
              <a:rPr lang="en-US" altLang="ko-KR" sz="1400" dirty="0" err="1" smtClean="0">
                <a:solidFill>
                  <a:srgbClr val="000000"/>
                </a:solidFill>
                <a:latin typeface="돋움체"/>
                <a:ea typeface="돋움체"/>
              </a:rPr>
              <a:t>gl.glDrawArrays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400" dirty="0" err="1" smtClean="0">
                <a:solidFill>
                  <a:srgbClr val="0000C0"/>
                </a:solidFill>
                <a:latin typeface="돋움체"/>
                <a:ea typeface="돋움체"/>
              </a:rPr>
              <a:t>polygonMode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, 0, </a:t>
            </a:r>
            <a:r>
              <a:rPr lang="en-US" altLang="ko-KR" sz="1400" dirty="0" err="1">
                <a:solidFill>
                  <a:srgbClr val="0000C0"/>
                </a:solidFill>
                <a:latin typeface="돋움체"/>
                <a:ea typeface="돋움체"/>
              </a:rPr>
              <a:t>vertexLength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}</a:t>
            </a:r>
            <a:endParaRPr lang="en-US" altLang="ko-KR" sz="1400" dirty="0">
              <a:solidFill>
                <a:srgbClr val="000000"/>
              </a:solidFill>
              <a:latin typeface="돋움체"/>
              <a:ea typeface="돋움체"/>
            </a:endParaRPr>
          </a:p>
          <a:p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gl.glDisableClientState</a:t>
            </a:r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(GL10.GL_VERTEX_ARRAY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}</a:t>
            </a:r>
            <a:endParaRPr lang="en-US" altLang="ko-KR" sz="1400" dirty="0">
              <a:solidFill>
                <a:schemeClr val="tx1">
                  <a:lumMod val="50000"/>
                  <a:lumOff val="50000"/>
                </a:schemeClr>
              </a:solidFill>
              <a:latin typeface="돋움체"/>
              <a:ea typeface="돋움체"/>
            </a:endParaRPr>
          </a:p>
          <a:p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}</a:t>
            </a:r>
            <a:endParaRPr lang="en-US" altLang="ko-KR" sz="1400" dirty="0">
              <a:solidFill>
                <a:schemeClr val="tx1">
                  <a:lumMod val="50000"/>
                  <a:lumOff val="50000"/>
                </a:schemeClr>
              </a:solidFill>
              <a:latin typeface="돋움체"/>
              <a:ea typeface="돋움체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97230" y="1280160"/>
            <a:ext cx="145443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 smtClean="0">
                <a:solidFill>
                  <a:prstClr val="black"/>
                </a:solidFill>
              </a:rPr>
              <a:t>Ex_GLES</a:t>
            </a:r>
            <a:endParaRPr lang="en-US" altLang="ko-KR" b="1" dirty="0" smtClean="0">
              <a:solidFill>
                <a:prstClr val="black"/>
              </a:solidFill>
            </a:endParaRPr>
          </a:p>
          <a:p>
            <a:r>
              <a:rPr lang="en-US" altLang="ko-KR" dirty="0" smtClean="0">
                <a:solidFill>
                  <a:prstClr val="black"/>
                </a:solidFill>
              </a:rPr>
              <a:t>/</a:t>
            </a:r>
            <a:r>
              <a:rPr lang="en-US" altLang="ko-KR" dirty="0" err="1" smtClean="0">
                <a:solidFill>
                  <a:prstClr val="black"/>
                </a:solidFill>
              </a:rPr>
              <a:t>src</a:t>
            </a:r>
            <a:r>
              <a:rPr lang="en-US" altLang="ko-KR" dirty="0" smtClean="0">
                <a:solidFill>
                  <a:prstClr val="black"/>
                </a:solidFill>
              </a:rPr>
              <a:t>/Obj.java</a:t>
            </a:r>
            <a:endParaRPr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24262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57</a:t>
            </a:fld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Cube class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97230" y="1926491"/>
            <a:ext cx="5211683" cy="461664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rgbClr val="7F0055"/>
                </a:solidFill>
                <a:latin typeface="돋움체"/>
                <a:ea typeface="돋움체"/>
              </a:rPr>
              <a:t>public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>
                <a:solidFill>
                  <a:srgbClr val="7F0055"/>
                </a:solidFill>
                <a:latin typeface="돋움체"/>
                <a:ea typeface="돋움체"/>
              </a:rPr>
              <a:t>class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Cube </a:t>
            </a:r>
            <a:r>
              <a:rPr lang="en-US" altLang="ko-KR" sz="1400" dirty="0">
                <a:solidFill>
                  <a:srgbClr val="7F0055"/>
                </a:solidFill>
                <a:latin typeface="돋움체"/>
                <a:ea typeface="돋움체"/>
              </a:rPr>
              <a:t>extends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Obj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{</a:t>
            </a:r>
          </a:p>
          <a:p>
            <a:r>
              <a:rPr lang="en-US" altLang="ko-KR" sz="1400" dirty="0" smtClean="0">
                <a:solidFill>
                  <a:srgbClr val="7F0055"/>
                </a:solidFill>
                <a:latin typeface="돋움체"/>
                <a:ea typeface="돋움체"/>
              </a:rPr>
              <a:t>    private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>
                <a:solidFill>
                  <a:srgbClr val="7F0055"/>
                </a:solidFill>
                <a:latin typeface="돋움체"/>
                <a:ea typeface="돋움체"/>
              </a:rPr>
              <a:t>static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>
                <a:solidFill>
                  <a:srgbClr val="7F0055"/>
                </a:solidFill>
                <a:latin typeface="돋움체"/>
                <a:ea typeface="돋움체"/>
              </a:rPr>
              <a:t>float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>
                <a:solidFill>
                  <a:srgbClr val="0000C0"/>
                </a:solidFill>
                <a:latin typeface="돋움체"/>
                <a:ea typeface="돋움체"/>
              </a:rPr>
              <a:t>vertices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[] = {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-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1.0f, -1.0f, -1.0f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, </a:t>
            </a:r>
            <a:r>
              <a:rPr lang="en-US" altLang="ko-KR" sz="1400" dirty="0" smtClean="0">
                <a:solidFill>
                  <a:srgbClr val="3F7F5F"/>
                </a:solidFill>
                <a:latin typeface="돋움체"/>
                <a:ea typeface="돋움체"/>
              </a:rPr>
              <a:t>//</a:t>
            </a:r>
            <a:r>
              <a:rPr lang="en-US" altLang="ko-KR" sz="1400" dirty="0">
                <a:solidFill>
                  <a:srgbClr val="3F7F5F"/>
                </a:solidFill>
                <a:latin typeface="돋움체"/>
                <a:ea typeface="돋움체"/>
              </a:rPr>
              <a:t>lower back left (0)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 1.0f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, -1.0f, -1.0f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, </a:t>
            </a:r>
            <a:r>
              <a:rPr lang="en-US" altLang="ko-KR" sz="1400" dirty="0" smtClean="0">
                <a:solidFill>
                  <a:srgbClr val="3F7F5F"/>
                </a:solidFill>
                <a:latin typeface="돋움체"/>
                <a:ea typeface="돋움체"/>
              </a:rPr>
              <a:t>//</a:t>
            </a:r>
            <a:r>
              <a:rPr lang="en-US" altLang="ko-KR" sz="1400" dirty="0">
                <a:solidFill>
                  <a:srgbClr val="3F7F5F"/>
                </a:solidFill>
                <a:latin typeface="돋움체"/>
                <a:ea typeface="돋움체"/>
              </a:rPr>
              <a:t>lower back right (1)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 1.0f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,  1.0f, -1.0f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, </a:t>
            </a:r>
            <a:r>
              <a:rPr lang="en-US" altLang="ko-KR" sz="1400" dirty="0" smtClean="0">
                <a:solidFill>
                  <a:srgbClr val="3F7F5F"/>
                </a:solidFill>
                <a:latin typeface="돋움체"/>
                <a:ea typeface="돋움체"/>
              </a:rPr>
              <a:t>//</a:t>
            </a:r>
            <a:r>
              <a:rPr lang="en-US" altLang="ko-KR" sz="1400" dirty="0">
                <a:solidFill>
                  <a:srgbClr val="3F7F5F"/>
                </a:solidFill>
                <a:latin typeface="돋움체"/>
                <a:ea typeface="돋움체"/>
              </a:rPr>
              <a:t>upper back right (2)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-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1.0f, 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1.0f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, -1.0f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, </a:t>
            </a:r>
            <a:r>
              <a:rPr lang="en-US" altLang="ko-KR" sz="1400" dirty="0" smtClean="0">
                <a:solidFill>
                  <a:srgbClr val="3F7F5F"/>
                </a:solidFill>
                <a:latin typeface="돋움체"/>
                <a:ea typeface="돋움체"/>
              </a:rPr>
              <a:t>//</a:t>
            </a:r>
            <a:r>
              <a:rPr lang="en-US" altLang="ko-KR" sz="1400" dirty="0">
                <a:solidFill>
                  <a:srgbClr val="3F7F5F"/>
                </a:solidFill>
                <a:latin typeface="돋움체"/>
                <a:ea typeface="돋움체"/>
              </a:rPr>
              <a:t>upper back left (3)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-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1.0f, -1.0f,  1.0f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, </a:t>
            </a:r>
            <a:r>
              <a:rPr lang="en-US" altLang="ko-KR" sz="1400" dirty="0" smtClean="0">
                <a:solidFill>
                  <a:srgbClr val="3F7F5F"/>
                </a:solidFill>
                <a:latin typeface="돋움체"/>
                <a:ea typeface="돋움체"/>
              </a:rPr>
              <a:t>//</a:t>
            </a:r>
            <a:r>
              <a:rPr lang="en-US" altLang="ko-KR" sz="1400" dirty="0">
                <a:solidFill>
                  <a:srgbClr val="3F7F5F"/>
                </a:solidFill>
                <a:latin typeface="돋움체"/>
                <a:ea typeface="돋움체"/>
              </a:rPr>
              <a:t>lower front left (4)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 1.0f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, -1.0f,  1.0f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, </a:t>
            </a:r>
            <a:r>
              <a:rPr lang="en-US" altLang="ko-KR" sz="1400" dirty="0" smtClean="0">
                <a:solidFill>
                  <a:srgbClr val="3F7F5F"/>
                </a:solidFill>
                <a:latin typeface="돋움체"/>
                <a:ea typeface="돋움체"/>
              </a:rPr>
              <a:t>//</a:t>
            </a:r>
            <a:r>
              <a:rPr lang="en-US" altLang="ko-KR" sz="1400" dirty="0">
                <a:solidFill>
                  <a:srgbClr val="3F7F5F"/>
                </a:solidFill>
                <a:latin typeface="돋움체"/>
                <a:ea typeface="돋움체"/>
              </a:rPr>
              <a:t>lower front right (5)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 1.0f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,  1.0f,  1.0f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, </a:t>
            </a:r>
            <a:r>
              <a:rPr lang="en-US" altLang="ko-KR" sz="1400" dirty="0" smtClean="0">
                <a:solidFill>
                  <a:srgbClr val="3F7F5F"/>
                </a:solidFill>
                <a:latin typeface="돋움체"/>
                <a:ea typeface="돋움체"/>
              </a:rPr>
              <a:t>//</a:t>
            </a:r>
            <a:r>
              <a:rPr lang="en-US" altLang="ko-KR" sz="1400" dirty="0">
                <a:solidFill>
                  <a:srgbClr val="3F7F5F"/>
                </a:solidFill>
                <a:latin typeface="돋움체"/>
                <a:ea typeface="돋움체"/>
              </a:rPr>
              <a:t>upper front right (6)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-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1.0f,  1.0f,  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1.0f  </a:t>
            </a:r>
            <a:r>
              <a:rPr lang="en-US" altLang="ko-KR" sz="1400" dirty="0" smtClean="0">
                <a:solidFill>
                  <a:srgbClr val="3F7F5F"/>
                </a:solidFill>
                <a:latin typeface="돋움체"/>
                <a:ea typeface="돋움체"/>
              </a:rPr>
              <a:t>//</a:t>
            </a:r>
            <a:r>
              <a:rPr lang="en-US" altLang="ko-KR" sz="1400" dirty="0">
                <a:solidFill>
                  <a:srgbClr val="3F7F5F"/>
                </a:solidFill>
                <a:latin typeface="돋움체"/>
                <a:ea typeface="돋움체"/>
              </a:rPr>
              <a:t>upper front left (7)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};</a:t>
            </a:r>
            <a:endParaRPr lang="en-US" altLang="ko-KR" sz="1400" dirty="0">
              <a:solidFill>
                <a:srgbClr val="000000"/>
              </a:solidFill>
              <a:latin typeface="돋움체"/>
              <a:ea typeface="돋움체"/>
            </a:endParaRPr>
          </a:p>
          <a:p>
            <a:r>
              <a:rPr lang="en-US" altLang="ko-KR" sz="1400" dirty="0" smtClean="0">
                <a:solidFill>
                  <a:srgbClr val="7F0055"/>
                </a:solidFill>
                <a:latin typeface="돋움체"/>
                <a:ea typeface="돋움체"/>
              </a:rPr>
              <a:t>    private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>
                <a:solidFill>
                  <a:srgbClr val="7F0055"/>
                </a:solidFill>
                <a:latin typeface="돋움체"/>
                <a:ea typeface="돋움체"/>
              </a:rPr>
              <a:t>static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>
                <a:solidFill>
                  <a:srgbClr val="7F0055"/>
                </a:solidFill>
                <a:latin typeface="돋움체"/>
                <a:ea typeface="돋움체"/>
              </a:rPr>
              <a:t>float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>
                <a:solidFill>
                  <a:srgbClr val="0000C0"/>
                </a:solidFill>
                <a:latin typeface="돋움체"/>
                <a:ea typeface="돋움체"/>
              </a:rPr>
              <a:t>colors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[] = {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           0.0f,  1.0f,  0.0f,  1.0f,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           0.0f,  1.0f,  0.0f,  1.0f,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           1.0f,  0.5f,  0.0f,  1.0f,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           1.0f,  0.5f,  0.0f,  1.0f,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           1.0f,  0.0f,  0.0f,  1.0f,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           1.0f,  0.0f,  0.0f,  1.0f,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           0.0f,  0.0f,  1.0f,  1.0f,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           1.0f,  0.0f,  1.0f,  1.0f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};</a:t>
            </a:r>
            <a:endParaRPr lang="en-US" altLang="ko-KR" sz="1400" dirty="0">
              <a:solidFill>
                <a:srgbClr val="000000"/>
              </a:solidFill>
              <a:latin typeface="돋움체"/>
              <a:ea typeface="돋움체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97230" y="1280160"/>
            <a:ext cx="16323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 smtClean="0">
                <a:solidFill>
                  <a:prstClr val="black"/>
                </a:solidFill>
              </a:rPr>
              <a:t>Ex_GLES</a:t>
            </a:r>
            <a:endParaRPr lang="en-US" altLang="ko-KR" b="1" dirty="0" smtClean="0">
              <a:solidFill>
                <a:prstClr val="black"/>
              </a:solidFill>
            </a:endParaRPr>
          </a:p>
          <a:p>
            <a:r>
              <a:rPr lang="en-US" altLang="ko-KR" dirty="0" smtClean="0">
                <a:solidFill>
                  <a:prstClr val="black"/>
                </a:solidFill>
              </a:rPr>
              <a:t>/</a:t>
            </a:r>
            <a:r>
              <a:rPr lang="en-US" altLang="ko-KR" dirty="0" err="1" smtClean="0">
                <a:solidFill>
                  <a:prstClr val="black"/>
                </a:solidFill>
              </a:rPr>
              <a:t>src</a:t>
            </a:r>
            <a:r>
              <a:rPr lang="en-US" altLang="ko-KR" dirty="0" smtClean="0">
                <a:solidFill>
                  <a:prstClr val="black"/>
                </a:solidFill>
              </a:rPr>
              <a:t>/Cube.java</a:t>
            </a:r>
            <a:endParaRPr lang="ko-KR" altLang="en-US" dirty="0">
              <a:solidFill>
                <a:prstClr val="black"/>
              </a:solidFill>
            </a:endParaRPr>
          </a:p>
        </p:txBody>
      </p:sp>
      <p:sp>
        <p:nvSpPr>
          <p:cNvPr id="7" name="가로로 말린 두루마리 모양 6"/>
          <p:cNvSpPr/>
          <p:nvPr/>
        </p:nvSpPr>
        <p:spPr>
          <a:xfrm>
            <a:off x="5383530" y="1583642"/>
            <a:ext cx="3268979" cy="762687"/>
          </a:xfrm>
          <a:prstGeom prst="horizontalScroll">
            <a:avLst>
              <a:gd name="adj" fmla="val 13671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smtClean="0"/>
              <a:t>Cube </a:t>
            </a:r>
            <a:r>
              <a:rPr lang="ko-KR" altLang="en-US" dirty="0" smtClean="0"/>
              <a:t>클래스 추가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219561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58</a:t>
            </a:fld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Cube class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97230" y="1926491"/>
            <a:ext cx="7007046" cy="461664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400" dirty="0" smtClean="0">
                <a:solidFill>
                  <a:srgbClr val="7F0055"/>
                </a:solidFill>
                <a:latin typeface="돋움체"/>
                <a:ea typeface="돋움체"/>
              </a:rPr>
              <a:t>    private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>
                <a:solidFill>
                  <a:srgbClr val="7F0055"/>
                </a:solidFill>
                <a:latin typeface="돋움체"/>
                <a:ea typeface="돋움체"/>
              </a:rPr>
              <a:t>static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>
                <a:solidFill>
                  <a:srgbClr val="7F0055"/>
                </a:solidFill>
                <a:latin typeface="돋움체"/>
                <a:ea typeface="돋움체"/>
              </a:rPr>
              <a:t>byte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>
                <a:solidFill>
                  <a:srgbClr val="0000C0"/>
                </a:solidFill>
                <a:latin typeface="돋움체"/>
                <a:ea typeface="돋움체"/>
              </a:rPr>
              <a:t>indices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[] = {</a:t>
            </a:r>
          </a:p>
          <a:p>
            <a:r>
              <a:rPr lang="ko-KR" altLang="en-US" sz="1400" dirty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0, 4, 5,    0, 5, 1,</a:t>
            </a:r>
          </a:p>
          <a:p>
            <a:r>
              <a:rPr lang="ko-KR" altLang="en-US" sz="1400" dirty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1, 5, 6,    1, 6, 2,</a:t>
            </a:r>
          </a:p>
          <a:p>
            <a:r>
              <a:rPr lang="ko-KR" altLang="en-US" sz="1400" dirty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2, 6, 7,    2, 7, 3,</a:t>
            </a:r>
          </a:p>
          <a:p>
            <a:r>
              <a:rPr lang="ko-KR" altLang="en-US" sz="1400" dirty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3, 7, 4,    3, 4, 0,</a:t>
            </a:r>
          </a:p>
          <a:p>
            <a:r>
              <a:rPr lang="ko-KR" altLang="en-US" sz="1400" dirty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4, 7, 6,    4, 6, 5,</a:t>
            </a:r>
          </a:p>
          <a:p>
            <a:r>
              <a:rPr lang="ko-KR" altLang="en-US" sz="1400" dirty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3, 0, 1,    3, 1, 2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};</a:t>
            </a:r>
            <a:endParaRPr lang="en-US" altLang="ko-KR" sz="1400" dirty="0">
              <a:solidFill>
                <a:srgbClr val="000000"/>
              </a:solidFill>
              <a:latin typeface="돋움체"/>
              <a:ea typeface="돋움체"/>
            </a:endParaRPr>
          </a:p>
          <a:p>
            <a:endParaRPr lang="ko-KR" altLang="en-US" sz="1400" dirty="0">
              <a:latin typeface="돋움체"/>
              <a:ea typeface="돋움체"/>
            </a:endParaRPr>
          </a:p>
          <a:p>
            <a:r>
              <a:rPr lang="en-US" altLang="ko-KR" sz="1400" dirty="0" smtClean="0">
                <a:solidFill>
                  <a:srgbClr val="7F0055"/>
                </a:solidFill>
                <a:latin typeface="돋움체"/>
                <a:ea typeface="돋움체"/>
              </a:rPr>
              <a:t>    public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Cube() {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 err="1" smtClean="0">
                <a:solidFill>
                  <a:srgbClr val="000000"/>
                </a:solidFill>
                <a:latin typeface="돋움체"/>
                <a:ea typeface="돋움체"/>
              </a:rPr>
              <a:t>ByteBuffer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byteBuf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=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ByteBuffer.allocateDirect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400" dirty="0" err="1">
                <a:solidFill>
                  <a:srgbClr val="0000C0"/>
                </a:solidFill>
                <a:latin typeface="돋움체"/>
                <a:ea typeface="돋움체"/>
              </a:rPr>
              <a:t>vertices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.</a:t>
            </a:r>
            <a:r>
              <a:rPr lang="en-US" altLang="ko-KR" sz="1400" dirty="0" err="1">
                <a:solidFill>
                  <a:srgbClr val="0000C0"/>
                </a:solidFill>
                <a:latin typeface="돋움체"/>
                <a:ea typeface="돋움체"/>
              </a:rPr>
              <a:t>length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* 4);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 err="1" smtClean="0">
                <a:solidFill>
                  <a:srgbClr val="000000"/>
                </a:solidFill>
                <a:latin typeface="돋움체"/>
                <a:ea typeface="돋움체"/>
              </a:rPr>
              <a:t>byteBuf.order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400" dirty="0" err="1" smtClean="0">
                <a:solidFill>
                  <a:srgbClr val="000000"/>
                </a:solidFill>
                <a:latin typeface="돋움체"/>
                <a:ea typeface="돋움체"/>
              </a:rPr>
              <a:t>ByteOrder.nativeOrder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());</a:t>
            </a:r>
          </a:p>
          <a:p>
            <a:r>
              <a:rPr lang="en-US" altLang="ko-KR" sz="1400" dirty="0" smtClean="0">
                <a:solidFill>
                  <a:srgbClr val="0000C0"/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 err="1" smtClean="0">
                <a:solidFill>
                  <a:srgbClr val="0000C0"/>
                </a:solidFill>
                <a:latin typeface="돋움체"/>
                <a:ea typeface="돋움체"/>
              </a:rPr>
              <a:t>vertexBuffer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=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byteBuf.asFloatBuffer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();</a:t>
            </a:r>
          </a:p>
          <a:p>
            <a:r>
              <a:rPr lang="en-US" altLang="ko-KR" sz="1400" dirty="0" smtClean="0">
                <a:solidFill>
                  <a:srgbClr val="0000C0"/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 err="1" smtClean="0">
                <a:solidFill>
                  <a:srgbClr val="0000C0"/>
                </a:solidFill>
                <a:latin typeface="돋움체"/>
                <a:ea typeface="돋움체"/>
              </a:rPr>
              <a:t>vertexBuffer</a:t>
            </a:r>
            <a:r>
              <a:rPr lang="en-US" altLang="ko-KR" sz="1400" dirty="0" err="1" smtClean="0">
                <a:solidFill>
                  <a:srgbClr val="000000"/>
                </a:solidFill>
                <a:latin typeface="돋움체"/>
                <a:ea typeface="돋움체"/>
              </a:rPr>
              <a:t>.put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400" dirty="0" smtClean="0">
                <a:solidFill>
                  <a:srgbClr val="0000C0"/>
                </a:solidFill>
                <a:latin typeface="돋움체"/>
                <a:ea typeface="돋움체"/>
              </a:rPr>
              <a:t>vertices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400" dirty="0" smtClean="0">
                <a:solidFill>
                  <a:srgbClr val="0000C0"/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 err="1" smtClean="0">
                <a:solidFill>
                  <a:srgbClr val="0000C0"/>
                </a:solidFill>
                <a:latin typeface="돋움체"/>
                <a:ea typeface="돋움체"/>
              </a:rPr>
              <a:t>vertexBuffer</a:t>
            </a:r>
            <a:r>
              <a:rPr lang="en-US" altLang="ko-KR" sz="1400" dirty="0" err="1" smtClean="0">
                <a:solidFill>
                  <a:srgbClr val="000000"/>
                </a:solidFill>
                <a:latin typeface="돋움체"/>
                <a:ea typeface="돋움체"/>
              </a:rPr>
              <a:t>.position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(0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endParaRPr lang="ko-KR" altLang="en-US" sz="1400" dirty="0">
              <a:latin typeface="돋움체"/>
              <a:ea typeface="돋움체"/>
            </a:endParaRP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 err="1" smtClean="0">
                <a:solidFill>
                  <a:srgbClr val="000000"/>
                </a:solidFill>
                <a:latin typeface="돋움체"/>
                <a:ea typeface="돋움체"/>
              </a:rPr>
              <a:t>byteBuf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=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ByteBuffer.allocateDirect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400" dirty="0" err="1">
                <a:solidFill>
                  <a:srgbClr val="0000C0"/>
                </a:solidFill>
                <a:latin typeface="돋움체"/>
                <a:ea typeface="돋움체"/>
              </a:rPr>
              <a:t>colors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.</a:t>
            </a:r>
            <a:r>
              <a:rPr lang="en-US" altLang="ko-KR" sz="1400" dirty="0" err="1">
                <a:solidFill>
                  <a:srgbClr val="0000C0"/>
                </a:solidFill>
                <a:latin typeface="돋움체"/>
                <a:ea typeface="돋움체"/>
              </a:rPr>
              <a:t>length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* 4);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 err="1" smtClean="0">
                <a:solidFill>
                  <a:srgbClr val="000000"/>
                </a:solidFill>
                <a:latin typeface="돋움체"/>
                <a:ea typeface="돋움체"/>
              </a:rPr>
              <a:t>byteBuf.order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400" dirty="0" err="1" smtClean="0">
                <a:solidFill>
                  <a:srgbClr val="000000"/>
                </a:solidFill>
                <a:latin typeface="돋움체"/>
                <a:ea typeface="돋움체"/>
              </a:rPr>
              <a:t>ByteOrder.nativeOrder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());</a:t>
            </a:r>
          </a:p>
          <a:p>
            <a:r>
              <a:rPr lang="en-US" altLang="ko-KR" sz="1400" dirty="0" smtClean="0">
                <a:solidFill>
                  <a:srgbClr val="0000C0"/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 err="1" smtClean="0">
                <a:solidFill>
                  <a:srgbClr val="0000C0"/>
                </a:solidFill>
                <a:latin typeface="돋움체"/>
                <a:ea typeface="돋움체"/>
              </a:rPr>
              <a:t>colorBuffer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=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byteBuf.asFloatBuffer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();</a:t>
            </a:r>
          </a:p>
          <a:p>
            <a:r>
              <a:rPr lang="en-US" altLang="ko-KR" sz="1400" dirty="0" smtClean="0">
                <a:solidFill>
                  <a:srgbClr val="0000C0"/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 err="1" smtClean="0">
                <a:solidFill>
                  <a:srgbClr val="0000C0"/>
                </a:solidFill>
                <a:latin typeface="돋움체"/>
                <a:ea typeface="돋움체"/>
              </a:rPr>
              <a:t>colorBuffer</a:t>
            </a:r>
            <a:r>
              <a:rPr lang="en-US" altLang="ko-KR" sz="1400" dirty="0" err="1" smtClean="0">
                <a:solidFill>
                  <a:srgbClr val="000000"/>
                </a:solidFill>
                <a:latin typeface="돋움체"/>
                <a:ea typeface="돋움체"/>
              </a:rPr>
              <a:t>.put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400" dirty="0" smtClean="0">
                <a:solidFill>
                  <a:srgbClr val="0000C0"/>
                </a:solidFill>
                <a:latin typeface="돋움체"/>
                <a:ea typeface="돋움체"/>
              </a:rPr>
              <a:t>colors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400" dirty="0" smtClean="0">
                <a:solidFill>
                  <a:srgbClr val="0000C0"/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 err="1" smtClean="0">
                <a:solidFill>
                  <a:srgbClr val="0000C0"/>
                </a:solidFill>
                <a:latin typeface="돋움체"/>
                <a:ea typeface="돋움체"/>
              </a:rPr>
              <a:t>colorBuffer</a:t>
            </a:r>
            <a:r>
              <a:rPr lang="en-US" altLang="ko-KR" sz="1400" dirty="0" err="1" smtClean="0">
                <a:solidFill>
                  <a:srgbClr val="000000"/>
                </a:solidFill>
                <a:latin typeface="돋움체"/>
                <a:ea typeface="돋움체"/>
              </a:rPr>
              <a:t>.position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(0);</a:t>
            </a:r>
            <a:endParaRPr lang="en-US" altLang="ko-KR" sz="1400" dirty="0">
              <a:solidFill>
                <a:srgbClr val="000000"/>
              </a:solidFill>
              <a:latin typeface="돋움체"/>
              <a:ea typeface="돋움체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97230" y="1280160"/>
            <a:ext cx="16323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 smtClean="0">
                <a:solidFill>
                  <a:prstClr val="black"/>
                </a:solidFill>
              </a:rPr>
              <a:t>Ex_GLES</a:t>
            </a:r>
            <a:endParaRPr lang="en-US" altLang="ko-KR" b="1" dirty="0" smtClean="0">
              <a:solidFill>
                <a:prstClr val="black"/>
              </a:solidFill>
            </a:endParaRPr>
          </a:p>
          <a:p>
            <a:r>
              <a:rPr lang="en-US" altLang="ko-KR" dirty="0" smtClean="0">
                <a:solidFill>
                  <a:prstClr val="black"/>
                </a:solidFill>
              </a:rPr>
              <a:t>/</a:t>
            </a:r>
            <a:r>
              <a:rPr lang="en-US" altLang="ko-KR" dirty="0" err="1" smtClean="0">
                <a:solidFill>
                  <a:prstClr val="black"/>
                </a:solidFill>
              </a:rPr>
              <a:t>src</a:t>
            </a:r>
            <a:r>
              <a:rPr lang="en-US" altLang="ko-KR" dirty="0" smtClean="0">
                <a:solidFill>
                  <a:prstClr val="black"/>
                </a:solidFill>
              </a:rPr>
              <a:t>/Cube.java</a:t>
            </a:r>
            <a:endParaRPr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14037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59</a:t>
            </a:fld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Cube class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97230" y="1926491"/>
            <a:ext cx="5929828" cy="246221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endParaRPr lang="ko-KR" altLang="en-US" sz="1400" dirty="0">
              <a:latin typeface="돋움체"/>
              <a:ea typeface="돋움체"/>
            </a:endParaRPr>
          </a:p>
          <a:p>
            <a:r>
              <a:rPr lang="en-US" altLang="ko-KR" sz="1400" dirty="0" smtClean="0">
                <a:solidFill>
                  <a:srgbClr val="0000C0"/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 err="1" smtClean="0">
                <a:solidFill>
                  <a:srgbClr val="0000C0"/>
                </a:solidFill>
                <a:latin typeface="돋움체"/>
                <a:ea typeface="돋움체"/>
              </a:rPr>
              <a:t>indexBuffer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=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ByteBuffer.allocateDirect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400" dirty="0" err="1">
                <a:solidFill>
                  <a:srgbClr val="0000C0"/>
                </a:solidFill>
                <a:latin typeface="돋움체"/>
                <a:ea typeface="돋움체"/>
              </a:rPr>
              <a:t>indices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.</a:t>
            </a:r>
            <a:r>
              <a:rPr lang="en-US" altLang="ko-KR" sz="1400" dirty="0" err="1">
                <a:solidFill>
                  <a:srgbClr val="0000C0"/>
                </a:solidFill>
                <a:latin typeface="돋움체"/>
                <a:ea typeface="돋움체"/>
              </a:rPr>
              <a:t>length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400" dirty="0" smtClean="0">
                <a:solidFill>
                  <a:srgbClr val="0000C0"/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 err="1" smtClean="0">
                <a:solidFill>
                  <a:srgbClr val="0000C0"/>
                </a:solidFill>
                <a:latin typeface="돋움체"/>
                <a:ea typeface="돋움체"/>
              </a:rPr>
              <a:t>indexBuffer</a:t>
            </a:r>
            <a:r>
              <a:rPr lang="en-US" altLang="ko-KR" sz="1400" dirty="0" err="1" smtClean="0">
                <a:solidFill>
                  <a:srgbClr val="000000"/>
                </a:solidFill>
                <a:latin typeface="돋움체"/>
                <a:ea typeface="돋움체"/>
              </a:rPr>
              <a:t>.put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400" dirty="0" smtClean="0">
                <a:solidFill>
                  <a:srgbClr val="0000C0"/>
                </a:solidFill>
                <a:latin typeface="돋움체"/>
                <a:ea typeface="돋움체"/>
              </a:rPr>
              <a:t>indices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400" dirty="0" smtClean="0">
                <a:solidFill>
                  <a:srgbClr val="0000C0"/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 err="1" smtClean="0">
                <a:solidFill>
                  <a:srgbClr val="0000C0"/>
                </a:solidFill>
                <a:latin typeface="돋움체"/>
                <a:ea typeface="돋움체"/>
              </a:rPr>
              <a:t>indexBuffer</a:t>
            </a:r>
            <a:r>
              <a:rPr lang="en-US" altLang="ko-KR" sz="1400" dirty="0" err="1" smtClean="0">
                <a:solidFill>
                  <a:srgbClr val="000000"/>
                </a:solidFill>
                <a:latin typeface="돋움체"/>
                <a:ea typeface="돋움체"/>
              </a:rPr>
              <a:t>.position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(0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endParaRPr lang="ko-KR" altLang="en-US" sz="1400" dirty="0">
              <a:latin typeface="돋움체"/>
              <a:ea typeface="돋움체"/>
            </a:endParaRPr>
          </a:p>
          <a:p>
            <a:r>
              <a:rPr lang="en-US" altLang="ko-KR" sz="1400" dirty="0" smtClean="0">
                <a:solidFill>
                  <a:srgbClr val="0000C0"/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 err="1" smtClean="0">
                <a:solidFill>
                  <a:srgbClr val="0000C0"/>
                </a:solidFill>
                <a:latin typeface="돋움체"/>
                <a:ea typeface="돋움체"/>
              </a:rPr>
              <a:t>polygonMode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= GL10.</a:t>
            </a:r>
            <a:r>
              <a:rPr lang="en-US" altLang="ko-KR" sz="1400" dirty="0">
                <a:solidFill>
                  <a:srgbClr val="0000C0"/>
                </a:solidFill>
                <a:latin typeface="돋움체"/>
                <a:ea typeface="돋움체"/>
              </a:rPr>
              <a:t>GL_TRIANGLES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;</a:t>
            </a:r>
          </a:p>
          <a:p>
            <a:r>
              <a:rPr lang="en-US" altLang="ko-KR" sz="1400" dirty="0" smtClean="0">
                <a:solidFill>
                  <a:srgbClr val="0000C0"/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 err="1" smtClean="0">
                <a:solidFill>
                  <a:srgbClr val="0000C0"/>
                </a:solidFill>
                <a:latin typeface="돋움체"/>
                <a:ea typeface="돋움체"/>
              </a:rPr>
              <a:t>vertexLength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= </a:t>
            </a:r>
            <a:r>
              <a:rPr lang="en-US" altLang="ko-KR" sz="1400" dirty="0" err="1">
                <a:solidFill>
                  <a:srgbClr val="0000C0"/>
                </a:solidFill>
                <a:latin typeface="돋움체"/>
                <a:ea typeface="돋움체"/>
              </a:rPr>
              <a:t>indices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.</a:t>
            </a:r>
            <a:r>
              <a:rPr lang="en-US" altLang="ko-KR" sz="1400" dirty="0" err="1">
                <a:solidFill>
                  <a:srgbClr val="0000C0"/>
                </a:solidFill>
                <a:latin typeface="돋움체"/>
                <a:ea typeface="돋움체"/>
              </a:rPr>
              <a:t>length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;</a:t>
            </a:r>
          </a:p>
          <a:p>
            <a:r>
              <a:rPr lang="en-US" altLang="ko-KR" sz="1400" dirty="0" smtClean="0">
                <a:solidFill>
                  <a:srgbClr val="0000C0"/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 err="1" smtClean="0">
                <a:solidFill>
                  <a:srgbClr val="0000C0"/>
                </a:solidFill>
                <a:latin typeface="돋움체"/>
                <a:ea typeface="돋움체"/>
              </a:rPr>
              <a:t>colorVertex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= </a:t>
            </a:r>
            <a:r>
              <a:rPr lang="en-US" altLang="ko-KR" sz="1400" dirty="0">
                <a:solidFill>
                  <a:srgbClr val="7F0055"/>
                </a:solidFill>
                <a:latin typeface="돋움체"/>
                <a:ea typeface="돋움체"/>
              </a:rPr>
              <a:t>true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;</a:t>
            </a:r>
          </a:p>
          <a:p>
            <a:r>
              <a:rPr lang="en-US" altLang="ko-KR" sz="1400" dirty="0" smtClean="0">
                <a:solidFill>
                  <a:srgbClr val="0000C0"/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 err="1" smtClean="0">
                <a:solidFill>
                  <a:srgbClr val="0000C0"/>
                </a:solidFill>
                <a:latin typeface="돋움체"/>
                <a:ea typeface="돋움체"/>
              </a:rPr>
              <a:t>indexVertex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= </a:t>
            </a:r>
            <a:r>
              <a:rPr lang="en-US" altLang="ko-KR" sz="1400" dirty="0">
                <a:solidFill>
                  <a:srgbClr val="7F0055"/>
                </a:solidFill>
                <a:latin typeface="돋움체"/>
                <a:ea typeface="돋움체"/>
              </a:rPr>
              <a:t>true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;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}</a:t>
            </a:r>
            <a:endParaRPr lang="en-US" altLang="ko-KR" sz="1400" dirty="0">
              <a:solidFill>
                <a:srgbClr val="000000"/>
              </a:solidFill>
              <a:latin typeface="돋움체"/>
              <a:ea typeface="돋움체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}</a:t>
            </a:r>
            <a:endParaRPr lang="ko-KR" altLang="en-US" sz="1400" dirty="0">
              <a:latin typeface="돋움체"/>
              <a:ea typeface="돋움체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97230" y="1280160"/>
            <a:ext cx="16323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 smtClean="0">
                <a:solidFill>
                  <a:prstClr val="black"/>
                </a:solidFill>
              </a:rPr>
              <a:t>Ex_GLES</a:t>
            </a:r>
            <a:endParaRPr lang="en-US" altLang="ko-KR" b="1" dirty="0" smtClean="0">
              <a:solidFill>
                <a:prstClr val="black"/>
              </a:solidFill>
            </a:endParaRPr>
          </a:p>
          <a:p>
            <a:r>
              <a:rPr lang="en-US" altLang="ko-KR" dirty="0" smtClean="0">
                <a:solidFill>
                  <a:prstClr val="black"/>
                </a:solidFill>
              </a:rPr>
              <a:t>/</a:t>
            </a:r>
            <a:r>
              <a:rPr lang="en-US" altLang="ko-KR" dirty="0" err="1" smtClean="0">
                <a:solidFill>
                  <a:prstClr val="black"/>
                </a:solidFill>
              </a:rPr>
              <a:t>src</a:t>
            </a:r>
            <a:r>
              <a:rPr lang="en-US" altLang="ko-KR" dirty="0" smtClean="0">
                <a:solidFill>
                  <a:prstClr val="black"/>
                </a:solidFill>
              </a:rPr>
              <a:t>/Cube.java</a:t>
            </a:r>
            <a:endParaRPr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21062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60</a:t>
            </a:fld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Cube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97230" y="1926491"/>
            <a:ext cx="6519734" cy="469359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3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class </a:t>
            </a:r>
            <a:r>
              <a:rPr lang="en-US" altLang="ko-KR" sz="13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MyRenderer</a:t>
            </a:r>
            <a:r>
              <a:rPr lang="en-US" altLang="ko-KR" sz="13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implements Renderer {</a:t>
            </a:r>
          </a:p>
          <a:p>
            <a:r>
              <a:rPr lang="en-US" altLang="ko-KR" sz="1300" dirty="0">
                <a:solidFill>
                  <a:srgbClr val="000000"/>
                </a:solidFill>
                <a:latin typeface="돋움체"/>
                <a:ea typeface="돋움체"/>
              </a:rPr>
              <a:t>    </a:t>
            </a:r>
            <a:r>
              <a:rPr lang="en-US" altLang="ko-KR" sz="1300" dirty="0" smtClean="0">
                <a:solidFill>
                  <a:srgbClr val="000000"/>
                </a:solidFill>
                <a:latin typeface="돋움체"/>
                <a:ea typeface="돋움체"/>
              </a:rPr>
              <a:t>    </a:t>
            </a:r>
            <a:r>
              <a:rPr lang="en-US" altLang="ko-KR" sz="1300" dirty="0" smtClean="0">
                <a:solidFill>
                  <a:srgbClr val="7F0055"/>
                </a:solidFill>
                <a:latin typeface="돋움체"/>
                <a:ea typeface="돋움체"/>
              </a:rPr>
              <a:t>private</a:t>
            </a:r>
            <a:r>
              <a:rPr lang="en-US" altLang="ko-KR" sz="13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300" dirty="0">
                <a:solidFill>
                  <a:srgbClr val="000000"/>
                </a:solidFill>
                <a:latin typeface="돋움체"/>
                <a:ea typeface="돋움체"/>
              </a:rPr>
              <a:t>Cube </a:t>
            </a:r>
            <a:r>
              <a:rPr lang="en-US" altLang="ko-KR" sz="1300" dirty="0" err="1">
                <a:solidFill>
                  <a:srgbClr val="0000C0"/>
                </a:solidFill>
                <a:latin typeface="돋움체"/>
                <a:ea typeface="돋움체"/>
              </a:rPr>
              <a:t>cube</a:t>
            </a:r>
            <a:r>
              <a:rPr lang="en-US" altLang="ko-KR" sz="1300" dirty="0">
                <a:solidFill>
                  <a:srgbClr val="000000"/>
                </a:solidFill>
                <a:latin typeface="돋움체"/>
                <a:ea typeface="돋움체"/>
              </a:rPr>
              <a:t>;</a:t>
            </a:r>
          </a:p>
          <a:p>
            <a:r>
              <a:rPr lang="en-US" altLang="ko-KR" sz="1300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300" dirty="0">
                <a:solidFill>
                  <a:srgbClr val="7F0055"/>
                </a:solidFill>
                <a:latin typeface="돋움체"/>
                <a:ea typeface="돋움체"/>
              </a:rPr>
              <a:t>private</a:t>
            </a:r>
            <a:r>
              <a:rPr lang="en-US" altLang="ko-KR" sz="13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300" dirty="0">
                <a:solidFill>
                  <a:srgbClr val="7F0055"/>
                </a:solidFill>
                <a:latin typeface="돋움체"/>
                <a:ea typeface="돋움체"/>
              </a:rPr>
              <a:t>float</a:t>
            </a:r>
            <a:r>
              <a:rPr lang="en-US" altLang="ko-KR" sz="13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300" dirty="0" err="1">
                <a:solidFill>
                  <a:srgbClr val="0000C0"/>
                </a:solidFill>
                <a:latin typeface="돋움체"/>
                <a:ea typeface="돋움체"/>
              </a:rPr>
              <a:t>rotX</a:t>
            </a:r>
            <a:r>
              <a:rPr lang="en-US" altLang="ko-KR" sz="1300" dirty="0">
                <a:solidFill>
                  <a:srgbClr val="000000"/>
                </a:solidFill>
                <a:latin typeface="돋움체"/>
                <a:ea typeface="돋움체"/>
              </a:rPr>
              <a:t>;</a:t>
            </a:r>
          </a:p>
          <a:p>
            <a:r>
              <a:rPr lang="en-US" altLang="ko-KR" sz="1300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300" dirty="0">
                <a:solidFill>
                  <a:srgbClr val="7F0055"/>
                </a:solidFill>
                <a:latin typeface="돋움체"/>
                <a:ea typeface="돋움체"/>
              </a:rPr>
              <a:t>private</a:t>
            </a:r>
            <a:r>
              <a:rPr lang="en-US" altLang="ko-KR" sz="13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300" dirty="0">
                <a:solidFill>
                  <a:srgbClr val="7F0055"/>
                </a:solidFill>
                <a:latin typeface="돋움체"/>
                <a:ea typeface="돋움체"/>
              </a:rPr>
              <a:t>float</a:t>
            </a:r>
            <a:r>
              <a:rPr lang="en-US" altLang="ko-KR" sz="13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300" dirty="0" err="1">
                <a:solidFill>
                  <a:srgbClr val="0000C0"/>
                </a:solidFill>
                <a:latin typeface="돋움체"/>
                <a:ea typeface="돋움체"/>
              </a:rPr>
              <a:t>rotY</a:t>
            </a:r>
            <a:r>
              <a:rPr lang="en-US" altLang="ko-KR" sz="1300" dirty="0">
                <a:solidFill>
                  <a:srgbClr val="000000"/>
                </a:solidFill>
                <a:latin typeface="돋움체"/>
                <a:ea typeface="돋움체"/>
              </a:rPr>
              <a:t>;</a:t>
            </a:r>
          </a:p>
          <a:p>
            <a:endParaRPr lang="ko-KR" altLang="en-US" sz="1300" dirty="0" smtClean="0">
              <a:solidFill>
                <a:srgbClr val="000000"/>
              </a:solidFill>
              <a:latin typeface="돋움체"/>
              <a:ea typeface="돋움체"/>
            </a:endParaRPr>
          </a:p>
          <a:p>
            <a:r>
              <a:rPr lang="en-US" altLang="ko-KR" sz="13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public </a:t>
            </a:r>
            <a:r>
              <a:rPr lang="en-US" altLang="ko-KR" sz="13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MyRenderer</a:t>
            </a:r>
            <a:r>
              <a:rPr lang="en-US" altLang="ko-KR" sz="13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() {</a:t>
            </a:r>
          </a:p>
          <a:p>
            <a:r>
              <a:rPr lang="en-US" altLang="ko-KR" sz="13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300" dirty="0">
                <a:solidFill>
                  <a:srgbClr val="0000C0"/>
                </a:solidFill>
                <a:latin typeface="돋움체"/>
                <a:ea typeface="돋움체"/>
              </a:rPr>
              <a:t>cube</a:t>
            </a:r>
            <a:r>
              <a:rPr lang="en-US" altLang="ko-KR" sz="1300" dirty="0">
                <a:solidFill>
                  <a:srgbClr val="000000"/>
                </a:solidFill>
                <a:latin typeface="돋움체"/>
                <a:ea typeface="돋움체"/>
              </a:rPr>
              <a:t> = </a:t>
            </a:r>
            <a:r>
              <a:rPr lang="en-US" altLang="ko-KR" sz="1300" dirty="0">
                <a:solidFill>
                  <a:srgbClr val="7F0055"/>
                </a:solidFill>
                <a:latin typeface="돋움체"/>
                <a:ea typeface="돋움체"/>
              </a:rPr>
              <a:t>new</a:t>
            </a:r>
            <a:r>
              <a:rPr lang="en-US" altLang="ko-KR" sz="1300" dirty="0">
                <a:solidFill>
                  <a:srgbClr val="000000"/>
                </a:solidFill>
                <a:latin typeface="돋움체"/>
                <a:ea typeface="돋움체"/>
              </a:rPr>
              <a:t> Cube();</a:t>
            </a:r>
          </a:p>
          <a:p>
            <a:r>
              <a:rPr lang="en-US" altLang="ko-KR" sz="13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300" dirty="0" err="1">
                <a:solidFill>
                  <a:srgbClr val="0000C0"/>
                </a:solidFill>
                <a:latin typeface="돋움체"/>
                <a:ea typeface="돋움체"/>
              </a:rPr>
              <a:t>rotX</a:t>
            </a:r>
            <a:r>
              <a:rPr lang="en-US" altLang="ko-KR" sz="1300" dirty="0">
                <a:solidFill>
                  <a:srgbClr val="000000"/>
                </a:solidFill>
                <a:latin typeface="돋움체"/>
                <a:ea typeface="돋움체"/>
              </a:rPr>
              <a:t> = 0.0f;</a:t>
            </a:r>
          </a:p>
          <a:p>
            <a:r>
              <a:rPr lang="en-US" altLang="ko-KR" sz="13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300" dirty="0" err="1">
                <a:solidFill>
                  <a:srgbClr val="0000C0"/>
                </a:solidFill>
                <a:latin typeface="돋움체"/>
                <a:ea typeface="돋움체"/>
              </a:rPr>
              <a:t>rotY</a:t>
            </a:r>
            <a:r>
              <a:rPr lang="en-US" altLang="ko-KR" sz="1300" dirty="0">
                <a:solidFill>
                  <a:srgbClr val="000000"/>
                </a:solidFill>
                <a:latin typeface="돋움체"/>
                <a:ea typeface="돋움체"/>
              </a:rPr>
              <a:t> = 0.0f;</a:t>
            </a:r>
          </a:p>
          <a:p>
            <a:r>
              <a:rPr lang="ko-KR" altLang="en-US" sz="13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</a:t>
            </a:r>
            <a:r>
              <a:rPr lang="en-US" altLang="ko-KR" sz="13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}</a:t>
            </a:r>
          </a:p>
          <a:p>
            <a:r>
              <a:rPr lang="en-US" altLang="ko-KR" sz="13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…</a:t>
            </a:r>
          </a:p>
          <a:p>
            <a:r>
              <a:rPr lang="en-US" altLang="ko-KR" sz="13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public </a:t>
            </a:r>
            <a:r>
              <a:rPr lang="en-US" altLang="ko-KR" sz="13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void </a:t>
            </a:r>
            <a:r>
              <a:rPr lang="en-US" altLang="ko-KR" sz="13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onDrawFrame</a:t>
            </a:r>
            <a:r>
              <a:rPr lang="en-US" altLang="ko-KR" sz="13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(GL10 </a:t>
            </a:r>
            <a:r>
              <a:rPr lang="en-US" altLang="ko-KR" sz="13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gl</a:t>
            </a:r>
            <a:r>
              <a:rPr lang="en-US" altLang="ko-KR" sz="13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) {</a:t>
            </a:r>
          </a:p>
          <a:p>
            <a:r>
              <a:rPr lang="en-US" altLang="ko-KR" sz="13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    </a:t>
            </a:r>
            <a:r>
              <a:rPr lang="en-US" altLang="ko-KR" sz="13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gl.glClear</a:t>
            </a:r>
            <a:r>
              <a:rPr lang="en-US" altLang="ko-KR" sz="13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(GL10.GL_COLOR_BUFFER_BIT </a:t>
            </a:r>
            <a:r>
              <a:rPr lang="en-US" altLang="ko-KR" sz="13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| GL10.GL_DEPTH_BUFFER_BIT);</a:t>
            </a:r>
          </a:p>
          <a:p>
            <a:endParaRPr lang="ko-KR" altLang="en-US" sz="1300" dirty="0">
              <a:latin typeface="돋움체"/>
              <a:ea typeface="돋움체"/>
            </a:endParaRPr>
          </a:p>
          <a:p>
            <a:r>
              <a:rPr lang="en-US" altLang="ko-KR" sz="13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300" dirty="0" err="1" smtClean="0">
                <a:solidFill>
                  <a:srgbClr val="000000"/>
                </a:solidFill>
                <a:latin typeface="돋움체"/>
                <a:ea typeface="돋움체"/>
              </a:rPr>
              <a:t>gl.glLoadIdentity</a:t>
            </a:r>
            <a:r>
              <a:rPr lang="en-US" altLang="ko-KR" sz="1300" dirty="0">
                <a:solidFill>
                  <a:srgbClr val="000000"/>
                </a:solidFill>
                <a:latin typeface="돋움체"/>
                <a:ea typeface="돋움체"/>
              </a:rPr>
              <a:t>();</a:t>
            </a:r>
          </a:p>
          <a:p>
            <a:r>
              <a:rPr lang="en-US" altLang="ko-KR" sz="1300" dirty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300" dirty="0" err="1">
                <a:solidFill>
                  <a:srgbClr val="000000"/>
                </a:solidFill>
                <a:latin typeface="돋움체"/>
                <a:ea typeface="돋움체"/>
              </a:rPr>
              <a:t>gl.glTranslatef</a:t>
            </a:r>
            <a:r>
              <a:rPr lang="en-US" altLang="ko-KR" sz="1300" dirty="0">
                <a:solidFill>
                  <a:srgbClr val="000000"/>
                </a:solidFill>
                <a:latin typeface="돋움체"/>
                <a:ea typeface="돋움체"/>
              </a:rPr>
              <a:t>(0.0f, 0.0f, -6.0f);</a:t>
            </a:r>
          </a:p>
          <a:p>
            <a:r>
              <a:rPr lang="en-US" altLang="ko-KR" sz="1300" dirty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300" dirty="0" err="1">
                <a:solidFill>
                  <a:srgbClr val="000000"/>
                </a:solidFill>
                <a:latin typeface="돋움체"/>
                <a:ea typeface="돋움체"/>
              </a:rPr>
              <a:t>gl.glRotatef</a:t>
            </a:r>
            <a:r>
              <a:rPr lang="en-US" altLang="ko-KR" sz="13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300" dirty="0" err="1">
                <a:solidFill>
                  <a:srgbClr val="0000C0"/>
                </a:solidFill>
                <a:latin typeface="돋움체"/>
                <a:ea typeface="돋움체"/>
              </a:rPr>
              <a:t>rotX</a:t>
            </a:r>
            <a:r>
              <a:rPr lang="en-US" altLang="ko-KR" sz="1300" dirty="0">
                <a:solidFill>
                  <a:srgbClr val="000000"/>
                </a:solidFill>
                <a:latin typeface="돋움체"/>
                <a:ea typeface="돋움체"/>
              </a:rPr>
              <a:t>, 1.0f, 0.0f, 0.0f);</a:t>
            </a:r>
          </a:p>
          <a:p>
            <a:r>
              <a:rPr lang="en-US" altLang="ko-KR" sz="1300" dirty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300" dirty="0" err="1">
                <a:solidFill>
                  <a:srgbClr val="000000"/>
                </a:solidFill>
                <a:latin typeface="돋움체"/>
                <a:ea typeface="돋움체"/>
              </a:rPr>
              <a:t>gl.glRotatef</a:t>
            </a:r>
            <a:r>
              <a:rPr lang="en-US" altLang="ko-KR" sz="13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300" dirty="0" err="1">
                <a:solidFill>
                  <a:srgbClr val="0000C0"/>
                </a:solidFill>
                <a:latin typeface="돋움체"/>
                <a:ea typeface="돋움체"/>
              </a:rPr>
              <a:t>rotY</a:t>
            </a:r>
            <a:r>
              <a:rPr lang="en-US" altLang="ko-KR" sz="1300" dirty="0">
                <a:solidFill>
                  <a:srgbClr val="000000"/>
                </a:solidFill>
                <a:latin typeface="돋움체"/>
                <a:ea typeface="돋움체"/>
              </a:rPr>
              <a:t>, 0.0f, 1.0f, 0.0f);</a:t>
            </a:r>
          </a:p>
          <a:p>
            <a:r>
              <a:rPr lang="en-US" altLang="ko-KR" sz="1300" dirty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300" dirty="0" err="1">
                <a:solidFill>
                  <a:srgbClr val="0000C0"/>
                </a:solidFill>
                <a:latin typeface="돋움체"/>
                <a:ea typeface="돋움체"/>
              </a:rPr>
              <a:t>cube</a:t>
            </a:r>
            <a:r>
              <a:rPr lang="en-US" altLang="ko-KR" sz="1300" dirty="0" err="1">
                <a:solidFill>
                  <a:srgbClr val="000000"/>
                </a:solidFill>
                <a:latin typeface="돋움체"/>
                <a:ea typeface="돋움체"/>
              </a:rPr>
              <a:t>.draw</a:t>
            </a:r>
            <a:r>
              <a:rPr lang="en-US" altLang="ko-KR" sz="13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300" dirty="0" err="1">
                <a:solidFill>
                  <a:srgbClr val="000000"/>
                </a:solidFill>
                <a:latin typeface="돋움체"/>
                <a:ea typeface="돋움체"/>
              </a:rPr>
              <a:t>gl</a:t>
            </a:r>
            <a:r>
              <a:rPr lang="en-US" altLang="ko-KR" sz="1300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ko-KR" altLang="en-US" sz="1300" dirty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</a:p>
          <a:p>
            <a:r>
              <a:rPr lang="en-US" altLang="ko-KR" sz="1300" dirty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300" dirty="0" err="1">
                <a:solidFill>
                  <a:srgbClr val="0000C0"/>
                </a:solidFill>
                <a:latin typeface="돋움체"/>
                <a:ea typeface="돋움체"/>
              </a:rPr>
              <a:t>rotX</a:t>
            </a:r>
            <a:r>
              <a:rPr lang="en-US" altLang="ko-KR" sz="1300" dirty="0">
                <a:solidFill>
                  <a:srgbClr val="000000"/>
                </a:solidFill>
                <a:latin typeface="돋움체"/>
                <a:ea typeface="돋움체"/>
              </a:rPr>
              <a:t> += 1.0f;</a:t>
            </a:r>
          </a:p>
          <a:p>
            <a:r>
              <a:rPr lang="en-US" altLang="ko-KR" sz="1300" dirty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300" dirty="0" err="1">
                <a:solidFill>
                  <a:srgbClr val="0000C0"/>
                </a:solidFill>
                <a:latin typeface="돋움체"/>
                <a:ea typeface="돋움체"/>
              </a:rPr>
              <a:t>rotY</a:t>
            </a:r>
            <a:r>
              <a:rPr lang="en-US" altLang="ko-KR" sz="1300" dirty="0">
                <a:solidFill>
                  <a:srgbClr val="000000"/>
                </a:solidFill>
                <a:latin typeface="돋움체"/>
                <a:ea typeface="돋움체"/>
              </a:rPr>
              <a:t> += 0.5f;</a:t>
            </a:r>
          </a:p>
          <a:p>
            <a:r>
              <a:rPr lang="en-US" altLang="ko-KR" sz="13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}</a:t>
            </a:r>
            <a:endParaRPr lang="ko-KR" altLang="en-US" sz="1300" dirty="0">
              <a:solidFill>
                <a:schemeClr val="tx1">
                  <a:lumMod val="50000"/>
                  <a:lumOff val="50000"/>
                </a:schemeClr>
              </a:solidFill>
              <a:latin typeface="돋움체"/>
              <a:ea typeface="돋움체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97230" y="1280160"/>
            <a:ext cx="15634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 smtClean="0">
                <a:solidFill>
                  <a:prstClr val="black"/>
                </a:solidFill>
              </a:rPr>
              <a:t>Ex_GLES</a:t>
            </a:r>
            <a:endParaRPr lang="en-US" altLang="ko-KR" b="1" dirty="0" smtClean="0">
              <a:solidFill>
                <a:prstClr val="black"/>
              </a:solidFill>
            </a:endParaRPr>
          </a:p>
          <a:p>
            <a:r>
              <a:rPr lang="en-US" altLang="ko-KR" dirty="0" smtClean="0">
                <a:solidFill>
                  <a:prstClr val="black"/>
                </a:solidFill>
              </a:rPr>
              <a:t>/</a:t>
            </a:r>
            <a:r>
              <a:rPr lang="en-US" altLang="ko-KR" dirty="0" err="1" smtClean="0">
                <a:solidFill>
                  <a:prstClr val="black"/>
                </a:solidFill>
              </a:rPr>
              <a:t>src</a:t>
            </a:r>
            <a:r>
              <a:rPr lang="en-US" altLang="ko-KR" dirty="0" smtClean="0">
                <a:solidFill>
                  <a:prstClr val="black"/>
                </a:solidFill>
              </a:rPr>
              <a:t>/Act1.java</a:t>
            </a:r>
            <a:endParaRPr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5297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61</a:t>
            </a:fld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Moving Cube</a:t>
            </a:r>
            <a:endParaRPr lang="ko-KR" altLang="en-US" dirty="0"/>
          </a:p>
        </p:txBody>
      </p:sp>
      <p:pic>
        <p:nvPicPr>
          <p:cNvPr id="1026" name="Picture 2" descr="C:\Users\msKim\Desktop\2016-2 모바일앱프로그래밍 (교재)\drive-download-20161109T111332Z\작업중 (순번 변경)\Screenshot_1478768357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1137" y="1373826"/>
            <a:ext cx="2835000" cy="50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634941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Example #11_4</a:t>
            </a:r>
            <a:endParaRPr lang="ko-KR" altLang="en-US" dirty="0"/>
          </a:p>
        </p:txBody>
      </p:sp>
      <p:sp>
        <p:nvSpPr>
          <p:cNvPr id="6" name="텍스트 개체 틀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Textures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62</a:t>
            </a:fld>
            <a:endParaRPr lang="ko-KR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68843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63</a:t>
            </a:fld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Obj</a:t>
            </a:r>
            <a:r>
              <a:rPr lang="en-US" altLang="ko-KR" dirty="0" smtClean="0"/>
              <a:t> class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97230" y="1926491"/>
            <a:ext cx="4224233" cy="440120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public class </a:t>
            </a:r>
            <a:r>
              <a:rPr lang="en-US" altLang="ko-KR" sz="14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Obj</a:t>
            </a:r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{</a:t>
            </a:r>
          </a:p>
          <a:p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protected </a:t>
            </a:r>
            <a:r>
              <a:rPr lang="en-US" altLang="ko-KR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FloatBuffer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vertexBuffer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;</a:t>
            </a:r>
          </a:p>
          <a:p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protected </a:t>
            </a:r>
            <a:r>
              <a:rPr lang="en-US" altLang="ko-KR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FloatBuffer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colorBuffer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;</a:t>
            </a:r>
          </a:p>
          <a:p>
            <a:r>
              <a:rPr lang="en-US" altLang="ko-KR" sz="1400" dirty="0" smtClean="0">
                <a:solidFill>
                  <a:srgbClr val="7F0055"/>
                </a:solidFill>
                <a:latin typeface="돋움체"/>
                <a:ea typeface="돋움체"/>
              </a:rPr>
              <a:t>    protected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FloatBuffer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b="1" dirty="0" err="1">
                <a:solidFill>
                  <a:srgbClr val="0000C0"/>
                </a:solidFill>
                <a:latin typeface="돋움체"/>
                <a:ea typeface="돋움체"/>
              </a:rPr>
              <a:t>textureBuffer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;</a:t>
            </a:r>
          </a:p>
          <a:p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protected </a:t>
            </a:r>
            <a:r>
              <a:rPr lang="en-US" altLang="ko-KR" sz="14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ByteBuffer</a:t>
            </a:r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</a:t>
            </a:r>
            <a:r>
              <a:rPr lang="en-US" altLang="ko-KR" sz="14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indexBuffer</a:t>
            </a:r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;</a:t>
            </a:r>
          </a:p>
          <a:p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protected </a:t>
            </a:r>
            <a:r>
              <a:rPr lang="en-US" altLang="ko-KR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int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polygonMode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;</a:t>
            </a:r>
          </a:p>
          <a:p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protected </a:t>
            </a:r>
            <a:r>
              <a:rPr lang="en-US" altLang="ko-KR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int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vertexLength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;</a:t>
            </a:r>
          </a:p>
          <a:p>
            <a:r>
              <a:rPr lang="en-US" altLang="ko-KR" sz="1400" dirty="0" smtClean="0">
                <a:solidFill>
                  <a:srgbClr val="7F0055"/>
                </a:solidFill>
                <a:latin typeface="돋움체"/>
                <a:ea typeface="돋움체"/>
              </a:rPr>
              <a:t>    protected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 err="1">
                <a:solidFill>
                  <a:srgbClr val="7F0055"/>
                </a:solidFill>
                <a:latin typeface="돋움체"/>
                <a:ea typeface="돋움체"/>
              </a:rPr>
              <a:t>int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b="1" dirty="0" err="1">
                <a:solidFill>
                  <a:srgbClr val="0000C0"/>
                </a:solidFill>
                <a:latin typeface="돋움체"/>
                <a:ea typeface="돋움체"/>
              </a:rPr>
              <a:t>textureNumber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;</a:t>
            </a:r>
          </a:p>
          <a:p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protected </a:t>
            </a:r>
            <a:r>
              <a:rPr lang="en-US" altLang="ko-KR" sz="14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boolean</a:t>
            </a:r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colorVertex</a:t>
            </a:r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;</a:t>
            </a:r>
          </a:p>
          <a:p>
            <a:r>
              <a:rPr lang="en-US" altLang="ko-KR" sz="1400" dirty="0" smtClean="0">
                <a:solidFill>
                  <a:srgbClr val="7F0055"/>
                </a:solidFill>
                <a:latin typeface="돋움체"/>
                <a:ea typeface="돋움체"/>
              </a:rPr>
              <a:t>    protected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 err="1">
                <a:solidFill>
                  <a:srgbClr val="7F0055"/>
                </a:solidFill>
                <a:latin typeface="돋움체"/>
                <a:ea typeface="돋움체"/>
              </a:rPr>
              <a:t>boolean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b="1" dirty="0" err="1">
                <a:solidFill>
                  <a:srgbClr val="0000C0"/>
                </a:solidFill>
                <a:latin typeface="돋움체"/>
                <a:ea typeface="돋움체"/>
              </a:rPr>
              <a:t>textureVertex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;</a:t>
            </a:r>
          </a:p>
          <a:p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protected </a:t>
            </a:r>
            <a:r>
              <a:rPr lang="en-US" altLang="ko-KR" sz="14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boolean</a:t>
            </a:r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indexVertex</a:t>
            </a:r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;</a:t>
            </a:r>
          </a:p>
          <a:p>
            <a:endParaRPr lang="ko-KR" altLang="en-US" sz="1400" dirty="0">
              <a:latin typeface="돋움체"/>
              <a:ea typeface="돋움체"/>
            </a:endParaRPr>
          </a:p>
          <a:p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public </a:t>
            </a:r>
            <a:r>
              <a:rPr lang="en-US" altLang="ko-KR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Obj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() {</a:t>
            </a:r>
          </a:p>
          <a:p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polygonMode</a:t>
            </a:r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= GL10.GL_TRIANGLE_STRIP;</a:t>
            </a:r>
          </a:p>
          <a:p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vertexLength</a:t>
            </a:r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= 0;</a:t>
            </a:r>
          </a:p>
          <a:p>
            <a:r>
              <a:rPr lang="en-US" altLang="ko-KR" sz="1400" dirty="0" smtClean="0">
                <a:solidFill>
                  <a:srgbClr val="0000C0"/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 err="1" smtClean="0">
                <a:solidFill>
                  <a:srgbClr val="0000C0"/>
                </a:solidFill>
                <a:latin typeface="돋움체"/>
                <a:ea typeface="돋움체"/>
              </a:rPr>
              <a:t>textureNumber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= -1;</a:t>
            </a:r>
          </a:p>
          <a:p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colorVertex</a:t>
            </a:r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= false;</a:t>
            </a:r>
          </a:p>
          <a:p>
            <a:r>
              <a:rPr lang="en-US" altLang="ko-KR" sz="1400" dirty="0" smtClean="0">
                <a:solidFill>
                  <a:srgbClr val="0000C0"/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 err="1" smtClean="0">
                <a:solidFill>
                  <a:srgbClr val="0000C0"/>
                </a:solidFill>
                <a:latin typeface="돋움체"/>
                <a:ea typeface="돋움체"/>
              </a:rPr>
              <a:t>textureVertex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= </a:t>
            </a:r>
            <a:r>
              <a:rPr lang="en-US" altLang="ko-KR" sz="1400" dirty="0">
                <a:solidFill>
                  <a:srgbClr val="7F0055"/>
                </a:solidFill>
                <a:latin typeface="돋움체"/>
                <a:ea typeface="돋움체"/>
              </a:rPr>
              <a:t>false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;</a:t>
            </a:r>
          </a:p>
          <a:p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indexVertex</a:t>
            </a:r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= false;</a:t>
            </a:r>
          </a:p>
          <a:p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7230" y="1280160"/>
            <a:ext cx="145443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 smtClean="0">
                <a:solidFill>
                  <a:prstClr val="black"/>
                </a:solidFill>
              </a:rPr>
              <a:t>Ex_GLES</a:t>
            </a:r>
            <a:endParaRPr lang="en-US" altLang="ko-KR" b="1" dirty="0" smtClean="0">
              <a:solidFill>
                <a:prstClr val="black"/>
              </a:solidFill>
            </a:endParaRPr>
          </a:p>
          <a:p>
            <a:r>
              <a:rPr lang="en-US" altLang="ko-KR" dirty="0" smtClean="0">
                <a:solidFill>
                  <a:prstClr val="black"/>
                </a:solidFill>
              </a:rPr>
              <a:t>/</a:t>
            </a:r>
            <a:r>
              <a:rPr lang="en-US" altLang="ko-KR" dirty="0" err="1" smtClean="0">
                <a:solidFill>
                  <a:prstClr val="black"/>
                </a:solidFill>
              </a:rPr>
              <a:t>src</a:t>
            </a:r>
            <a:r>
              <a:rPr lang="en-US" altLang="ko-KR" dirty="0" smtClean="0">
                <a:solidFill>
                  <a:prstClr val="black"/>
                </a:solidFill>
              </a:rPr>
              <a:t>/Obj.java</a:t>
            </a:r>
            <a:endParaRPr lang="ko-KR" altLang="en-US" dirty="0">
              <a:solidFill>
                <a:prstClr val="black"/>
              </a:solidFill>
            </a:endParaRPr>
          </a:p>
        </p:txBody>
      </p:sp>
      <p:sp>
        <p:nvSpPr>
          <p:cNvPr id="7" name="가로로 말린 두루마리 모양 6"/>
          <p:cNvSpPr/>
          <p:nvPr/>
        </p:nvSpPr>
        <p:spPr>
          <a:xfrm>
            <a:off x="5383530" y="1706193"/>
            <a:ext cx="3268979" cy="762687"/>
          </a:xfrm>
          <a:prstGeom prst="horizontalScroll">
            <a:avLst>
              <a:gd name="adj" fmla="val 13671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err="1" smtClean="0"/>
              <a:t>Obj</a:t>
            </a:r>
            <a:r>
              <a:rPr lang="en-US" altLang="ko-KR" dirty="0" smtClean="0"/>
              <a:t> </a:t>
            </a:r>
            <a:r>
              <a:rPr lang="ko-KR" altLang="en-US" dirty="0" smtClean="0"/>
              <a:t>클래스 업그레이드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444091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64</a:t>
            </a:fld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Obj</a:t>
            </a:r>
            <a:r>
              <a:rPr lang="en-US" altLang="ko-KR" dirty="0"/>
              <a:t> class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97230" y="1926491"/>
            <a:ext cx="7648248" cy="446276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public 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void draw(GL10 </a:t>
            </a:r>
            <a:r>
              <a:rPr lang="en-US" altLang="ko-KR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gl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) {</a:t>
            </a:r>
          </a:p>
          <a:p>
            <a:r>
              <a:rPr lang="en-US" altLang="ko-KR" sz="9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   </a:t>
            </a:r>
            <a:r>
              <a:rPr lang="en-US" altLang="ko-KR" sz="9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gl.glFrontFace</a:t>
            </a:r>
            <a:r>
              <a:rPr lang="en-US" altLang="ko-KR" sz="9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(GL10.GL_CW</a:t>
            </a:r>
            <a:r>
              <a:rPr lang="en-US" altLang="ko-KR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9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   if </a:t>
            </a:r>
            <a:r>
              <a:rPr lang="en-US" altLang="ko-KR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(</a:t>
            </a:r>
            <a:r>
              <a:rPr lang="en-US" altLang="ko-KR" sz="9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colorVertex</a:t>
            </a:r>
            <a:r>
              <a:rPr lang="en-US" altLang="ko-KR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) </a:t>
            </a:r>
            <a:r>
              <a:rPr lang="en-US" altLang="ko-KR" sz="9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{</a:t>
            </a:r>
          </a:p>
          <a:p>
            <a:r>
              <a:rPr lang="en-US" altLang="ko-KR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</a:t>
            </a:r>
            <a:r>
              <a:rPr lang="en-US" altLang="ko-KR" sz="9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        …</a:t>
            </a:r>
            <a:endParaRPr lang="en-US" altLang="ko-KR" sz="900" dirty="0">
              <a:solidFill>
                <a:schemeClr val="tx1">
                  <a:lumMod val="50000"/>
                  <a:lumOff val="50000"/>
                </a:schemeClr>
              </a:solidFill>
              <a:latin typeface="돋움체"/>
              <a:ea typeface="돋움체"/>
            </a:endParaRPr>
          </a:p>
          <a:p>
            <a:r>
              <a:rPr lang="en-US" altLang="ko-KR" sz="9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   }</a:t>
            </a:r>
            <a:endParaRPr lang="en-US" altLang="ko-KR" sz="900" dirty="0">
              <a:solidFill>
                <a:schemeClr val="tx1">
                  <a:lumMod val="50000"/>
                  <a:lumOff val="50000"/>
                </a:schemeClr>
              </a:solidFill>
              <a:latin typeface="돋움체"/>
              <a:ea typeface="돋움체"/>
            </a:endParaRPr>
          </a:p>
          <a:p>
            <a:r>
              <a:rPr lang="en-US" altLang="ko-KR" sz="1200" dirty="0" smtClean="0">
                <a:solidFill>
                  <a:srgbClr val="7F0055"/>
                </a:solidFill>
                <a:latin typeface="돋움체"/>
                <a:ea typeface="돋움체"/>
              </a:rPr>
              <a:t>        else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200" dirty="0">
                <a:solidFill>
                  <a:srgbClr val="7F0055"/>
                </a:solidFill>
                <a:latin typeface="돋움체"/>
                <a:ea typeface="돋움체"/>
              </a:rPr>
              <a:t>if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(</a:t>
            </a:r>
            <a:r>
              <a:rPr lang="en-US" altLang="ko-KR" sz="1200" dirty="0" err="1">
                <a:solidFill>
                  <a:srgbClr val="0000C0"/>
                </a:solidFill>
                <a:latin typeface="돋움체"/>
                <a:ea typeface="돋움체"/>
              </a:rPr>
              <a:t>textureVertex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) {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200" dirty="0" err="1" smtClean="0">
                <a:solidFill>
                  <a:srgbClr val="000000"/>
                </a:solidFill>
                <a:latin typeface="돋움체"/>
                <a:ea typeface="돋움체"/>
              </a:rPr>
              <a:t>gl.glBindTexture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(GL10.</a:t>
            </a:r>
            <a:r>
              <a:rPr lang="en-US" altLang="ko-KR" sz="1200" dirty="0" smtClean="0">
                <a:solidFill>
                  <a:srgbClr val="0000C0"/>
                </a:solidFill>
                <a:latin typeface="돋움체"/>
                <a:ea typeface="돋움체"/>
              </a:rPr>
              <a:t>GL_TEXTURE_2D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, </a:t>
            </a:r>
            <a:r>
              <a:rPr lang="en-US" altLang="ko-KR" sz="1200" dirty="0" err="1">
                <a:solidFill>
                  <a:srgbClr val="0000C0"/>
                </a:solidFill>
                <a:latin typeface="돋움체"/>
                <a:ea typeface="돋움체"/>
              </a:rPr>
              <a:t>textureNumber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endParaRPr lang="ko-KR" altLang="en-US" sz="1200" dirty="0">
              <a:latin typeface="돋움체"/>
              <a:ea typeface="돋움체"/>
            </a:endParaRP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200" dirty="0" err="1" smtClean="0">
                <a:solidFill>
                  <a:srgbClr val="000000"/>
                </a:solidFill>
                <a:latin typeface="돋움체"/>
                <a:ea typeface="돋움체"/>
              </a:rPr>
              <a:t>gl.glVertexPointer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(3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, GL10.</a:t>
            </a:r>
            <a:r>
              <a:rPr lang="en-US" altLang="ko-KR" sz="1200" dirty="0">
                <a:solidFill>
                  <a:srgbClr val="0000C0"/>
                </a:solidFill>
                <a:latin typeface="돋움체"/>
                <a:ea typeface="돋움체"/>
              </a:rPr>
              <a:t>GL_FLOAT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, 0, </a:t>
            </a:r>
            <a:r>
              <a:rPr lang="en-US" altLang="ko-KR" sz="1200" dirty="0" err="1">
                <a:solidFill>
                  <a:srgbClr val="0000C0"/>
                </a:solidFill>
                <a:latin typeface="돋움체"/>
                <a:ea typeface="돋움체"/>
              </a:rPr>
              <a:t>vertexBuffer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200" dirty="0" err="1" smtClean="0">
                <a:solidFill>
                  <a:srgbClr val="000000"/>
                </a:solidFill>
                <a:latin typeface="돋움체"/>
                <a:ea typeface="돋움체"/>
              </a:rPr>
              <a:t>gl.glTexCoordPointer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(2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, GL10.</a:t>
            </a:r>
            <a:r>
              <a:rPr lang="en-US" altLang="ko-KR" sz="1200" dirty="0">
                <a:solidFill>
                  <a:srgbClr val="0000C0"/>
                </a:solidFill>
                <a:latin typeface="돋움체"/>
                <a:ea typeface="돋움체"/>
              </a:rPr>
              <a:t>GL_FLOAT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, 0, </a:t>
            </a:r>
            <a:r>
              <a:rPr lang="en-US" altLang="ko-KR" sz="1200" dirty="0" err="1">
                <a:solidFill>
                  <a:srgbClr val="0000C0"/>
                </a:solidFill>
                <a:latin typeface="돋움체"/>
                <a:ea typeface="돋움체"/>
              </a:rPr>
              <a:t>textureBuffer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200" dirty="0" err="1" smtClean="0">
                <a:solidFill>
                  <a:srgbClr val="000000"/>
                </a:solidFill>
                <a:latin typeface="돋움체"/>
                <a:ea typeface="돋움체"/>
              </a:rPr>
              <a:t>gl.glEnableClientState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(GL10.</a:t>
            </a:r>
            <a:r>
              <a:rPr lang="en-US" altLang="ko-KR" sz="1200" dirty="0" smtClean="0">
                <a:solidFill>
                  <a:srgbClr val="0000C0"/>
                </a:solidFill>
                <a:latin typeface="돋움체"/>
                <a:ea typeface="돋움체"/>
              </a:rPr>
              <a:t>GL_VERTEX_ARRAY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200" dirty="0" err="1" smtClean="0">
                <a:solidFill>
                  <a:srgbClr val="000000"/>
                </a:solidFill>
                <a:latin typeface="돋움체"/>
                <a:ea typeface="돋움체"/>
              </a:rPr>
              <a:t>gl.glEnableClientState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(GL10.</a:t>
            </a:r>
            <a:r>
              <a:rPr lang="en-US" altLang="ko-KR" sz="1200" dirty="0" smtClean="0">
                <a:solidFill>
                  <a:srgbClr val="0000C0"/>
                </a:solidFill>
                <a:latin typeface="돋움체"/>
                <a:ea typeface="돋움체"/>
              </a:rPr>
              <a:t>GL_TEXTURE_COORD_ARRAY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200" dirty="0" smtClean="0">
                <a:solidFill>
                  <a:srgbClr val="7F0055"/>
                </a:solidFill>
                <a:latin typeface="돋움체"/>
                <a:ea typeface="돋움체"/>
              </a:rPr>
              <a:t>            if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200" dirty="0" err="1">
                <a:solidFill>
                  <a:srgbClr val="0000C0"/>
                </a:solidFill>
                <a:latin typeface="돋움체"/>
                <a:ea typeface="돋움체"/>
              </a:rPr>
              <a:t>indexVertex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) {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    </a:t>
            </a:r>
            <a:r>
              <a:rPr lang="en-US" altLang="ko-KR" sz="1200" dirty="0" err="1" smtClean="0">
                <a:solidFill>
                  <a:srgbClr val="000000"/>
                </a:solidFill>
                <a:latin typeface="돋움체"/>
                <a:ea typeface="돋움체"/>
              </a:rPr>
              <a:t>gl.glDrawElements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200" dirty="0" err="1" smtClean="0">
                <a:solidFill>
                  <a:srgbClr val="0000C0"/>
                </a:solidFill>
                <a:latin typeface="돋움체"/>
                <a:ea typeface="돋움체"/>
              </a:rPr>
              <a:t>polygonMode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, </a:t>
            </a:r>
            <a:r>
              <a:rPr lang="en-US" altLang="ko-KR" sz="1200" dirty="0" err="1" smtClean="0">
                <a:solidFill>
                  <a:srgbClr val="0000C0"/>
                </a:solidFill>
                <a:latin typeface="돋움체"/>
                <a:ea typeface="돋움체"/>
              </a:rPr>
              <a:t>vertexLength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, GL10.</a:t>
            </a:r>
            <a:r>
              <a:rPr lang="en-US" altLang="ko-KR" sz="1200" dirty="0" smtClean="0">
                <a:solidFill>
                  <a:srgbClr val="0000C0"/>
                </a:solidFill>
                <a:latin typeface="돋움체"/>
                <a:ea typeface="돋움체"/>
              </a:rPr>
              <a:t>GL_UNSIGNED_BYTE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, </a:t>
            </a:r>
            <a:r>
              <a:rPr lang="en-US" altLang="ko-KR" sz="1200" dirty="0" err="1">
                <a:solidFill>
                  <a:srgbClr val="0000C0"/>
                </a:solidFill>
                <a:latin typeface="돋움체"/>
                <a:ea typeface="돋움체"/>
              </a:rPr>
              <a:t>indexBuffer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}</a:t>
            </a:r>
          </a:p>
          <a:p>
            <a:r>
              <a:rPr lang="en-US" altLang="ko-KR" sz="1200" dirty="0" smtClean="0">
                <a:solidFill>
                  <a:srgbClr val="7F0055"/>
                </a:solidFill>
                <a:latin typeface="돋움체"/>
                <a:ea typeface="돋움체"/>
              </a:rPr>
              <a:t>            else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{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    </a:t>
            </a:r>
            <a:r>
              <a:rPr lang="en-US" altLang="ko-KR" sz="1200" dirty="0" err="1" smtClean="0">
                <a:solidFill>
                  <a:srgbClr val="000000"/>
                </a:solidFill>
                <a:latin typeface="돋움체"/>
                <a:ea typeface="돋움체"/>
              </a:rPr>
              <a:t>gl.glDrawArrays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200" dirty="0" err="1" smtClean="0">
                <a:solidFill>
                  <a:srgbClr val="0000C0"/>
                </a:solidFill>
                <a:latin typeface="돋움체"/>
                <a:ea typeface="돋움체"/>
              </a:rPr>
              <a:t>polygonMode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, 0, </a:t>
            </a:r>
            <a:r>
              <a:rPr lang="en-US" altLang="ko-KR" sz="1200" dirty="0" err="1" smtClean="0">
                <a:solidFill>
                  <a:srgbClr val="0000C0"/>
                </a:solidFill>
                <a:latin typeface="돋움체"/>
                <a:ea typeface="돋움체"/>
              </a:rPr>
              <a:t>vertexLength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}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200" dirty="0" err="1" smtClean="0">
                <a:solidFill>
                  <a:srgbClr val="000000"/>
                </a:solidFill>
                <a:latin typeface="돋움체"/>
                <a:ea typeface="돋움체"/>
              </a:rPr>
              <a:t>gl.glDisableClientState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(GL10.</a:t>
            </a:r>
            <a:r>
              <a:rPr lang="en-US" altLang="ko-KR" sz="1200" dirty="0" smtClean="0">
                <a:solidFill>
                  <a:srgbClr val="0000C0"/>
                </a:solidFill>
                <a:latin typeface="돋움체"/>
                <a:ea typeface="돋움체"/>
              </a:rPr>
              <a:t>GL_VERTEX_ARRAY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200" dirty="0" err="1" smtClean="0">
                <a:solidFill>
                  <a:srgbClr val="000000"/>
                </a:solidFill>
                <a:latin typeface="돋움체"/>
                <a:ea typeface="돋움체"/>
              </a:rPr>
              <a:t>gl.glDisableClientState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(GL10.</a:t>
            </a:r>
            <a:r>
              <a:rPr lang="en-US" altLang="ko-KR" sz="1200" dirty="0" smtClean="0">
                <a:solidFill>
                  <a:srgbClr val="0000C0"/>
                </a:solidFill>
                <a:latin typeface="돋움체"/>
                <a:ea typeface="돋움체"/>
              </a:rPr>
              <a:t>GL_TEXTURE_COORD_ARRAY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}</a:t>
            </a:r>
          </a:p>
          <a:p>
            <a:r>
              <a:rPr lang="en-US" altLang="ko-KR" sz="9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   else {</a:t>
            </a:r>
          </a:p>
          <a:p>
            <a:r>
              <a:rPr lang="en-US" altLang="ko-KR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</a:t>
            </a:r>
            <a:r>
              <a:rPr lang="en-US" altLang="ko-KR" sz="9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        …</a:t>
            </a:r>
          </a:p>
          <a:p>
            <a:r>
              <a:rPr lang="en-US" altLang="ko-KR" sz="9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   }</a:t>
            </a:r>
          </a:p>
          <a:p>
            <a:r>
              <a:rPr lang="en-US" altLang="ko-KR" sz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}</a:t>
            </a:r>
            <a:endParaRPr lang="en-US" altLang="ko-KR" sz="1200" dirty="0">
              <a:solidFill>
                <a:schemeClr val="tx1">
                  <a:lumMod val="50000"/>
                  <a:lumOff val="50000"/>
                </a:schemeClr>
              </a:solidFill>
              <a:latin typeface="돋움체"/>
              <a:ea typeface="돋움체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97230" y="1280160"/>
            <a:ext cx="145443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 smtClean="0">
                <a:solidFill>
                  <a:prstClr val="black"/>
                </a:solidFill>
              </a:rPr>
              <a:t>Ex_GLES</a:t>
            </a:r>
            <a:endParaRPr lang="en-US" altLang="ko-KR" b="1" dirty="0" smtClean="0">
              <a:solidFill>
                <a:prstClr val="black"/>
              </a:solidFill>
            </a:endParaRPr>
          </a:p>
          <a:p>
            <a:r>
              <a:rPr lang="en-US" altLang="ko-KR" dirty="0" smtClean="0">
                <a:solidFill>
                  <a:prstClr val="black"/>
                </a:solidFill>
              </a:rPr>
              <a:t>/</a:t>
            </a:r>
            <a:r>
              <a:rPr lang="en-US" altLang="ko-KR" dirty="0" err="1" smtClean="0">
                <a:solidFill>
                  <a:prstClr val="black"/>
                </a:solidFill>
              </a:rPr>
              <a:t>src</a:t>
            </a:r>
            <a:r>
              <a:rPr lang="en-US" altLang="ko-KR" dirty="0" smtClean="0">
                <a:solidFill>
                  <a:prstClr val="black"/>
                </a:solidFill>
              </a:rPr>
              <a:t>/Obj.java</a:t>
            </a:r>
            <a:endParaRPr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04384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65</a:t>
            </a:fld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TexCube</a:t>
            </a:r>
            <a:r>
              <a:rPr lang="en-US" altLang="ko-KR" dirty="0" smtClean="0"/>
              <a:t> class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97230" y="1926491"/>
            <a:ext cx="5301451" cy="483209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rgbClr val="7F0055"/>
                </a:solidFill>
                <a:latin typeface="돋움체"/>
                <a:ea typeface="돋움체"/>
              </a:rPr>
              <a:t>public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>
                <a:solidFill>
                  <a:srgbClr val="7F0055"/>
                </a:solidFill>
                <a:latin typeface="돋움체"/>
                <a:ea typeface="돋움체"/>
              </a:rPr>
              <a:t>class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TexCube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>
                <a:solidFill>
                  <a:srgbClr val="7F0055"/>
                </a:solidFill>
                <a:latin typeface="돋움체"/>
                <a:ea typeface="돋움체"/>
              </a:rPr>
              <a:t>extends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Obj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{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   </a:t>
            </a:r>
            <a:r>
              <a:rPr lang="en-US" altLang="ko-KR" sz="1400" dirty="0">
                <a:solidFill>
                  <a:srgbClr val="7F0055"/>
                </a:solidFill>
                <a:latin typeface="돋움체"/>
                <a:ea typeface="돋움체"/>
              </a:rPr>
              <a:t>private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>
                <a:solidFill>
                  <a:srgbClr val="7F0055"/>
                </a:solidFill>
                <a:latin typeface="돋움체"/>
                <a:ea typeface="돋움체"/>
              </a:rPr>
              <a:t>float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>
                <a:solidFill>
                  <a:srgbClr val="0000C0"/>
                </a:solidFill>
                <a:latin typeface="돋움체"/>
                <a:ea typeface="돋움체"/>
              </a:rPr>
              <a:t>vertices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[] = {</a:t>
            </a:r>
          </a:p>
          <a:p>
            <a:r>
              <a:rPr lang="en-US" altLang="ko-KR" sz="1400" dirty="0" smtClean="0">
                <a:solidFill>
                  <a:srgbClr val="3F7F5F"/>
                </a:solidFill>
                <a:latin typeface="돋움체"/>
                <a:ea typeface="돋움체"/>
              </a:rPr>
              <a:t>            //</a:t>
            </a:r>
            <a:r>
              <a:rPr lang="en-US" altLang="ko-KR" sz="1400" dirty="0">
                <a:solidFill>
                  <a:srgbClr val="3F7F5F"/>
                </a:solidFill>
                <a:latin typeface="돋움체"/>
                <a:ea typeface="돋움체"/>
              </a:rPr>
              <a:t>Vertices according to faces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-1.0f, -1.0f, 1.0f,  1.0f, -1.0f, 1.0f,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-1.0f, 1.0f, 1.0f,   1.0f, 1.0f, 1.0f,</a:t>
            </a:r>
          </a:p>
          <a:p>
            <a:endParaRPr lang="ko-KR" altLang="en-US" sz="1400" dirty="0">
              <a:latin typeface="돋움체"/>
              <a:ea typeface="돋움체"/>
            </a:endParaRP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1.0f, -1.0f, 1.0f,   1.0f, -1.0f, -1.0f,    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1.0f, 1.0f, 1.0f,    1.0f, 1.0f, -1.0f,</a:t>
            </a:r>
          </a:p>
          <a:p>
            <a:r>
              <a:rPr lang="ko-KR" altLang="en-US" sz="1400" dirty="0">
                <a:solidFill>
                  <a:srgbClr val="000000"/>
                </a:solidFill>
                <a:latin typeface="돋움체"/>
                <a:ea typeface="돋움체"/>
              </a:rPr>
              <a:t>    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1.0f, -1.0f, -1.0f,  -1.0f, -1.0f, -1.0f,    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1.0f, 1.0f, -1.0f,   -1.0f, 1.0f, -1.0f,</a:t>
            </a:r>
          </a:p>
          <a:p>
            <a:r>
              <a:rPr lang="ko-KR" altLang="en-US" sz="1400" dirty="0">
                <a:solidFill>
                  <a:srgbClr val="000000"/>
                </a:solidFill>
                <a:latin typeface="돋움체"/>
                <a:ea typeface="돋움체"/>
              </a:rPr>
              <a:t>    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-1.0f, -1.0f, -1.0f, -1.0f, -1.0f, 1.0f,    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-1.0f, 1.0f, -1.0f,  -1.0f, 1.0f, 1.0f,</a:t>
            </a:r>
          </a:p>
          <a:p>
            <a:r>
              <a:rPr lang="ko-KR" altLang="en-US" sz="1400" dirty="0">
                <a:solidFill>
                  <a:srgbClr val="000000"/>
                </a:solidFill>
                <a:latin typeface="돋움체"/>
                <a:ea typeface="돋움체"/>
              </a:rPr>
              <a:t>    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-1.0f, -1.0f, -1.0f, 1.0f, -1.0f, -1.0f,    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-1.0f, -1.0f, 1.0f,  1.0f, -1.0f, 1.0f,</a:t>
            </a:r>
          </a:p>
          <a:p>
            <a:r>
              <a:rPr lang="ko-KR" altLang="en-US" sz="1400" dirty="0">
                <a:solidFill>
                  <a:srgbClr val="000000"/>
                </a:solidFill>
                <a:latin typeface="돋움체"/>
                <a:ea typeface="돋움체"/>
              </a:rPr>
              <a:t>    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-1.0f, 1.0f, 1.0f,   1.0f, 1.0f, 1.0f,    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-1.0f, 1.0f, -1.0f,  1.0f, 1.0f, -1.0f,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};</a:t>
            </a:r>
            <a:endParaRPr lang="en-US" altLang="ko-KR" sz="1400" dirty="0">
              <a:solidFill>
                <a:srgbClr val="000000"/>
              </a:solidFill>
              <a:latin typeface="돋움체"/>
              <a:ea typeface="돋움체"/>
            </a:endParaRPr>
          </a:p>
          <a:p>
            <a:endParaRPr lang="ko-KR" altLang="en-US" sz="1400" dirty="0">
              <a:latin typeface="돋움체"/>
              <a:ea typeface="돋움체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97230" y="1280160"/>
            <a:ext cx="19863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 smtClean="0">
                <a:solidFill>
                  <a:prstClr val="black"/>
                </a:solidFill>
              </a:rPr>
              <a:t>Ex_GLES</a:t>
            </a:r>
            <a:endParaRPr lang="en-US" altLang="ko-KR" b="1" dirty="0" smtClean="0">
              <a:solidFill>
                <a:prstClr val="black"/>
              </a:solidFill>
            </a:endParaRPr>
          </a:p>
          <a:p>
            <a:r>
              <a:rPr lang="en-US" altLang="ko-KR" dirty="0" smtClean="0">
                <a:solidFill>
                  <a:prstClr val="black"/>
                </a:solidFill>
              </a:rPr>
              <a:t>/</a:t>
            </a:r>
            <a:r>
              <a:rPr lang="en-US" altLang="ko-KR" dirty="0" err="1" smtClean="0">
                <a:solidFill>
                  <a:prstClr val="black"/>
                </a:solidFill>
              </a:rPr>
              <a:t>src</a:t>
            </a:r>
            <a:r>
              <a:rPr lang="en-US" altLang="ko-KR" dirty="0" smtClean="0">
                <a:solidFill>
                  <a:prstClr val="black"/>
                </a:solidFill>
              </a:rPr>
              <a:t>/TexCube.java</a:t>
            </a:r>
            <a:endParaRPr lang="ko-KR" altLang="en-US" dirty="0">
              <a:solidFill>
                <a:prstClr val="black"/>
              </a:solidFill>
            </a:endParaRPr>
          </a:p>
        </p:txBody>
      </p:sp>
      <p:sp>
        <p:nvSpPr>
          <p:cNvPr id="7" name="가로로 말린 두루마리 모양 6"/>
          <p:cNvSpPr/>
          <p:nvPr/>
        </p:nvSpPr>
        <p:spPr>
          <a:xfrm>
            <a:off x="5383530" y="1706193"/>
            <a:ext cx="3268979" cy="762687"/>
          </a:xfrm>
          <a:prstGeom prst="horizontalScroll">
            <a:avLst>
              <a:gd name="adj" fmla="val 13671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err="1" smtClean="0"/>
              <a:t>TexCube</a:t>
            </a:r>
            <a:r>
              <a:rPr lang="en-US" altLang="ko-KR" dirty="0" smtClean="0"/>
              <a:t> </a:t>
            </a:r>
            <a:r>
              <a:rPr lang="ko-KR" altLang="en-US" dirty="0" smtClean="0"/>
              <a:t>클래스 추가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369116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66</a:t>
            </a:fld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TexCube</a:t>
            </a:r>
            <a:r>
              <a:rPr lang="en-US" altLang="ko-KR" dirty="0" smtClean="0"/>
              <a:t> class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97230" y="1926491"/>
            <a:ext cx="6378669" cy="483209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400" dirty="0" smtClean="0">
                <a:solidFill>
                  <a:srgbClr val="3F5FBF"/>
                </a:solidFill>
                <a:latin typeface="돋움체"/>
                <a:ea typeface="돋움체"/>
              </a:rPr>
              <a:t>    /** </a:t>
            </a:r>
            <a:r>
              <a:rPr lang="en-US" altLang="ko-KR" sz="1400" dirty="0">
                <a:solidFill>
                  <a:srgbClr val="3F5FBF"/>
                </a:solidFill>
                <a:latin typeface="돋움체"/>
                <a:ea typeface="돋움체"/>
              </a:rPr>
              <a:t>The initial texture coordinates (u, v) */</a:t>
            </a:r>
          </a:p>
          <a:p>
            <a:r>
              <a:rPr lang="en-US" altLang="ko-KR" sz="1400" dirty="0" smtClean="0">
                <a:solidFill>
                  <a:srgbClr val="7F0055"/>
                </a:solidFill>
                <a:latin typeface="돋움체"/>
                <a:ea typeface="돋움체"/>
              </a:rPr>
              <a:t>    private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>
                <a:solidFill>
                  <a:srgbClr val="7F0055"/>
                </a:solidFill>
                <a:latin typeface="돋움체"/>
                <a:ea typeface="돋움체"/>
              </a:rPr>
              <a:t>float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>
                <a:solidFill>
                  <a:srgbClr val="0000C0"/>
                </a:solidFill>
                <a:latin typeface="돋움체"/>
                <a:ea typeface="돋움체"/>
              </a:rPr>
              <a:t>texture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[] = {    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dirty="0">
                <a:solidFill>
                  <a:srgbClr val="3F7F5F"/>
                </a:solidFill>
                <a:latin typeface="돋움체"/>
                <a:ea typeface="돋움체"/>
              </a:rPr>
              <a:t>//Mapping coordinates for the vertices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0.0f, 0.0f,    0.0f, 1.0f,    1.0f, 0.0f,    1.0f, 1.0f, 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0.0f, 0.0f,    0.0f, 1.0f,    1.0f, 0.0f,    1.0f, 1.0f,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0.0f, 0.0f,    0.0f, 1.0f,    1.0f, 0.0f,    1.0f, 1.0f,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0.0f, 0.0f,    0.0f, 1.0f,    1.0f, 0.0f,    1.0f, 1.0f,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0.0f, 0.0f,    0.0f, 1.0f,    1.0f, 0.0f,    1.0f, 1.0f,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0.0f, 0.0f,    0.0f, 1.0f,    1.0f, 0.0f,    1.0f, 1.0f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};</a:t>
            </a:r>
            <a:endParaRPr lang="en-US" altLang="ko-KR" sz="1400" dirty="0">
              <a:solidFill>
                <a:srgbClr val="000000"/>
              </a:solidFill>
              <a:latin typeface="돋움체"/>
              <a:ea typeface="돋움체"/>
            </a:endParaRPr>
          </a:p>
          <a:p>
            <a:endParaRPr lang="ko-KR" altLang="en-US" sz="1400" dirty="0">
              <a:latin typeface="돋움체"/>
              <a:ea typeface="돋움체"/>
            </a:endParaRPr>
          </a:p>
          <a:p>
            <a:r>
              <a:rPr lang="en-US" altLang="ko-KR" sz="1400" dirty="0" smtClean="0">
                <a:solidFill>
                  <a:srgbClr val="3F5FBF"/>
                </a:solidFill>
                <a:latin typeface="돋움체"/>
                <a:ea typeface="돋움체"/>
              </a:rPr>
              <a:t>    /** </a:t>
            </a:r>
            <a:r>
              <a:rPr lang="en-US" altLang="ko-KR" sz="1400" dirty="0">
                <a:solidFill>
                  <a:srgbClr val="3F5FBF"/>
                </a:solidFill>
                <a:latin typeface="돋움체"/>
                <a:ea typeface="돋움체"/>
              </a:rPr>
              <a:t>The initial indices definition */</a:t>
            </a:r>
          </a:p>
          <a:p>
            <a:r>
              <a:rPr lang="en-US" altLang="ko-KR" sz="1400" dirty="0" smtClean="0">
                <a:solidFill>
                  <a:srgbClr val="7F0055"/>
                </a:solidFill>
                <a:latin typeface="돋움체"/>
                <a:ea typeface="돋움체"/>
              </a:rPr>
              <a:t>    private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>
                <a:solidFill>
                  <a:srgbClr val="7F0055"/>
                </a:solidFill>
                <a:latin typeface="돋움체"/>
                <a:ea typeface="돋움체"/>
              </a:rPr>
              <a:t>byte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>
                <a:solidFill>
                  <a:srgbClr val="0000C0"/>
                </a:solidFill>
                <a:latin typeface="돋움체"/>
                <a:ea typeface="돋움체"/>
              </a:rPr>
              <a:t>indices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[] = {</a:t>
            </a:r>
          </a:p>
          <a:p>
            <a:r>
              <a:rPr lang="en-US" altLang="ko-KR" sz="1400" dirty="0" smtClean="0">
                <a:solidFill>
                  <a:srgbClr val="3F7F5F"/>
                </a:solidFill>
                <a:latin typeface="돋움체"/>
                <a:ea typeface="돋움체"/>
              </a:rPr>
              <a:t>            //</a:t>
            </a:r>
            <a:r>
              <a:rPr lang="en-US" altLang="ko-KR" sz="1400" dirty="0">
                <a:solidFill>
                  <a:srgbClr val="3F7F5F"/>
                </a:solidFill>
                <a:latin typeface="돋움체"/>
                <a:ea typeface="돋움체"/>
              </a:rPr>
              <a:t>Faces definition</a:t>
            </a:r>
          </a:p>
          <a:p>
            <a:r>
              <a:rPr lang="ko-KR" altLang="en-US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0,1,3,    0,3,2,</a:t>
            </a:r>
          </a:p>
          <a:p>
            <a:r>
              <a:rPr lang="ko-KR" altLang="en-US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4,5,7,    4,7,6,</a:t>
            </a:r>
          </a:p>
          <a:p>
            <a:r>
              <a:rPr lang="ko-KR" altLang="en-US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8,9,11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,   8,11,10, </a:t>
            </a:r>
          </a:p>
          <a:p>
            <a:r>
              <a:rPr lang="ko-KR" altLang="en-US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12,13,15, 12,15,14, </a:t>
            </a:r>
          </a:p>
          <a:p>
            <a:r>
              <a:rPr lang="ko-KR" altLang="en-US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16,17,19, 16,19,18, </a:t>
            </a:r>
          </a:p>
          <a:p>
            <a:r>
              <a:rPr lang="ko-KR" altLang="en-US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20,21,23, 20,23,22, 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};</a:t>
            </a:r>
          </a:p>
          <a:p>
            <a:endParaRPr lang="en-US" altLang="ko-KR" sz="1400" dirty="0">
              <a:solidFill>
                <a:srgbClr val="000000"/>
              </a:solidFill>
              <a:latin typeface="돋움체"/>
              <a:ea typeface="돋움체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97230" y="1280160"/>
            <a:ext cx="19863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 smtClean="0">
                <a:solidFill>
                  <a:prstClr val="black"/>
                </a:solidFill>
              </a:rPr>
              <a:t>Ex_GLES</a:t>
            </a:r>
            <a:endParaRPr lang="en-US" altLang="ko-KR" b="1" dirty="0" smtClean="0">
              <a:solidFill>
                <a:prstClr val="black"/>
              </a:solidFill>
            </a:endParaRPr>
          </a:p>
          <a:p>
            <a:r>
              <a:rPr lang="en-US" altLang="ko-KR" dirty="0" smtClean="0">
                <a:solidFill>
                  <a:prstClr val="black"/>
                </a:solidFill>
              </a:rPr>
              <a:t>/</a:t>
            </a:r>
            <a:r>
              <a:rPr lang="en-US" altLang="ko-KR" dirty="0" err="1" smtClean="0">
                <a:solidFill>
                  <a:prstClr val="black"/>
                </a:solidFill>
              </a:rPr>
              <a:t>src</a:t>
            </a:r>
            <a:r>
              <a:rPr lang="en-US" altLang="ko-KR" dirty="0" smtClean="0">
                <a:solidFill>
                  <a:prstClr val="black"/>
                </a:solidFill>
              </a:rPr>
              <a:t>/TexCube.java</a:t>
            </a:r>
            <a:endParaRPr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60421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67</a:t>
            </a:fld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TexCube</a:t>
            </a:r>
            <a:r>
              <a:rPr lang="en-US" altLang="ko-KR" dirty="0" smtClean="0"/>
              <a:t> class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97230" y="1926491"/>
            <a:ext cx="6032421" cy="489364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200" dirty="0" smtClean="0">
                <a:solidFill>
                  <a:srgbClr val="7F0055"/>
                </a:solidFill>
                <a:latin typeface="돋움체"/>
                <a:ea typeface="돋움체"/>
              </a:rPr>
              <a:t>    public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TexCube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() {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200" dirty="0" err="1" smtClean="0">
                <a:solidFill>
                  <a:srgbClr val="000000"/>
                </a:solidFill>
                <a:latin typeface="돋움체"/>
                <a:ea typeface="돋움체"/>
              </a:rPr>
              <a:t>ByteBuffer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byteBuf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= 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ByteBuffer.allocateDirect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200" dirty="0" err="1">
                <a:solidFill>
                  <a:srgbClr val="0000C0"/>
                </a:solidFill>
                <a:latin typeface="돋움체"/>
                <a:ea typeface="돋움체"/>
              </a:rPr>
              <a:t>vertices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.</a:t>
            </a:r>
            <a:r>
              <a:rPr lang="en-US" altLang="ko-KR" sz="1200" dirty="0" err="1">
                <a:solidFill>
                  <a:srgbClr val="0000C0"/>
                </a:solidFill>
                <a:latin typeface="돋움체"/>
                <a:ea typeface="돋움체"/>
              </a:rPr>
              <a:t>length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* 4);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200" dirty="0" err="1" smtClean="0">
                <a:solidFill>
                  <a:srgbClr val="000000"/>
                </a:solidFill>
                <a:latin typeface="돋움체"/>
                <a:ea typeface="돋움체"/>
              </a:rPr>
              <a:t>byteBuf.order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200" dirty="0" err="1" smtClean="0">
                <a:solidFill>
                  <a:srgbClr val="000000"/>
                </a:solidFill>
                <a:latin typeface="돋움체"/>
                <a:ea typeface="돋움체"/>
              </a:rPr>
              <a:t>ByteOrder.nativeOrder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());</a:t>
            </a:r>
          </a:p>
          <a:p>
            <a:r>
              <a:rPr lang="en-US" altLang="ko-KR" sz="1200" dirty="0" smtClean="0">
                <a:solidFill>
                  <a:srgbClr val="0000C0"/>
                </a:solidFill>
                <a:latin typeface="돋움체"/>
                <a:ea typeface="돋움체"/>
              </a:rPr>
              <a:t>        </a:t>
            </a:r>
            <a:r>
              <a:rPr lang="en-US" altLang="ko-KR" sz="1200" dirty="0" err="1" smtClean="0">
                <a:solidFill>
                  <a:srgbClr val="0000C0"/>
                </a:solidFill>
                <a:latin typeface="돋움체"/>
                <a:ea typeface="돋움체"/>
              </a:rPr>
              <a:t>vertexBuffer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= 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byteBuf.asFloatBuffer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();</a:t>
            </a:r>
          </a:p>
          <a:p>
            <a:r>
              <a:rPr lang="en-US" altLang="ko-KR" sz="1200" dirty="0" smtClean="0">
                <a:solidFill>
                  <a:srgbClr val="0000C0"/>
                </a:solidFill>
                <a:latin typeface="돋움체"/>
                <a:ea typeface="돋움체"/>
              </a:rPr>
              <a:t>        </a:t>
            </a:r>
            <a:r>
              <a:rPr lang="en-US" altLang="ko-KR" sz="1200" dirty="0" err="1" smtClean="0">
                <a:solidFill>
                  <a:srgbClr val="0000C0"/>
                </a:solidFill>
                <a:latin typeface="돋움체"/>
                <a:ea typeface="돋움체"/>
              </a:rPr>
              <a:t>vertexBuffer</a:t>
            </a:r>
            <a:r>
              <a:rPr lang="en-US" altLang="ko-KR" sz="1200" dirty="0" err="1" smtClean="0">
                <a:solidFill>
                  <a:srgbClr val="000000"/>
                </a:solidFill>
                <a:latin typeface="돋움체"/>
                <a:ea typeface="돋움체"/>
              </a:rPr>
              <a:t>.put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200" dirty="0" smtClean="0">
                <a:solidFill>
                  <a:srgbClr val="0000C0"/>
                </a:solidFill>
                <a:latin typeface="돋움체"/>
                <a:ea typeface="돋움체"/>
              </a:rPr>
              <a:t>vertices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200" dirty="0" smtClean="0">
                <a:solidFill>
                  <a:srgbClr val="0000C0"/>
                </a:solidFill>
                <a:latin typeface="돋움체"/>
                <a:ea typeface="돋움체"/>
              </a:rPr>
              <a:t>        </a:t>
            </a:r>
            <a:r>
              <a:rPr lang="en-US" altLang="ko-KR" sz="1200" dirty="0" err="1" smtClean="0">
                <a:solidFill>
                  <a:srgbClr val="0000C0"/>
                </a:solidFill>
                <a:latin typeface="돋움체"/>
                <a:ea typeface="돋움체"/>
              </a:rPr>
              <a:t>vertexBuffer</a:t>
            </a:r>
            <a:r>
              <a:rPr lang="en-US" altLang="ko-KR" sz="1200" dirty="0" err="1" smtClean="0">
                <a:solidFill>
                  <a:srgbClr val="000000"/>
                </a:solidFill>
                <a:latin typeface="돋움체"/>
                <a:ea typeface="돋움체"/>
              </a:rPr>
              <a:t>.position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(0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endParaRPr lang="ko-KR" altLang="en-US" sz="1200" dirty="0">
              <a:latin typeface="돋움체"/>
              <a:ea typeface="돋움체"/>
            </a:endParaRP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200" dirty="0" err="1" smtClean="0">
                <a:solidFill>
                  <a:srgbClr val="000000"/>
                </a:solidFill>
                <a:latin typeface="돋움체"/>
                <a:ea typeface="돋움체"/>
              </a:rPr>
              <a:t>byteBuf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= 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ByteBuffer.allocateDirect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200" dirty="0" err="1">
                <a:solidFill>
                  <a:srgbClr val="0000C0"/>
                </a:solidFill>
                <a:latin typeface="돋움체"/>
                <a:ea typeface="돋움체"/>
              </a:rPr>
              <a:t>texture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.</a:t>
            </a:r>
            <a:r>
              <a:rPr lang="en-US" altLang="ko-KR" sz="1200" dirty="0" err="1">
                <a:solidFill>
                  <a:srgbClr val="0000C0"/>
                </a:solidFill>
                <a:latin typeface="돋움체"/>
                <a:ea typeface="돋움체"/>
              </a:rPr>
              <a:t>length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* 4);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200" dirty="0" err="1" smtClean="0">
                <a:solidFill>
                  <a:srgbClr val="000000"/>
                </a:solidFill>
                <a:latin typeface="돋움체"/>
                <a:ea typeface="돋움체"/>
              </a:rPr>
              <a:t>byteBuf.order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200" dirty="0" err="1" smtClean="0">
                <a:solidFill>
                  <a:srgbClr val="000000"/>
                </a:solidFill>
                <a:latin typeface="돋움체"/>
                <a:ea typeface="돋움체"/>
              </a:rPr>
              <a:t>ByteOrder.nativeOrder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());</a:t>
            </a:r>
          </a:p>
          <a:p>
            <a:r>
              <a:rPr lang="en-US" altLang="ko-KR" sz="1200" dirty="0" smtClean="0">
                <a:solidFill>
                  <a:srgbClr val="0000C0"/>
                </a:solidFill>
                <a:latin typeface="돋움체"/>
                <a:ea typeface="돋움체"/>
              </a:rPr>
              <a:t>        </a:t>
            </a:r>
            <a:r>
              <a:rPr lang="en-US" altLang="ko-KR" sz="1200" dirty="0" err="1" smtClean="0">
                <a:solidFill>
                  <a:srgbClr val="0000C0"/>
                </a:solidFill>
                <a:latin typeface="돋움체"/>
                <a:ea typeface="돋움체"/>
              </a:rPr>
              <a:t>textureBuffer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= 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byteBuf.asFloatBuffer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();</a:t>
            </a:r>
          </a:p>
          <a:p>
            <a:r>
              <a:rPr lang="en-US" altLang="ko-KR" sz="1200" dirty="0" smtClean="0">
                <a:solidFill>
                  <a:srgbClr val="0000C0"/>
                </a:solidFill>
                <a:latin typeface="돋움체"/>
                <a:ea typeface="돋움체"/>
              </a:rPr>
              <a:t>        </a:t>
            </a:r>
            <a:r>
              <a:rPr lang="en-US" altLang="ko-KR" sz="1200" dirty="0" err="1" smtClean="0">
                <a:solidFill>
                  <a:srgbClr val="0000C0"/>
                </a:solidFill>
                <a:latin typeface="돋움체"/>
                <a:ea typeface="돋움체"/>
              </a:rPr>
              <a:t>textureBuffer</a:t>
            </a:r>
            <a:r>
              <a:rPr lang="en-US" altLang="ko-KR" sz="1200" dirty="0" err="1" smtClean="0">
                <a:solidFill>
                  <a:srgbClr val="000000"/>
                </a:solidFill>
                <a:latin typeface="돋움체"/>
                <a:ea typeface="돋움체"/>
              </a:rPr>
              <a:t>.put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200" dirty="0" smtClean="0">
                <a:solidFill>
                  <a:srgbClr val="0000C0"/>
                </a:solidFill>
                <a:latin typeface="돋움체"/>
                <a:ea typeface="돋움체"/>
              </a:rPr>
              <a:t>texture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200" dirty="0" smtClean="0">
                <a:solidFill>
                  <a:srgbClr val="0000C0"/>
                </a:solidFill>
                <a:latin typeface="돋움체"/>
                <a:ea typeface="돋움체"/>
              </a:rPr>
              <a:t>        </a:t>
            </a:r>
            <a:r>
              <a:rPr lang="en-US" altLang="ko-KR" sz="1200" dirty="0" err="1" smtClean="0">
                <a:solidFill>
                  <a:srgbClr val="0000C0"/>
                </a:solidFill>
                <a:latin typeface="돋움체"/>
                <a:ea typeface="돋움체"/>
              </a:rPr>
              <a:t>textureBuffer</a:t>
            </a:r>
            <a:r>
              <a:rPr lang="en-US" altLang="ko-KR" sz="1200" dirty="0" err="1" smtClean="0">
                <a:solidFill>
                  <a:srgbClr val="000000"/>
                </a:solidFill>
                <a:latin typeface="돋움체"/>
                <a:ea typeface="돋움체"/>
              </a:rPr>
              <a:t>.position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(0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endParaRPr lang="ko-KR" altLang="en-US" sz="1200" dirty="0">
              <a:latin typeface="돋움체"/>
              <a:ea typeface="돋움체"/>
            </a:endParaRPr>
          </a:p>
          <a:p>
            <a:r>
              <a:rPr lang="en-US" altLang="ko-KR" sz="1200" dirty="0" smtClean="0">
                <a:solidFill>
                  <a:srgbClr val="0000C0"/>
                </a:solidFill>
                <a:latin typeface="돋움체"/>
                <a:ea typeface="돋움체"/>
              </a:rPr>
              <a:t>        </a:t>
            </a:r>
            <a:r>
              <a:rPr lang="en-US" altLang="ko-KR" sz="1200" dirty="0" err="1" smtClean="0">
                <a:solidFill>
                  <a:srgbClr val="0000C0"/>
                </a:solidFill>
                <a:latin typeface="돋움체"/>
                <a:ea typeface="돋움체"/>
              </a:rPr>
              <a:t>indexBuffer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= 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ByteBuffer.allocateDirect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200" dirty="0" err="1">
                <a:solidFill>
                  <a:srgbClr val="0000C0"/>
                </a:solidFill>
                <a:latin typeface="돋움체"/>
                <a:ea typeface="돋움체"/>
              </a:rPr>
              <a:t>indices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.</a:t>
            </a:r>
            <a:r>
              <a:rPr lang="en-US" altLang="ko-KR" sz="1200" dirty="0" err="1">
                <a:solidFill>
                  <a:srgbClr val="0000C0"/>
                </a:solidFill>
                <a:latin typeface="돋움체"/>
                <a:ea typeface="돋움체"/>
              </a:rPr>
              <a:t>length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200" dirty="0" smtClean="0">
                <a:solidFill>
                  <a:srgbClr val="0000C0"/>
                </a:solidFill>
                <a:latin typeface="돋움체"/>
                <a:ea typeface="돋움체"/>
              </a:rPr>
              <a:t>        </a:t>
            </a:r>
            <a:r>
              <a:rPr lang="en-US" altLang="ko-KR" sz="1200" dirty="0" err="1" smtClean="0">
                <a:solidFill>
                  <a:srgbClr val="0000C0"/>
                </a:solidFill>
                <a:latin typeface="돋움체"/>
                <a:ea typeface="돋움체"/>
              </a:rPr>
              <a:t>indexBuffer</a:t>
            </a:r>
            <a:r>
              <a:rPr lang="en-US" altLang="ko-KR" sz="1200" dirty="0" err="1" smtClean="0">
                <a:solidFill>
                  <a:srgbClr val="000000"/>
                </a:solidFill>
                <a:latin typeface="돋움체"/>
                <a:ea typeface="돋움체"/>
              </a:rPr>
              <a:t>.put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200" dirty="0" smtClean="0">
                <a:solidFill>
                  <a:srgbClr val="0000C0"/>
                </a:solidFill>
                <a:latin typeface="돋움체"/>
                <a:ea typeface="돋움체"/>
              </a:rPr>
              <a:t>indices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200" dirty="0" smtClean="0">
                <a:solidFill>
                  <a:srgbClr val="0000C0"/>
                </a:solidFill>
                <a:latin typeface="돋움체"/>
                <a:ea typeface="돋움체"/>
              </a:rPr>
              <a:t>        </a:t>
            </a:r>
            <a:r>
              <a:rPr lang="en-US" altLang="ko-KR" sz="1200" dirty="0" err="1" smtClean="0">
                <a:solidFill>
                  <a:srgbClr val="0000C0"/>
                </a:solidFill>
                <a:latin typeface="돋움체"/>
                <a:ea typeface="돋움체"/>
              </a:rPr>
              <a:t>indexBuffer</a:t>
            </a:r>
            <a:r>
              <a:rPr lang="en-US" altLang="ko-KR" sz="1200" dirty="0" err="1" smtClean="0">
                <a:solidFill>
                  <a:srgbClr val="000000"/>
                </a:solidFill>
                <a:latin typeface="돋움체"/>
                <a:ea typeface="돋움체"/>
              </a:rPr>
              <a:t>.position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(0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endParaRPr lang="ko-KR" altLang="en-US" sz="1200" dirty="0">
              <a:latin typeface="돋움체"/>
              <a:ea typeface="돋움체"/>
            </a:endParaRPr>
          </a:p>
          <a:p>
            <a:r>
              <a:rPr lang="en-US" altLang="ko-KR" sz="1200" dirty="0" smtClean="0">
                <a:solidFill>
                  <a:srgbClr val="0000C0"/>
                </a:solidFill>
                <a:latin typeface="돋움체"/>
                <a:ea typeface="돋움체"/>
              </a:rPr>
              <a:t>        </a:t>
            </a:r>
            <a:r>
              <a:rPr lang="en-US" altLang="ko-KR" sz="1200" dirty="0" err="1" smtClean="0">
                <a:solidFill>
                  <a:srgbClr val="0000C0"/>
                </a:solidFill>
                <a:latin typeface="돋움체"/>
                <a:ea typeface="돋움체"/>
              </a:rPr>
              <a:t>polygonMode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= GL10.</a:t>
            </a:r>
            <a:r>
              <a:rPr lang="en-US" altLang="ko-KR" sz="1200" dirty="0">
                <a:solidFill>
                  <a:srgbClr val="0000C0"/>
                </a:solidFill>
                <a:latin typeface="돋움체"/>
                <a:ea typeface="돋움체"/>
              </a:rPr>
              <a:t>GL_TRIANGLES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;</a:t>
            </a:r>
          </a:p>
          <a:p>
            <a:r>
              <a:rPr lang="en-US" altLang="ko-KR" sz="1200" dirty="0" smtClean="0">
                <a:solidFill>
                  <a:srgbClr val="0000C0"/>
                </a:solidFill>
                <a:latin typeface="돋움체"/>
                <a:ea typeface="돋움체"/>
              </a:rPr>
              <a:t>        </a:t>
            </a:r>
            <a:r>
              <a:rPr lang="en-US" altLang="ko-KR" sz="1200" dirty="0" err="1" smtClean="0">
                <a:solidFill>
                  <a:srgbClr val="0000C0"/>
                </a:solidFill>
                <a:latin typeface="돋움체"/>
                <a:ea typeface="돋움체"/>
              </a:rPr>
              <a:t>vertexLength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= </a:t>
            </a:r>
            <a:r>
              <a:rPr lang="en-US" altLang="ko-KR" sz="1200" dirty="0" err="1">
                <a:solidFill>
                  <a:srgbClr val="0000C0"/>
                </a:solidFill>
                <a:latin typeface="돋움체"/>
                <a:ea typeface="돋움체"/>
              </a:rPr>
              <a:t>indices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.</a:t>
            </a:r>
            <a:r>
              <a:rPr lang="en-US" altLang="ko-KR" sz="1200" dirty="0" err="1">
                <a:solidFill>
                  <a:srgbClr val="0000C0"/>
                </a:solidFill>
                <a:latin typeface="돋움체"/>
                <a:ea typeface="돋움체"/>
              </a:rPr>
              <a:t>length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;</a:t>
            </a:r>
          </a:p>
          <a:p>
            <a:r>
              <a:rPr lang="en-US" altLang="ko-KR" sz="1200" dirty="0" smtClean="0">
                <a:solidFill>
                  <a:srgbClr val="0000C0"/>
                </a:solidFill>
                <a:latin typeface="돋움체"/>
                <a:ea typeface="돋움체"/>
              </a:rPr>
              <a:t>        </a:t>
            </a:r>
            <a:r>
              <a:rPr lang="en-US" altLang="ko-KR" sz="1200" dirty="0" err="1" smtClean="0">
                <a:solidFill>
                  <a:srgbClr val="0000C0"/>
                </a:solidFill>
                <a:latin typeface="돋움체"/>
                <a:ea typeface="돋움체"/>
              </a:rPr>
              <a:t>textureVertex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= </a:t>
            </a:r>
            <a:r>
              <a:rPr lang="en-US" altLang="ko-KR" sz="1200" dirty="0" smtClean="0">
                <a:solidFill>
                  <a:srgbClr val="7F0055"/>
                </a:solidFill>
                <a:latin typeface="돋움체"/>
                <a:ea typeface="돋움체"/>
              </a:rPr>
              <a:t>true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;</a:t>
            </a:r>
          </a:p>
          <a:p>
            <a:r>
              <a:rPr lang="en-US" altLang="ko-KR" sz="1200" dirty="0" smtClean="0">
                <a:solidFill>
                  <a:srgbClr val="0000C0"/>
                </a:solidFill>
                <a:latin typeface="돋움체"/>
                <a:ea typeface="돋움체"/>
              </a:rPr>
              <a:t>        </a:t>
            </a:r>
            <a:r>
              <a:rPr lang="en-US" altLang="ko-KR" sz="1200" dirty="0" err="1" smtClean="0">
                <a:solidFill>
                  <a:srgbClr val="0000C0"/>
                </a:solidFill>
                <a:latin typeface="돋움체"/>
                <a:ea typeface="돋움체"/>
              </a:rPr>
              <a:t>indexVertex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= </a:t>
            </a:r>
            <a:r>
              <a:rPr lang="en-US" altLang="ko-KR" sz="1200" dirty="0" smtClean="0">
                <a:solidFill>
                  <a:srgbClr val="7F0055"/>
                </a:solidFill>
                <a:latin typeface="돋움체"/>
                <a:ea typeface="돋움체"/>
              </a:rPr>
              <a:t>true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;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}</a:t>
            </a:r>
            <a:endParaRPr lang="en-US" altLang="ko-KR" sz="1200" dirty="0">
              <a:solidFill>
                <a:srgbClr val="000000"/>
              </a:solidFill>
              <a:latin typeface="돋움체"/>
              <a:ea typeface="돋움체"/>
            </a:endParaRPr>
          </a:p>
          <a:p>
            <a:r>
              <a:rPr lang="en-US" altLang="ko-KR" sz="1200" dirty="0" smtClean="0">
                <a:solidFill>
                  <a:srgbClr val="7F0055"/>
                </a:solidFill>
                <a:latin typeface="돋움체"/>
                <a:ea typeface="돋움체"/>
              </a:rPr>
              <a:t>    public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200" dirty="0">
                <a:solidFill>
                  <a:srgbClr val="7F0055"/>
                </a:solidFill>
                <a:latin typeface="돋움체"/>
                <a:ea typeface="돋움체"/>
              </a:rPr>
              <a:t>void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setTexture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200" dirty="0" err="1">
                <a:solidFill>
                  <a:srgbClr val="7F0055"/>
                </a:solidFill>
                <a:latin typeface="돋움체"/>
                <a:ea typeface="돋움체"/>
              </a:rPr>
              <a:t>int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num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) {</a:t>
            </a:r>
          </a:p>
          <a:p>
            <a:r>
              <a:rPr lang="en-US" altLang="ko-KR" sz="1200" dirty="0" smtClean="0">
                <a:solidFill>
                  <a:srgbClr val="0000C0"/>
                </a:solidFill>
                <a:latin typeface="돋움체"/>
                <a:ea typeface="돋움체"/>
              </a:rPr>
              <a:t>        </a:t>
            </a:r>
            <a:r>
              <a:rPr lang="en-US" altLang="ko-KR" sz="1200" dirty="0" err="1" smtClean="0">
                <a:solidFill>
                  <a:srgbClr val="0000C0"/>
                </a:solidFill>
                <a:latin typeface="돋움체"/>
                <a:ea typeface="돋움체"/>
              </a:rPr>
              <a:t>textureNumber</a:t>
            </a:r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= </a:t>
            </a:r>
            <a:r>
              <a:rPr lang="en-US" altLang="ko-KR" sz="1200" dirty="0" err="1">
                <a:solidFill>
                  <a:srgbClr val="000000"/>
                </a:solidFill>
                <a:latin typeface="돋움체"/>
                <a:ea typeface="돋움체"/>
              </a:rPr>
              <a:t>num</a:t>
            </a:r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;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돋움체"/>
                <a:ea typeface="돋움체"/>
              </a:rPr>
              <a:t>    }</a:t>
            </a:r>
            <a:endParaRPr lang="en-US" altLang="ko-KR" sz="1200" dirty="0">
              <a:solidFill>
                <a:srgbClr val="000000"/>
              </a:solidFill>
              <a:latin typeface="돋움체"/>
              <a:ea typeface="돋움체"/>
            </a:endParaRPr>
          </a:p>
          <a:p>
            <a:r>
              <a:rPr lang="en-US" altLang="ko-KR" sz="1200" dirty="0">
                <a:solidFill>
                  <a:srgbClr val="000000"/>
                </a:solidFill>
                <a:latin typeface="돋움체"/>
                <a:ea typeface="돋움체"/>
              </a:rP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7230" y="1280160"/>
            <a:ext cx="19863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 smtClean="0">
                <a:solidFill>
                  <a:prstClr val="black"/>
                </a:solidFill>
              </a:rPr>
              <a:t>Ex_GLES</a:t>
            </a:r>
            <a:endParaRPr lang="en-US" altLang="ko-KR" b="1" dirty="0" smtClean="0">
              <a:solidFill>
                <a:prstClr val="black"/>
              </a:solidFill>
            </a:endParaRPr>
          </a:p>
          <a:p>
            <a:r>
              <a:rPr lang="en-US" altLang="ko-KR" dirty="0" smtClean="0">
                <a:solidFill>
                  <a:prstClr val="black"/>
                </a:solidFill>
              </a:rPr>
              <a:t>/</a:t>
            </a:r>
            <a:r>
              <a:rPr lang="en-US" altLang="ko-KR" dirty="0" err="1" smtClean="0">
                <a:solidFill>
                  <a:prstClr val="black"/>
                </a:solidFill>
              </a:rPr>
              <a:t>src</a:t>
            </a:r>
            <a:r>
              <a:rPr lang="en-US" altLang="ko-KR" dirty="0" smtClean="0">
                <a:solidFill>
                  <a:prstClr val="black"/>
                </a:solidFill>
              </a:rPr>
              <a:t>/TexCube.java</a:t>
            </a:r>
            <a:endParaRPr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74335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68</a:t>
            </a:fld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Texture Image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697230" y="1280160"/>
            <a:ext cx="335239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 smtClean="0">
                <a:solidFill>
                  <a:prstClr val="black"/>
                </a:solidFill>
              </a:rPr>
              <a:t>Ex_GLES</a:t>
            </a:r>
            <a:endParaRPr lang="en-US" altLang="ko-KR" b="1" dirty="0" smtClean="0">
              <a:solidFill>
                <a:prstClr val="black"/>
              </a:solidFill>
            </a:endParaRPr>
          </a:p>
          <a:p>
            <a:r>
              <a:rPr lang="en-US" altLang="ko-KR" dirty="0" smtClean="0">
                <a:solidFill>
                  <a:prstClr val="black"/>
                </a:solidFill>
              </a:rPr>
              <a:t>/res/</a:t>
            </a:r>
            <a:r>
              <a:rPr lang="en-US" altLang="ko-KR" dirty="0" err="1" smtClean="0">
                <a:solidFill>
                  <a:prstClr val="black"/>
                </a:solidFill>
              </a:rPr>
              <a:t>drawable</a:t>
            </a:r>
            <a:r>
              <a:rPr lang="en-US" altLang="ko-KR" dirty="0" smtClean="0">
                <a:solidFill>
                  <a:prstClr val="black"/>
                </a:solidFill>
              </a:rPr>
              <a:t>/android256.png</a:t>
            </a:r>
          </a:p>
          <a:p>
            <a:r>
              <a:rPr lang="en-US" altLang="ko-KR" dirty="0" smtClean="0">
                <a:solidFill>
                  <a:prstClr val="black"/>
                </a:solidFill>
              </a:rPr>
              <a:t>256x256 24bit bitmap</a:t>
            </a:r>
            <a:br>
              <a:rPr lang="en-US" altLang="ko-KR" dirty="0" smtClean="0">
                <a:solidFill>
                  <a:prstClr val="black"/>
                </a:solidFill>
              </a:rPr>
            </a:br>
            <a:r>
              <a:rPr lang="en-US" altLang="ko-KR" dirty="0" smtClean="0">
                <a:solidFill>
                  <a:prstClr val="black"/>
                </a:solidFill>
              </a:rPr>
              <a:t>(in </a:t>
            </a:r>
            <a:r>
              <a:rPr lang="en-US" altLang="ko-KR" dirty="0" err="1" smtClean="0">
                <a:solidFill>
                  <a:prstClr val="black"/>
                </a:solidFill>
              </a:rPr>
              <a:t>bitbucket</a:t>
            </a:r>
            <a:r>
              <a:rPr lang="en-US" altLang="ko-KR" dirty="0" smtClean="0">
                <a:solidFill>
                  <a:prstClr val="black"/>
                </a:solidFill>
              </a:rPr>
              <a:t>, android256.png)</a:t>
            </a:r>
            <a:endParaRPr lang="ko-KR" altLang="en-US" dirty="0">
              <a:solidFill>
                <a:prstClr val="black"/>
              </a:solidFill>
            </a:endParaRPr>
          </a:p>
        </p:txBody>
      </p:sp>
      <p:pic>
        <p:nvPicPr>
          <p:cNvPr id="12290" name="Picture 2" descr="D:\vr.android\android256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9251" y="2638425"/>
            <a:ext cx="3251200" cy="325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가로로 말린 두루마리 모양 6"/>
          <p:cNvSpPr/>
          <p:nvPr/>
        </p:nvSpPr>
        <p:spPr>
          <a:xfrm>
            <a:off x="5383530" y="1706193"/>
            <a:ext cx="3268979" cy="762687"/>
          </a:xfrm>
          <a:prstGeom prst="horizontalScroll">
            <a:avLst>
              <a:gd name="adj" fmla="val 13671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 err="1" smtClean="0"/>
              <a:t>텍스쳐로</a:t>
            </a:r>
            <a:r>
              <a:rPr lang="ko-KR" altLang="en-US" dirty="0" smtClean="0"/>
              <a:t> 사용할 리소스 추가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229654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69</a:t>
            </a:fld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Texture</a:t>
            </a:r>
            <a:r>
              <a:rPr lang="ko-KR" altLang="en-US" dirty="0" smtClean="0"/>
              <a:t> </a:t>
            </a:r>
            <a:r>
              <a:rPr lang="en-US" altLang="ko-KR" dirty="0" smtClean="0"/>
              <a:t>Cube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97230" y="1824485"/>
            <a:ext cx="7770076" cy="509370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3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class </a:t>
            </a:r>
            <a:r>
              <a:rPr lang="en-US" altLang="ko-KR" sz="13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MyRenderer</a:t>
            </a:r>
            <a:r>
              <a:rPr lang="en-US" altLang="ko-KR" sz="13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implements Renderer {</a:t>
            </a:r>
          </a:p>
          <a:p>
            <a:r>
              <a:rPr lang="en-US" altLang="ko-KR" sz="1300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300" dirty="0" smtClean="0">
                <a:solidFill>
                  <a:srgbClr val="7F0055"/>
                </a:solidFill>
                <a:latin typeface="돋움체"/>
                <a:ea typeface="돋움체"/>
              </a:rPr>
              <a:t>private</a:t>
            </a:r>
            <a:r>
              <a:rPr lang="en-US" altLang="ko-KR" sz="13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300" dirty="0" err="1">
                <a:solidFill>
                  <a:srgbClr val="7F0055"/>
                </a:solidFill>
                <a:latin typeface="돋움체"/>
                <a:ea typeface="돋움체"/>
              </a:rPr>
              <a:t>int</a:t>
            </a:r>
            <a:r>
              <a:rPr lang="en-US" altLang="ko-KR" sz="1300" dirty="0">
                <a:solidFill>
                  <a:srgbClr val="000000"/>
                </a:solidFill>
                <a:latin typeface="돋움체"/>
                <a:ea typeface="돋움체"/>
              </a:rPr>
              <a:t>[] </a:t>
            </a:r>
            <a:r>
              <a:rPr lang="en-US" altLang="ko-KR" sz="1300" dirty="0">
                <a:solidFill>
                  <a:srgbClr val="0000C0"/>
                </a:solidFill>
                <a:latin typeface="돋움체"/>
                <a:ea typeface="돋움체"/>
              </a:rPr>
              <a:t>textures</a:t>
            </a:r>
            <a:r>
              <a:rPr lang="en-US" altLang="ko-KR" sz="1300" dirty="0">
                <a:solidFill>
                  <a:srgbClr val="000000"/>
                </a:solidFill>
                <a:latin typeface="돋움체"/>
                <a:ea typeface="돋움체"/>
              </a:rPr>
              <a:t> = </a:t>
            </a:r>
            <a:r>
              <a:rPr lang="en-US" altLang="ko-KR" sz="1300" dirty="0">
                <a:solidFill>
                  <a:srgbClr val="7F0055"/>
                </a:solidFill>
                <a:latin typeface="돋움체"/>
                <a:ea typeface="돋움체"/>
              </a:rPr>
              <a:t>new</a:t>
            </a:r>
            <a:r>
              <a:rPr lang="en-US" altLang="ko-KR" sz="13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300" dirty="0" err="1">
                <a:solidFill>
                  <a:srgbClr val="7F0055"/>
                </a:solidFill>
                <a:latin typeface="돋움체"/>
                <a:ea typeface="돋움체"/>
              </a:rPr>
              <a:t>int</a:t>
            </a:r>
            <a:r>
              <a:rPr lang="en-US" altLang="ko-KR" sz="1300" dirty="0">
                <a:solidFill>
                  <a:srgbClr val="000000"/>
                </a:solidFill>
                <a:latin typeface="돋움체"/>
                <a:ea typeface="돋움체"/>
              </a:rPr>
              <a:t>[1];</a:t>
            </a:r>
          </a:p>
          <a:p>
            <a:r>
              <a:rPr lang="en-US" altLang="ko-KR" sz="1300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300" dirty="0">
                <a:solidFill>
                  <a:srgbClr val="7F0055"/>
                </a:solidFill>
                <a:latin typeface="돋움체"/>
                <a:ea typeface="돋움체"/>
              </a:rPr>
              <a:t>private</a:t>
            </a:r>
            <a:r>
              <a:rPr lang="en-US" altLang="ko-KR" sz="13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300" dirty="0" err="1">
                <a:solidFill>
                  <a:srgbClr val="000000"/>
                </a:solidFill>
                <a:latin typeface="돋움체"/>
                <a:ea typeface="돋움체"/>
              </a:rPr>
              <a:t>TexCube</a:t>
            </a:r>
            <a:r>
              <a:rPr lang="en-US" altLang="ko-KR" sz="13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300" dirty="0">
                <a:solidFill>
                  <a:srgbClr val="0000C0"/>
                </a:solidFill>
                <a:latin typeface="돋움체"/>
                <a:ea typeface="돋움체"/>
              </a:rPr>
              <a:t>cube</a:t>
            </a:r>
            <a:r>
              <a:rPr lang="en-US" altLang="ko-KR" sz="1300" dirty="0">
                <a:solidFill>
                  <a:srgbClr val="000000"/>
                </a:solidFill>
                <a:latin typeface="돋움체"/>
                <a:ea typeface="돋움체"/>
              </a:rPr>
              <a:t>;</a:t>
            </a:r>
          </a:p>
          <a:p>
            <a:r>
              <a:rPr lang="en-US" altLang="ko-KR" sz="1300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300" dirty="0">
                <a:solidFill>
                  <a:srgbClr val="7F0055"/>
                </a:solidFill>
                <a:latin typeface="돋움체"/>
                <a:ea typeface="돋움체"/>
              </a:rPr>
              <a:t>private</a:t>
            </a:r>
            <a:r>
              <a:rPr lang="en-US" altLang="ko-KR" sz="13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300" dirty="0">
                <a:solidFill>
                  <a:srgbClr val="7F0055"/>
                </a:solidFill>
                <a:latin typeface="돋움체"/>
                <a:ea typeface="돋움체"/>
              </a:rPr>
              <a:t>float</a:t>
            </a:r>
            <a:r>
              <a:rPr lang="en-US" altLang="ko-KR" sz="13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300" dirty="0" err="1">
                <a:solidFill>
                  <a:srgbClr val="0000C0"/>
                </a:solidFill>
                <a:latin typeface="돋움체"/>
                <a:ea typeface="돋움체"/>
              </a:rPr>
              <a:t>rotX</a:t>
            </a:r>
            <a:r>
              <a:rPr lang="en-US" altLang="ko-KR" sz="1300" dirty="0">
                <a:solidFill>
                  <a:srgbClr val="000000"/>
                </a:solidFill>
                <a:latin typeface="돋움체"/>
                <a:ea typeface="돋움체"/>
              </a:rPr>
              <a:t>;</a:t>
            </a:r>
          </a:p>
          <a:p>
            <a:r>
              <a:rPr lang="en-US" altLang="ko-KR" sz="1300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300" dirty="0">
                <a:solidFill>
                  <a:srgbClr val="7F0055"/>
                </a:solidFill>
                <a:latin typeface="돋움체"/>
                <a:ea typeface="돋움체"/>
              </a:rPr>
              <a:t>private</a:t>
            </a:r>
            <a:r>
              <a:rPr lang="en-US" altLang="ko-KR" sz="13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300" dirty="0">
                <a:solidFill>
                  <a:srgbClr val="7F0055"/>
                </a:solidFill>
                <a:latin typeface="돋움체"/>
                <a:ea typeface="돋움체"/>
              </a:rPr>
              <a:t>float</a:t>
            </a:r>
            <a:r>
              <a:rPr lang="en-US" altLang="ko-KR" sz="13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300" dirty="0" err="1">
                <a:solidFill>
                  <a:srgbClr val="0000C0"/>
                </a:solidFill>
                <a:latin typeface="돋움체"/>
                <a:ea typeface="돋움체"/>
              </a:rPr>
              <a:t>rotY</a:t>
            </a:r>
            <a:r>
              <a:rPr lang="en-US" altLang="ko-KR" sz="1300" dirty="0">
                <a:solidFill>
                  <a:srgbClr val="000000"/>
                </a:solidFill>
                <a:latin typeface="돋움체"/>
                <a:ea typeface="돋움체"/>
              </a:rPr>
              <a:t>;</a:t>
            </a:r>
          </a:p>
          <a:p>
            <a:r>
              <a:rPr lang="ko-KR" altLang="en-US" sz="1300" dirty="0">
                <a:solidFill>
                  <a:srgbClr val="000000"/>
                </a:solidFill>
                <a:latin typeface="돋움체"/>
                <a:ea typeface="돋움체"/>
              </a:rPr>
              <a:t>    </a:t>
            </a:r>
          </a:p>
          <a:p>
            <a:r>
              <a:rPr lang="en-US" altLang="ko-KR" sz="1300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300" dirty="0">
                <a:solidFill>
                  <a:srgbClr val="7F0055"/>
                </a:solidFill>
                <a:latin typeface="돋움체"/>
                <a:ea typeface="돋움체"/>
              </a:rPr>
              <a:t>public</a:t>
            </a:r>
            <a:r>
              <a:rPr lang="en-US" altLang="ko-KR" sz="13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300" dirty="0" err="1">
                <a:solidFill>
                  <a:srgbClr val="000000"/>
                </a:solidFill>
                <a:latin typeface="돋움체"/>
                <a:ea typeface="돋움체"/>
              </a:rPr>
              <a:t>MyRenderer</a:t>
            </a:r>
            <a:r>
              <a:rPr lang="en-US" altLang="ko-KR" sz="1300" dirty="0">
                <a:solidFill>
                  <a:srgbClr val="000000"/>
                </a:solidFill>
                <a:latin typeface="돋움체"/>
                <a:ea typeface="돋움체"/>
              </a:rPr>
              <a:t>() {</a:t>
            </a:r>
          </a:p>
          <a:p>
            <a:r>
              <a:rPr lang="en-US" altLang="ko-KR" sz="13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300" dirty="0">
                <a:solidFill>
                  <a:srgbClr val="0000C0"/>
                </a:solidFill>
                <a:latin typeface="돋움체"/>
                <a:ea typeface="돋움체"/>
              </a:rPr>
              <a:t>cube</a:t>
            </a:r>
            <a:r>
              <a:rPr lang="en-US" altLang="ko-KR" sz="1300" dirty="0">
                <a:solidFill>
                  <a:srgbClr val="000000"/>
                </a:solidFill>
                <a:latin typeface="돋움체"/>
                <a:ea typeface="돋움체"/>
              </a:rPr>
              <a:t> = </a:t>
            </a:r>
            <a:r>
              <a:rPr lang="en-US" altLang="ko-KR" sz="1300" dirty="0">
                <a:solidFill>
                  <a:srgbClr val="7F0055"/>
                </a:solidFill>
                <a:latin typeface="돋움체"/>
                <a:ea typeface="돋움체"/>
              </a:rPr>
              <a:t>new</a:t>
            </a:r>
            <a:r>
              <a:rPr lang="en-US" altLang="ko-KR" sz="13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300" dirty="0" err="1">
                <a:solidFill>
                  <a:srgbClr val="000000"/>
                </a:solidFill>
                <a:latin typeface="돋움체"/>
                <a:ea typeface="돋움체"/>
              </a:rPr>
              <a:t>TexCube</a:t>
            </a:r>
            <a:r>
              <a:rPr lang="en-US" altLang="ko-KR" sz="1300" dirty="0">
                <a:solidFill>
                  <a:srgbClr val="000000"/>
                </a:solidFill>
                <a:latin typeface="돋움체"/>
                <a:ea typeface="돋움체"/>
              </a:rPr>
              <a:t>();</a:t>
            </a:r>
          </a:p>
          <a:p>
            <a:r>
              <a:rPr lang="ko-KR" altLang="en-US" sz="1300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300" dirty="0" smtClean="0">
                <a:solidFill>
                  <a:srgbClr val="000000"/>
                </a:solidFill>
                <a:latin typeface="돋움체"/>
                <a:ea typeface="돋움체"/>
              </a:rPr>
              <a:t>}</a:t>
            </a:r>
          </a:p>
          <a:p>
            <a:endParaRPr lang="ko-KR" altLang="en-US" sz="1300" dirty="0">
              <a:latin typeface="돋움체"/>
              <a:ea typeface="돋움체"/>
            </a:endParaRPr>
          </a:p>
          <a:p>
            <a:r>
              <a:rPr lang="en-US" altLang="ko-KR" sz="1300" dirty="0" smtClean="0">
                <a:solidFill>
                  <a:srgbClr val="7F0055"/>
                </a:solidFill>
                <a:latin typeface="돋움체"/>
                <a:ea typeface="돋움체"/>
              </a:rPr>
              <a:t>        public</a:t>
            </a:r>
            <a:r>
              <a:rPr lang="en-US" altLang="ko-KR" sz="13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300" dirty="0">
                <a:solidFill>
                  <a:srgbClr val="7F0055"/>
                </a:solidFill>
                <a:latin typeface="돋움체"/>
                <a:ea typeface="돋움체"/>
              </a:rPr>
              <a:t>void</a:t>
            </a:r>
            <a:r>
              <a:rPr lang="en-US" altLang="ko-KR" sz="13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300" b="1" dirty="0" err="1">
                <a:solidFill>
                  <a:srgbClr val="000000"/>
                </a:solidFill>
                <a:latin typeface="돋움체"/>
                <a:ea typeface="돋움체"/>
              </a:rPr>
              <a:t>makeTexture</a:t>
            </a:r>
            <a:r>
              <a:rPr lang="en-US" altLang="ko-KR" sz="1300" dirty="0">
                <a:solidFill>
                  <a:srgbClr val="000000"/>
                </a:solidFill>
                <a:latin typeface="돋움체"/>
                <a:ea typeface="돋움체"/>
              </a:rPr>
              <a:t>(GL10 </a:t>
            </a:r>
            <a:r>
              <a:rPr lang="en-US" altLang="ko-KR" sz="1300" dirty="0" err="1">
                <a:solidFill>
                  <a:srgbClr val="000000"/>
                </a:solidFill>
                <a:latin typeface="돋움체"/>
                <a:ea typeface="돋움체"/>
              </a:rPr>
              <a:t>gl</a:t>
            </a:r>
            <a:r>
              <a:rPr lang="en-US" altLang="ko-KR" sz="1300" dirty="0">
                <a:solidFill>
                  <a:srgbClr val="000000"/>
                </a:solidFill>
                <a:latin typeface="돋움체"/>
                <a:ea typeface="돋움체"/>
              </a:rPr>
              <a:t>, Context context) {</a:t>
            </a:r>
          </a:p>
          <a:p>
            <a:r>
              <a:rPr lang="en-US" altLang="ko-KR" sz="1300" dirty="0" smtClean="0">
                <a:solidFill>
                  <a:srgbClr val="3F7F5F"/>
                </a:solidFill>
                <a:latin typeface="돋움체"/>
                <a:ea typeface="돋움체"/>
              </a:rPr>
              <a:t>            //</a:t>
            </a:r>
            <a:r>
              <a:rPr lang="en-US" altLang="ko-KR" sz="1300" dirty="0">
                <a:solidFill>
                  <a:srgbClr val="3F7F5F"/>
                </a:solidFill>
                <a:latin typeface="돋움체"/>
                <a:ea typeface="돋움체"/>
              </a:rPr>
              <a:t>Get the texture from the Android resource directory</a:t>
            </a:r>
          </a:p>
          <a:p>
            <a:r>
              <a:rPr lang="en-US" altLang="ko-KR" sz="13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300" dirty="0" err="1" smtClean="0">
                <a:solidFill>
                  <a:srgbClr val="000000"/>
                </a:solidFill>
                <a:latin typeface="돋움체"/>
                <a:ea typeface="돋움체"/>
              </a:rPr>
              <a:t>InputStream</a:t>
            </a:r>
            <a:r>
              <a:rPr lang="en-US" altLang="ko-KR" sz="13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300" dirty="0">
                <a:solidFill>
                  <a:srgbClr val="000000"/>
                </a:solidFill>
                <a:latin typeface="돋움체"/>
                <a:ea typeface="돋움체"/>
              </a:rPr>
              <a:t>is = </a:t>
            </a:r>
            <a:r>
              <a:rPr lang="en-US" altLang="ko-KR" sz="1300" dirty="0" err="1">
                <a:solidFill>
                  <a:srgbClr val="000000"/>
                </a:solidFill>
                <a:latin typeface="돋움체"/>
                <a:ea typeface="돋움체"/>
              </a:rPr>
              <a:t>context.getResources</a:t>
            </a:r>
            <a:r>
              <a:rPr lang="en-US" altLang="ko-KR" sz="1300" dirty="0">
                <a:solidFill>
                  <a:srgbClr val="000000"/>
                </a:solidFill>
                <a:latin typeface="돋움체"/>
                <a:ea typeface="돋움체"/>
              </a:rPr>
              <a:t>().</a:t>
            </a:r>
            <a:r>
              <a:rPr lang="en-US" altLang="ko-KR" sz="1300" dirty="0" err="1">
                <a:solidFill>
                  <a:srgbClr val="000000"/>
                </a:solidFill>
                <a:latin typeface="돋움체"/>
                <a:ea typeface="돋움체"/>
              </a:rPr>
              <a:t>openRawResource</a:t>
            </a:r>
            <a:r>
              <a:rPr lang="en-US" altLang="ko-KR" sz="1300" dirty="0">
                <a:solidFill>
                  <a:srgbClr val="000000"/>
                </a:solidFill>
                <a:latin typeface="돋움체"/>
                <a:ea typeface="돋움체"/>
              </a:rPr>
              <a:t>(R.drawable.</a:t>
            </a:r>
            <a:r>
              <a:rPr lang="en-US" altLang="ko-KR" sz="1300" u="sng" dirty="0">
                <a:solidFill>
                  <a:srgbClr val="0000C0"/>
                </a:solidFill>
                <a:latin typeface="돋움체"/>
                <a:ea typeface="돋움체"/>
              </a:rPr>
              <a:t>android256</a:t>
            </a:r>
            <a:r>
              <a:rPr lang="en-US" altLang="ko-KR" sz="1300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3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Bitmap </a:t>
            </a:r>
            <a:r>
              <a:rPr lang="en-US" altLang="ko-KR" sz="1300" dirty="0" err="1">
                <a:solidFill>
                  <a:srgbClr val="000000"/>
                </a:solidFill>
                <a:latin typeface="돋움체"/>
                <a:ea typeface="돋움체"/>
              </a:rPr>
              <a:t>bitmap</a:t>
            </a:r>
            <a:r>
              <a:rPr lang="en-US" altLang="ko-KR" sz="1300" dirty="0">
                <a:solidFill>
                  <a:srgbClr val="000000"/>
                </a:solidFill>
                <a:latin typeface="돋움체"/>
                <a:ea typeface="돋움체"/>
              </a:rPr>
              <a:t> = </a:t>
            </a:r>
            <a:r>
              <a:rPr lang="en-US" altLang="ko-KR" sz="1300" dirty="0">
                <a:solidFill>
                  <a:srgbClr val="7F0055"/>
                </a:solidFill>
                <a:latin typeface="돋움체"/>
                <a:ea typeface="돋움체"/>
              </a:rPr>
              <a:t>null</a:t>
            </a:r>
            <a:r>
              <a:rPr lang="en-US" altLang="ko-KR" sz="1300" dirty="0">
                <a:solidFill>
                  <a:srgbClr val="000000"/>
                </a:solidFill>
                <a:latin typeface="돋움체"/>
                <a:ea typeface="돋움체"/>
              </a:rPr>
              <a:t>;</a:t>
            </a:r>
          </a:p>
          <a:p>
            <a:r>
              <a:rPr lang="en-US" altLang="ko-KR" sz="1300" dirty="0" smtClean="0">
                <a:solidFill>
                  <a:srgbClr val="7F0055"/>
                </a:solidFill>
                <a:latin typeface="돋움체"/>
                <a:ea typeface="돋움체"/>
              </a:rPr>
              <a:t>            try</a:t>
            </a:r>
            <a:r>
              <a:rPr lang="en-US" altLang="ko-KR" sz="13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300" dirty="0">
                <a:solidFill>
                  <a:srgbClr val="000000"/>
                </a:solidFill>
                <a:latin typeface="돋움체"/>
                <a:ea typeface="돋움체"/>
              </a:rPr>
              <a:t>{</a:t>
            </a:r>
          </a:p>
          <a:p>
            <a:r>
              <a:rPr lang="en-US" altLang="ko-KR" sz="1300" dirty="0" smtClean="0">
                <a:solidFill>
                  <a:srgbClr val="3F7F5F"/>
                </a:solidFill>
                <a:latin typeface="돋움체"/>
                <a:ea typeface="돋움체"/>
              </a:rPr>
              <a:t>                //</a:t>
            </a:r>
            <a:r>
              <a:rPr lang="en-US" altLang="ko-KR" sz="1300" dirty="0" err="1">
                <a:solidFill>
                  <a:srgbClr val="3F7F5F"/>
                </a:solidFill>
                <a:latin typeface="돋움체"/>
                <a:ea typeface="돋움체"/>
              </a:rPr>
              <a:t>BitmapFactory</a:t>
            </a:r>
            <a:r>
              <a:rPr lang="en-US" altLang="ko-KR" sz="1300" dirty="0">
                <a:solidFill>
                  <a:srgbClr val="3F7F5F"/>
                </a:solidFill>
                <a:latin typeface="돋움체"/>
                <a:ea typeface="돋움체"/>
              </a:rPr>
              <a:t> is an Android graphics utility for images</a:t>
            </a:r>
          </a:p>
          <a:p>
            <a:r>
              <a:rPr lang="en-US" altLang="ko-KR" sz="13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    bitmap </a:t>
            </a:r>
            <a:r>
              <a:rPr lang="en-US" altLang="ko-KR" sz="1300" dirty="0">
                <a:solidFill>
                  <a:srgbClr val="000000"/>
                </a:solidFill>
                <a:latin typeface="돋움체"/>
                <a:ea typeface="돋움체"/>
              </a:rPr>
              <a:t>= </a:t>
            </a:r>
            <a:r>
              <a:rPr lang="en-US" altLang="ko-KR" sz="1300" dirty="0" err="1">
                <a:solidFill>
                  <a:srgbClr val="000000"/>
                </a:solidFill>
                <a:latin typeface="돋움체"/>
                <a:ea typeface="돋움체"/>
              </a:rPr>
              <a:t>BitmapFactory.decodeStream</a:t>
            </a:r>
            <a:r>
              <a:rPr lang="en-US" altLang="ko-KR" sz="1300" dirty="0">
                <a:solidFill>
                  <a:srgbClr val="000000"/>
                </a:solidFill>
                <a:latin typeface="돋움체"/>
                <a:ea typeface="돋움체"/>
              </a:rPr>
              <a:t>(is);</a:t>
            </a:r>
          </a:p>
          <a:p>
            <a:r>
              <a:rPr lang="en-US" altLang="ko-KR" sz="13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} </a:t>
            </a:r>
            <a:r>
              <a:rPr lang="en-US" altLang="ko-KR" sz="1300" dirty="0">
                <a:solidFill>
                  <a:srgbClr val="7F0055"/>
                </a:solidFill>
                <a:latin typeface="돋움체"/>
                <a:ea typeface="돋움체"/>
              </a:rPr>
              <a:t>finally</a:t>
            </a:r>
            <a:r>
              <a:rPr lang="en-US" altLang="ko-KR" sz="1300" dirty="0">
                <a:solidFill>
                  <a:srgbClr val="000000"/>
                </a:solidFill>
                <a:latin typeface="돋움체"/>
                <a:ea typeface="돋움체"/>
              </a:rPr>
              <a:t> {</a:t>
            </a:r>
          </a:p>
          <a:p>
            <a:r>
              <a:rPr lang="en-US" altLang="ko-KR" sz="1300" dirty="0" smtClean="0">
                <a:solidFill>
                  <a:srgbClr val="3F7F5F"/>
                </a:solidFill>
                <a:latin typeface="돋움체"/>
                <a:ea typeface="돋움체"/>
              </a:rPr>
              <a:t>                //</a:t>
            </a:r>
            <a:r>
              <a:rPr lang="en-US" altLang="ko-KR" sz="1300" dirty="0">
                <a:solidFill>
                  <a:srgbClr val="3F7F5F"/>
                </a:solidFill>
                <a:latin typeface="돋움체"/>
                <a:ea typeface="돋움체"/>
              </a:rPr>
              <a:t>Always clear and close</a:t>
            </a:r>
          </a:p>
          <a:p>
            <a:r>
              <a:rPr lang="en-US" altLang="ko-KR" sz="1300" dirty="0" smtClean="0">
                <a:solidFill>
                  <a:srgbClr val="7F0055"/>
                </a:solidFill>
                <a:latin typeface="돋움체"/>
                <a:ea typeface="돋움체"/>
              </a:rPr>
              <a:t>                try</a:t>
            </a:r>
            <a:r>
              <a:rPr lang="en-US" altLang="ko-KR" sz="13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300" dirty="0">
                <a:solidFill>
                  <a:srgbClr val="000000"/>
                </a:solidFill>
                <a:latin typeface="돋움체"/>
                <a:ea typeface="돋움체"/>
              </a:rPr>
              <a:t>{</a:t>
            </a:r>
          </a:p>
          <a:p>
            <a:r>
              <a:rPr lang="en-US" altLang="ko-KR" sz="13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        </a:t>
            </a:r>
            <a:r>
              <a:rPr lang="en-US" altLang="ko-KR" sz="1300" dirty="0" err="1" smtClean="0">
                <a:solidFill>
                  <a:srgbClr val="000000"/>
                </a:solidFill>
                <a:latin typeface="돋움체"/>
                <a:ea typeface="돋움체"/>
              </a:rPr>
              <a:t>is.close</a:t>
            </a:r>
            <a:r>
              <a:rPr lang="en-US" altLang="ko-KR" sz="1300" dirty="0">
                <a:solidFill>
                  <a:srgbClr val="000000"/>
                </a:solidFill>
                <a:latin typeface="돋움체"/>
                <a:ea typeface="돋움체"/>
              </a:rPr>
              <a:t>();</a:t>
            </a:r>
          </a:p>
          <a:p>
            <a:r>
              <a:rPr lang="en-US" altLang="ko-KR" sz="13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        is </a:t>
            </a:r>
            <a:r>
              <a:rPr lang="en-US" altLang="ko-KR" sz="1300" dirty="0">
                <a:solidFill>
                  <a:srgbClr val="000000"/>
                </a:solidFill>
                <a:latin typeface="돋움체"/>
                <a:ea typeface="돋움체"/>
              </a:rPr>
              <a:t>= </a:t>
            </a:r>
            <a:r>
              <a:rPr lang="en-US" altLang="ko-KR" sz="1300" dirty="0">
                <a:solidFill>
                  <a:srgbClr val="7F0055"/>
                </a:solidFill>
                <a:latin typeface="돋움체"/>
                <a:ea typeface="돋움체"/>
              </a:rPr>
              <a:t>null</a:t>
            </a:r>
            <a:r>
              <a:rPr lang="en-US" altLang="ko-KR" sz="1300" dirty="0">
                <a:solidFill>
                  <a:srgbClr val="000000"/>
                </a:solidFill>
                <a:latin typeface="돋움체"/>
                <a:ea typeface="돋움체"/>
              </a:rPr>
              <a:t>;</a:t>
            </a:r>
          </a:p>
          <a:p>
            <a:r>
              <a:rPr lang="en-US" altLang="ko-KR" sz="13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    } </a:t>
            </a:r>
            <a:r>
              <a:rPr lang="en-US" altLang="ko-KR" sz="1300" dirty="0">
                <a:solidFill>
                  <a:srgbClr val="7F0055"/>
                </a:solidFill>
                <a:latin typeface="돋움체"/>
                <a:ea typeface="돋움체"/>
              </a:rPr>
              <a:t>catch</a:t>
            </a:r>
            <a:r>
              <a:rPr lang="en-US" altLang="ko-KR" sz="1300" dirty="0">
                <a:solidFill>
                  <a:srgbClr val="000000"/>
                </a:solidFill>
                <a:latin typeface="돋움체"/>
                <a:ea typeface="돋움체"/>
              </a:rPr>
              <a:t> (</a:t>
            </a:r>
            <a:r>
              <a:rPr lang="en-US" altLang="ko-KR" sz="1300" dirty="0" err="1">
                <a:solidFill>
                  <a:srgbClr val="000000"/>
                </a:solidFill>
                <a:latin typeface="돋움체"/>
                <a:ea typeface="돋움체"/>
              </a:rPr>
              <a:t>IOException</a:t>
            </a:r>
            <a:r>
              <a:rPr lang="en-US" altLang="ko-KR" sz="1300" dirty="0">
                <a:solidFill>
                  <a:srgbClr val="000000"/>
                </a:solidFill>
                <a:latin typeface="돋움체"/>
                <a:ea typeface="돋움체"/>
              </a:rPr>
              <a:t> e) {</a:t>
            </a:r>
          </a:p>
          <a:p>
            <a:r>
              <a:rPr lang="en-US" altLang="ko-KR" sz="13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    }</a:t>
            </a:r>
          </a:p>
          <a:p>
            <a:r>
              <a:rPr lang="en-US" altLang="ko-KR" sz="1300" dirty="0" smtClean="0">
                <a:solidFill>
                  <a:srgbClr val="000000"/>
                </a:solidFill>
                <a:latin typeface="돋움체"/>
                <a:ea typeface="돋움체"/>
              </a:rPr>
              <a:t>	}</a:t>
            </a:r>
            <a:endParaRPr lang="en-US" altLang="ko-KR" sz="1300" dirty="0">
              <a:solidFill>
                <a:srgbClr val="000000"/>
              </a:solidFill>
              <a:latin typeface="돋움체"/>
              <a:ea typeface="돋움체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97229" y="1196077"/>
            <a:ext cx="15634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 smtClean="0">
                <a:solidFill>
                  <a:prstClr val="black"/>
                </a:solidFill>
              </a:rPr>
              <a:t>Ex_GLES</a:t>
            </a:r>
            <a:endParaRPr lang="en-US" altLang="ko-KR" b="1" dirty="0" smtClean="0">
              <a:solidFill>
                <a:prstClr val="black"/>
              </a:solidFill>
            </a:endParaRPr>
          </a:p>
          <a:p>
            <a:r>
              <a:rPr lang="en-US" altLang="ko-KR" dirty="0" smtClean="0">
                <a:solidFill>
                  <a:prstClr val="black"/>
                </a:solidFill>
              </a:rPr>
              <a:t>/</a:t>
            </a:r>
            <a:r>
              <a:rPr lang="en-US" altLang="ko-KR" dirty="0" err="1" smtClean="0">
                <a:solidFill>
                  <a:prstClr val="black"/>
                </a:solidFill>
              </a:rPr>
              <a:t>src</a:t>
            </a:r>
            <a:r>
              <a:rPr lang="en-US" altLang="ko-KR" dirty="0" smtClean="0">
                <a:solidFill>
                  <a:prstClr val="black"/>
                </a:solidFill>
              </a:rPr>
              <a:t>/Act1.java</a:t>
            </a:r>
            <a:endParaRPr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70754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70</a:t>
            </a:fld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Texture</a:t>
            </a:r>
            <a:r>
              <a:rPr lang="ko-KR" altLang="en-US" dirty="0" smtClean="0"/>
              <a:t> </a:t>
            </a:r>
            <a:r>
              <a:rPr lang="en-US" altLang="ko-KR" dirty="0" smtClean="0"/>
              <a:t>Cube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97230" y="1926491"/>
            <a:ext cx="8186857" cy="409342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3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endParaRPr lang="ko-KR" altLang="en-US" sz="1300" dirty="0">
              <a:latin typeface="돋움체"/>
              <a:ea typeface="돋움체"/>
            </a:endParaRPr>
          </a:p>
          <a:p>
            <a:r>
              <a:rPr lang="en-US" altLang="ko-KR" sz="1300" dirty="0" smtClean="0">
                <a:solidFill>
                  <a:srgbClr val="3F7F5F"/>
                </a:solidFill>
                <a:latin typeface="돋움체"/>
                <a:ea typeface="돋움체"/>
              </a:rPr>
              <a:t>            //</a:t>
            </a:r>
            <a:r>
              <a:rPr lang="en-US" altLang="ko-KR" sz="1300" dirty="0">
                <a:solidFill>
                  <a:srgbClr val="3F7F5F"/>
                </a:solidFill>
                <a:latin typeface="돋움체"/>
                <a:ea typeface="돋움체"/>
              </a:rPr>
              <a:t>Generate one texture pointer...</a:t>
            </a:r>
          </a:p>
          <a:p>
            <a:r>
              <a:rPr lang="en-US" altLang="ko-KR" sz="13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300" dirty="0" err="1" smtClean="0">
                <a:solidFill>
                  <a:srgbClr val="000000"/>
                </a:solidFill>
                <a:latin typeface="돋움체"/>
                <a:ea typeface="돋움체"/>
              </a:rPr>
              <a:t>gl.</a:t>
            </a:r>
            <a:r>
              <a:rPr lang="en-US" altLang="ko-KR" sz="1300" b="1" dirty="0" err="1" smtClean="0">
                <a:solidFill>
                  <a:srgbClr val="000000"/>
                </a:solidFill>
                <a:latin typeface="돋움체"/>
                <a:ea typeface="돋움체"/>
              </a:rPr>
              <a:t>glGenTextures</a:t>
            </a:r>
            <a:r>
              <a:rPr lang="en-US" altLang="ko-KR" sz="1300" dirty="0" smtClean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300" dirty="0" err="1" smtClean="0">
                <a:solidFill>
                  <a:srgbClr val="0000C0"/>
                </a:solidFill>
                <a:latin typeface="돋움체"/>
                <a:ea typeface="돋움체"/>
              </a:rPr>
              <a:t>textures</a:t>
            </a:r>
            <a:r>
              <a:rPr lang="en-US" altLang="ko-KR" sz="1300" dirty="0" err="1" smtClean="0">
                <a:solidFill>
                  <a:srgbClr val="000000"/>
                </a:solidFill>
                <a:latin typeface="돋움체"/>
                <a:ea typeface="돋움체"/>
              </a:rPr>
              <a:t>.</a:t>
            </a:r>
            <a:r>
              <a:rPr lang="en-US" altLang="ko-KR" sz="1300" dirty="0" err="1" smtClean="0">
                <a:solidFill>
                  <a:srgbClr val="0000C0"/>
                </a:solidFill>
                <a:latin typeface="돋움체"/>
                <a:ea typeface="돋움체"/>
              </a:rPr>
              <a:t>length</a:t>
            </a:r>
            <a:r>
              <a:rPr lang="en-US" altLang="ko-KR" sz="1300" dirty="0">
                <a:solidFill>
                  <a:srgbClr val="000000"/>
                </a:solidFill>
                <a:latin typeface="돋움체"/>
                <a:ea typeface="돋움체"/>
              </a:rPr>
              <a:t>, </a:t>
            </a:r>
            <a:r>
              <a:rPr lang="en-US" altLang="ko-KR" sz="1300" dirty="0">
                <a:solidFill>
                  <a:srgbClr val="0000C0"/>
                </a:solidFill>
                <a:latin typeface="돋움체"/>
                <a:ea typeface="돋움체"/>
              </a:rPr>
              <a:t>textures</a:t>
            </a:r>
            <a:r>
              <a:rPr lang="en-US" altLang="ko-KR" sz="1300" dirty="0">
                <a:solidFill>
                  <a:srgbClr val="000000"/>
                </a:solidFill>
                <a:latin typeface="돋움체"/>
                <a:ea typeface="돋움체"/>
              </a:rPr>
              <a:t>, 0);</a:t>
            </a:r>
          </a:p>
          <a:p>
            <a:r>
              <a:rPr lang="en-US" altLang="ko-KR" sz="1300" dirty="0" smtClean="0">
                <a:solidFill>
                  <a:srgbClr val="3F7F5F"/>
                </a:solidFill>
                <a:latin typeface="돋움체"/>
                <a:ea typeface="돋움체"/>
              </a:rPr>
              <a:t>            //...</a:t>
            </a:r>
            <a:r>
              <a:rPr lang="en-US" altLang="ko-KR" sz="1300" dirty="0">
                <a:solidFill>
                  <a:srgbClr val="3F7F5F"/>
                </a:solidFill>
                <a:latin typeface="돋움체"/>
                <a:ea typeface="돋움체"/>
              </a:rPr>
              <a:t>and bind it to our array</a:t>
            </a:r>
          </a:p>
          <a:p>
            <a:r>
              <a:rPr lang="en-US" altLang="ko-KR" sz="13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300" dirty="0" err="1" smtClean="0">
                <a:solidFill>
                  <a:srgbClr val="000000"/>
                </a:solidFill>
                <a:latin typeface="돋움체"/>
                <a:ea typeface="돋움체"/>
              </a:rPr>
              <a:t>gl.</a:t>
            </a:r>
            <a:r>
              <a:rPr lang="en-US" altLang="ko-KR" sz="1300" b="1" dirty="0" err="1" smtClean="0">
                <a:solidFill>
                  <a:srgbClr val="000000"/>
                </a:solidFill>
                <a:latin typeface="돋움체"/>
                <a:ea typeface="돋움체"/>
              </a:rPr>
              <a:t>glBindTexture</a:t>
            </a:r>
            <a:r>
              <a:rPr lang="en-US" altLang="ko-KR" sz="1300" dirty="0" smtClean="0">
                <a:solidFill>
                  <a:srgbClr val="000000"/>
                </a:solidFill>
                <a:latin typeface="돋움체"/>
                <a:ea typeface="돋움체"/>
              </a:rPr>
              <a:t>(GL10.</a:t>
            </a:r>
            <a:r>
              <a:rPr lang="en-US" altLang="ko-KR" sz="1300" dirty="0" smtClean="0">
                <a:solidFill>
                  <a:srgbClr val="0000C0"/>
                </a:solidFill>
                <a:latin typeface="돋움체"/>
                <a:ea typeface="돋움체"/>
              </a:rPr>
              <a:t>GL_TEXTURE_2D</a:t>
            </a:r>
            <a:r>
              <a:rPr lang="en-US" altLang="ko-KR" sz="1300" dirty="0">
                <a:solidFill>
                  <a:srgbClr val="000000"/>
                </a:solidFill>
                <a:latin typeface="돋움체"/>
                <a:ea typeface="돋움체"/>
              </a:rPr>
              <a:t>, </a:t>
            </a:r>
            <a:r>
              <a:rPr lang="en-US" altLang="ko-KR" sz="1300" dirty="0">
                <a:solidFill>
                  <a:srgbClr val="0000C0"/>
                </a:solidFill>
                <a:latin typeface="돋움체"/>
                <a:ea typeface="돋움체"/>
              </a:rPr>
              <a:t>textures</a:t>
            </a:r>
            <a:r>
              <a:rPr lang="en-US" altLang="ko-KR" sz="1300" dirty="0">
                <a:solidFill>
                  <a:srgbClr val="000000"/>
                </a:solidFill>
                <a:latin typeface="돋움체"/>
                <a:ea typeface="돋움체"/>
              </a:rPr>
              <a:t>[0]);</a:t>
            </a:r>
          </a:p>
          <a:p>
            <a:endParaRPr lang="ko-KR" altLang="en-US" sz="1300" dirty="0">
              <a:latin typeface="돋움체"/>
              <a:ea typeface="돋움체"/>
            </a:endParaRPr>
          </a:p>
          <a:p>
            <a:r>
              <a:rPr lang="en-US" altLang="ko-KR" sz="1300" dirty="0" smtClean="0">
                <a:solidFill>
                  <a:srgbClr val="3F7F5F"/>
                </a:solidFill>
                <a:latin typeface="돋움체"/>
                <a:ea typeface="돋움체"/>
              </a:rPr>
              <a:t>            //</a:t>
            </a:r>
            <a:r>
              <a:rPr lang="en-US" altLang="ko-KR" sz="1300" dirty="0">
                <a:solidFill>
                  <a:srgbClr val="3F7F5F"/>
                </a:solidFill>
                <a:latin typeface="돋움체"/>
                <a:ea typeface="돋움체"/>
              </a:rPr>
              <a:t>Create Nearest Filtered Texture</a:t>
            </a:r>
          </a:p>
          <a:p>
            <a:r>
              <a:rPr lang="en-US" altLang="ko-KR" sz="13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300" dirty="0" err="1" smtClean="0">
                <a:solidFill>
                  <a:srgbClr val="000000"/>
                </a:solidFill>
                <a:latin typeface="돋움체"/>
                <a:ea typeface="돋움체"/>
              </a:rPr>
              <a:t>gl.glTexParameterf</a:t>
            </a:r>
            <a:r>
              <a:rPr lang="en-US" altLang="ko-KR" sz="1300" dirty="0" smtClean="0">
                <a:solidFill>
                  <a:srgbClr val="000000"/>
                </a:solidFill>
                <a:latin typeface="돋움체"/>
                <a:ea typeface="돋움체"/>
              </a:rPr>
              <a:t>(GL10.</a:t>
            </a:r>
            <a:r>
              <a:rPr lang="en-US" altLang="ko-KR" sz="1300" dirty="0" smtClean="0">
                <a:solidFill>
                  <a:srgbClr val="0000C0"/>
                </a:solidFill>
                <a:latin typeface="돋움체"/>
                <a:ea typeface="돋움체"/>
              </a:rPr>
              <a:t>GL_TEXTURE_2D</a:t>
            </a:r>
            <a:r>
              <a:rPr lang="en-US" altLang="ko-KR" sz="1300" dirty="0">
                <a:solidFill>
                  <a:srgbClr val="000000"/>
                </a:solidFill>
                <a:latin typeface="돋움체"/>
                <a:ea typeface="돋움체"/>
              </a:rPr>
              <a:t>, GL10.</a:t>
            </a:r>
            <a:r>
              <a:rPr lang="en-US" altLang="ko-KR" sz="1300" dirty="0">
                <a:solidFill>
                  <a:srgbClr val="0000C0"/>
                </a:solidFill>
                <a:latin typeface="돋움체"/>
                <a:ea typeface="돋움체"/>
              </a:rPr>
              <a:t>GL_TEXTURE_MIN_FILTER</a:t>
            </a:r>
            <a:r>
              <a:rPr lang="en-US" altLang="ko-KR" sz="1300" dirty="0">
                <a:solidFill>
                  <a:srgbClr val="000000"/>
                </a:solidFill>
                <a:latin typeface="돋움체"/>
                <a:ea typeface="돋움체"/>
              </a:rPr>
              <a:t>, GL10.</a:t>
            </a:r>
            <a:r>
              <a:rPr lang="en-US" altLang="ko-KR" sz="1300" dirty="0">
                <a:solidFill>
                  <a:srgbClr val="0000C0"/>
                </a:solidFill>
                <a:latin typeface="돋움체"/>
                <a:ea typeface="돋움체"/>
              </a:rPr>
              <a:t>GL_NEAREST</a:t>
            </a:r>
            <a:r>
              <a:rPr lang="en-US" altLang="ko-KR" sz="1300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3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300" dirty="0" err="1" smtClean="0">
                <a:solidFill>
                  <a:srgbClr val="000000"/>
                </a:solidFill>
                <a:latin typeface="돋움체"/>
                <a:ea typeface="돋움체"/>
              </a:rPr>
              <a:t>gl.glTexParameterf</a:t>
            </a:r>
            <a:r>
              <a:rPr lang="en-US" altLang="ko-KR" sz="1300" dirty="0" smtClean="0">
                <a:solidFill>
                  <a:srgbClr val="000000"/>
                </a:solidFill>
                <a:latin typeface="돋움체"/>
                <a:ea typeface="돋움체"/>
              </a:rPr>
              <a:t>(GL10.</a:t>
            </a:r>
            <a:r>
              <a:rPr lang="en-US" altLang="ko-KR" sz="1300" dirty="0" smtClean="0">
                <a:solidFill>
                  <a:srgbClr val="0000C0"/>
                </a:solidFill>
                <a:latin typeface="돋움체"/>
                <a:ea typeface="돋움체"/>
              </a:rPr>
              <a:t>GL_TEXTURE_2D</a:t>
            </a:r>
            <a:r>
              <a:rPr lang="en-US" altLang="ko-KR" sz="1300" dirty="0">
                <a:solidFill>
                  <a:srgbClr val="000000"/>
                </a:solidFill>
                <a:latin typeface="돋움체"/>
                <a:ea typeface="돋움체"/>
              </a:rPr>
              <a:t>, GL10.</a:t>
            </a:r>
            <a:r>
              <a:rPr lang="en-US" altLang="ko-KR" sz="1300" dirty="0">
                <a:solidFill>
                  <a:srgbClr val="0000C0"/>
                </a:solidFill>
                <a:latin typeface="돋움체"/>
                <a:ea typeface="돋움체"/>
              </a:rPr>
              <a:t>GL_TEXTURE_MAG_FILTER</a:t>
            </a:r>
            <a:r>
              <a:rPr lang="en-US" altLang="ko-KR" sz="1300" dirty="0">
                <a:solidFill>
                  <a:srgbClr val="000000"/>
                </a:solidFill>
                <a:latin typeface="돋움체"/>
                <a:ea typeface="돋움체"/>
              </a:rPr>
              <a:t>, GL10.</a:t>
            </a:r>
            <a:r>
              <a:rPr lang="en-US" altLang="ko-KR" sz="1300" dirty="0">
                <a:solidFill>
                  <a:srgbClr val="0000C0"/>
                </a:solidFill>
                <a:latin typeface="돋움체"/>
                <a:ea typeface="돋움체"/>
              </a:rPr>
              <a:t>GL_LINEAR</a:t>
            </a:r>
            <a:r>
              <a:rPr lang="en-US" altLang="ko-KR" sz="1300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endParaRPr lang="ko-KR" altLang="en-US" sz="1300" dirty="0">
              <a:latin typeface="돋움체"/>
              <a:ea typeface="돋움체"/>
            </a:endParaRPr>
          </a:p>
          <a:p>
            <a:r>
              <a:rPr lang="en-US" altLang="ko-KR" sz="1300" dirty="0" smtClean="0">
                <a:solidFill>
                  <a:srgbClr val="3F7F5F"/>
                </a:solidFill>
                <a:latin typeface="돋움체"/>
                <a:ea typeface="돋움체"/>
              </a:rPr>
              <a:t>            //</a:t>
            </a:r>
            <a:r>
              <a:rPr lang="en-US" altLang="ko-KR" sz="1300" dirty="0">
                <a:solidFill>
                  <a:srgbClr val="3F7F5F"/>
                </a:solidFill>
                <a:latin typeface="돋움체"/>
                <a:ea typeface="돋움체"/>
              </a:rPr>
              <a:t>Different possible texture parameters, e.g. GL10.GL_CLAMP_TO_EDGE</a:t>
            </a:r>
          </a:p>
          <a:p>
            <a:r>
              <a:rPr lang="en-US" altLang="ko-KR" sz="13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300" dirty="0" err="1" smtClean="0">
                <a:solidFill>
                  <a:srgbClr val="000000"/>
                </a:solidFill>
                <a:latin typeface="돋움체"/>
                <a:ea typeface="돋움체"/>
              </a:rPr>
              <a:t>gl.glTexParameterf</a:t>
            </a:r>
            <a:r>
              <a:rPr lang="en-US" altLang="ko-KR" sz="1300" dirty="0" smtClean="0">
                <a:solidFill>
                  <a:srgbClr val="000000"/>
                </a:solidFill>
                <a:latin typeface="돋움체"/>
                <a:ea typeface="돋움체"/>
              </a:rPr>
              <a:t>(GL10.</a:t>
            </a:r>
            <a:r>
              <a:rPr lang="en-US" altLang="ko-KR" sz="1300" dirty="0" smtClean="0">
                <a:solidFill>
                  <a:srgbClr val="0000C0"/>
                </a:solidFill>
                <a:latin typeface="돋움체"/>
                <a:ea typeface="돋움체"/>
              </a:rPr>
              <a:t>GL_TEXTURE_2D</a:t>
            </a:r>
            <a:r>
              <a:rPr lang="en-US" altLang="ko-KR" sz="1300" dirty="0">
                <a:solidFill>
                  <a:srgbClr val="000000"/>
                </a:solidFill>
                <a:latin typeface="돋움체"/>
                <a:ea typeface="돋움체"/>
              </a:rPr>
              <a:t>, GL10.</a:t>
            </a:r>
            <a:r>
              <a:rPr lang="en-US" altLang="ko-KR" sz="1300" dirty="0">
                <a:solidFill>
                  <a:srgbClr val="0000C0"/>
                </a:solidFill>
                <a:latin typeface="돋움체"/>
                <a:ea typeface="돋움체"/>
              </a:rPr>
              <a:t>GL_TEXTURE_WRAP_S</a:t>
            </a:r>
            <a:r>
              <a:rPr lang="en-US" altLang="ko-KR" sz="1300" dirty="0">
                <a:solidFill>
                  <a:srgbClr val="000000"/>
                </a:solidFill>
                <a:latin typeface="돋움체"/>
                <a:ea typeface="돋움체"/>
              </a:rPr>
              <a:t>, GL10.</a:t>
            </a:r>
            <a:r>
              <a:rPr lang="en-US" altLang="ko-KR" sz="1300" dirty="0">
                <a:solidFill>
                  <a:srgbClr val="0000C0"/>
                </a:solidFill>
                <a:latin typeface="돋움체"/>
                <a:ea typeface="돋움체"/>
              </a:rPr>
              <a:t>GL_REPEAT</a:t>
            </a:r>
            <a:r>
              <a:rPr lang="en-US" altLang="ko-KR" sz="1300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3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300" dirty="0" err="1" smtClean="0">
                <a:solidFill>
                  <a:srgbClr val="000000"/>
                </a:solidFill>
                <a:latin typeface="돋움체"/>
                <a:ea typeface="돋움체"/>
              </a:rPr>
              <a:t>gl.glTexParameterf</a:t>
            </a:r>
            <a:r>
              <a:rPr lang="en-US" altLang="ko-KR" sz="1300" dirty="0" smtClean="0">
                <a:solidFill>
                  <a:srgbClr val="000000"/>
                </a:solidFill>
                <a:latin typeface="돋움체"/>
                <a:ea typeface="돋움체"/>
              </a:rPr>
              <a:t>(GL10.</a:t>
            </a:r>
            <a:r>
              <a:rPr lang="en-US" altLang="ko-KR" sz="1300" dirty="0" smtClean="0">
                <a:solidFill>
                  <a:srgbClr val="0000C0"/>
                </a:solidFill>
                <a:latin typeface="돋움체"/>
                <a:ea typeface="돋움체"/>
              </a:rPr>
              <a:t>GL_TEXTURE_2D</a:t>
            </a:r>
            <a:r>
              <a:rPr lang="en-US" altLang="ko-KR" sz="1300" dirty="0">
                <a:solidFill>
                  <a:srgbClr val="000000"/>
                </a:solidFill>
                <a:latin typeface="돋움체"/>
                <a:ea typeface="돋움체"/>
              </a:rPr>
              <a:t>, GL10.</a:t>
            </a:r>
            <a:r>
              <a:rPr lang="en-US" altLang="ko-KR" sz="1300" dirty="0">
                <a:solidFill>
                  <a:srgbClr val="0000C0"/>
                </a:solidFill>
                <a:latin typeface="돋움체"/>
                <a:ea typeface="돋움체"/>
              </a:rPr>
              <a:t>GL_TEXTURE_WRAP_T</a:t>
            </a:r>
            <a:r>
              <a:rPr lang="en-US" altLang="ko-KR" sz="1300" dirty="0">
                <a:solidFill>
                  <a:srgbClr val="000000"/>
                </a:solidFill>
                <a:latin typeface="돋움체"/>
                <a:ea typeface="돋움체"/>
              </a:rPr>
              <a:t>, GL10.</a:t>
            </a:r>
            <a:r>
              <a:rPr lang="en-US" altLang="ko-KR" sz="1300" dirty="0">
                <a:solidFill>
                  <a:srgbClr val="0000C0"/>
                </a:solidFill>
                <a:latin typeface="돋움체"/>
                <a:ea typeface="돋움체"/>
              </a:rPr>
              <a:t>GL_REPEAT</a:t>
            </a:r>
            <a:r>
              <a:rPr lang="en-US" altLang="ko-KR" sz="1300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endParaRPr lang="ko-KR" altLang="en-US" sz="1300" dirty="0">
              <a:latin typeface="돋움체"/>
              <a:ea typeface="돋움체"/>
            </a:endParaRPr>
          </a:p>
          <a:p>
            <a:r>
              <a:rPr lang="en-US" altLang="ko-KR" sz="1300" dirty="0" smtClean="0">
                <a:solidFill>
                  <a:srgbClr val="3F7F5F"/>
                </a:solidFill>
                <a:latin typeface="돋움체"/>
                <a:ea typeface="돋움체"/>
              </a:rPr>
              <a:t>            //</a:t>
            </a:r>
            <a:r>
              <a:rPr lang="en-US" altLang="ko-KR" sz="1300" dirty="0">
                <a:solidFill>
                  <a:srgbClr val="3F7F5F"/>
                </a:solidFill>
                <a:latin typeface="돋움체"/>
                <a:ea typeface="돋움체"/>
              </a:rPr>
              <a:t>Use the Android </a:t>
            </a:r>
            <a:r>
              <a:rPr lang="en-US" altLang="ko-KR" sz="1300" dirty="0" err="1">
                <a:solidFill>
                  <a:srgbClr val="3F7F5F"/>
                </a:solidFill>
                <a:latin typeface="돋움체"/>
                <a:ea typeface="돋움체"/>
              </a:rPr>
              <a:t>GLUtils</a:t>
            </a:r>
            <a:r>
              <a:rPr lang="en-US" altLang="ko-KR" sz="1300" dirty="0">
                <a:solidFill>
                  <a:srgbClr val="3F7F5F"/>
                </a:solidFill>
                <a:latin typeface="돋움체"/>
                <a:ea typeface="돋움체"/>
              </a:rPr>
              <a:t> to specify a two-dimensional texture image from our bitmap</a:t>
            </a:r>
          </a:p>
          <a:p>
            <a:r>
              <a:rPr lang="en-US" altLang="ko-KR" sz="13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GLUtils.texImage2D(GL10.</a:t>
            </a:r>
            <a:r>
              <a:rPr lang="en-US" altLang="ko-KR" sz="1300" dirty="0" smtClean="0">
                <a:solidFill>
                  <a:srgbClr val="0000C0"/>
                </a:solidFill>
                <a:latin typeface="돋움체"/>
                <a:ea typeface="돋움체"/>
              </a:rPr>
              <a:t>GL_TEXTURE_2D</a:t>
            </a:r>
            <a:r>
              <a:rPr lang="en-US" altLang="ko-KR" sz="1300" dirty="0">
                <a:solidFill>
                  <a:srgbClr val="000000"/>
                </a:solidFill>
                <a:latin typeface="돋움체"/>
                <a:ea typeface="돋움체"/>
              </a:rPr>
              <a:t>, 0, bitmap, 0);</a:t>
            </a:r>
          </a:p>
          <a:p>
            <a:endParaRPr lang="ko-KR" altLang="en-US" sz="1300" dirty="0">
              <a:latin typeface="돋움체"/>
              <a:ea typeface="돋움체"/>
            </a:endParaRPr>
          </a:p>
          <a:p>
            <a:r>
              <a:rPr lang="en-US" altLang="ko-KR" sz="1300" dirty="0" smtClean="0">
                <a:solidFill>
                  <a:srgbClr val="3F7F5F"/>
                </a:solidFill>
                <a:latin typeface="돋움체"/>
                <a:ea typeface="돋움체"/>
              </a:rPr>
              <a:t>            //</a:t>
            </a:r>
            <a:r>
              <a:rPr lang="en-US" altLang="ko-KR" sz="1300" dirty="0">
                <a:solidFill>
                  <a:srgbClr val="3F7F5F"/>
                </a:solidFill>
                <a:latin typeface="돋움체"/>
                <a:ea typeface="돋움체"/>
              </a:rPr>
              <a:t>Clean </a:t>
            </a:r>
            <a:r>
              <a:rPr lang="en-US" altLang="ko-KR" sz="1300" dirty="0" smtClean="0">
                <a:solidFill>
                  <a:srgbClr val="3F7F5F"/>
                </a:solidFill>
                <a:latin typeface="돋움체"/>
                <a:ea typeface="돋움체"/>
              </a:rPr>
              <a:t>up</a:t>
            </a:r>
            <a:endParaRPr lang="en-US" altLang="ko-KR" sz="1300" dirty="0">
              <a:solidFill>
                <a:srgbClr val="3F7F5F"/>
              </a:solidFill>
              <a:latin typeface="돋움체"/>
              <a:ea typeface="돋움체"/>
            </a:endParaRPr>
          </a:p>
          <a:p>
            <a:r>
              <a:rPr lang="en-US" altLang="ko-KR" sz="13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300" dirty="0" err="1" smtClean="0">
                <a:solidFill>
                  <a:srgbClr val="000000"/>
                </a:solidFill>
                <a:latin typeface="돋움체"/>
                <a:ea typeface="돋움체"/>
              </a:rPr>
              <a:t>bitmap.recycle</a:t>
            </a:r>
            <a:r>
              <a:rPr lang="en-US" altLang="ko-KR" sz="1300" dirty="0">
                <a:solidFill>
                  <a:srgbClr val="000000"/>
                </a:solidFill>
                <a:latin typeface="돋움체"/>
                <a:ea typeface="돋움체"/>
              </a:rPr>
              <a:t>();</a:t>
            </a:r>
          </a:p>
          <a:p>
            <a:r>
              <a:rPr lang="en-US" altLang="ko-KR" sz="1300" dirty="0" smtClean="0">
                <a:solidFill>
                  <a:srgbClr val="000000"/>
                </a:solidFill>
                <a:latin typeface="돋움체"/>
                <a:ea typeface="돋움체"/>
              </a:rPr>
              <a:t>        }</a:t>
            </a:r>
            <a:endParaRPr lang="en-US" altLang="ko-KR" sz="1300" dirty="0">
              <a:solidFill>
                <a:srgbClr val="000000"/>
              </a:solidFill>
              <a:latin typeface="돋움체"/>
              <a:ea typeface="돋움체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97230" y="1280160"/>
            <a:ext cx="15634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 smtClean="0">
                <a:solidFill>
                  <a:prstClr val="black"/>
                </a:solidFill>
              </a:rPr>
              <a:t>Ex_GLES</a:t>
            </a:r>
            <a:endParaRPr lang="en-US" altLang="ko-KR" b="1" dirty="0" smtClean="0">
              <a:solidFill>
                <a:prstClr val="black"/>
              </a:solidFill>
            </a:endParaRPr>
          </a:p>
          <a:p>
            <a:r>
              <a:rPr lang="en-US" altLang="ko-KR" dirty="0" smtClean="0">
                <a:solidFill>
                  <a:prstClr val="black"/>
                </a:solidFill>
              </a:rPr>
              <a:t>/</a:t>
            </a:r>
            <a:r>
              <a:rPr lang="en-US" altLang="ko-KR" dirty="0" err="1" smtClean="0">
                <a:solidFill>
                  <a:prstClr val="black"/>
                </a:solidFill>
              </a:rPr>
              <a:t>src</a:t>
            </a:r>
            <a:r>
              <a:rPr lang="en-US" altLang="ko-KR" dirty="0" smtClean="0">
                <a:solidFill>
                  <a:prstClr val="black"/>
                </a:solidFill>
              </a:rPr>
              <a:t>/Act1.java</a:t>
            </a:r>
            <a:endParaRPr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62753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71</a:t>
            </a:fld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Texture</a:t>
            </a:r>
            <a:r>
              <a:rPr lang="ko-KR" altLang="en-US" dirty="0" smtClean="0"/>
              <a:t> </a:t>
            </a:r>
            <a:r>
              <a:rPr lang="en-US" altLang="ko-KR" dirty="0" smtClean="0"/>
              <a:t>Cube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97230" y="1926491"/>
            <a:ext cx="7096815" cy="353943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endParaRPr lang="ko-KR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돋움체"/>
              <a:ea typeface="돋움체"/>
            </a:endParaRPr>
          </a:p>
          <a:p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@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Override</a:t>
            </a:r>
          </a:p>
          <a:p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public 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void </a:t>
            </a:r>
            <a:r>
              <a:rPr lang="en-US" altLang="ko-KR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onSurfaceCreated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(GL10 </a:t>
            </a:r>
            <a:r>
              <a:rPr lang="en-US" altLang="ko-KR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gl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, </a:t>
            </a:r>
            <a:r>
              <a:rPr lang="en-US" altLang="ko-KR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EGLConfig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config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) {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u="sng" dirty="0" err="1" smtClean="0">
                <a:solidFill>
                  <a:srgbClr val="000000"/>
                </a:solidFill>
                <a:latin typeface="돋움체"/>
                <a:ea typeface="돋움체"/>
              </a:rPr>
              <a:t>makeTexture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400" dirty="0" err="1" smtClean="0">
                <a:solidFill>
                  <a:srgbClr val="000000"/>
                </a:solidFill>
                <a:latin typeface="돋움체"/>
                <a:ea typeface="돋움체"/>
              </a:rPr>
              <a:t>gl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, Act1.</a:t>
            </a:r>
            <a:r>
              <a:rPr lang="en-US" altLang="ko-KR" sz="1400" dirty="0">
                <a:solidFill>
                  <a:srgbClr val="7F0055"/>
                </a:solidFill>
                <a:latin typeface="돋움체"/>
                <a:ea typeface="돋움체"/>
              </a:rPr>
              <a:t>this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400" dirty="0" smtClean="0">
                <a:solidFill>
                  <a:srgbClr val="0000C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dirty="0" err="1" smtClean="0">
                <a:solidFill>
                  <a:srgbClr val="0000C0"/>
                </a:solidFill>
                <a:latin typeface="돋움체"/>
                <a:ea typeface="돋움체"/>
              </a:rPr>
              <a:t>cube</a:t>
            </a:r>
            <a:r>
              <a:rPr lang="en-US" altLang="ko-KR" sz="1400" dirty="0" err="1" smtClean="0">
                <a:solidFill>
                  <a:srgbClr val="000000"/>
                </a:solidFill>
                <a:latin typeface="돋움체"/>
                <a:ea typeface="돋움체"/>
              </a:rPr>
              <a:t>.</a:t>
            </a:r>
            <a:r>
              <a:rPr lang="en-US" altLang="ko-KR" sz="1400" u="sng" dirty="0" err="1" smtClean="0">
                <a:solidFill>
                  <a:srgbClr val="000000"/>
                </a:solidFill>
                <a:latin typeface="돋움체"/>
                <a:ea typeface="돋움체"/>
              </a:rPr>
              <a:t>setTexture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400" dirty="0" smtClean="0">
                <a:solidFill>
                  <a:srgbClr val="0000C0"/>
                </a:solidFill>
                <a:latin typeface="돋움체"/>
                <a:ea typeface="돋움체"/>
              </a:rPr>
              <a:t>textures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[0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]);</a:t>
            </a:r>
          </a:p>
          <a:p>
            <a:endParaRPr lang="ko-KR" altLang="en-US" sz="1400" dirty="0">
              <a:latin typeface="돋움체"/>
              <a:ea typeface="돋움체"/>
            </a:endParaRP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dirty="0" err="1" smtClean="0">
                <a:solidFill>
                  <a:srgbClr val="000000"/>
                </a:solidFill>
                <a:latin typeface="돋움체"/>
                <a:ea typeface="돋움체"/>
              </a:rPr>
              <a:t>gl.</a:t>
            </a:r>
            <a:r>
              <a:rPr lang="en-US" altLang="ko-KR" sz="1400" b="1" dirty="0" err="1" smtClean="0">
                <a:solidFill>
                  <a:srgbClr val="000000"/>
                </a:solidFill>
                <a:latin typeface="돋움체"/>
                <a:ea typeface="돋움체"/>
              </a:rPr>
              <a:t>glEnable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(GL10.</a:t>
            </a:r>
            <a:r>
              <a:rPr lang="en-US" altLang="ko-KR" sz="1400" b="1" dirty="0" smtClean="0">
                <a:solidFill>
                  <a:srgbClr val="0000C0"/>
                </a:solidFill>
                <a:latin typeface="돋움체"/>
                <a:ea typeface="돋움체"/>
              </a:rPr>
              <a:t>GL_TEXTURE_2D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); </a:t>
            </a:r>
            <a:r>
              <a:rPr lang="en-US" altLang="ko-KR" sz="1400" dirty="0" smtClean="0">
                <a:solidFill>
                  <a:srgbClr val="3F7F5F"/>
                </a:solidFill>
                <a:latin typeface="돋움체"/>
                <a:ea typeface="돋움체"/>
              </a:rPr>
              <a:t>//</a:t>
            </a:r>
            <a:r>
              <a:rPr lang="en-US" altLang="ko-KR" sz="1400" dirty="0">
                <a:solidFill>
                  <a:srgbClr val="3F7F5F"/>
                </a:solidFill>
                <a:latin typeface="돋움체"/>
                <a:ea typeface="돋움체"/>
              </a:rPr>
              <a:t>Enable Texture Mapping</a:t>
            </a:r>
          </a:p>
          <a:p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gl.glShadeModel</a:t>
            </a:r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(GL10.GL_SMOOTH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); //Enable Smooth Shading</a:t>
            </a:r>
          </a:p>
          <a:p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gl.glClearColor</a:t>
            </a:r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(0.0f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, 0.0f, 0.0f, 0.5f); //Black Background</a:t>
            </a:r>
          </a:p>
          <a:p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gl.glClearDepthf</a:t>
            </a:r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(1.0f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); //Depth Buffer Setup</a:t>
            </a:r>
          </a:p>
          <a:p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gl.glEnable</a:t>
            </a:r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(GL10.GL_DEPTH_TEST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); //Enables Depth Testing</a:t>
            </a:r>
          </a:p>
          <a:p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gl.glDepthFunc</a:t>
            </a:r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(GL10.GL_LEQUAL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); //The Type Of Depth Testing To Do</a:t>
            </a:r>
          </a:p>
          <a:p>
            <a:endParaRPr lang="ko-KR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돋움체"/>
              <a:ea typeface="돋움체"/>
            </a:endParaRPr>
          </a:p>
          <a:p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    //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Really Nice Perspective Calculations</a:t>
            </a:r>
          </a:p>
          <a:p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    </a:t>
            </a:r>
            <a:r>
              <a:rPr lang="en-US" altLang="ko-KR" sz="14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gl.glHint</a:t>
            </a:r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(GL10.GL_PERSPECTIVE_CORRECTION_HINT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, GL10.GL_NICEST); </a:t>
            </a:r>
          </a:p>
          <a:p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}</a:t>
            </a:r>
            <a:endParaRPr lang="en-US" altLang="ko-KR" sz="1400" dirty="0">
              <a:solidFill>
                <a:schemeClr val="tx1">
                  <a:lumMod val="50000"/>
                  <a:lumOff val="50000"/>
                </a:schemeClr>
              </a:solidFill>
              <a:latin typeface="돋움체"/>
              <a:ea typeface="돋움체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97230" y="1280160"/>
            <a:ext cx="15634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 smtClean="0">
                <a:solidFill>
                  <a:prstClr val="black"/>
                </a:solidFill>
              </a:rPr>
              <a:t>Ex_GLES</a:t>
            </a:r>
            <a:endParaRPr lang="en-US" altLang="ko-KR" b="1" dirty="0" smtClean="0">
              <a:solidFill>
                <a:prstClr val="black"/>
              </a:solidFill>
            </a:endParaRPr>
          </a:p>
          <a:p>
            <a:r>
              <a:rPr lang="en-US" altLang="ko-KR" dirty="0" smtClean="0">
                <a:solidFill>
                  <a:prstClr val="black"/>
                </a:solidFill>
              </a:rPr>
              <a:t>/</a:t>
            </a:r>
            <a:r>
              <a:rPr lang="en-US" altLang="ko-KR" dirty="0" err="1" smtClean="0">
                <a:solidFill>
                  <a:prstClr val="black"/>
                </a:solidFill>
              </a:rPr>
              <a:t>src</a:t>
            </a:r>
            <a:r>
              <a:rPr lang="en-US" altLang="ko-KR" dirty="0" smtClean="0">
                <a:solidFill>
                  <a:prstClr val="black"/>
                </a:solidFill>
              </a:rPr>
              <a:t>/Act1.java</a:t>
            </a:r>
            <a:endParaRPr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11797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72</a:t>
            </a:fld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Texture Cube</a:t>
            </a:r>
            <a:endParaRPr lang="ko-KR" altLang="en-US" dirty="0"/>
          </a:p>
        </p:txBody>
      </p:sp>
      <p:pic>
        <p:nvPicPr>
          <p:cNvPr id="2050" name="Picture 2" descr="C:\Users\msKim\Desktop\2016-2 모바일앱프로그래밍 (교재)\drive-download-20161109T111332Z\작업중 (순번 변경)\Screenshot_1478863893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0214" y="1372541"/>
            <a:ext cx="2835000" cy="50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782429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Example #11_5</a:t>
            </a:r>
            <a:endParaRPr lang="ko-KR" altLang="en-US" dirty="0"/>
          </a:p>
        </p:txBody>
      </p:sp>
      <p:sp>
        <p:nvSpPr>
          <p:cNvPr id="6" name="텍스트 개체 틀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Lighting &amp; Blending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73</a:t>
            </a:fld>
            <a:endParaRPr lang="ko-KR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42460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74</a:t>
            </a:fld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Lighting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97230" y="1926491"/>
            <a:ext cx="6442789" cy="32624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class </a:t>
            </a:r>
            <a:r>
              <a:rPr lang="en-US" altLang="ko-KR" sz="1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MyRenderer</a:t>
            </a:r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implements Renderer {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   </a:t>
            </a:r>
            <a:r>
              <a:rPr lang="en-US" altLang="ko-KR" sz="1600" dirty="0">
                <a:solidFill>
                  <a:srgbClr val="7F0055"/>
                </a:solidFill>
                <a:latin typeface="돋움체"/>
                <a:ea typeface="돋움체"/>
              </a:rPr>
              <a:t>private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600" dirty="0">
                <a:solidFill>
                  <a:srgbClr val="7F0055"/>
                </a:solidFill>
                <a:latin typeface="돋움체"/>
                <a:ea typeface="돋움체"/>
              </a:rPr>
              <a:t>float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[] </a:t>
            </a:r>
            <a:r>
              <a:rPr lang="en-US" altLang="ko-KR" sz="1600" dirty="0" err="1">
                <a:solidFill>
                  <a:srgbClr val="0000C0"/>
                </a:solidFill>
                <a:latin typeface="돋움체"/>
                <a:ea typeface="돋움체"/>
              </a:rPr>
              <a:t>lightAmbient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= {0.5f, 0.5f, 0.5f, 1.0f};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   </a:t>
            </a:r>
            <a:r>
              <a:rPr lang="en-US" altLang="ko-KR" sz="1600" dirty="0">
                <a:solidFill>
                  <a:srgbClr val="7F0055"/>
                </a:solidFill>
                <a:latin typeface="돋움체"/>
                <a:ea typeface="돋움체"/>
              </a:rPr>
              <a:t>private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600" dirty="0">
                <a:solidFill>
                  <a:srgbClr val="7F0055"/>
                </a:solidFill>
                <a:latin typeface="돋움체"/>
                <a:ea typeface="돋움체"/>
              </a:rPr>
              <a:t>float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[] </a:t>
            </a:r>
            <a:r>
              <a:rPr lang="en-US" altLang="ko-KR" sz="1600" dirty="0" err="1">
                <a:solidFill>
                  <a:srgbClr val="0000C0"/>
                </a:solidFill>
                <a:latin typeface="돋움체"/>
                <a:ea typeface="돋움체"/>
              </a:rPr>
              <a:t>lightDiffuse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= {1.0f, 1.0f, 1.0f, 1.0f};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   </a:t>
            </a:r>
            <a:r>
              <a:rPr lang="en-US" altLang="ko-KR" sz="1600" dirty="0">
                <a:solidFill>
                  <a:srgbClr val="7F0055"/>
                </a:solidFill>
                <a:latin typeface="돋움체"/>
                <a:ea typeface="돋움체"/>
              </a:rPr>
              <a:t>private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600" dirty="0">
                <a:solidFill>
                  <a:srgbClr val="7F0055"/>
                </a:solidFill>
                <a:latin typeface="돋움체"/>
                <a:ea typeface="돋움체"/>
              </a:rPr>
              <a:t>float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[] </a:t>
            </a:r>
            <a:r>
              <a:rPr lang="en-US" altLang="ko-KR" sz="1600" dirty="0" err="1">
                <a:solidFill>
                  <a:srgbClr val="0000C0"/>
                </a:solidFill>
                <a:latin typeface="돋움체"/>
                <a:ea typeface="돋움체"/>
              </a:rPr>
              <a:t>lightPosition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= {0.0f, 0.0f, 2.0f, 1.0f};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   </a:t>
            </a:r>
            <a:r>
              <a:rPr lang="en-US" altLang="ko-KR" sz="1600" dirty="0">
                <a:solidFill>
                  <a:srgbClr val="7F0055"/>
                </a:solidFill>
                <a:latin typeface="돋움체"/>
                <a:ea typeface="돋움체"/>
              </a:rPr>
              <a:t>private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FloatBuffer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600" dirty="0" err="1">
                <a:solidFill>
                  <a:srgbClr val="0000C0"/>
                </a:solidFill>
                <a:latin typeface="돋움체"/>
                <a:ea typeface="돋움체"/>
              </a:rPr>
              <a:t>lightAmbientBuffer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   </a:t>
            </a:r>
            <a:r>
              <a:rPr lang="en-US" altLang="ko-KR" sz="1600" dirty="0">
                <a:solidFill>
                  <a:srgbClr val="7F0055"/>
                </a:solidFill>
                <a:latin typeface="돋움체"/>
                <a:ea typeface="돋움체"/>
              </a:rPr>
              <a:t>private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FloatBuffer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600" dirty="0" err="1">
                <a:solidFill>
                  <a:srgbClr val="0000C0"/>
                </a:solidFill>
                <a:latin typeface="돋움체"/>
                <a:ea typeface="돋움체"/>
              </a:rPr>
              <a:t>lightDiffuseBuffer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   </a:t>
            </a:r>
            <a:r>
              <a:rPr lang="en-US" altLang="ko-KR" sz="1600" dirty="0">
                <a:solidFill>
                  <a:srgbClr val="7F0055"/>
                </a:solidFill>
                <a:latin typeface="돋움체"/>
                <a:ea typeface="돋움체"/>
              </a:rPr>
              <a:t>private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FloatBuffer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600" dirty="0" err="1">
                <a:solidFill>
                  <a:srgbClr val="0000C0"/>
                </a:solidFill>
                <a:latin typeface="돋움체"/>
                <a:ea typeface="돋움체"/>
              </a:rPr>
              <a:t>lightPositionBuffer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;</a:t>
            </a:r>
          </a:p>
          <a:p>
            <a:endParaRPr lang="ko-KR" altLang="en-US" sz="1600" dirty="0">
              <a:solidFill>
                <a:schemeClr val="tx1">
                  <a:lumMod val="50000"/>
                  <a:lumOff val="50000"/>
                </a:schemeClr>
              </a:solidFill>
              <a:latin typeface="돋움체"/>
              <a:ea typeface="돋움체"/>
            </a:endParaRPr>
          </a:p>
          <a:p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private </a:t>
            </a:r>
            <a:r>
              <a:rPr lang="en-US" altLang="ko-KR" sz="1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int</a:t>
            </a:r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[] textures = new </a:t>
            </a:r>
            <a:r>
              <a:rPr lang="en-US" altLang="ko-KR" sz="1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int</a:t>
            </a:r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[1];</a:t>
            </a:r>
          </a:p>
          <a:p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private </a:t>
            </a:r>
            <a:r>
              <a:rPr lang="en-US" altLang="ko-KR" sz="1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TexCube</a:t>
            </a:r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cube;</a:t>
            </a:r>
          </a:p>
          <a:p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private float </a:t>
            </a:r>
            <a:r>
              <a:rPr lang="en-US" altLang="ko-KR" sz="1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rotX</a:t>
            </a:r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;</a:t>
            </a:r>
          </a:p>
          <a:p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private float </a:t>
            </a:r>
            <a:r>
              <a:rPr lang="en-US" altLang="ko-KR" sz="1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rotY</a:t>
            </a:r>
            <a:r>
              <a:rPr lang="en-US" altLang="ko-K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;</a:t>
            </a:r>
          </a:p>
          <a:p>
            <a:endParaRPr lang="en-US" altLang="ko-KR" sz="1400" dirty="0">
              <a:solidFill>
                <a:schemeClr val="tx1">
                  <a:lumMod val="50000"/>
                  <a:lumOff val="50000"/>
                </a:schemeClr>
              </a:solidFill>
              <a:latin typeface="돋움체"/>
              <a:ea typeface="돋움체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97230" y="1280160"/>
            <a:ext cx="15634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 smtClean="0">
                <a:solidFill>
                  <a:prstClr val="black"/>
                </a:solidFill>
              </a:rPr>
              <a:t>Ex_GLES</a:t>
            </a:r>
            <a:endParaRPr lang="en-US" altLang="ko-KR" b="1" dirty="0" smtClean="0">
              <a:solidFill>
                <a:prstClr val="black"/>
              </a:solidFill>
            </a:endParaRPr>
          </a:p>
          <a:p>
            <a:r>
              <a:rPr lang="en-US" altLang="ko-KR" dirty="0" smtClean="0">
                <a:solidFill>
                  <a:prstClr val="black"/>
                </a:solidFill>
              </a:rPr>
              <a:t>/</a:t>
            </a:r>
            <a:r>
              <a:rPr lang="en-US" altLang="ko-KR" dirty="0" err="1" smtClean="0">
                <a:solidFill>
                  <a:prstClr val="black"/>
                </a:solidFill>
              </a:rPr>
              <a:t>src</a:t>
            </a:r>
            <a:r>
              <a:rPr lang="en-US" altLang="ko-KR" dirty="0" smtClean="0">
                <a:solidFill>
                  <a:prstClr val="black"/>
                </a:solidFill>
              </a:rPr>
              <a:t>/Act1.java</a:t>
            </a:r>
            <a:endParaRPr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49115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75</a:t>
            </a:fld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Lighting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97230" y="1926491"/>
            <a:ext cx="7366119" cy="461664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public </a:t>
            </a:r>
            <a:r>
              <a:rPr lang="en-US" altLang="ko-KR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MyRenderer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() {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ByteBuffer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byteBuf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=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ByteBuffer.allocateDirect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400" dirty="0" err="1">
                <a:solidFill>
                  <a:srgbClr val="0000C0"/>
                </a:solidFill>
                <a:latin typeface="돋움체"/>
                <a:ea typeface="돋움체"/>
              </a:rPr>
              <a:t>lightAmbient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.</a:t>
            </a:r>
            <a:r>
              <a:rPr lang="en-US" altLang="ko-KR" sz="1400" dirty="0" err="1">
                <a:solidFill>
                  <a:srgbClr val="0000C0"/>
                </a:solidFill>
                <a:latin typeface="돋움체"/>
                <a:ea typeface="돋움체"/>
              </a:rPr>
              <a:t>length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* 4);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byteBuf.order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ByteOrder.nativeOrder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());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 err="1">
                <a:solidFill>
                  <a:srgbClr val="0000C0"/>
                </a:solidFill>
                <a:latin typeface="돋움체"/>
                <a:ea typeface="돋움체"/>
              </a:rPr>
              <a:t>lightAmbientBuffer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=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byteBuf.asFloatBuffer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();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 err="1">
                <a:solidFill>
                  <a:srgbClr val="0000C0"/>
                </a:solidFill>
                <a:latin typeface="돋움체"/>
                <a:ea typeface="돋움체"/>
              </a:rPr>
              <a:t>lightAmbientBuffer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.put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400" dirty="0" err="1">
                <a:solidFill>
                  <a:srgbClr val="0000C0"/>
                </a:solidFill>
                <a:latin typeface="돋움체"/>
                <a:ea typeface="돋움체"/>
              </a:rPr>
              <a:t>lightAmbient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 err="1">
                <a:solidFill>
                  <a:srgbClr val="0000C0"/>
                </a:solidFill>
                <a:latin typeface="돋움체"/>
                <a:ea typeface="돋움체"/>
              </a:rPr>
              <a:t>lightAmbientBuffer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.position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(0);</a:t>
            </a:r>
          </a:p>
          <a:p>
            <a:endParaRPr lang="ko-KR" altLang="en-US" sz="1400" dirty="0">
              <a:solidFill>
                <a:srgbClr val="000000"/>
              </a:solidFill>
              <a:latin typeface="돋움체"/>
              <a:ea typeface="돋움체"/>
            </a:endParaRP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byteBuf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=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ByteBuffer.allocateDirect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400" dirty="0" err="1">
                <a:solidFill>
                  <a:srgbClr val="0000C0"/>
                </a:solidFill>
                <a:latin typeface="돋움체"/>
                <a:ea typeface="돋움체"/>
              </a:rPr>
              <a:t>lightDiffuse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.</a:t>
            </a:r>
            <a:r>
              <a:rPr lang="en-US" altLang="ko-KR" sz="1400" dirty="0" err="1">
                <a:solidFill>
                  <a:srgbClr val="0000C0"/>
                </a:solidFill>
                <a:latin typeface="돋움체"/>
                <a:ea typeface="돋움체"/>
              </a:rPr>
              <a:t>length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* 4);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   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</a:t>
            </a:r>
            <a:r>
              <a:rPr lang="en-US" altLang="ko-KR" sz="1400" dirty="0" err="1" smtClean="0">
                <a:solidFill>
                  <a:srgbClr val="000000"/>
                </a:solidFill>
                <a:latin typeface="돋움체"/>
                <a:ea typeface="돋움체"/>
              </a:rPr>
              <a:t>byteBuf.order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400" dirty="0" err="1" smtClean="0">
                <a:solidFill>
                  <a:srgbClr val="000000"/>
                </a:solidFill>
                <a:latin typeface="돋움체"/>
                <a:ea typeface="돋움체"/>
              </a:rPr>
              <a:t>ByteOrder.nativeOrder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());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 err="1">
                <a:solidFill>
                  <a:srgbClr val="0000C0"/>
                </a:solidFill>
                <a:latin typeface="돋움체"/>
                <a:ea typeface="돋움체"/>
              </a:rPr>
              <a:t>lightDiffuseBuffer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=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byteBuf.asFloatBuffer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();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 err="1">
                <a:solidFill>
                  <a:srgbClr val="0000C0"/>
                </a:solidFill>
                <a:latin typeface="돋움체"/>
                <a:ea typeface="돋움체"/>
              </a:rPr>
              <a:t>lightDiffuseBuffer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.put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400" dirty="0" err="1">
                <a:solidFill>
                  <a:srgbClr val="0000C0"/>
                </a:solidFill>
                <a:latin typeface="돋움체"/>
                <a:ea typeface="돋움체"/>
              </a:rPr>
              <a:t>lightDiffuse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 err="1">
                <a:solidFill>
                  <a:srgbClr val="0000C0"/>
                </a:solidFill>
                <a:latin typeface="돋움체"/>
                <a:ea typeface="돋움체"/>
              </a:rPr>
              <a:t>lightDiffuseBuffer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.position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(0);</a:t>
            </a:r>
          </a:p>
          <a:p>
            <a:endParaRPr lang="ko-KR" altLang="en-US" sz="1400" dirty="0" smtClean="0">
              <a:solidFill>
                <a:srgbClr val="000000"/>
              </a:solidFill>
              <a:latin typeface="돋움체"/>
              <a:ea typeface="돋움체"/>
            </a:endParaRP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 err="1" smtClean="0">
                <a:solidFill>
                  <a:srgbClr val="000000"/>
                </a:solidFill>
                <a:latin typeface="돋움체"/>
                <a:ea typeface="돋움체"/>
              </a:rPr>
              <a:t>byteBuf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= </a:t>
            </a:r>
            <a:r>
              <a:rPr lang="en-US" altLang="ko-KR" sz="1400" dirty="0" err="1" smtClean="0">
                <a:solidFill>
                  <a:srgbClr val="000000"/>
                </a:solidFill>
                <a:latin typeface="돋움체"/>
                <a:ea typeface="돋움체"/>
              </a:rPr>
              <a:t>ByteBuffer.allocateDirect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400" dirty="0" err="1" smtClean="0">
                <a:solidFill>
                  <a:srgbClr val="0000C0"/>
                </a:solidFill>
                <a:latin typeface="돋움체"/>
                <a:ea typeface="돋움체"/>
              </a:rPr>
              <a:t>lightPosition</a:t>
            </a:r>
            <a:r>
              <a:rPr lang="en-US" altLang="ko-KR" sz="1400" dirty="0" err="1" smtClean="0">
                <a:solidFill>
                  <a:srgbClr val="000000"/>
                </a:solidFill>
                <a:latin typeface="돋움체"/>
                <a:ea typeface="돋움체"/>
              </a:rPr>
              <a:t>.</a:t>
            </a:r>
            <a:r>
              <a:rPr lang="en-US" altLang="ko-KR" sz="1400" dirty="0" err="1" smtClean="0">
                <a:solidFill>
                  <a:srgbClr val="0000C0"/>
                </a:solidFill>
                <a:latin typeface="돋움체"/>
                <a:ea typeface="돋움체"/>
              </a:rPr>
              <a:t>length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* 4);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byteBuf.order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ByteOrder.nativeOrder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());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 err="1">
                <a:solidFill>
                  <a:srgbClr val="0000C0"/>
                </a:solidFill>
                <a:latin typeface="돋움체"/>
                <a:ea typeface="돋움체"/>
              </a:rPr>
              <a:t>lightPositionBuffer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=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byteBuf.asFloatBuffer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();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 err="1" smtClean="0">
                <a:solidFill>
                  <a:srgbClr val="0000C0"/>
                </a:solidFill>
                <a:latin typeface="돋움체"/>
                <a:ea typeface="돋움체"/>
              </a:rPr>
              <a:t>lightPositionBuffer</a:t>
            </a:r>
            <a:r>
              <a:rPr lang="en-US" altLang="ko-KR" sz="1400" dirty="0" err="1" smtClean="0">
                <a:solidFill>
                  <a:srgbClr val="000000"/>
                </a:solidFill>
                <a:latin typeface="돋움체"/>
                <a:ea typeface="돋움체"/>
              </a:rPr>
              <a:t>.put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400" dirty="0" err="1" smtClean="0">
                <a:solidFill>
                  <a:srgbClr val="0000C0"/>
                </a:solidFill>
                <a:latin typeface="돋움체"/>
                <a:ea typeface="돋움체"/>
              </a:rPr>
              <a:t>lightPosition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 err="1">
                <a:solidFill>
                  <a:srgbClr val="0000C0"/>
                </a:solidFill>
                <a:latin typeface="돋움체"/>
                <a:ea typeface="돋움체"/>
              </a:rPr>
              <a:t>lightPositionBuffer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.position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(0);</a:t>
            </a:r>
          </a:p>
          <a:p>
            <a:endParaRPr lang="ko-KR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돋움체"/>
              <a:ea typeface="돋움체"/>
            </a:endParaRPr>
          </a:p>
          <a:p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cube = new </a:t>
            </a:r>
            <a:r>
              <a:rPr lang="en-US" altLang="ko-KR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TexCube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();</a:t>
            </a:r>
          </a:p>
          <a:p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}</a:t>
            </a:r>
            <a:endParaRPr lang="en-US" altLang="ko-KR" sz="1200" dirty="0">
              <a:solidFill>
                <a:schemeClr val="tx1">
                  <a:lumMod val="50000"/>
                  <a:lumOff val="50000"/>
                </a:schemeClr>
              </a:solidFill>
              <a:latin typeface="돋움체"/>
              <a:ea typeface="돋움체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97230" y="1280160"/>
            <a:ext cx="15634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 smtClean="0">
                <a:solidFill>
                  <a:prstClr val="black"/>
                </a:solidFill>
              </a:rPr>
              <a:t>Ex_GLES</a:t>
            </a:r>
            <a:endParaRPr lang="en-US" altLang="ko-KR" b="1" dirty="0" smtClean="0">
              <a:solidFill>
                <a:prstClr val="black"/>
              </a:solidFill>
            </a:endParaRPr>
          </a:p>
          <a:p>
            <a:r>
              <a:rPr lang="en-US" altLang="ko-KR" dirty="0" smtClean="0">
                <a:solidFill>
                  <a:prstClr val="black"/>
                </a:solidFill>
              </a:rPr>
              <a:t>/</a:t>
            </a:r>
            <a:r>
              <a:rPr lang="en-US" altLang="ko-KR" dirty="0" err="1" smtClean="0">
                <a:solidFill>
                  <a:prstClr val="black"/>
                </a:solidFill>
              </a:rPr>
              <a:t>src</a:t>
            </a:r>
            <a:r>
              <a:rPr lang="en-US" altLang="ko-KR" dirty="0" smtClean="0">
                <a:solidFill>
                  <a:prstClr val="black"/>
                </a:solidFill>
              </a:rPr>
              <a:t>/Act1.java</a:t>
            </a:r>
            <a:endParaRPr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33642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76</a:t>
            </a:fld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Lighting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97230" y="1926491"/>
            <a:ext cx="7007046" cy="489364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3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public </a:t>
            </a:r>
            <a:r>
              <a:rPr lang="en-US" altLang="ko-KR" sz="13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void </a:t>
            </a:r>
            <a:r>
              <a:rPr lang="en-US" altLang="ko-KR" sz="13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onSurfaceCreated</a:t>
            </a:r>
            <a:r>
              <a:rPr lang="en-US" altLang="ko-KR" sz="13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(GL10 </a:t>
            </a:r>
            <a:r>
              <a:rPr lang="en-US" altLang="ko-KR" sz="13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gl</a:t>
            </a:r>
            <a:r>
              <a:rPr lang="en-US" altLang="ko-KR" sz="13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, </a:t>
            </a:r>
            <a:r>
              <a:rPr lang="en-US" altLang="ko-KR" sz="13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EGLConfig</a:t>
            </a:r>
            <a:r>
              <a:rPr lang="en-US" altLang="ko-KR" sz="13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</a:t>
            </a:r>
            <a:r>
              <a:rPr lang="en-US" altLang="ko-KR" sz="13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config</a:t>
            </a:r>
            <a:r>
              <a:rPr lang="en-US" altLang="ko-KR" sz="13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) {</a:t>
            </a:r>
          </a:p>
          <a:p>
            <a:r>
              <a:rPr lang="en-US" altLang="ko-KR" sz="13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 </a:t>
            </a:r>
            <a:r>
              <a:rPr lang="en-US" altLang="ko-KR" sz="13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makeTexture</a:t>
            </a:r>
            <a:r>
              <a:rPr lang="en-US" altLang="ko-KR" sz="13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(</a:t>
            </a:r>
            <a:r>
              <a:rPr lang="en-US" altLang="ko-KR" sz="13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gl</a:t>
            </a:r>
            <a:r>
              <a:rPr lang="en-US" altLang="ko-KR" sz="13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, Act1.this);</a:t>
            </a:r>
          </a:p>
          <a:p>
            <a:r>
              <a:rPr lang="en-US" altLang="ko-KR" sz="13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 </a:t>
            </a:r>
            <a:r>
              <a:rPr lang="en-US" altLang="ko-KR" sz="13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cube.setTexture</a:t>
            </a:r>
            <a:r>
              <a:rPr lang="en-US" altLang="ko-KR" sz="13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(textures[0</a:t>
            </a:r>
            <a:r>
              <a:rPr lang="en-US" altLang="ko-KR" sz="13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]);</a:t>
            </a:r>
          </a:p>
          <a:p>
            <a:endParaRPr lang="ko-KR" altLang="en-US" sz="1300" dirty="0">
              <a:latin typeface="돋움체"/>
              <a:ea typeface="돋움체"/>
            </a:endParaRPr>
          </a:p>
          <a:p>
            <a:r>
              <a:rPr lang="en-US" altLang="ko-KR" sz="1400" dirty="0" smtClean="0">
                <a:solidFill>
                  <a:srgbClr val="3F7F5F"/>
                </a:solidFill>
                <a:latin typeface="돋움체"/>
                <a:ea typeface="돋움체"/>
              </a:rPr>
              <a:t>        //</a:t>
            </a:r>
            <a:r>
              <a:rPr lang="en-US" altLang="ko-KR" sz="1400" dirty="0">
                <a:solidFill>
                  <a:srgbClr val="3F7F5F"/>
                </a:solidFill>
                <a:latin typeface="돋움체"/>
                <a:ea typeface="돋움체"/>
              </a:rPr>
              <a:t>And there'll be light!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 err="1" smtClean="0">
                <a:solidFill>
                  <a:srgbClr val="000000"/>
                </a:solidFill>
                <a:latin typeface="돋움체"/>
                <a:ea typeface="돋움체"/>
              </a:rPr>
              <a:t>gl.</a:t>
            </a:r>
            <a:r>
              <a:rPr lang="en-US" altLang="ko-KR" sz="1400" b="1" dirty="0" err="1" smtClean="0">
                <a:solidFill>
                  <a:srgbClr val="000000"/>
                </a:solidFill>
                <a:latin typeface="돋움체"/>
                <a:ea typeface="돋움체"/>
              </a:rPr>
              <a:t>glLightfv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(GL10.</a:t>
            </a:r>
            <a:r>
              <a:rPr lang="en-US" altLang="ko-KR" sz="1400" dirty="0" smtClean="0">
                <a:solidFill>
                  <a:srgbClr val="0000C0"/>
                </a:solidFill>
                <a:latin typeface="돋움체"/>
                <a:ea typeface="돋움체"/>
              </a:rPr>
              <a:t>GL_LIGHT0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, GL10.</a:t>
            </a:r>
            <a:r>
              <a:rPr lang="en-US" altLang="ko-KR" sz="1400" dirty="0">
                <a:solidFill>
                  <a:srgbClr val="0000C0"/>
                </a:solidFill>
                <a:latin typeface="돋움체"/>
                <a:ea typeface="돋움체"/>
              </a:rPr>
              <a:t>GL_AMBIENT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, </a:t>
            </a:r>
            <a:r>
              <a:rPr lang="en-US" altLang="ko-KR" sz="1400" dirty="0" err="1">
                <a:solidFill>
                  <a:srgbClr val="0000C0"/>
                </a:solidFill>
                <a:latin typeface="돋움체"/>
                <a:ea typeface="돋움체"/>
              </a:rPr>
              <a:t>lightAmbientBuffer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</a:t>
            </a:r>
            <a:r>
              <a:rPr lang="en-US" altLang="ko-KR" sz="1400" dirty="0" err="1" smtClean="0">
                <a:solidFill>
                  <a:srgbClr val="000000"/>
                </a:solidFill>
                <a:latin typeface="돋움체"/>
                <a:ea typeface="돋움체"/>
              </a:rPr>
              <a:t>gl.glLightfv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(GL10.</a:t>
            </a:r>
            <a:r>
              <a:rPr lang="en-US" altLang="ko-KR" sz="1400" dirty="0" smtClean="0">
                <a:solidFill>
                  <a:srgbClr val="0000C0"/>
                </a:solidFill>
                <a:latin typeface="돋움체"/>
                <a:ea typeface="돋움체"/>
              </a:rPr>
              <a:t>GL_LIGHT0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, GL10.</a:t>
            </a:r>
            <a:r>
              <a:rPr lang="en-US" altLang="ko-KR" sz="1400" dirty="0">
                <a:solidFill>
                  <a:srgbClr val="0000C0"/>
                </a:solidFill>
                <a:latin typeface="돋움체"/>
                <a:ea typeface="돋움체"/>
              </a:rPr>
              <a:t>GL_DIFFUSE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, </a:t>
            </a:r>
            <a:r>
              <a:rPr lang="en-US" altLang="ko-KR" sz="1400" dirty="0" err="1">
                <a:solidFill>
                  <a:srgbClr val="0000C0"/>
                </a:solidFill>
                <a:latin typeface="돋움체"/>
                <a:ea typeface="돋움체"/>
              </a:rPr>
              <a:t>lightDiffuseBuffer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  <a:endParaRPr lang="en-US" altLang="ko-KR" sz="1400" dirty="0">
              <a:solidFill>
                <a:srgbClr val="3F7F5F"/>
              </a:solidFill>
              <a:latin typeface="돋움체"/>
              <a:ea typeface="돋움체"/>
            </a:endParaRP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 err="1" smtClean="0">
                <a:solidFill>
                  <a:srgbClr val="000000"/>
                </a:solidFill>
                <a:latin typeface="돋움체"/>
                <a:ea typeface="돋움체"/>
              </a:rPr>
              <a:t>gl.glLightfv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(GL10.</a:t>
            </a:r>
            <a:r>
              <a:rPr lang="en-US" altLang="ko-KR" sz="1400" dirty="0" smtClean="0">
                <a:solidFill>
                  <a:srgbClr val="0000C0"/>
                </a:solidFill>
                <a:latin typeface="돋움체"/>
                <a:ea typeface="돋움체"/>
              </a:rPr>
              <a:t>GL_LIGHT0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, GL10.</a:t>
            </a:r>
            <a:r>
              <a:rPr lang="en-US" altLang="ko-KR" sz="1400" dirty="0">
                <a:solidFill>
                  <a:srgbClr val="0000C0"/>
                </a:solidFill>
                <a:latin typeface="돋움체"/>
                <a:ea typeface="돋움체"/>
              </a:rPr>
              <a:t>GL_POSITION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, </a:t>
            </a:r>
            <a:r>
              <a:rPr lang="en-US" altLang="ko-KR" sz="1400" dirty="0" err="1">
                <a:solidFill>
                  <a:srgbClr val="0000C0"/>
                </a:solidFill>
                <a:latin typeface="돋움체"/>
                <a:ea typeface="돋움체"/>
              </a:rPr>
              <a:t>lightPositionBuffer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  <a:endParaRPr lang="en-US" altLang="ko-KR" sz="1400" dirty="0">
              <a:solidFill>
                <a:srgbClr val="3F7F5F"/>
              </a:solidFill>
              <a:latin typeface="돋움체"/>
              <a:ea typeface="돋움체"/>
            </a:endParaRP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 err="1" smtClean="0">
                <a:solidFill>
                  <a:srgbClr val="000000"/>
                </a:solidFill>
                <a:latin typeface="돋움체"/>
                <a:ea typeface="돋움체"/>
              </a:rPr>
              <a:t>gl.glEnable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(GL10.</a:t>
            </a:r>
            <a:r>
              <a:rPr lang="en-US" altLang="ko-KR" sz="1400" dirty="0" smtClean="0">
                <a:solidFill>
                  <a:srgbClr val="0000C0"/>
                </a:solidFill>
                <a:latin typeface="돋움체"/>
                <a:ea typeface="돋움체"/>
              </a:rPr>
              <a:t>GL_LIGHT0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  <a:r>
              <a:rPr lang="en-US" altLang="ko-KR" sz="1400" dirty="0">
                <a:solidFill>
                  <a:srgbClr val="3F7F5F"/>
                </a:solidFill>
                <a:latin typeface="돋움체"/>
                <a:ea typeface="돋움체"/>
              </a:rPr>
              <a:t>//Enable Light 0</a:t>
            </a:r>
          </a:p>
          <a:p>
            <a:endParaRPr lang="ko-KR" altLang="en-US" sz="1400" dirty="0">
              <a:latin typeface="돋움체"/>
              <a:ea typeface="돋움체"/>
            </a:endParaRPr>
          </a:p>
          <a:p>
            <a:r>
              <a:rPr lang="en-US" altLang="ko-KR" sz="1400" dirty="0" smtClean="0">
                <a:solidFill>
                  <a:srgbClr val="3F7F5F"/>
                </a:solidFill>
                <a:latin typeface="돋움체"/>
                <a:ea typeface="돋움체"/>
              </a:rPr>
              <a:t>        //</a:t>
            </a:r>
            <a:r>
              <a:rPr lang="en-US" altLang="ko-KR" sz="1400" dirty="0">
                <a:solidFill>
                  <a:srgbClr val="3F7F5F"/>
                </a:solidFill>
                <a:latin typeface="돋움체"/>
                <a:ea typeface="돋움체"/>
              </a:rPr>
              <a:t>Settings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 err="1" smtClean="0">
                <a:solidFill>
                  <a:srgbClr val="000000"/>
                </a:solidFill>
                <a:latin typeface="돋움체"/>
                <a:ea typeface="돋움체"/>
              </a:rPr>
              <a:t>gl.</a:t>
            </a:r>
            <a:r>
              <a:rPr lang="en-US" altLang="ko-KR" sz="1400" b="1" dirty="0" err="1" smtClean="0">
                <a:solidFill>
                  <a:srgbClr val="000000"/>
                </a:solidFill>
                <a:latin typeface="돋움체"/>
                <a:ea typeface="돋움체"/>
              </a:rPr>
              <a:t>glEnable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(GL10.</a:t>
            </a:r>
            <a:r>
              <a:rPr lang="en-US" altLang="ko-KR" sz="1400" b="1" dirty="0" smtClean="0">
                <a:solidFill>
                  <a:srgbClr val="0000C0"/>
                </a:solidFill>
                <a:latin typeface="돋움체"/>
                <a:ea typeface="돋움체"/>
              </a:rPr>
              <a:t>GL_LIGHTING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); </a:t>
            </a:r>
            <a:r>
              <a:rPr lang="en-US" altLang="ko-KR" sz="1400" dirty="0" smtClean="0">
                <a:solidFill>
                  <a:srgbClr val="3F7F5F"/>
                </a:solidFill>
                <a:latin typeface="돋움체"/>
                <a:ea typeface="돋움체"/>
              </a:rPr>
              <a:t>//</a:t>
            </a:r>
            <a:r>
              <a:rPr lang="en-US" altLang="ko-KR" sz="1400" dirty="0">
                <a:solidFill>
                  <a:srgbClr val="3F7F5F"/>
                </a:solidFill>
                <a:latin typeface="돋움체"/>
                <a:ea typeface="돋움체"/>
              </a:rPr>
              <a:t>Enable Lighting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 err="1" smtClean="0">
                <a:solidFill>
                  <a:srgbClr val="000000"/>
                </a:solidFill>
                <a:latin typeface="돋움체"/>
                <a:ea typeface="돋움체"/>
              </a:rPr>
              <a:t>gl.</a:t>
            </a:r>
            <a:r>
              <a:rPr lang="en-US" altLang="ko-KR" sz="1400" b="1" dirty="0" err="1" smtClean="0">
                <a:solidFill>
                  <a:srgbClr val="000000"/>
                </a:solidFill>
                <a:latin typeface="돋움체"/>
                <a:ea typeface="돋움체"/>
              </a:rPr>
              <a:t>glDisable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(GL10.</a:t>
            </a:r>
            <a:r>
              <a:rPr lang="en-US" altLang="ko-KR" sz="1400" dirty="0" smtClean="0">
                <a:solidFill>
                  <a:srgbClr val="0000C0"/>
                </a:solidFill>
                <a:latin typeface="돋움체"/>
                <a:ea typeface="돋움체"/>
              </a:rPr>
              <a:t>GL_DITHER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); </a:t>
            </a:r>
            <a:r>
              <a:rPr lang="en-US" altLang="ko-KR" sz="1400" dirty="0" smtClean="0">
                <a:solidFill>
                  <a:srgbClr val="3F7F5F"/>
                </a:solidFill>
                <a:latin typeface="돋움체"/>
                <a:ea typeface="돋움체"/>
              </a:rPr>
              <a:t>//</a:t>
            </a:r>
            <a:r>
              <a:rPr lang="en-US" altLang="ko-KR" sz="1400" dirty="0">
                <a:solidFill>
                  <a:srgbClr val="3F7F5F"/>
                </a:solidFill>
                <a:latin typeface="돋움체"/>
                <a:ea typeface="돋움체"/>
              </a:rPr>
              <a:t>Disable dithering</a:t>
            </a:r>
          </a:p>
          <a:p>
            <a:r>
              <a:rPr lang="en-US" altLang="ko-KR" sz="13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 </a:t>
            </a:r>
            <a:r>
              <a:rPr lang="en-US" altLang="ko-KR" sz="13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gl.glEnable</a:t>
            </a:r>
            <a:r>
              <a:rPr lang="en-US" altLang="ko-KR" sz="13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(GL10.GL_TEXTURE_2D); //</a:t>
            </a:r>
            <a:r>
              <a:rPr lang="en-US" altLang="ko-KR" sz="13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Enable Texture Mapping</a:t>
            </a:r>
          </a:p>
          <a:p>
            <a:r>
              <a:rPr lang="en-US" altLang="ko-KR" sz="13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 </a:t>
            </a:r>
            <a:r>
              <a:rPr lang="en-US" altLang="ko-KR" sz="13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gl.glShadeModel</a:t>
            </a:r>
            <a:r>
              <a:rPr lang="en-US" altLang="ko-KR" sz="13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(GL10.GL_SMOOTH</a:t>
            </a:r>
            <a:r>
              <a:rPr lang="en-US" altLang="ko-KR" sz="13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); //Enable Smooth Shading</a:t>
            </a:r>
          </a:p>
          <a:p>
            <a:r>
              <a:rPr lang="en-US" altLang="ko-KR" sz="13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 </a:t>
            </a:r>
            <a:r>
              <a:rPr lang="en-US" altLang="ko-KR" sz="13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gl.glClearColor</a:t>
            </a:r>
            <a:r>
              <a:rPr lang="en-US" altLang="ko-KR" sz="13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(0.0f</a:t>
            </a:r>
            <a:r>
              <a:rPr lang="en-US" altLang="ko-KR" sz="13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, 0.0f, 0.0f, 0.5f); //Black Background</a:t>
            </a:r>
          </a:p>
          <a:p>
            <a:r>
              <a:rPr lang="en-US" altLang="ko-KR" sz="13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 </a:t>
            </a:r>
            <a:r>
              <a:rPr lang="en-US" altLang="ko-KR" sz="13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gl.glClearDepthf</a:t>
            </a:r>
            <a:r>
              <a:rPr lang="en-US" altLang="ko-KR" sz="13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(1.0f</a:t>
            </a:r>
            <a:r>
              <a:rPr lang="en-US" altLang="ko-KR" sz="13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); //Depth Buffer Setup</a:t>
            </a:r>
          </a:p>
          <a:p>
            <a:r>
              <a:rPr lang="en-US" altLang="ko-KR" sz="13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 </a:t>
            </a:r>
            <a:r>
              <a:rPr lang="en-US" altLang="ko-KR" sz="13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gl.glEnable</a:t>
            </a:r>
            <a:r>
              <a:rPr lang="en-US" altLang="ko-KR" sz="13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(GL10.GL_DEPTH_TEST</a:t>
            </a:r>
            <a:r>
              <a:rPr lang="en-US" altLang="ko-KR" sz="13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); //Enables Depth Testing</a:t>
            </a:r>
          </a:p>
          <a:p>
            <a:r>
              <a:rPr lang="en-US" altLang="ko-KR" sz="13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 </a:t>
            </a:r>
            <a:r>
              <a:rPr lang="en-US" altLang="ko-KR" sz="13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gl.glDepthFunc</a:t>
            </a:r>
            <a:r>
              <a:rPr lang="en-US" altLang="ko-KR" sz="13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(GL10.GL_LEQUAL</a:t>
            </a:r>
            <a:r>
              <a:rPr lang="en-US" altLang="ko-KR" sz="13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); //The Type Of Depth Testing To Do</a:t>
            </a:r>
          </a:p>
          <a:p>
            <a:endParaRPr lang="ko-KR" altLang="en-US" sz="1300" dirty="0">
              <a:solidFill>
                <a:schemeClr val="tx1">
                  <a:lumMod val="50000"/>
                  <a:lumOff val="50000"/>
                </a:schemeClr>
              </a:solidFill>
              <a:latin typeface="돋움체"/>
              <a:ea typeface="돋움체"/>
            </a:endParaRPr>
          </a:p>
          <a:p>
            <a:r>
              <a:rPr lang="en-US" altLang="ko-KR" sz="13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 //</a:t>
            </a:r>
            <a:r>
              <a:rPr lang="en-US" altLang="ko-KR" sz="13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Really Nice Perspective Calculations</a:t>
            </a:r>
          </a:p>
          <a:p>
            <a:r>
              <a:rPr lang="en-US" altLang="ko-KR" sz="13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 </a:t>
            </a:r>
            <a:r>
              <a:rPr lang="en-US" altLang="ko-KR" sz="13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gl.glHint</a:t>
            </a:r>
            <a:r>
              <a:rPr lang="en-US" altLang="ko-KR" sz="13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(GL10.GL_PERSPECTIVE_CORRECTION_HINT</a:t>
            </a:r>
            <a:r>
              <a:rPr lang="en-US" altLang="ko-KR" sz="13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, GL10.GL_NICEST); </a:t>
            </a:r>
          </a:p>
          <a:p>
            <a:r>
              <a:rPr lang="en-US" altLang="ko-KR" sz="13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7230" y="1280160"/>
            <a:ext cx="15634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 smtClean="0">
                <a:solidFill>
                  <a:prstClr val="black"/>
                </a:solidFill>
              </a:rPr>
              <a:t>Ex_GLES</a:t>
            </a:r>
            <a:endParaRPr lang="en-US" altLang="ko-KR" b="1" dirty="0" smtClean="0">
              <a:solidFill>
                <a:prstClr val="black"/>
              </a:solidFill>
            </a:endParaRPr>
          </a:p>
          <a:p>
            <a:r>
              <a:rPr lang="en-US" altLang="ko-KR" dirty="0" smtClean="0">
                <a:solidFill>
                  <a:prstClr val="black"/>
                </a:solidFill>
              </a:rPr>
              <a:t>/</a:t>
            </a:r>
            <a:r>
              <a:rPr lang="en-US" altLang="ko-KR" dirty="0" err="1" smtClean="0">
                <a:solidFill>
                  <a:prstClr val="black"/>
                </a:solidFill>
              </a:rPr>
              <a:t>src</a:t>
            </a:r>
            <a:r>
              <a:rPr lang="en-US" altLang="ko-KR" dirty="0" smtClean="0">
                <a:solidFill>
                  <a:prstClr val="black"/>
                </a:solidFill>
              </a:rPr>
              <a:t>/Act1.java</a:t>
            </a:r>
            <a:endParaRPr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2989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77</a:t>
            </a:fld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Lighting</a:t>
            </a:r>
            <a:endParaRPr lang="ko-KR" altLang="en-US" dirty="0"/>
          </a:p>
        </p:txBody>
      </p:sp>
      <p:pic>
        <p:nvPicPr>
          <p:cNvPr id="3074" name="Picture 2" descr="C:\Users\msKim\Desktop\2016-2 모바일앱프로그래밍 (교재)\drive-download-20161109T111332Z\작업중 (순번 변경)\Screenshot_1478942798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4141" y="1397875"/>
            <a:ext cx="2835000" cy="50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637044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78</a:t>
            </a:fld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Blending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97230" y="1926491"/>
            <a:ext cx="8436925" cy="449353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3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public </a:t>
            </a:r>
            <a:r>
              <a:rPr lang="en-US" altLang="ko-KR" sz="13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void </a:t>
            </a:r>
            <a:r>
              <a:rPr lang="en-US" altLang="ko-KR" sz="13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onSurfaceCreated</a:t>
            </a:r>
            <a:r>
              <a:rPr lang="en-US" altLang="ko-KR" sz="13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(GL10 </a:t>
            </a:r>
            <a:r>
              <a:rPr lang="en-US" altLang="ko-KR" sz="13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gl</a:t>
            </a:r>
            <a:r>
              <a:rPr lang="en-US" altLang="ko-KR" sz="13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, </a:t>
            </a:r>
            <a:r>
              <a:rPr lang="en-US" altLang="ko-KR" sz="13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EGLConfig</a:t>
            </a:r>
            <a:r>
              <a:rPr lang="en-US" altLang="ko-KR" sz="13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</a:t>
            </a:r>
            <a:r>
              <a:rPr lang="en-US" altLang="ko-KR" sz="13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config</a:t>
            </a:r>
            <a:r>
              <a:rPr lang="en-US" altLang="ko-KR" sz="13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) {</a:t>
            </a:r>
          </a:p>
          <a:p>
            <a:r>
              <a:rPr lang="en-US" altLang="ko-KR" sz="13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…</a:t>
            </a:r>
          </a:p>
          <a:p>
            <a:r>
              <a:rPr lang="en-US" altLang="ko-KR" sz="13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</a:t>
            </a:r>
            <a:r>
              <a:rPr lang="en-US" altLang="ko-KR" sz="13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gl.glEnable</a:t>
            </a:r>
            <a:r>
              <a:rPr lang="en-US" altLang="ko-KR" sz="13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(GL10.GL_LIGHT0);//Enable Light 0</a:t>
            </a:r>
          </a:p>
          <a:p>
            <a:endParaRPr lang="ko-KR" altLang="en-US" sz="1300" dirty="0">
              <a:solidFill>
                <a:schemeClr val="tx1">
                  <a:lumMod val="50000"/>
                  <a:lumOff val="50000"/>
                </a:schemeClr>
              </a:solidFill>
              <a:latin typeface="돋움체"/>
              <a:ea typeface="돋움체"/>
            </a:endParaRPr>
          </a:p>
          <a:p>
            <a:r>
              <a:rPr lang="en-US" altLang="ko-KR" sz="1300" dirty="0" smtClean="0">
                <a:solidFill>
                  <a:srgbClr val="3F7F5F"/>
                </a:solidFill>
                <a:latin typeface="돋움체"/>
                <a:ea typeface="돋움체"/>
              </a:rPr>
              <a:t>        //</a:t>
            </a:r>
            <a:r>
              <a:rPr lang="en-US" altLang="ko-KR" sz="1300" dirty="0">
                <a:solidFill>
                  <a:srgbClr val="3F7F5F"/>
                </a:solidFill>
                <a:latin typeface="돋움체"/>
                <a:ea typeface="돋움체"/>
              </a:rPr>
              <a:t>Blending</a:t>
            </a:r>
          </a:p>
          <a:p>
            <a:r>
              <a:rPr lang="en-US" altLang="ko-KR" sz="1300" dirty="0" smtClean="0">
                <a:solidFill>
                  <a:srgbClr val="000000"/>
                </a:solidFill>
                <a:latin typeface="돋움체"/>
                <a:ea typeface="돋움체"/>
              </a:rPr>
              <a:t>        gl.glColor4f(1.0f</a:t>
            </a:r>
            <a:r>
              <a:rPr lang="en-US" altLang="ko-KR" sz="1300" dirty="0">
                <a:solidFill>
                  <a:srgbClr val="000000"/>
                </a:solidFill>
                <a:latin typeface="돋움체"/>
                <a:ea typeface="돋움체"/>
              </a:rPr>
              <a:t>, 1.0f, 1.0f, 0.5f);</a:t>
            </a:r>
            <a:r>
              <a:rPr lang="en-US" altLang="ko-KR" sz="1300" dirty="0">
                <a:solidFill>
                  <a:srgbClr val="3F7F5F"/>
                </a:solidFill>
                <a:latin typeface="돋움체"/>
                <a:ea typeface="돋움체"/>
              </a:rPr>
              <a:t>//Full Brightness. 50% Alpha</a:t>
            </a:r>
          </a:p>
          <a:p>
            <a:r>
              <a:rPr lang="en-US" altLang="ko-KR" sz="1300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300" dirty="0" err="1" smtClean="0">
                <a:solidFill>
                  <a:srgbClr val="000000"/>
                </a:solidFill>
                <a:latin typeface="돋움체"/>
                <a:ea typeface="돋움체"/>
              </a:rPr>
              <a:t>gl.</a:t>
            </a:r>
            <a:r>
              <a:rPr lang="en-US" altLang="ko-KR" sz="1300" b="1" dirty="0" err="1" smtClean="0">
                <a:solidFill>
                  <a:srgbClr val="000000"/>
                </a:solidFill>
                <a:latin typeface="돋움체"/>
                <a:ea typeface="돋움체"/>
              </a:rPr>
              <a:t>glBlendFunc</a:t>
            </a:r>
            <a:r>
              <a:rPr lang="en-US" altLang="ko-KR" sz="1300" dirty="0" smtClean="0">
                <a:solidFill>
                  <a:srgbClr val="000000"/>
                </a:solidFill>
                <a:latin typeface="돋움체"/>
                <a:ea typeface="돋움체"/>
              </a:rPr>
              <a:t>(GL10.</a:t>
            </a:r>
            <a:r>
              <a:rPr lang="en-US" altLang="ko-KR" sz="1300" dirty="0" smtClean="0">
                <a:solidFill>
                  <a:srgbClr val="0000C0"/>
                </a:solidFill>
                <a:latin typeface="돋움체"/>
                <a:ea typeface="돋움체"/>
              </a:rPr>
              <a:t>GL_SRC_ALPHA</a:t>
            </a:r>
            <a:r>
              <a:rPr lang="en-US" altLang="ko-KR" sz="1300" dirty="0">
                <a:solidFill>
                  <a:srgbClr val="000000"/>
                </a:solidFill>
                <a:latin typeface="돋움체"/>
                <a:ea typeface="돋움체"/>
              </a:rPr>
              <a:t>, GL10.</a:t>
            </a:r>
            <a:r>
              <a:rPr lang="en-US" altLang="ko-KR" sz="1300" dirty="0">
                <a:solidFill>
                  <a:srgbClr val="0000C0"/>
                </a:solidFill>
                <a:latin typeface="돋움체"/>
                <a:ea typeface="돋움체"/>
              </a:rPr>
              <a:t>GL_ONE</a:t>
            </a:r>
            <a:r>
              <a:rPr lang="en-US" altLang="ko-KR" sz="1300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  <a:r>
              <a:rPr lang="en-US" altLang="ko-KR" sz="1300" dirty="0">
                <a:solidFill>
                  <a:srgbClr val="3F7F5F"/>
                </a:solidFill>
                <a:latin typeface="돋움체"/>
                <a:ea typeface="돋움체"/>
              </a:rPr>
              <a:t>//Set The Blending Function For Translucency</a:t>
            </a:r>
          </a:p>
          <a:p>
            <a:endParaRPr lang="ko-KR" altLang="en-US" sz="1300" dirty="0">
              <a:latin typeface="돋움체"/>
              <a:ea typeface="돋움체"/>
            </a:endParaRPr>
          </a:p>
          <a:p>
            <a:r>
              <a:rPr lang="en-US" altLang="ko-KR" sz="1300" dirty="0" smtClean="0">
                <a:solidFill>
                  <a:srgbClr val="3F7F5F"/>
                </a:solidFill>
                <a:latin typeface="돋움체"/>
                <a:ea typeface="돋움체"/>
              </a:rPr>
              <a:t>        //</a:t>
            </a:r>
            <a:r>
              <a:rPr lang="en-US" altLang="ko-KR" sz="1300" dirty="0">
                <a:solidFill>
                  <a:srgbClr val="3F7F5F"/>
                </a:solidFill>
                <a:latin typeface="돋움체"/>
                <a:ea typeface="돋움체"/>
              </a:rPr>
              <a:t>Settings</a:t>
            </a:r>
          </a:p>
          <a:p>
            <a:r>
              <a:rPr lang="en-US" altLang="ko-KR" sz="1300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300" dirty="0" err="1" smtClean="0">
                <a:solidFill>
                  <a:srgbClr val="000000"/>
                </a:solidFill>
                <a:latin typeface="돋움체"/>
                <a:ea typeface="돋움체"/>
              </a:rPr>
              <a:t>gl.</a:t>
            </a:r>
            <a:r>
              <a:rPr lang="en-US" altLang="ko-KR" sz="1300" b="1" dirty="0" err="1" smtClean="0">
                <a:solidFill>
                  <a:srgbClr val="000000"/>
                </a:solidFill>
                <a:latin typeface="돋움체"/>
                <a:ea typeface="돋움체"/>
              </a:rPr>
              <a:t>glEnable</a:t>
            </a:r>
            <a:r>
              <a:rPr lang="en-US" altLang="ko-KR" sz="1300" dirty="0" smtClean="0">
                <a:solidFill>
                  <a:srgbClr val="000000"/>
                </a:solidFill>
                <a:latin typeface="돋움체"/>
                <a:ea typeface="돋움체"/>
              </a:rPr>
              <a:t>(GL10.</a:t>
            </a:r>
            <a:r>
              <a:rPr lang="en-US" altLang="ko-KR" sz="1300" b="1" dirty="0" smtClean="0">
                <a:solidFill>
                  <a:srgbClr val="0000C0"/>
                </a:solidFill>
                <a:latin typeface="돋움체"/>
                <a:ea typeface="돋움체"/>
              </a:rPr>
              <a:t>GL_BLEND</a:t>
            </a:r>
            <a:r>
              <a:rPr lang="en-US" altLang="ko-KR" sz="1300" dirty="0" smtClean="0">
                <a:solidFill>
                  <a:srgbClr val="000000"/>
                </a:solidFill>
                <a:latin typeface="돋움체"/>
                <a:ea typeface="돋움체"/>
              </a:rPr>
              <a:t>); </a:t>
            </a:r>
            <a:r>
              <a:rPr lang="en-US" altLang="ko-KR" sz="1300" dirty="0" smtClean="0">
                <a:solidFill>
                  <a:srgbClr val="3F7F5F"/>
                </a:solidFill>
                <a:latin typeface="돋움체"/>
                <a:ea typeface="돋움체"/>
              </a:rPr>
              <a:t>//</a:t>
            </a:r>
            <a:r>
              <a:rPr lang="en-US" altLang="ko-KR" sz="1300" dirty="0">
                <a:solidFill>
                  <a:srgbClr val="3F7F5F"/>
                </a:solidFill>
                <a:latin typeface="돋움체"/>
                <a:ea typeface="돋움체"/>
              </a:rPr>
              <a:t>Turn Blending On</a:t>
            </a:r>
          </a:p>
          <a:p>
            <a:r>
              <a:rPr lang="en-US" altLang="ko-KR" sz="13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</a:t>
            </a:r>
            <a:r>
              <a:rPr lang="en-US" altLang="ko-KR" sz="13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gl.glEnable</a:t>
            </a:r>
            <a:r>
              <a:rPr lang="en-US" altLang="ko-KR" sz="13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(GL10.GL_LIGHTING); //</a:t>
            </a:r>
            <a:r>
              <a:rPr lang="en-US" altLang="ko-KR" sz="13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Enable Lighting</a:t>
            </a:r>
          </a:p>
          <a:p>
            <a:r>
              <a:rPr lang="en-US" altLang="ko-KR" sz="13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</a:t>
            </a:r>
            <a:r>
              <a:rPr lang="en-US" altLang="ko-KR" sz="13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gl.glDisable</a:t>
            </a:r>
            <a:r>
              <a:rPr lang="en-US" altLang="ko-KR" sz="13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(GL10.GL_DITHER); //</a:t>
            </a:r>
            <a:r>
              <a:rPr lang="en-US" altLang="ko-KR" sz="13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Disable dithering</a:t>
            </a:r>
          </a:p>
          <a:p>
            <a:r>
              <a:rPr lang="en-US" altLang="ko-KR" sz="13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</a:t>
            </a:r>
            <a:r>
              <a:rPr lang="en-US" altLang="ko-KR" sz="13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gl.glEnable</a:t>
            </a:r>
            <a:r>
              <a:rPr lang="en-US" altLang="ko-KR" sz="13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(GL10.GL_TEXTURE_2D); //</a:t>
            </a:r>
            <a:r>
              <a:rPr lang="en-US" altLang="ko-KR" sz="13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Enable Texture Mapping</a:t>
            </a:r>
          </a:p>
          <a:p>
            <a:r>
              <a:rPr lang="en-US" altLang="ko-KR" sz="13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</a:t>
            </a:r>
            <a:r>
              <a:rPr lang="en-US" altLang="ko-KR" sz="13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gl.glShadeModel</a:t>
            </a:r>
            <a:r>
              <a:rPr lang="en-US" altLang="ko-KR" sz="13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(GL10.GL_SMOOTH</a:t>
            </a:r>
            <a:r>
              <a:rPr lang="en-US" altLang="ko-KR" sz="13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); //Enable Smooth Shading</a:t>
            </a:r>
          </a:p>
          <a:p>
            <a:r>
              <a:rPr lang="en-US" altLang="ko-KR" sz="13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</a:t>
            </a:r>
            <a:r>
              <a:rPr lang="en-US" altLang="ko-KR" sz="13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gl.glClearColor</a:t>
            </a:r>
            <a:r>
              <a:rPr lang="en-US" altLang="ko-KR" sz="13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(0.0f</a:t>
            </a:r>
            <a:r>
              <a:rPr lang="en-US" altLang="ko-KR" sz="13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, 0.0f, 0.0f, 0.5f); //Black Background</a:t>
            </a:r>
          </a:p>
          <a:p>
            <a:r>
              <a:rPr lang="en-US" altLang="ko-KR" sz="13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</a:t>
            </a:r>
            <a:r>
              <a:rPr lang="en-US" altLang="ko-KR" sz="13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gl.glClearDepthf</a:t>
            </a:r>
            <a:r>
              <a:rPr lang="en-US" altLang="ko-KR" sz="13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(1.0f</a:t>
            </a:r>
            <a:r>
              <a:rPr lang="en-US" altLang="ko-KR" sz="13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); //Depth Buffer Setup</a:t>
            </a:r>
          </a:p>
          <a:p>
            <a:r>
              <a:rPr lang="en-US" altLang="ko-KR" sz="1300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300" dirty="0" err="1" smtClean="0">
                <a:solidFill>
                  <a:srgbClr val="000000"/>
                </a:solidFill>
                <a:latin typeface="돋움체"/>
                <a:ea typeface="돋움체"/>
              </a:rPr>
              <a:t>gl.</a:t>
            </a:r>
            <a:r>
              <a:rPr lang="en-US" altLang="ko-KR" sz="1300" b="1" dirty="0" err="1" smtClean="0">
                <a:solidFill>
                  <a:srgbClr val="000000"/>
                </a:solidFill>
                <a:latin typeface="돋움체"/>
                <a:ea typeface="돋움체"/>
              </a:rPr>
              <a:t>glDisable</a:t>
            </a:r>
            <a:r>
              <a:rPr lang="en-US" altLang="ko-KR" sz="1300" dirty="0" smtClean="0">
                <a:solidFill>
                  <a:srgbClr val="000000"/>
                </a:solidFill>
                <a:latin typeface="돋움체"/>
                <a:ea typeface="돋움체"/>
              </a:rPr>
              <a:t>(GL10.</a:t>
            </a:r>
            <a:r>
              <a:rPr lang="en-US" altLang="ko-KR" sz="1300" dirty="0" smtClean="0">
                <a:solidFill>
                  <a:srgbClr val="0000C0"/>
                </a:solidFill>
                <a:latin typeface="돋움체"/>
                <a:ea typeface="돋움체"/>
              </a:rPr>
              <a:t>GL_DEPTH_TEST</a:t>
            </a:r>
            <a:r>
              <a:rPr lang="en-US" altLang="ko-KR" sz="1300" dirty="0">
                <a:solidFill>
                  <a:srgbClr val="000000"/>
                </a:solidFill>
                <a:latin typeface="돋움체"/>
                <a:ea typeface="돋움체"/>
              </a:rPr>
              <a:t>); </a:t>
            </a:r>
            <a:r>
              <a:rPr lang="en-US" altLang="ko-KR" sz="1300" dirty="0" smtClean="0">
                <a:solidFill>
                  <a:srgbClr val="3F7F5F"/>
                </a:solidFill>
                <a:latin typeface="돋움체"/>
                <a:ea typeface="돋움체"/>
              </a:rPr>
              <a:t>//Disables </a:t>
            </a:r>
            <a:r>
              <a:rPr lang="en-US" altLang="ko-KR" sz="1300" dirty="0">
                <a:solidFill>
                  <a:srgbClr val="3F7F5F"/>
                </a:solidFill>
                <a:latin typeface="돋움체"/>
                <a:ea typeface="돋움체"/>
              </a:rPr>
              <a:t>Depth Testing</a:t>
            </a:r>
          </a:p>
          <a:p>
            <a:r>
              <a:rPr lang="en-US" altLang="ko-KR" sz="13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</a:t>
            </a:r>
            <a:r>
              <a:rPr lang="en-US" altLang="ko-KR" sz="13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gl.glDepthFunc</a:t>
            </a:r>
            <a:r>
              <a:rPr lang="en-US" altLang="ko-KR" sz="13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(GL10.GL_LEQUAL</a:t>
            </a:r>
            <a:r>
              <a:rPr lang="en-US" altLang="ko-KR" sz="13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); //The Type Of Depth Testing To Do</a:t>
            </a:r>
          </a:p>
          <a:p>
            <a:endParaRPr lang="ko-KR" altLang="en-US" sz="1300" dirty="0">
              <a:solidFill>
                <a:schemeClr val="tx1">
                  <a:lumMod val="50000"/>
                  <a:lumOff val="50000"/>
                </a:schemeClr>
              </a:solidFill>
              <a:latin typeface="돋움체"/>
              <a:ea typeface="돋움체"/>
            </a:endParaRPr>
          </a:p>
          <a:p>
            <a:r>
              <a:rPr lang="en-US" altLang="ko-KR" sz="13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//</a:t>
            </a:r>
            <a:r>
              <a:rPr lang="en-US" altLang="ko-KR" sz="13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Really Nice Perspective Calculations</a:t>
            </a:r>
          </a:p>
          <a:p>
            <a:r>
              <a:rPr lang="en-US" altLang="ko-KR" sz="13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</a:t>
            </a:r>
            <a:r>
              <a:rPr lang="en-US" altLang="ko-KR" sz="13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gl.glHint</a:t>
            </a:r>
            <a:r>
              <a:rPr lang="en-US" altLang="ko-KR" sz="13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(GL10.GL_PERSPECTIVE_CORRECTION_HINT</a:t>
            </a:r>
            <a:r>
              <a:rPr lang="en-US" altLang="ko-KR" sz="13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, GL10.GL_NICEST); </a:t>
            </a:r>
          </a:p>
          <a:p>
            <a:r>
              <a:rPr lang="en-US" altLang="ko-KR" sz="13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}</a:t>
            </a:r>
            <a:endParaRPr lang="en-US" altLang="ko-KR" sz="1300" dirty="0">
              <a:solidFill>
                <a:schemeClr val="tx1">
                  <a:lumMod val="50000"/>
                  <a:lumOff val="50000"/>
                </a:schemeClr>
              </a:solidFill>
              <a:latin typeface="돋움체"/>
              <a:ea typeface="돋움체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97230" y="1280160"/>
            <a:ext cx="15634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 smtClean="0">
                <a:solidFill>
                  <a:prstClr val="black"/>
                </a:solidFill>
              </a:rPr>
              <a:t>Ex_GLES</a:t>
            </a:r>
            <a:endParaRPr lang="en-US" altLang="ko-KR" b="1" dirty="0" smtClean="0">
              <a:solidFill>
                <a:prstClr val="black"/>
              </a:solidFill>
            </a:endParaRPr>
          </a:p>
          <a:p>
            <a:r>
              <a:rPr lang="en-US" altLang="ko-KR" dirty="0" smtClean="0">
                <a:solidFill>
                  <a:prstClr val="black"/>
                </a:solidFill>
              </a:rPr>
              <a:t>/</a:t>
            </a:r>
            <a:r>
              <a:rPr lang="en-US" altLang="ko-KR" dirty="0" err="1" smtClean="0">
                <a:solidFill>
                  <a:prstClr val="black"/>
                </a:solidFill>
              </a:rPr>
              <a:t>src</a:t>
            </a:r>
            <a:r>
              <a:rPr lang="en-US" altLang="ko-KR" dirty="0" smtClean="0">
                <a:solidFill>
                  <a:prstClr val="black"/>
                </a:solidFill>
              </a:rPr>
              <a:t>/Act1.java</a:t>
            </a:r>
            <a:endParaRPr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03542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79</a:t>
            </a:fld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Texture Image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697230" y="1280160"/>
            <a:ext cx="269516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 smtClean="0">
                <a:solidFill>
                  <a:prstClr val="black"/>
                </a:solidFill>
              </a:rPr>
              <a:t>Ex_GLES</a:t>
            </a:r>
            <a:endParaRPr lang="en-US" altLang="ko-KR" b="1" dirty="0" smtClean="0">
              <a:solidFill>
                <a:prstClr val="black"/>
              </a:solidFill>
            </a:endParaRPr>
          </a:p>
          <a:p>
            <a:r>
              <a:rPr lang="en-US" altLang="ko-KR" dirty="0" smtClean="0">
                <a:solidFill>
                  <a:prstClr val="black"/>
                </a:solidFill>
              </a:rPr>
              <a:t>/res/</a:t>
            </a:r>
            <a:r>
              <a:rPr lang="en-US" altLang="ko-KR" dirty="0" err="1" smtClean="0">
                <a:solidFill>
                  <a:prstClr val="black"/>
                </a:solidFill>
              </a:rPr>
              <a:t>drawable</a:t>
            </a:r>
            <a:r>
              <a:rPr lang="en-US" altLang="ko-KR" dirty="0" smtClean="0">
                <a:solidFill>
                  <a:prstClr val="black"/>
                </a:solidFill>
              </a:rPr>
              <a:t>/glass.png</a:t>
            </a:r>
          </a:p>
          <a:p>
            <a:r>
              <a:rPr lang="en-US" altLang="ko-KR" dirty="0" smtClean="0">
                <a:solidFill>
                  <a:prstClr val="black"/>
                </a:solidFill>
              </a:rPr>
              <a:t>256x256 24bit bitmap</a:t>
            </a:r>
            <a:endParaRPr lang="ko-KR" altLang="en-US" dirty="0">
              <a:solidFill>
                <a:prstClr val="black"/>
              </a:solidFill>
            </a:endParaRPr>
          </a:p>
        </p:txBody>
      </p:sp>
      <p:sp>
        <p:nvSpPr>
          <p:cNvPr id="7" name="가로로 말린 두루마리 모양 6"/>
          <p:cNvSpPr/>
          <p:nvPr/>
        </p:nvSpPr>
        <p:spPr>
          <a:xfrm>
            <a:off x="5383530" y="1706193"/>
            <a:ext cx="3268979" cy="762687"/>
          </a:xfrm>
          <a:prstGeom prst="horizontalScroll">
            <a:avLst>
              <a:gd name="adj" fmla="val 13671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 err="1" smtClean="0"/>
              <a:t>텍스쳐로</a:t>
            </a:r>
            <a:r>
              <a:rPr lang="ko-KR" altLang="en-US" dirty="0" smtClean="0"/>
              <a:t> 사용할 리소스 추가</a:t>
            </a:r>
            <a:endParaRPr lang="ko-KR" altLang="en-US" dirty="0"/>
          </a:p>
        </p:txBody>
      </p:sp>
      <p:pic>
        <p:nvPicPr>
          <p:cNvPr id="4098" name="Picture 2" descr="C:\Users\msKim\Desktop\2016-2 모바일앱프로그래밍 (교재)\drive-download-20161109T111332Z\작업중 (순번 변경)\glass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8261" y="2869872"/>
            <a:ext cx="3240000" cy="32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92468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80</a:t>
            </a:fld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Blending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97230" y="1926491"/>
            <a:ext cx="7353295" cy="89255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3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public </a:t>
            </a:r>
            <a:r>
              <a:rPr lang="en-US" altLang="ko-KR" sz="13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void </a:t>
            </a:r>
            <a:r>
              <a:rPr lang="en-US" altLang="ko-KR" sz="13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makeTexture</a:t>
            </a:r>
            <a:r>
              <a:rPr lang="en-US" altLang="ko-KR" sz="13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(GL10 </a:t>
            </a:r>
            <a:r>
              <a:rPr lang="en-US" altLang="ko-KR" sz="13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gl</a:t>
            </a:r>
            <a:r>
              <a:rPr lang="en-US" altLang="ko-KR" sz="13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, Context context) {</a:t>
            </a:r>
          </a:p>
          <a:p>
            <a:r>
              <a:rPr lang="en-US" altLang="ko-KR" sz="13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    //</a:t>
            </a:r>
            <a:r>
              <a:rPr lang="en-US" altLang="ko-KR" sz="13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Get the texture from the Android resource directory</a:t>
            </a:r>
          </a:p>
          <a:p>
            <a:r>
              <a:rPr lang="en-US" altLang="ko-KR" sz="13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300" dirty="0" err="1" smtClean="0">
                <a:solidFill>
                  <a:srgbClr val="000000"/>
                </a:solidFill>
                <a:latin typeface="돋움체"/>
                <a:ea typeface="돋움체"/>
              </a:rPr>
              <a:t>InputStream</a:t>
            </a:r>
            <a:r>
              <a:rPr lang="en-US" altLang="ko-KR" sz="1300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300" dirty="0">
                <a:solidFill>
                  <a:srgbClr val="000000"/>
                </a:solidFill>
                <a:latin typeface="돋움체"/>
                <a:ea typeface="돋움체"/>
              </a:rPr>
              <a:t>is = </a:t>
            </a:r>
            <a:r>
              <a:rPr lang="en-US" altLang="ko-KR" sz="1300" dirty="0" err="1">
                <a:solidFill>
                  <a:srgbClr val="000000"/>
                </a:solidFill>
                <a:latin typeface="돋움체"/>
                <a:ea typeface="돋움체"/>
              </a:rPr>
              <a:t>context.getResources</a:t>
            </a:r>
            <a:r>
              <a:rPr lang="en-US" altLang="ko-KR" sz="1300" dirty="0">
                <a:solidFill>
                  <a:srgbClr val="000000"/>
                </a:solidFill>
                <a:latin typeface="돋움체"/>
                <a:ea typeface="돋움체"/>
              </a:rPr>
              <a:t>().</a:t>
            </a:r>
            <a:r>
              <a:rPr lang="en-US" altLang="ko-KR" sz="1300" dirty="0" err="1" smtClean="0">
                <a:solidFill>
                  <a:srgbClr val="000000"/>
                </a:solidFill>
                <a:latin typeface="돋움체"/>
                <a:ea typeface="돋움체"/>
              </a:rPr>
              <a:t>openRawResource</a:t>
            </a:r>
            <a:r>
              <a:rPr lang="en-US" altLang="ko-KR" sz="1300" dirty="0" smtClean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300" dirty="0" err="1" smtClean="0">
                <a:solidFill>
                  <a:srgbClr val="000000"/>
                </a:solidFill>
                <a:latin typeface="돋움체"/>
                <a:ea typeface="돋움체"/>
              </a:rPr>
              <a:t>R.drawable.</a:t>
            </a:r>
            <a:r>
              <a:rPr lang="en-US" altLang="ko-KR" sz="1300" u="sng" dirty="0" err="1" smtClean="0">
                <a:solidFill>
                  <a:srgbClr val="0000C0"/>
                </a:solidFill>
                <a:latin typeface="돋움체"/>
                <a:ea typeface="돋움체"/>
              </a:rPr>
              <a:t>glass</a:t>
            </a:r>
            <a:r>
              <a:rPr lang="en-US" altLang="ko-KR" sz="1300" dirty="0" smtClean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  <a:endParaRPr lang="en-US" altLang="ko-KR" sz="1300" dirty="0">
              <a:solidFill>
                <a:srgbClr val="000000"/>
              </a:solidFill>
              <a:latin typeface="돋움체"/>
              <a:ea typeface="돋움체"/>
            </a:endParaRPr>
          </a:p>
          <a:p>
            <a:r>
              <a:rPr lang="en-US" altLang="ko-KR" sz="13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    Bitmap </a:t>
            </a:r>
            <a:r>
              <a:rPr lang="en-US" altLang="ko-KR" sz="13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bitmap</a:t>
            </a:r>
            <a:r>
              <a:rPr lang="en-US" altLang="ko-KR" sz="13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= null</a:t>
            </a:r>
            <a:r>
              <a:rPr lang="en-US" altLang="ko-KR" sz="13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;</a:t>
            </a:r>
            <a:endParaRPr lang="en-US" altLang="ko-KR" sz="1300" dirty="0">
              <a:solidFill>
                <a:schemeClr val="tx1">
                  <a:lumMod val="50000"/>
                  <a:lumOff val="50000"/>
                </a:schemeClr>
              </a:solidFill>
              <a:latin typeface="돋움체"/>
              <a:ea typeface="돋움체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97230" y="1280160"/>
            <a:ext cx="15634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 smtClean="0">
                <a:solidFill>
                  <a:prstClr val="black"/>
                </a:solidFill>
              </a:rPr>
              <a:t>Ex_GLES</a:t>
            </a:r>
            <a:endParaRPr lang="en-US" altLang="ko-KR" b="1" dirty="0" smtClean="0">
              <a:solidFill>
                <a:prstClr val="black"/>
              </a:solidFill>
            </a:endParaRPr>
          </a:p>
          <a:p>
            <a:r>
              <a:rPr lang="en-US" altLang="ko-KR" dirty="0" smtClean="0">
                <a:solidFill>
                  <a:prstClr val="black"/>
                </a:solidFill>
              </a:rPr>
              <a:t>/</a:t>
            </a:r>
            <a:r>
              <a:rPr lang="en-US" altLang="ko-KR" dirty="0" err="1" smtClean="0">
                <a:solidFill>
                  <a:prstClr val="black"/>
                </a:solidFill>
              </a:rPr>
              <a:t>src</a:t>
            </a:r>
            <a:r>
              <a:rPr lang="en-US" altLang="ko-KR" dirty="0" smtClean="0">
                <a:solidFill>
                  <a:prstClr val="black"/>
                </a:solidFill>
              </a:rPr>
              <a:t>/Act1.java</a:t>
            </a:r>
            <a:endParaRPr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70386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81</a:t>
            </a:fld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Blending</a:t>
            </a:r>
            <a:endParaRPr lang="ko-KR" altLang="en-US" dirty="0"/>
          </a:p>
        </p:txBody>
      </p:sp>
      <p:pic>
        <p:nvPicPr>
          <p:cNvPr id="5122" name="Picture 2" descr="C:\Users\msKim\Desktop\2016-2 모바일앱프로그래밍 (교재)\drive-download-20161109T111332Z\작업중 (순번 변경)\Screenshot_1478944521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9321" y="1389840"/>
            <a:ext cx="2835000" cy="50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42584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82</a:t>
            </a:fld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Fog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97230" y="1926491"/>
            <a:ext cx="6442789" cy="400109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class </a:t>
            </a:r>
            <a:r>
              <a:rPr lang="en-US" altLang="ko-KR" sz="1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MyRenderer</a:t>
            </a:r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implements Renderer {</a:t>
            </a:r>
          </a:p>
          <a:p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private float[] </a:t>
            </a:r>
            <a:r>
              <a:rPr lang="en-US" altLang="ko-KR" sz="1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lightAmbient</a:t>
            </a:r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= {0.5f, 0.5f, 0.5f, 1.0f};</a:t>
            </a:r>
          </a:p>
          <a:p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private float[] </a:t>
            </a:r>
            <a:r>
              <a:rPr lang="en-US" altLang="ko-KR" sz="1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lightDiffuse</a:t>
            </a:r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= {1.0f, 1.0f, 1.0f, 1.0f};</a:t>
            </a:r>
          </a:p>
          <a:p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private float[] </a:t>
            </a:r>
            <a:r>
              <a:rPr lang="en-US" altLang="ko-KR" sz="1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lightPosition</a:t>
            </a:r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= {0.0f, 0.0f, 2.0f, 1.0f};</a:t>
            </a:r>
          </a:p>
          <a:p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private </a:t>
            </a:r>
            <a:r>
              <a:rPr lang="en-US" altLang="ko-KR" sz="1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FloatBuffer</a:t>
            </a:r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</a:t>
            </a:r>
            <a:r>
              <a:rPr lang="en-US" altLang="ko-KR" sz="1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lightAmbientBuffer</a:t>
            </a:r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;</a:t>
            </a:r>
          </a:p>
          <a:p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private </a:t>
            </a:r>
            <a:r>
              <a:rPr lang="en-US" altLang="ko-KR" sz="1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FloatBuffer</a:t>
            </a:r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</a:t>
            </a:r>
            <a:r>
              <a:rPr lang="en-US" altLang="ko-KR" sz="1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lightDiffuseBuffer</a:t>
            </a:r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;</a:t>
            </a:r>
          </a:p>
          <a:p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private </a:t>
            </a:r>
            <a:r>
              <a:rPr lang="en-US" altLang="ko-KR" sz="1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FloatBuffer</a:t>
            </a:r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</a:t>
            </a:r>
            <a:r>
              <a:rPr lang="en-US" altLang="ko-KR" sz="1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lightPositionBuffer</a:t>
            </a:r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;</a:t>
            </a:r>
          </a:p>
          <a:p>
            <a:endParaRPr lang="ko-KR" altLang="en-US" sz="1600" dirty="0">
              <a:latin typeface="돋움체"/>
              <a:ea typeface="돋움체"/>
            </a:endParaRPr>
          </a:p>
          <a:p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   </a:t>
            </a:r>
            <a:r>
              <a:rPr lang="en-US" altLang="ko-KR" sz="1600" dirty="0">
                <a:solidFill>
                  <a:srgbClr val="7F0055"/>
                </a:solidFill>
                <a:latin typeface="돋움체"/>
                <a:ea typeface="돋움체"/>
              </a:rPr>
              <a:t>private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600" dirty="0">
                <a:solidFill>
                  <a:srgbClr val="7F0055"/>
                </a:solidFill>
                <a:latin typeface="돋움체"/>
                <a:ea typeface="돋움체"/>
              </a:rPr>
              <a:t>float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[] </a:t>
            </a:r>
            <a:r>
              <a:rPr lang="en-US" altLang="ko-KR" sz="1600" dirty="0" err="1">
                <a:solidFill>
                  <a:srgbClr val="0000C0"/>
                </a:solidFill>
                <a:latin typeface="돋움체"/>
                <a:ea typeface="돋움체"/>
              </a:rPr>
              <a:t>fogColor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= {</a:t>
            </a:r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0.0f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, </a:t>
            </a:r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0.0f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, </a:t>
            </a:r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0.0f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, 1.0f</a:t>
            </a:r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};</a:t>
            </a:r>
            <a:endParaRPr lang="en-US" altLang="ko-KR" sz="1600" dirty="0">
              <a:solidFill>
                <a:srgbClr val="000000"/>
              </a:solidFill>
              <a:latin typeface="돋움체"/>
              <a:ea typeface="돋움체"/>
            </a:endParaRPr>
          </a:p>
          <a:p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   </a:t>
            </a:r>
            <a:r>
              <a:rPr lang="en-US" altLang="ko-KR" sz="1600" dirty="0">
                <a:solidFill>
                  <a:srgbClr val="7F0055"/>
                </a:solidFill>
                <a:latin typeface="돋움체"/>
                <a:ea typeface="돋움체"/>
              </a:rPr>
              <a:t>private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FloatBuffer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600" dirty="0" err="1">
                <a:solidFill>
                  <a:srgbClr val="0000C0"/>
                </a:solidFill>
                <a:latin typeface="돋움체"/>
                <a:ea typeface="돋움체"/>
              </a:rPr>
              <a:t>fogColorBuffer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;</a:t>
            </a:r>
            <a:r>
              <a:rPr lang="en-US" altLang="ko-KR" sz="1600" dirty="0">
                <a:solidFill>
                  <a:srgbClr val="3F7F5F"/>
                </a:solidFill>
                <a:latin typeface="돋움체"/>
                <a:ea typeface="돋움체"/>
              </a:rPr>
              <a:t>//The Fog Color Buffer</a:t>
            </a:r>
          </a:p>
          <a:p>
            <a:endParaRPr lang="ko-KR" altLang="en-US" sz="1600" dirty="0" smtClean="0">
              <a:solidFill>
                <a:schemeClr val="tx1">
                  <a:lumMod val="50000"/>
                  <a:lumOff val="50000"/>
                </a:schemeClr>
              </a:solidFill>
              <a:latin typeface="돋움체"/>
              <a:ea typeface="돋움체"/>
            </a:endParaRPr>
          </a:p>
          <a:p>
            <a:r>
              <a:rPr lang="en-US" altLang="ko-K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</a:t>
            </a:r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private </a:t>
            </a:r>
            <a:r>
              <a:rPr lang="en-US" altLang="ko-KR" sz="1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int</a:t>
            </a:r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[] textures = new </a:t>
            </a:r>
            <a:r>
              <a:rPr lang="en-US" altLang="ko-KR" sz="1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int</a:t>
            </a:r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[1];</a:t>
            </a:r>
          </a:p>
          <a:p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private </a:t>
            </a:r>
            <a:r>
              <a:rPr lang="en-US" altLang="ko-KR" sz="1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TexCube</a:t>
            </a:r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cube;</a:t>
            </a:r>
          </a:p>
          <a:p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private float </a:t>
            </a:r>
            <a:r>
              <a:rPr lang="en-US" altLang="ko-KR" sz="1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rotX</a:t>
            </a:r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;</a:t>
            </a:r>
          </a:p>
          <a:p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private float </a:t>
            </a:r>
            <a:r>
              <a:rPr lang="en-US" altLang="ko-KR" sz="1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rotY</a:t>
            </a:r>
            <a:r>
              <a:rPr lang="en-US" altLang="ko-KR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;</a:t>
            </a:r>
          </a:p>
          <a:p>
            <a:endParaRPr lang="en-US" altLang="ko-KR" sz="1400" dirty="0">
              <a:solidFill>
                <a:schemeClr val="tx1">
                  <a:lumMod val="50000"/>
                  <a:lumOff val="50000"/>
                </a:schemeClr>
              </a:solidFill>
              <a:latin typeface="돋움체"/>
              <a:ea typeface="돋움체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97230" y="1280160"/>
            <a:ext cx="15634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 smtClean="0">
                <a:solidFill>
                  <a:prstClr val="black"/>
                </a:solidFill>
              </a:rPr>
              <a:t>Ex_GLES</a:t>
            </a:r>
            <a:endParaRPr lang="en-US" altLang="ko-KR" b="1" dirty="0" smtClean="0">
              <a:solidFill>
                <a:prstClr val="black"/>
              </a:solidFill>
            </a:endParaRPr>
          </a:p>
          <a:p>
            <a:r>
              <a:rPr lang="en-US" altLang="ko-KR" dirty="0" smtClean="0">
                <a:solidFill>
                  <a:prstClr val="black"/>
                </a:solidFill>
              </a:rPr>
              <a:t>/</a:t>
            </a:r>
            <a:r>
              <a:rPr lang="en-US" altLang="ko-KR" dirty="0" err="1" smtClean="0">
                <a:solidFill>
                  <a:prstClr val="black"/>
                </a:solidFill>
              </a:rPr>
              <a:t>src</a:t>
            </a:r>
            <a:r>
              <a:rPr lang="en-US" altLang="ko-KR" dirty="0" smtClean="0">
                <a:solidFill>
                  <a:prstClr val="black"/>
                </a:solidFill>
              </a:rPr>
              <a:t>/Act1.java</a:t>
            </a:r>
            <a:endParaRPr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54210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83</a:t>
            </a:fld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Fog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97230" y="1926491"/>
            <a:ext cx="6468437" cy="375487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public </a:t>
            </a:r>
            <a:r>
              <a:rPr lang="en-US" altLang="ko-KR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MyRenderer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() {</a:t>
            </a:r>
          </a:p>
          <a:p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…</a:t>
            </a:r>
          </a:p>
          <a:p>
            <a:endParaRPr lang="ko-KR" altLang="en-US" sz="1400" dirty="0" smtClean="0">
              <a:solidFill>
                <a:schemeClr val="tx1">
                  <a:lumMod val="50000"/>
                  <a:lumOff val="50000"/>
                </a:schemeClr>
              </a:solidFill>
              <a:latin typeface="돋움체"/>
              <a:ea typeface="돋움체"/>
            </a:endParaRPr>
          </a:p>
          <a:p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byteBuf</a:t>
            </a:r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= </a:t>
            </a:r>
            <a:r>
              <a:rPr lang="en-US" altLang="ko-KR" sz="14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ByteBuffer.allocateDirect</a:t>
            </a:r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(</a:t>
            </a:r>
            <a:r>
              <a:rPr lang="en-US" altLang="ko-KR" sz="14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lightPosition.length</a:t>
            </a:r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* 4);</a:t>
            </a:r>
          </a:p>
          <a:p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byteBuf.order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(</a:t>
            </a:r>
            <a:r>
              <a:rPr lang="en-US" altLang="ko-KR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ByteOrder.nativeOrder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());</a:t>
            </a:r>
          </a:p>
          <a:p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lightPositionBuffer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= </a:t>
            </a:r>
            <a:r>
              <a:rPr lang="en-US" altLang="ko-KR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byteBuf.asFloatBuffer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();</a:t>
            </a:r>
          </a:p>
          <a:p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lightPositionBuffer.put</a:t>
            </a:r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(</a:t>
            </a:r>
            <a:r>
              <a:rPr lang="en-US" altLang="ko-KR" sz="14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lightPosition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lightPositionBuffer.position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(0);</a:t>
            </a:r>
          </a:p>
          <a:p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</a:t>
            </a:r>
          </a:p>
          <a:p>
            <a:r>
              <a:rPr lang="ko-KR" altLang="en-US" sz="14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byteBuf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=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ByteBuffer.allocateDirect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400" dirty="0" err="1">
                <a:solidFill>
                  <a:srgbClr val="0000C0"/>
                </a:solidFill>
                <a:latin typeface="돋움체"/>
                <a:ea typeface="돋움체"/>
              </a:rPr>
              <a:t>fogColor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.</a:t>
            </a:r>
            <a:r>
              <a:rPr lang="en-US" altLang="ko-KR" sz="1400" dirty="0" err="1">
                <a:solidFill>
                  <a:srgbClr val="0000C0"/>
                </a:solidFill>
                <a:latin typeface="돋움체"/>
                <a:ea typeface="돋움체"/>
              </a:rPr>
              <a:t>length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* 4);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byteBuf.order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ByteOrder.nativeOrder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());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 err="1">
                <a:solidFill>
                  <a:srgbClr val="0000C0"/>
                </a:solidFill>
                <a:latin typeface="돋움체"/>
                <a:ea typeface="돋움체"/>
              </a:rPr>
              <a:t>fogColorBuffer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= 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byteBuf.asFloatBuffer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();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 err="1">
                <a:solidFill>
                  <a:srgbClr val="0000C0"/>
                </a:solidFill>
                <a:latin typeface="돋움체"/>
                <a:ea typeface="돋움체"/>
              </a:rPr>
              <a:t>fogColorBuffer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.put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400" dirty="0" err="1">
                <a:solidFill>
                  <a:srgbClr val="0000C0"/>
                </a:solidFill>
                <a:latin typeface="돋움체"/>
                <a:ea typeface="돋움체"/>
              </a:rPr>
              <a:t>fogColor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 err="1">
                <a:solidFill>
                  <a:srgbClr val="0000C0"/>
                </a:solidFill>
                <a:latin typeface="돋움체"/>
                <a:ea typeface="돋움체"/>
              </a:rPr>
              <a:t>fogColorBuffer</a:t>
            </a:r>
            <a:r>
              <a:rPr lang="en-US" altLang="ko-KR" sz="1400" dirty="0" err="1">
                <a:solidFill>
                  <a:srgbClr val="000000"/>
                </a:solidFill>
                <a:latin typeface="돋움체"/>
                <a:ea typeface="돋움체"/>
              </a:rPr>
              <a:t>.position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(0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endParaRPr lang="ko-KR" altLang="en-US" sz="1400" dirty="0" smtClean="0">
              <a:solidFill>
                <a:schemeClr val="tx1">
                  <a:lumMod val="50000"/>
                  <a:lumOff val="50000"/>
                </a:schemeClr>
              </a:solidFill>
              <a:latin typeface="돋움체"/>
              <a:ea typeface="돋움체"/>
            </a:endParaRPr>
          </a:p>
          <a:p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cube = new </a:t>
            </a:r>
            <a:r>
              <a:rPr lang="en-US" altLang="ko-KR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TexCube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();</a:t>
            </a:r>
          </a:p>
          <a:p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}</a:t>
            </a:r>
            <a:endParaRPr lang="en-US" altLang="ko-KR" sz="1200" dirty="0">
              <a:solidFill>
                <a:schemeClr val="tx1">
                  <a:lumMod val="50000"/>
                  <a:lumOff val="50000"/>
                </a:schemeClr>
              </a:solidFill>
              <a:latin typeface="돋움체"/>
              <a:ea typeface="돋움체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97230" y="1280160"/>
            <a:ext cx="15634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 smtClean="0">
                <a:solidFill>
                  <a:prstClr val="black"/>
                </a:solidFill>
              </a:rPr>
              <a:t>Ex_GLES</a:t>
            </a:r>
            <a:endParaRPr lang="en-US" altLang="ko-KR" b="1" dirty="0" smtClean="0">
              <a:solidFill>
                <a:prstClr val="black"/>
              </a:solidFill>
            </a:endParaRPr>
          </a:p>
          <a:p>
            <a:r>
              <a:rPr lang="en-US" altLang="ko-KR" dirty="0" smtClean="0">
                <a:solidFill>
                  <a:prstClr val="black"/>
                </a:solidFill>
              </a:rPr>
              <a:t>/</a:t>
            </a:r>
            <a:r>
              <a:rPr lang="en-US" altLang="ko-KR" dirty="0" err="1" smtClean="0">
                <a:solidFill>
                  <a:prstClr val="black"/>
                </a:solidFill>
              </a:rPr>
              <a:t>src</a:t>
            </a:r>
            <a:r>
              <a:rPr lang="en-US" altLang="ko-KR" dirty="0" smtClean="0">
                <a:solidFill>
                  <a:prstClr val="black"/>
                </a:solidFill>
              </a:rPr>
              <a:t>/Act1.java</a:t>
            </a:r>
            <a:endParaRPr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17943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84</a:t>
            </a:fld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Fog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97230" y="1926491"/>
            <a:ext cx="7904728" cy="483209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public 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void </a:t>
            </a:r>
            <a:r>
              <a:rPr lang="en-US" altLang="ko-KR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onSurfaceCreated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(GL10 </a:t>
            </a:r>
            <a:r>
              <a:rPr lang="en-US" altLang="ko-KR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gl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, </a:t>
            </a:r>
            <a:r>
              <a:rPr lang="en-US" altLang="ko-KR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EGLConfig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config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) {</a:t>
            </a:r>
          </a:p>
          <a:p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…</a:t>
            </a:r>
            <a:endParaRPr lang="en-US" altLang="ko-KR" sz="1400" dirty="0">
              <a:solidFill>
                <a:schemeClr val="tx1">
                  <a:lumMod val="50000"/>
                  <a:lumOff val="50000"/>
                </a:schemeClr>
              </a:solidFill>
              <a:latin typeface="돋움체"/>
              <a:ea typeface="돋움체"/>
            </a:endParaRPr>
          </a:p>
          <a:p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gl.glEnable</a:t>
            </a:r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(GL10.GL_LIGHT0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);//Enable Light 0</a:t>
            </a:r>
          </a:p>
          <a:p>
            <a:endParaRPr lang="ko-KR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돋움체"/>
              <a:ea typeface="돋움체"/>
            </a:endParaRPr>
          </a:p>
          <a:p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//Settings</a:t>
            </a:r>
          </a:p>
          <a:p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…</a:t>
            </a:r>
            <a:endParaRPr lang="en-US" altLang="ko-KR" sz="1400" dirty="0">
              <a:solidFill>
                <a:schemeClr val="tx1">
                  <a:lumMod val="50000"/>
                  <a:lumOff val="50000"/>
                </a:schemeClr>
              </a:solidFill>
              <a:latin typeface="돋움체"/>
              <a:ea typeface="돋움체"/>
            </a:endParaRP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 err="1" smtClean="0">
                <a:solidFill>
                  <a:srgbClr val="000000"/>
                </a:solidFill>
                <a:latin typeface="돋움체"/>
                <a:ea typeface="돋움체"/>
              </a:rPr>
              <a:t>gl.glClearColor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(0.5f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, 0.5f, 0.5f, 1.0f); </a:t>
            </a:r>
            <a:r>
              <a:rPr lang="en-US" altLang="ko-KR" sz="1400" dirty="0">
                <a:solidFill>
                  <a:srgbClr val="3F7F5F"/>
                </a:solidFill>
                <a:latin typeface="돋움체"/>
                <a:ea typeface="돋움체"/>
              </a:rPr>
              <a:t>//We'll Clear To The Color Of The Fog</a:t>
            </a:r>
          </a:p>
          <a:p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gl.glClearDepthf</a:t>
            </a:r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(1.0f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); //Depth Buffer Setup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 err="1" smtClean="0">
                <a:solidFill>
                  <a:srgbClr val="000000"/>
                </a:solidFill>
                <a:latin typeface="돋움체"/>
                <a:ea typeface="돋움체"/>
              </a:rPr>
              <a:t>gl.glEnable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(GL10.</a:t>
            </a:r>
            <a:r>
              <a:rPr lang="en-US" altLang="ko-KR" sz="1400" dirty="0" smtClean="0">
                <a:solidFill>
                  <a:srgbClr val="0000C0"/>
                </a:solidFill>
                <a:latin typeface="돋움체"/>
                <a:ea typeface="돋움체"/>
              </a:rPr>
              <a:t>GL_DEPTH_TEST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); </a:t>
            </a:r>
            <a:r>
              <a:rPr lang="en-US" altLang="ko-KR" sz="1400" dirty="0">
                <a:solidFill>
                  <a:srgbClr val="3F7F5F"/>
                </a:solidFill>
                <a:latin typeface="돋움체"/>
                <a:ea typeface="돋움체"/>
              </a:rPr>
              <a:t>//Enables Depth Testing</a:t>
            </a:r>
          </a:p>
          <a:p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gl.glDepthFunc</a:t>
            </a:r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(GL10.GL_LEQUAL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); //The Type Of Depth Testing To Do</a:t>
            </a:r>
          </a:p>
          <a:p>
            <a:endParaRPr lang="ko-KR" altLang="en-US" sz="1400" dirty="0">
              <a:latin typeface="돋움체"/>
              <a:ea typeface="돋움체"/>
            </a:endParaRPr>
          </a:p>
          <a:p>
            <a:r>
              <a:rPr lang="en-US" altLang="ko-KR" sz="1400" dirty="0" smtClean="0">
                <a:solidFill>
                  <a:srgbClr val="3F7F5F"/>
                </a:solidFill>
                <a:latin typeface="돋움체"/>
                <a:ea typeface="돋움체"/>
              </a:rPr>
              <a:t>        //</a:t>
            </a:r>
            <a:r>
              <a:rPr lang="en-US" altLang="ko-KR" sz="1400" dirty="0">
                <a:solidFill>
                  <a:srgbClr val="3F7F5F"/>
                </a:solidFill>
                <a:latin typeface="돋움체"/>
                <a:ea typeface="돋움체"/>
              </a:rPr>
              <a:t>The Fog/The Mist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 err="1" smtClean="0">
                <a:solidFill>
                  <a:srgbClr val="000000"/>
                </a:solidFill>
                <a:latin typeface="돋움체"/>
                <a:ea typeface="돋움체"/>
              </a:rPr>
              <a:t>gl.</a:t>
            </a:r>
            <a:r>
              <a:rPr lang="en-US" altLang="ko-KR" sz="1400" b="1" dirty="0" err="1" smtClean="0">
                <a:solidFill>
                  <a:srgbClr val="000000"/>
                </a:solidFill>
                <a:latin typeface="돋움체"/>
                <a:ea typeface="돋움체"/>
              </a:rPr>
              <a:t>glFogf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(GL10.</a:t>
            </a:r>
            <a:r>
              <a:rPr lang="en-US" altLang="ko-KR" sz="1400" b="1" dirty="0" smtClean="0">
                <a:solidFill>
                  <a:srgbClr val="0000C0"/>
                </a:solidFill>
                <a:latin typeface="돋움체"/>
                <a:ea typeface="돋움체"/>
              </a:rPr>
              <a:t>GL_FOG_MODE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, GL10.</a:t>
            </a:r>
            <a:r>
              <a:rPr lang="en-US" altLang="ko-KR" sz="1400" b="1" dirty="0">
                <a:solidFill>
                  <a:srgbClr val="0000C0"/>
                </a:solidFill>
                <a:latin typeface="돋움체"/>
                <a:ea typeface="돋움체"/>
              </a:rPr>
              <a:t>GL_EXP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  <a:r>
              <a:rPr lang="en-US" altLang="ko-KR" sz="1400" dirty="0">
                <a:solidFill>
                  <a:srgbClr val="3F7F5F"/>
                </a:solidFill>
                <a:latin typeface="돋움체"/>
                <a:ea typeface="돋움체"/>
              </a:rPr>
              <a:t>//Fog </a:t>
            </a:r>
            <a:r>
              <a:rPr lang="en-US" altLang="ko-KR" sz="1400" dirty="0" smtClean="0">
                <a:solidFill>
                  <a:srgbClr val="3F7F5F"/>
                </a:solidFill>
                <a:latin typeface="돋움체"/>
                <a:ea typeface="돋움체"/>
              </a:rPr>
              <a:t>Mode. GL_LINEAR</a:t>
            </a:r>
            <a:r>
              <a:rPr lang="en-US" altLang="ko-KR" sz="1400" dirty="0">
                <a:solidFill>
                  <a:srgbClr val="3F7F5F"/>
                </a:solidFill>
                <a:latin typeface="돋움체"/>
                <a:ea typeface="돋움체"/>
              </a:rPr>
              <a:t>, GL_EXP, </a:t>
            </a:r>
            <a:r>
              <a:rPr lang="en-US" altLang="ko-KR" sz="1400" dirty="0" smtClean="0">
                <a:solidFill>
                  <a:srgbClr val="3F7F5F"/>
                </a:solidFill>
                <a:latin typeface="돋움체"/>
                <a:ea typeface="돋움체"/>
              </a:rPr>
              <a:t>GL_EXP2</a:t>
            </a:r>
            <a:endParaRPr lang="en-US" altLang="ko-KR" sz="1400" dirty="0">
              <a:solidFill>
                <a:srgbClr val="3F7F5F"/>
              </a:solidFill>
              <a:latin typeface="돋움체"/>
              <a:ea typeface="돋움체"/>
            </a:endParaRP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 err="1" smtClean="0">
                <a:solidFill>
                  <a:srgbClr val="000000"/>
                </a:solidFill>
                <a:latin typeface="돋움체"/>
                <a:ea typeface="돋움체"/>
              </a:rPr>
              <a:t>gl.</a:t>
            </a:r>
            <a:r>
              <a:rPr lang="en-US" altLang="ko-KR" sz="1400" b="1" dirty="0" err="1" smtClean="0">
                <a:solidFill>
                  <a:srgbClr val="000000"/>
                </a:solidFill>
                <a:latin typeface="돋움체"/>
                <a:ea typeface="돋움체"/>
              </a:rPr>
              <a:t>glFogfv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(GL10.</a:t>
            </a:r>
            <a:r>
              <a:rPr lang="en-US" altLang="ko-KR" sz="1400" dirty="0" smtClean="0">
                <a:solidFill>
                  <a:srgbClr val="0000C0"/>
                </a:solidFill>
                <a:latin typeface="돋움체"/>
                <a:ea typeface="돋움체"/>
              </a:rPr>
              <a:t>GL_FOG_COLOR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, </a:t>
            </a:r>
            <a:r>
              <a:rPr lang="en-US" altLang="ko-KR" sz="1400" dirty="0" err="1">
                <a:solidFill>
                  <a:srgbClr val="0000C0"/>
                </a:solidFill>
                <a:latin typeface="돋움체"/>
                <a:ea typeface="돋움체"/>
              </a:rPr>
              <a:t>fogColorBuffer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  <a:r>
              <a:rPr lang="en-US" altLang="ko-KR" sz="1400" dirty="0">
                <a:solidFill>
                  <a:srgbClr val="3F7F5F"/>
                </a:solidFill>
                <a:latin typeface="돋움체"/>
                <a:ea typeface="돋움체"/>
              </a:rPr>
              <a:t>//Set Fog Color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 err="1" smtClean="0">
                <a:solidFill>
                  <a:srgbClr val="000000"/>
                </a:solidFill>
                <a:latin typeface="돋움체"/>
                <a:ea typeface="돋움체"/>
              </a:rPr>
              <a:t>gl.</a:t>
            </a:r>
            <a:r>
              <a:rPr lang="en-US" altLang="ko-KR" sz="1400" b="1" dirty="0" err="1" smtClean="0">
                <a:solidFill>
                  <a:srgbClr val="000000"/>
                </a:solidFill>
                <a:latin typeface="돋움체"/>
                <a:ea typeface="돋움체"/>
              </a:rPr>
              <a:t>glFogf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(GL10.</a:t>
            </a:r>
            <a:r>
              <a:rPr lang="en-US" altLang="ko-KR" sz="1400" dirty="0" smtClean="0">
                <a:solidFill>
                  <a:srgbClr val="0000C0"/>
                </a:solidFill>
                <a:latin typeface="돋움체"/>
                <a:ea typeface="돋움체"/>
              </a:rPr>
              <a:t>GL_FOG_DENSITY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, 0.35f);</a:t>
            </a:r>
            <a:r>
              <a:rPr lang="en-US" altLang="ko-KR" sz="1400" dirty="0">
                <a:solidFill>
                  <a:srgbClr val="3F7F5F"/>
                </a:solidFill>
                <a:latin typeface="돋움체"/>
                <a:ea typeface="돋움체"/>
              </a:rPr>
              <a:t>//How Dense Will The Fog Be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 err="1" smtClean="0">
                <a:solidFill>
                  <a:srgbClr val="000000"/>
                </a:solidFill>
                <a:latin typeface="돋움체"/>
                <a:ea typeface="돋움체"/>
              </a:rPr>
              <a:t>gl.glHint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(GL10.</a:t>
            </a:r>
            <a:r>
              <a:rPr lang="en-US" altLang="ko-KR" sz="1400" dirty="0" smtClean="0">
                <a:solidFill>
                  <a:srgbClr val="0000C0"/>
                </a:solidFill>
                <a:latin typeface="돋움체"/>
                <a:ea typeface="돋움체"/>
              </a:rPr>
              <a:t>GL_FOG_HINT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, GL10.</a:t>
            </a:r>
            <a:r>
              <a:rPr lang="en-US" altLang="ko-KR" sz="1400" dirty="0">
                <a:solidFill>
                  <a:srgbClr val="0000C0"/>
                </a:solidFill>
                <a:latin typeface="돋움체"/>
                <a:ea typeface="돋움체"/>
              </a:rPr>
              <a:t>GL_DONT_CARE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  <a:r>
              <a:rPr lang="en-US" altLang="ko-KR" sz="1400" dirty="0">
                <a:solidFill>
                  <a:srgbClr val="3F7F5F"/>
                </a:solidFill>
                <a:latin typeface="돋움체"/>
                <a:ea typeface="돋움체"/>
              </a:rPr>
              <a:t>//Fog Hint Value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 err="1" smtClean="0">
                <a:solidFill>
                  <a:srgbClr val="000000"/>
                </a:solidFill>
                <a:latin typeface="돋움체"/>
                <a:ea typeface="돋움체"/>
              </a:rPr>
              <a:t>gl.</a:t>
            </a:r>
            <a:r>
              <a:rPr lang="en-US" altLang="ko-KR" sz="1400" b="1" dirty="0" err="1" smtClean="0">
                <a:solidFill>
                  <a:srgbClr val="000000"/>
                </a:solidFill>
                <a:latin typeface="돋움체"/>
                <a:ea typeface="돋움체"/>
              </a:rPr>
              <a:t>glFogf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(GL10.</a:t>
            </a:r>
            <a:r>
              <a:rPr lang="en-US" altLang="ko-KR" sz="1400" dirty="0" smtClean="0">
                <a:solidFill>
                  <a:srgbClr val="0000C0"/>
                </a:solidFill>
                <a:latin typeface="돋움체"/>
                <a:ea typeface="돋움체"/>
              </a:rPr>
              <a:t>GL_FOG_START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, 1.0f);</a:t>
            </a:r>
            <a:r>
              <a:rPr lang="en-US" altLang="ko-KR" sz="1400" dirty="0">
                <a:solidFill>
                  <a:srgbClr val="3F7F5F"/>
                </a:solidFill>
                <a:latin typeface="돋움체"/>
                <a:ea typeface="돋움체"/>
              </a:rPr>
              <a:t>//Fog Start Depth</a:t>
            </a:r>
          </a:p>
          <a:p>
            <a:r>
              <a:rPr lang="da-DK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gl.</a:t>
            </a:r>
            <a:r>
              <a:rPr lang="da-DK" altLang="ko-KR" sz="1400" b="1" dirty="0" smtClean="0">
                <a:solidFill>
                  <a:srgbClr val="000000"/>
                </a:solidFill>
                <a:latin typeface="돋움체"/>
                <a:ea typeface="돋움체"/>
              </a:rPr>
              <a:t>glFogf</a:t>
            </a:r>
            <a:r>
              <a:rPr lang="da-DK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(GL10.</a:t>
            </a:r>
            <a:r>
              <a:rPr lang="da-DK" altLang="ko-KR" sz="1400" dirty="0" smtClean="0">
                <a:solidFill>
                  <a:srgbClr val="0000C0"/>
                </a:solidFill>
                <a:latin typeface="돋움체"/>
                <a:ea typeface="돋움체"/>
              </a:rPr>
              <a:t>GL_FOG_END</a:t>
            </a:r>
            <a:r>
              <a:rPr lang="da-DK" altLang="ko-KR" sz="1400" dirty="0">
                <a:solidFill>
                  <a:srgbClr val="000000"/>
                </a:solidFill>
                <a:latin typeface="돋움체"/>
                <a:ea typeface="돋움체"/>
              </a:rPr>
              <a:t>, 5.0f);</a:t>
            </a:r>
            <a:r>
              <a:rPr lang="da-DK" altLang="ko-KR" sz="1400" dirty="0">
                <a:solidFill>
                  <a:srgbClr val="3F7F5F"/>
                </a:solidFill>
                <a:latin typeface="돋움체"/>
                <a:ea typeface="돋움체"/>
              </a:rPr>
              <a:t>//Fog End Depth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 err="1" smtClean="0">
                <a:solidFill>
                  <a:srgbClr val="000000"/>
                </a:solidFill>
                <a:latin typeface="돋움체"/>
                <a:ea typeface="돋움체"/>
              </a:rPr>
              <a:t>gl.</a:t>
            </a:r>
            <a:r>
              <a:rPr lang="en-US" altLang="ko-KR" sz="1400" b="1" dirty="0" err="1" smtClean="0">
                <a:solidFill>
                  <a:srgbClr val="000000"/>
                </a:solidFill>
                <a:latin typeface="돋움체"/>
                <a:ea typeface="돋움체"/>
              </a:rPr>
              <a:t>glEnable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(GL10.</a:t>
            </a:r>
            <a:r>
              <a:rPr lang="en-US" altLang="ko-KR" sz="1400" b="1" dirty="0" smtClean="0">
                <a:solidFill>
                  <a:srgbClr val="0000C0"/>
                </a:solidFill>
                <a:latin typeface="돋움체"/>
                <a:ea typeface="돋움체"/>
              </a:rPr>
              <a:t>GL_FOG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  <a:r>
              <a:rPr lang="en-US" altLang="ko-KR" sz="1400" dirty="0">
                <a:solidFill>
                  <a:srgbClr val="3F7F5F"/>
                </a:solidFill>
                <a:latin typeface="돋움체"/>
                <a:ea typeface="돋움체"/>
              </a:rPr>
              <a:t>//Enables GL_FOG</a:t>
            </a:r>
          </a:p>
          <a:p>
            <a:endParaRPr lang="en-US" altLang="ko-KR" sz="1400" dirty="0" smtClean="0">
              <a:solidFill>
                <a:schemeClr val="tx1">
                  <a:lumMod val="50000"/>
                  <a:lumOff val="50000"/>
                </a:schemeClr>
              </a:solidFill>
              <a:latin typeface="돋움체"/>
              <a:ea typeface="돋움체"/>
            </a:endParaRPr>
          </a:p>
          <a:p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   …</a:t>
            </a:r>
            <a:endParaRPr lang="ko-KR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돋움체"/>
              <a:ea typeface="돋움체"/>
            </a:endParaRPr>
          </a:p>
          <a:p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돋움체"/>
                <a:ea typeface="돋움체"/>
              </a:rPr>
              <a:t>    }</a:t>
            </a:r>
            <a:endParaRPr lang="en-US" altLang="ko-KR" sz="1400" dirty="0">
              <a:solidFill>
                <a:schemeClr val="tx1">
                  <a:lumMod val="50000"/>
                  <a:lumOff val="50000"/>
                </a:schemeClr>
              </a:solidFill>
              <a:latin typeface="돋움체"/>
              <a:ea typeface="돋움체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97230" y="1280160"/>
            <a:ext cx="15634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 smtClean="0">
                <a:solidFill>
                  <a:prstClr val="black"/>
                </a:solidFill>
              </a:rPr>
              <a:t>Ex_GLES</a:t>
            </a:r>
            <a:endParaRPr lang="en-US" altLang="ko-KR" b="1" dirty="0" smtClean="0">
              <a:solidFill>
                <a:prstClr val="black"/>
              </a:solidFill>
            </a:endParaRPr>
          </a:p>
          <a:p>
            <a:r>
              <a:rPr lang="en-US" altLang="ko-KR" dirty="0" smtClean="0">
                <a:solidFill>
                  <a:prstClr val="black"/>
                </a:solidFill>
              </a:rPr>
              <a:t>/</a:t>
            </a:r>
            <a:r>
              <a:rPr lang="en-US" altLang="ko-KR" dirty="0" err="1" smtClean="0">
                <a:solidFill>
                  <a:prstClr val="black"/>
                </a:solidFill>
              </a:rPr>
              <a:t>src</a:t>
            </a:r>
            <a:r>
              <a:rPr lang="en-US" altLang="ko-KR" dirty="0" smtClean="0">
                <a:solidFill>
                  <a:prstClr val="black"/>
                </a:solidFill>
              </a:rPr>
              <a:t>/Act1.java</a:t>
            </a:r>
            <a:endParaRPr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8883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85</a:t>
            </a:fld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Fog</a:t>
            </a:r>
            <a:endParaRPr lang="ko-KR" altLang="en-US" dirty="0"/>
          </a:p>
        </p:txBody>
      </p:sp>
      <p:pic>
        <p:nvPicPr>
          <p:cNvPr id="6146" name="Picture 2" descr="C:\Users\msKim\Desktop\2016-2 모바일앱프로그래밍 (교재)\drive-download-20161109T111332Z\작업중 (순번 변경)\Screenshot_1478948848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0412" y="1309737"/>
            <a:ext cx="2835000" cy="50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109598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86</a:t>
            </a:fld>
            <a:endParaRPr lang="ko-KR" altLang="en-US"/>
          </a:p>
        </p:txBody>
      </p:sp>
      <p:pic>
        <p:nvPicPr>
          <p:cNvPr id="6146" name="Picture 2" descr="http://www.smartnbiz.co.kr/biz/userfiles/2011/2011-01-27/1292946066_android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6189" y="651914"/>
            <a:ext cx="6832878" cy="5633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048644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xecutive">
  <a:themeElements>
    <a:clrScheme name="Executive">
      <a:dk1>
        <a:sysClr val="windowText" lastClr="000000"/>
      </a:dk1>
      <a:lt1>
        <a:sysClr val="window" lastClr="FFFFFF"/>
      </a:lt1>
      <a:dk2>
        <a:srgbClr val="2F5897"/>
      </a:dk2>
      <a:lt2>
        <a:srgbClr val="E4E9EF"/>
      </a:lt2>
      <a:accent1>
        <a:srgbClr val="6076B4"/>
      </a:accent1>
      <a:accent2>
        <a:srgbClr val="9C5252"/>
      </a:accent2>
      <a:accent3>
        <a:srgbClr val="E68422"/>
      </a:accent3>
      <a:accent4>
        <a:srgbClr val="846648"/>
      </a:accent4>
      <a:accent5>
        <a:srgbClr val="63891F"/>
      </a:accent5>
      <a:accent6>
        <a:srgbClr val="758085"/>
      </a:accent6>
      <a:hlink>
        <a:srgbClr val="3399FF"/>
      </a:hlink>
      <a:folHlink>
        <a:srgbClr val="B2B2B2"/>
      </a:folHlink>
    </a:clrScheme>
    <a:fontScheme name="Executive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xecutiv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50000">
              <a:schemeClr val="phClr">
                <a:tint val="80000"/>
                <a:satMod val="250000"/>
              </a:schemeClr>
            </a:gs>
            <a:gs pos="76000">
              <a:schemeClr val="phClr">
                <a:tint val="90000"/>
                <a:shade val="90000"/>
                <a:satMod val="200000"/>
              </a:schemeClr>
            </a:gs>
            <a:gs pos="92000">
              <a:schemeClr val="phClr">
                <a:tint val="90000"/>
                <a:shade val="70000"/>
                <a:satMod val="250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Executive</Template>
  <TotalTime>43271</TotalTime>
  <Words>6380</Words>
  <Application>Microsoft Office PowerPoint</Application>
  <PresentationFormat>화면 슬라이드 쇼(4:3)</PresentationFormat>
  <Paragraphs>1421</Paragraphs>
  <Slides>86</Slides>
  <Notes>86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86</vt:i4>
      </vt:variant>
    </vt:vector>
  </HeadingPairs>
  <TitlesOfParts>
    <vt:vector size="96" baseType="lpstr">
      <vt:lpstr>HY중고딕</vt:lpstr>
      <vt:lpstr>돋움체</vt:lpstr>
      <vt:lpstr>맑은 고딕</vt:lpstr>
      <vt:lpstr>Arial</vt:lpstr>
      <vt:lpstr>Calibri</vt:lpstr>
      <vt:lpstr>Century Gothic</vt:lpstr>
      <vt:lpstr>Courier New</vt:lpstr>
      <vt:lpstr>Palatino Linotype</vt:lpstr>
      <vt:lpstr>Times New Roman</vt:lpstr>
      <vt:lpstr>Executive</vt:lpstr>
      <vt:lpstr>3차원 그래픽</vt:lpstr>
      <vt:lpstr>3D Graphics</vt:lpstr>
      <vt:lpstr>Coordinate System</vt:lpstr>
      <vt:lpstr>Vertex &amp; Polygon</vt:lpstr>
      <vt:lpstr>Light</vt:lpstr>
      <vt:lpstr>Shading</vt:lpstr>
      <vt:lpstr>Material</vt:lpstr>
      <vt:lpstr>Modeling</vt:lpstr>
      <vt:lpstr>Rendering</vt:lpstr>
      <vt:lpstr>OpenGL</vt:lpstr>
      <vt:lpstr>OpenGL의 역사</vt:lpstr>
      <vt:lpstr>OpenGL의 역사</vt:lpstr>
      <vt:lpstr>OpenGL의 역사</vt:lpstr>
      <vt:lpstr>OpenGL의 특징</vt:lpstr>
      <vt:lpstr>OpenGL의 특징</vt:lpstr>
      <vt:lpstr>OpenGL ES</vt:lpstr>
      <vt:lpstr>OpenGL ES</vt:lpstr>
      <vt:lpstr>OpenGL ES</vt:lpstr>
      <vt:lpstr>OpenGL ES</vt:lpstr>
      <vt:lpstr>OpenGL과 ES의 차이</vt:lpstr>
      <vt:lpstr>OpenGL과 ES의 차이</vt:lpstr>
      <vt:lpstr>OpenGL과 ES의 차이</vt:lpstr>
      <vt:lpstr>OpenGL ES 1.1 to 3.2</vt:lpstr>
      <vt:lpstr>OpenGL ES 1.1</vt:lpstr>
      <vt:lpstr>Example #11_1</vt:lpstr>
      <vt:lpstr>New Project</vt:lpstr>
      <vt:lpstr>GLSurfaceView</vt:lpstr>
      <vt:lpstr>GLSurfaceView</vt:lpstr>
      <vt:lpstr>Renderer</vt:lpstr>
      <vt:lpstr>Renderer</vt:lpstr>
      <vt:lpstr>Renderer</vt:lpstr>
      <vt:lpstr>Renderer</vt:lpstr>
      <vt:lpstr>OpenGL ES: Triangle</vt:lpstr>
      <vt:lpstr>Renderer</vt:lpstr>
      <vt:lpstr>OpenGL ES: Rectangle</vt:lpstr>
      <vt:lpstr>Renderer</vt:lpstr>
      <vt:lpstr>OpenGL ES: Rectangle</vt:lpstr>
      <vt:lpstr>Renderer</vt:lpstr>
      <vt:lpstr>Renderer</vt:lpstr>
      <vt:lpstr>Renderer</vt:lpstr>
      <vt:lpstr>OpenGL ES: Coloring</vt:lpstr>
      <vt:lpstr>Example #11_2</vt:lpstr>
      <vt:lpstr>Obj class</vt:lpstr>
      <vt:lpstr>Obj class</vt:lpstr>
      <vt:lpstr>Tri class</vt:lpstr>
      <vt:lpstr>Tri class</vt:lpstr>
      <vt:lpstr>Rect class</vt:lpstr>
      <vt:lpstr>Rect class</vt:lpstr>
      <vt:lpstr>Triangle &amp; Rectangle</vt:lpstr>
      <vt:lpstr>Triangle &amp; Rectangle</vt:lpstr>
      <vt:lpstr>Translate &amp; Rotate</vt:lpstr>
      <vt:lpstr>Translate &amp; Rotate</vt:lpstr>
      <vt:lpstr>Example #11_3</vt:lpstr>
      <vt:lpstr>Obj class</vt:lpstr>
      <vt:lpstr>Obj class</vt:lpstr>
      <vt:lpstr>Obj class</vt:lpstr>
      <vt:lpstr>Cube class</vt:lpstr>
      <vt:lpstr>Cube class</vt:lpstr>
      <vt:lpstr>Cube class</vt:lpstr>
      <vt:lpstr>Cube</vt:lpstr>
      <vt:lpstr>Moving Cube</vt:lpstr>
      <vt:lpstr>Example #11_4</vt:lpstr>
      <vt:lpstr>Obj class</vt:lpstr>
      <vt:lpstr>Obj class</vt:lpstr>
      <vt:lpstr>TexCube class</vt:lpstr>
      <vt:lpstr>TexCube class</vt:lpstr>
      <vt:lpstr>TexCube class</vt:lpstr>
      <vt:lpstr>Texture Image</vt:lpstr>
      <vt:lpstr>Texture Cube</vt:lpstr>
      <vt:lpstr>Texture Cube</vt:lpstr>
      <vt:lpstr>Texture Cube</vt:lpstr>
      <vt:lpstr>Texture Cube</vt:lpstr>
      <vt:lpstr>Example #11_5</vt:lpstr>
      <vt:lpstr>Lighting</vt:lpstr>
      <vt:lpstr>Lighting</vt:lpstr>
      <vt:lpstr>Lighting</vt:lpstr>
      <vt:lpstr>Lighting</vt:lpstr>
      <vt:lpstr>Blending</vt:lpstr>
      <vt:lpstr>Texture Image</vt:lpstr>
      <vt:lpstr>Blending</vt:lpstr>
      <vt:lpstr>Blending</vt:lpstr>
      <vt:lpstr>Fog</vt:lpstr>
      <vt:lpstr>Fog</vt:lpstr>
      <vt:lpstr>Fog</vt:lpstr>
      <vt:lpstr>Fog</vt:lpstr>
      <vt:lpstr>PowerPoint 프레젠테이션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Sketching and Composing Widget for 3D Manipulation</dc:title>
  <dc:creator>Seonho</dc:creator>
  <cp:lastModifiedBy>정기숙</cp:lastModifiedBy>
  <cp:revision>1979</cp:revision>
  <cp:lastPrinted>2011-04-25T22:15:32Z</cp:lastPrinted>
  <dcterms:created xsi:type="dcterms:W3CDTF">2010-10-12T07:50:15Z</dcterms:created>
  <dcterms:modified xsi:type="dcterms:W3CDTF">2017-11-28T04:50:21Z</dcterms:modified>
</cp:coreProperties>
</file>