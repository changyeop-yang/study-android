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1"/>
  </p:notesMasterIdLst>
  <p:sldIdLst>
    <p:sldId id="256" r:id="rId2"/>
    <p:sldId id="543" r:id="rId3"/>
    <p:sldId id="618" r:id="rId4"/>
    <p:sldId id="619" r:id="rId5"/>
    <p:sldId id="403" r:id="rId6"/>
    <p:sldId id="569" r:id="rId7"/>
    <p:sldId id="570" r:id="rId8"/>
    <p:sldId id="486" r:id="rId9"/>
    <p:sldId id="573" r:id="rId10"/>
    <p:sldId id="574" r:id="rId11"/>
    <p:sldId id="616" r:id="rId12"/>
    <p:sldId id="586" r:id="rId13"/>
    <p:sldId id="592" r:id="rId14"/>
    <p:sldId id="587" r:id="rId15"/>
    <p:sldId id="588" r:id="rId16"/>
    <p:sldId id="600" r:id="rId17"/>
    <p:sldId id="583" r:id="rId18"/>
    <p:sldId id="589" r:id="rId19"/>
    <p:sldId id="590" r:id="rId20"/>
    <p:sldId id="591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1" r:id="rId29"/>
    <p:sldId id="294" r:id="rId30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FFCCFF"/>
    <a:srgbClr val="0066FF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8" autoAdjust="0"/>
    <p:restoredTop sz="90778" autoAdjust="0"/>
  </p:normalViewPr>
  <p:slideViewPr>
    <p:cSldViewPr snapToGrid="0">
      <p:cViewPr varScale="1">
        <p:scale>
          <a:sx n="80" d="100"/>
          <a:sy n="80" d="100"/>
        </p:scale>
        <p:origin x="168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-1062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48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6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93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873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순서는 안드로이드 스튜디오 </a:t>
            </a:r>
            <a:r>
              <a:rPr lang="en-US" altLang="ko-KR" dirty="0" smtClean="0"/>
              <a:t>2.x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버전 기준으로 맞춰주었다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69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슬라이드 </a:t>
            </a:r>
            <a:r>
              <a:rPr lang="en-US" altLang="ko-KR" dirty="0" smtClean="0"/>
              <a:t>15</a:t>
            </a:r>
            <a:r>
              <a:rPr lang="ko-KR" altLang="en-US" dirty="0" smtClean="0"/>
              <a:t>번까지 수행 시 위젯은 </a:t>
            </a:r>
            <a:r>
              <a:rPr lang="en-US" altLang="ko-KR" dirty="0" smtClean="0"/>
              <a:t>Count: </a:t>
            </a:r>
            <a:r>
              <a:rPr lang="ko-KR" altLang="en-US" dirty="0" smtClean="0"/>
              <a:t>숫자 형태로 나온다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진행상 쓸모없는 슬라이드 이지만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슬라이드 </a:t>
            </a:r>
            <a:r>
              <a:rPr lang="en-US" altLang="ko-KR" dirty="0" smtClean="0"/>
              <a:t>9</a:t>
            </a:r>
            <a:r>
              <a:rPr lang="ko-KR" altLang="en-US" dirty="0" smtClean="0"/>
              <a:t>번의 </a:t>
            </a:r>
            <a:r>
              <a:rPr lang="en-US" altLang="ko-KR" dirty="0" smtClean="0"/>
              <a:t>Button </a:t>
            </a:r>
            <a:r>
              <a:rPr lang="ko-KR" altLang="en-US" dirty="0" smtClean="0"/>
              <a:t>이미지를 배경으로 하여 말풍선 등을 작성시에 도움이 되는 예제기에 남겨두었다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605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위 </a:t>
            </a:r>
            <a:r>
              <a:rPr lang="en-US" altLang="ko-KR" dirty="0" err="1" smtClean="0"/>
              <a:t>png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파일들은 </a:t>
            </a:r>
            <a:r>
              <a:rPr lang="en-US" altLang="ko-KR" baseline="0" dirty="0" err="1" smtClean="0"/>
              <a:t>Bitbucket</a:t>
            </a:r>
            <a:r>
              <a:rPr lang="ko-KR" altLang="en-US" baseline="0" dirty="0" smtClean="0"/>
              <a:t>에 업로드 되어있음 </a:t>
            </a:r>
            <a:r>
              <a:rPr lang="en-US" altLang="ko-KR" baseline="0" dirty="0" smtClean="0"/>
              <a:t>(</a:t>
            </a:r>
            <a:r>
              <a:rPr lang="en-US" altLang="ko-KR" baseline="0" dirty="0" err="1" smtClean="0"/>
              <a:t>LectureNote</a:t>
            </a:r>
            <a:r>
              <a:rPr lang="en-US" altLang="ko-KR" baseline="0" dirty="0" smtClean="0"/>
              <a:t> Repository)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29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38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90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99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894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004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우상단 위젯은 생성한지 </a:t>
            </a:r>
            <a:r>
              <a:rPr lang="en-US" altLang="ko-KR" dirty="0" smtClean="0"/>
              <a:t>30</a:t>
            </a:r>
            <a:r>
              <a:rPr lang="ko-KR" altLang="en-US" dirty="0" smtClean="0"/>
              <a:t>분이 지난 것</a:t>
            </a:r>
            <a:endParaRPr lang="en-US" altLang="ko-KR" dirty="0" smtClean="0"/>
          </a:p>
          <a:p>
            <a:r>
              <a:rPr lang="ko-KR" altLang="en-US" dirty="0" smtClean="0"/>
              <a:t>좌하단 위젯은 생성한지 </a:t>
            </a:r>
            <a:r>
              <a:rPr lang="en-US" altLang="ko-KR" dirty="0" smtClean="0"/>
              <a:t>30</a:t>
            </a:r>
            <a:r>
              <a:rPr lang="ko-KR" altLang="en-US" dirty="0" smtClean="0"/>
              <a:t>분이 되지 않은 것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543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실수로 실제 시간 </a:t>
            </a:r>
            <a:r>
              <a:rPr lang="en-US" altLang="ko-KR" dirty="0" smtClean="0"/>
              <a:t>Runtime</a:t>
            </a:r>
            <a:r>
              <a:rPr lang="ko-KR" altLang="en-US" dirty="0" smtClean="0"/>
              <a:t>을 캡쳐하지 못하여 </a:t>
            </a:r>
            <a:r>
              <a:rPr lang="en-US" altLang="ko-KR" dirty="0" smtClean="0"/>
              <a:t>15</a:t>
            </a:r>
            <a:r>
              <a:rPr lang="ko-KR" altLang="en-US" dirty="0" smtClean="0"/>
              <a:t>년 이미지로 대체하였다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216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45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70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624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731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679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426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033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25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252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996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왼쪽은 위젯을 시간차를 두고 계속 생성하는 형태로 배치하면 </a:t>
            </a:r>
            <a:r>
              <a:rPr lang="en-US" altLang="ko-KR" dirty="0" smtClean="0"/>
              <a:t>Count</a:t>
            </a:r>
            <a:r>
              <a:rPr lang="ko-KR" altLang="en-US" dirty="0" smtClean="0"/>
              <a:t>의 차이를 볼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오른쪽은 위젯을 설정하는 방법이다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API 24 </a:t>
            </a:r>
            <a:r>
              <a:rPr lang="ko-KR" altLang="en-US" dirty="0" smtClean="0"/>
              <a:t>버전 </a:t>
            </a:r>
            <a:r>
              <a:rPr lang="en-US" altLang="ko-KR" dirty="0" smtClean="0"/>
              <a:t>AVD </a:t>
            </a:r>
            <a:r>
              <a:rPr lang="ko-KR" altLang="en-US" dirty="0" smtClean="0"/>
              <a:t>기준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실행 시</a:t>
            </a:r>
            <a:r>
              <a:rPr lang="en-US" altLang="ko-KR" dirty="0" smtClean="0"/>
              <a:t>, active_main.xml</a:t>
            </a:r>
            <a:r>
              <a:rPr lang="ko-KR" altLang="en-US" dirty="0" smtClean="0"/>
              <a:t>이 실행되는데 무시하고 위와 같이 위젯을 설정하면 된다</a:t>
            </a:r>
            <a:r>
              <a:rPr lang="en-US" altLang="ko-KR" dirty="0" smtClean="0"/>
              <a:t>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781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295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4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59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App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intl/ko/guide/practices/ui_guidelines/widget_desig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://developer.android.com/intl/ko/guide/topics/appwidgets/index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android.com/apk/res/androi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App Widgets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 Widgets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67002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 smtClean="0"/>
              <a:t>앱위젯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Home Screen </a:t>
            </a:r>
            <a:r>
              <a:rPr lang="ko-KR" altLang="en-US" dirty="0" smtClean="0"/>
              <a:t>상에 </a:t>
            </a:r>
            <a:r>
              <a:rPr lang="ko-KR" altLang="en-US" dirty="0" err="1" smtClean="0"/>
              <a:t>위젯의</a:t>
            </a:r>
            <a:r>
              <a:rPr lang="ko-KR" altLang="en-US" dirty="0" smtClean="0"/>
              <a:t> 형태로 노출이 되는 </a:t>
            </a:r>
            <a:r>
              <a:rPr lang="en-US" altLang="ko-KR" dirty="0" smtClean="0"/>
              <a:t>App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참고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앱위젯</a:t>
            </a:r>
            <a:r>
              <a:rPr lang="ko-KR" altLang="en-US" dirty="0" smtClean="0"/>
              <a:t>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가이드라인</a:t>
            </a:r>
            <a:r>
              <a:rPr lang="en-US" altLang="ko-KR" dirty="0" smtClean="0"/>
              <a:t>:</a:t>
            </a:r>
            <a:br>
              <a:rPr lang="en-US" altLang="ko-KR" dirty="0" smtClean="0"/>
            </a:br>
            <a:r>
              <a:rPr lang="en-US" altLang="ko-KR" dirty="0">
                <a:hlinkClick r:id="rId3"/>
              </a:rPr>
              <a:t>http://developer.android.com/intl/ko/guide/practices/ui_guidelines/widget_design.html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앱위젯</a:t>
            </a:r>
            <a:r>
              <a:rPr lang="ko-KR" altLang="en-US" dirty="0" smtClean="0"/>
              <a:t> 문서</a:t>
            </a:r>
            <a:r>
              <a:rPr lang="en-US" altLang="ko-KR" dirty="0" smtClean="0"/>
              <a:t>:</a:t>
            </a:r>
            <a:br>
              <a:rPr lang="en-US" altLang="ko-KR" dirty="0" smtClean="0"/>
            </a:br>
            <a:r>
              <a:rPr lang="en-US" altLang="ko-KR" dirty="0">
                <a:hlinkClick r:id="rId4"/>
              </a:rPr>
              <a:t>http://developer.android.com/intl/ko/guide/topics/appwidgets/index.html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52"/>
          <a:stretch/>
        </p:blipFill>
        <p:spPr bwMode="auto">
          <a:xfrm>
            <a:off x="3951514" y="2367323"/>
            <a:ext cx="3987800" cy="30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75" y="3331230"/>
            <a:ext cx="30861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51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 Widgets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6700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[App Widget] </a:t>
            </a:r>
            <a:r>
              <a:rPr lang="ko-KR" altLang="en-US" dirty="0" smtClean="0"/>
              <a:t>템플릿을 이용하여 </a:t>
            </a:r>
            <a:r>
              <a:rPr lang="en-US" altLang="ko-KR" dirty="0" smtClean="0"/>
              <a:t>MyappWidgetProvider.java </a:t>
            </a:r>
            <a:r>
              <a:rPr lang="ko-KR" altLang="en-US" dirty="0" smtClean="0"/>
              <a:t>생성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2"/>
          <a:stretch/>
        </p:blipFill>
        <p:spPr>
          <a:xfrm>
            <a:off x="2483319" y="2077063"/>
            <a:ext cx="5254426" cy="467461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905592" y="5715668"/>
            <a:ext cx="832153" cy="266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37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046" y="2343295"/>
            <a:ext cx="5791702" cy="430225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 Widgets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6700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[App Widget] </a:t>
            </a:r>
            <a:r>
              <a:rPr lang="ko-KR" altLang="en-US" dirty="0" smtClean="0"/>
              <a:t>템플릿을 이용하여 </a:t>
            </a:r>
            <a:r>
              <a:rPr lang="en-US" altLang="ko-KR" dirty="0" smtClean="0"/>
              <a:t>MyappWidgetProvider.java </a:t>
            </a:r>
            <a:r>
              <a:rPr lang="ko-KR" altLang="en-US" dirty="0" smtClean="0"/>
              <a:t>생성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941011" y="3973495"/>
            <a:ext cx="1025625" cy="184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949032" y="4443529"/>
            <a:ext cx="1017604" cy="205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7475" y="4361599"/>
            <a:ext cx="307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prstClr val="black"/>
                </a:solidFill>
              </a:rPr>
              <a:t>Minimum Width</a:t>
            </a:r>
            <a:r>
              <a:rPr lang="ko-KR" altLang="en-US" dirty="0" smtClean="0">
                <a:solidFill>
                  <a:prstClr val="black"/>
                </a:solidFill>
              </a:rPr>
              <a:t>를 </a:t>
            </a:r>
            <a:r>
              <a:rPr lang="en-US" altLang="ko-KR" dirty="0" smtClean="0">
                <a:solidFill>
                  <a:prstClr val="black"/>
                </a:solidFill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</a:rPr>
              <a:t>로 설정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9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Manifest</a:t>
            </a:r>
            <a:endParaRPr lang="ko-KR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0" y="2540729"/>
            <a:ext cx="8189227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receiver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:name=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".MyappWidgetProvider"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intent-filter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action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:name=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"android.appwidget.action.APPWIDGET_UPDATE"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&lt;/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intent-filter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meta-data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:name=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"android.appwidget.provider"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:resource=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"@xml/myapp_widget_provider_info"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&lt;/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receiver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57200" y="1484672"/>
            <a:ext cx="8229600" cy="5267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prstClr val="black"/>
                </a:solidFill>
              </a:rPr>
              <a:t>AndroidManifest.xml</a:t>
            </a:r>
            <a:r>
              <a:rPr lang="en-US" altLang="ko-KR" dirty="0"/>
              <a:t> </a:t>
            </a:r>
            <a:r>
              <a:rPr lang="ko-KR" altLang="en-US" dirty="0" smtClean="0"/>
              <a:t>에 자동으로 다음 코드가 입력되어 있음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44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Metadata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97230" y="1280160"/>
            <a:ext cx="4626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/res/xml/myapp_widget_provider_info.xml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" y="2253750"/>
            <a:ext cx="4608552" cy="3944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7230" y="1884418"/>
            <a:ext cx="286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prstClr val="black"/>
                </a:solidFill>
              </a:rPr>
              <a:t>자동으로 </a:t>
            </a:r>
            <a:r>
              <a:rPr lang="en-US" altLang="ko-KR" dirty="0" smtClean="0">
                <a:solidFill>
                  <a:prstClr val="black"/>
                </a:solidFill>
              </a:rPr>
              <a:t>metadata </a:t>
            </a:r>
            <a:r>
              <a:rPr lang="ko-KR" altLang="en-US" dirty="0" smtClean="0">
                <a:solidFill>
                  <a:prstClr val="black"/>
                </a:solidFill>
              </a:rPr>
              <a:t>생성됨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83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21910" y="1186374"/>
            <a:ext cx="4626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/res/xml/myapp_widget_provider_info.xml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68471" y="1893178"/>
            <a:ext cx="8455794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&lt;?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xml version="1.0" encoding="utf-8"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?&gt;</a:t>
            </a:r>
            <a:b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appwidget-provider xmlns:android=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  <a:hlinkClick r:id="rId3"/>
              </a:rPr>
              <a:t>http://schemas.android.com/apk/res/android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   </a:t>
            </a:r>
            <a:r>
              <a:rPr lang="ko-KR" altLang="ko-KR" sz="16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android:initialKeyguardLayout</a:t>
            </a:r>
            <a:r>
              <a:rPr lang="ko-KR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="@layout/myapp_widget_provider</a:t>
            </a:r>
            <a:r>
              <a:rPr lang="ko-KR" altLang="ko-KR" sz="16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"</a:t>
            </a:r>
            <a:r>
              <a:rPr lang="ko-KR" altLang="ko-KR" sz="16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&gt;</a:t>
            </a:r>
            <a:endParaRPr lang="en-US" altLang="ko-KR" sz="1600" dirty="0" smtClean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 smtClean="0">
                <a:solidFill>
                  <a:srgbClr val="660E7A"/>
                </a:solidFill>
                <a:latin typeface="+mn-ea"/>
              </a:rPr>
              <a:t>    </a:t>
            </a:r>
            <a:r>
              <a:rPr lang="ko-KR" altLang="ko-KR" sz="1600" b="1" dirty="0" smtClean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600" b="1" dirty="0" smtClean="0">
                <a:solidFill>
                  <a:srgbClr val="0000FF"/>
                </a:solidFill>
                <a:latin typeface="+mn-ea"/>
              </a:rPr>
              <a:t>:initialLayout</a:t>
            </a:r>
            <a:r>
              <a:rPr lang="ko-KR" altLang="ko-KR" sz="1600" b="1" dirty="0">
                <a:solidFill>
                  <a:srgbClr val="0000FF"/>
                </a:solidFill>
                <a:latin typeface="+mn-ea"/>
              </a:rPr>
              <a:t>=</a:t>
            </a:r>
            <a:r>
              <a:rPr lang="ko-KR" altLang="ko-KR" sz="1600" b="1" dirty="0">
                <a:solidFill>
                  <a:srgbClr val="008000"/>
                </a:solidFill>
                <a:latin typeface="+mn-ea"/>
              </a:rPr>
              <a:t>"@layout/myapp_widget_provider" </a:t>
            </a:r>
            <a:endParaRPr lang="en-US" altLang="ko-KR" sz="1600" b="1" dirty="0">
              <a:solidFill>
                <a:srgbClr val="008000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:minHeight=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"40dp" 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solidFill>
                  <a:srgbClr val="008000"/>
                </a:solidFill>
                <a:latin typeface="+mn-ea"/>
              </a:rPr>
              <a:t> </a:t>
            </a:r>
            <a:r>
              <a:rPr lang="en-US" altLang="ko-KR" sz="1600" b="1" dirty="0" smtClean="0">
                <a:solidFill>
                  <a:srgbClr val="008000"/>
                </a:solidFill>
                <a:latin typeface="+mn-ea"/>
              </a:rPr>
              <a:t>   </a:t>
            </a:r>
            <a:r>
              <a:rPr lang="ko-KR" altLang="ko-KR" sz="1600" b="1" dirty="0" smtClean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600" b="1" dirty="0" smtClean="0">
                <a:solidFill>
                  <a:srgbClr val="0000FF"/>
                </a:solidFill>
                <a:latin typeface="+mn-ea"/>
              </a:rPr>
              <a:t>:minWidth</a:t>
            </a:r>
            <a:r>
              <a:rPr lang="ko-KR" altLang="ko-KR" sz="1600" b="1" dirty="0">
                <a:solidFill>
                  <a:srgbClr val="0000FF"/>
                </a:solidFill>
                <a:latin typeface="+mn-ea"/>
              </a:rPr>
              <a:t>=</a:t>
            </a:r>
            <a:r>
              <a:rPr lang="ko-KR" altLang="ko-KR" sz="1600" b="1" dirty="0">
                <a:solidFill>
                  <a:srgbClr val="008000"/>
                </a:solidFill>
                <a:latin typeface="+mn-ea"/>
              </a:rPr>
              <a:t>“</a:t>
            </a:r>
            <a:r>
              <a:rPr lang="en-US" altLang="ko-KR" sz="1600" b="1" dirty="0">
                <a:solidFill>
                  <a:srgbClr val="008000"/>
                </a:solidFill>
                <a:latin typeface="+mn-ea"/>
              </a:rPr>
              <a:t>110</a:t>
            </a:r>
            <a:r>
              <a:rPr lang="ko-KR" altLang="ko-KR" sz="1600" b="1" dirty="0" smtClean="0">
                <a:solidFill>
                  <a:srgbClr val="008000"/>
                </a:solidFill>
                <a:latin typeface="+mn-ea"/>
              </a:rPr>
              <a:t>dp“</a:t>
            </a:r>
            <a:endParaRPr lang="en-US" altLang="ko-KR" sz="1600" b="1" dirty="0" smtClean="0">
              <a:solidFill>
                <a:srgbClr val="008000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 smtClean="0">
                <a:solidFill>
                  <a:srgbClr val="008000"/>
                </a:solidFill>
                <a:latin typeface="+mn-ea"/>
              </a:rPr>
              <a:t>   </a:t>
            </a:r>
            <a:r>
              <a:rPr lang="ko-KR" altLang="ko-KR" sz="1600" b="1" dirty="0" smtClean="0">
                <a:solidFill>
                  <a:srgbClr val="008000"/>
                </a:solidFill>
                <a:latin typeface="+mn-ea"/>
              </a:rPr>
              <a:t> </a:t>
            </a:r>
            <a:r>
              <a:rPr lang="ko-KR" altLang="ko-KR" sz="1600" b="1" dirty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600" b="1" dirty="0">
                <a:solidFill>
                  <a:srgbClr val="0000FF"/>
                </a:solidFill>
                <a:latin typeface="+mn-ea"/>
              </a:rPr>
              <a:t>:previewImage=</a:t>
            </a:r>
            <a:r>
              <a:rPr lang="ko-KR" altLang="ko-KR" sz="1600" b="1" dirty="0">
                <a:solidFill>
                  <a:srgbClr val="008000"/>
                </a:solidFill>
                <a:latin typeface="+mn-ea"/>
              </a:rPr>
              <a:t>"@</a:t>
            </a:r>
            <a:r>
              <a:rPr lang="en-US" altLang="ko-KR" sz="1600" b="1" dirty="0" err="1">
                <a:solidFill>
                  <a:srgbClr val="008000"/>
                </a:solidFill>
                <a:latin typeface="+mn-ea"/>
              </a:rPr>
              <a:t>mipmap</a:t>
            </a:r>
            <a:r>
              <a:rPr lang="ko-KR" altLang="ko-KR" sz="1600" b="1" dirty="0">
                <a:solidFill>
                  <a:srgbClr val="008000"/>
                </a:solidFill>
                <a:latin typeface="+mn-ea"/>
              </a:rPr>
              <a:t>/</a:t>
            </a:r>
            <a:r>
              <a:rPr lang="en-US" altLang="ko-KR" sz="1600" b="1" dirty="0" err="1">
                <a:solidFill>
                  <a:srgbClr val="008000"/>
                </a:solidFill>
                <a:latin typeface="+mn-ea"/>
              </a:rPr>
              <a:t>ic_launcher</a:t>
            </a:r>
            <a:r>
              <a:rPr lang="ko-KR" altLang="ko-KR" sz="1600" b="1" dirty="0">
                <a:solidFill>
                  <a:srgbClr val="008000"/>
                </a:solidFill>
                <a:latin typeface="+mn-ea"/>
              </a:rPr>
              <a:t>"</a:t>
            </a:r>
            <a:br>
              <a:rPr lang="ko-KR" altLang="ko-KR" sz="1600" b="1" dirty="0">
                <a:solidFill>
                  <a:srgbClr val="008000"/>
                </a:solidFill>
                <a:latin typeface="+mn-ea"/>
              </a:rPr>
            </a:br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    </a:t>
            </a:r>
            <a:r>
              <a:rPr lang="ko-KR" altLang="ko-KR" sz="16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android:resizeMode</a:t>
            </a:r>
            <a:r>
              <a:rPr lang="ko-KR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="horizontal|vertical"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b="1" dirty="0">
                <a:solidFill>
                  <a:srgbClr val="008000"/>
                </a:solidFill>
                <a:latin typeface="+mn-ea"/>
              </a:rPr>
              <a:t> </a:t>
            </a:r>
            <a:r>
              <a:rPr lang="en-US" altLang="ko-KR" sz="1600" b="1" dirty="0" smtClean="0">
                <a:solidFill>
                  <a:srgbClr val="008000"/>
                </a:solidFill>
                <a:latin typeface="+mn-ea"/>
              </a:rPr>
              <a:t>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:updatePeriodMillis=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“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1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000"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android:widgetCategory="home_screen"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&lt;/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appwidget-provider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&gt;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Metadata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34" y="4693945"/>
            <a:ext cx="6827777" cy="1875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035300" y="6569141"/>
            <a:ext cx="55499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http://developer.android.com/guide/practices/ui_guidelines/widget_design.html</a:t>
            </a:r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497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Layout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4351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prstClr val="black"/>
                </a:solidFill>
              </a:rPr>
              <a:t>res/</a:t>
            </a:r>
            <a:r>
              <a:rPr lang="en-US" altLang="ko-KR" dirty="0" smtClean="0">
                <a:solidFill>
                  <a:srgbClr val="FF0000"/>
                </a:solidFill>
              </a:rPr>
              <a:t>layout</a:t>
            </a:r>
            <a:r>
              <a:rPr lang="en-US" altLang="ko-KR" dirty="0" smtClean="0">
                <a:solidFill>
                  <a:prstClr val="black"/>
                </a:solidFill>
              </a:rPr>
              <a:t>/myapp_widget_provider.xml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29903" y="1955145"/>
            <a:ext cx="7084194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&lt;?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xml version=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"1.0"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encoding=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"utf-8"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?&gt;</a:t>
            </a:r>
            <a:b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LinearLayout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xmlns: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"http://schemas.android.com/apk/res/android"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:background=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"@drawable/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b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utton"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ImageView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rgbClr val="000080"/>
              </a:solidFill>
              <a:effectLst/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smtClean="0">
                <a:solidFill>
                  <a:srgbClr val="660E7A"/>
                </a:solidFill>
                <a:latin typeface="+mn-ea"/>
              </a:rPr>
              <a:t>        </a:t>
            </a:r>
            <a:r>
              <a:rPr lang="ko-KR" altLang="ko-KR" sz="1400" b="1" dirty="0" smtClean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400" b="1" dirty="0" smtClean="0">
                <a:solidFill>
                  <a:srgbClr val="0000FF"/>
                </a:solidFill>
                <a:latin typeface="+mn-ea"/>
              </a:rPr>
              <a:t>:layout_width</a:t>
            </a:r>
            <a:r>
              <a:rPr lang="ko-KR" altLang="ko-KR" sz="1400" b="1" dirty="0">
                <a:solidFill>
                  <a:srgbClr val="0000FF"/>
                </a:solidFill>
                <a:latin typeface="+mn-ea"/>
              </a:rPr>
              <a:t>=</a:t>
            </a:r>
            <a:r>
              <a:rPr lang="ko-KR" altLang="ko-KR" sz="1400" b="1" dirty="0">
                <a:solidFill>
                  <a:srgbClr val="008000"/>
                </a:solidFill>
                <a:latin typeface="+mn-ea"/>
              </a:rPr>
              <a:t>"</a:t>
            </a:r>
            <a:r>
              <a:rPr lang="ko-KR" altLang="ko-KR" sz="1400" b="1" dirty="0" smtClean="0">
                <a:solidFill>
                  <a:srgbClr val="008000"/>
                </a:solidFill>
                <a:latin typeface="+mn-ea"/>
              </a:rPr>
              <a:t>70dp“</a:t>
            </a:r>
            <a:endParaRPr lang="en-US" altLang="ko-KR" sz="1400" b="1" dirty="0" smtClean="0">
              <a:solidFill>
                <a:srgbClr val="008000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smtClean="0">
                <a:solidFill>
                  <a:srgbClr val="660E7A"/>
                </a:solidFill>
                <a:latin typeface="+mn-ea"/>
              </a:rPr>
              <a:t>        </a:t>
            </a:r>
            <a:r>
              <a:rPr lang="ko-KR" altLang="ko-KR" sz="1400" b="1" dirty="0" smtClean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400" b="1" dirty="0" smtClean="0">
                <a:solidFill>
                  <a:srgbClr val="0000FF"/>
                </a:solidFill>
                <a:latin typeface="+mn-ea"/>
              </a:rPr>
              <a:t>:layout_height</a:t>
            </a:r>
            <a:r>
              <a:rPr lang="ko-KR" altLang="ko-KR" sz="1400" b="1" dirty="0">
                <a:solidFill>
                  <a:srgbClr val="0000FF"/>
                </a:solidFill>
                <a:latin typeface="+mn-ea"/>
              </a:rPr>
              <a:t>=</a:t>
            </a:r>
            <a:r>
              <a:rPr lang="ko-KR" altLang="ko-KR" sz="1400" b="1" dirty="0">
                <a:solidFill>
                  <a:srgbClr val="008000"/>
                </a:solidFill>
                <a:latin typeface="+mn-ea"/>
              </a:rPr>
              <a:t>"match_parent"</a:t>
            </a:r>
            <a:br>
              <a:rPr lang="ko-KR" altLang="ko-KR" sz="1400" b="1" dirty="0">
                <a:solidFill>
                  <a:srgbClr val="008000"/>
                </a:solidFill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"@+id/imageView1"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:src=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"@drawable/heart1"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r>
              <a:rPr lang="ko-KR" altLang="ko-KR" sz="1400" b="1" dirty="0" smtClean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400" b="1" dirty="0" smtClean="0">
                <a:solidFill>
                  <a:srgbClr val="0000FF"/>
                </a:solidFill>
                <a:latin typeface="+mn-ea"/>
              </a:rPr>
              <a:t>:layout_width</a:t>
            </a:r>
            <a:r>
              <a:rPr lang="ko-KR" altLang="ko-KR" sz="1400" b="1" dirty="0">
                <a:solidFill>
                  <a:srgbClr val="0000FF"/>
                </a:solidFill>
                <a:latin typeface="+mn-ea"/>
              </a:rPr>
              <a:t>=</a:t>
            </a:r>
            <a:r>
              <a:rPr lang="ko-KR" altLang="ko-KR" sz="1400" b="1" dirty="0">
                <a:solidFill>
                  <a:srgbClr val="008000"/>
                </a:solidFill>
                <a:latin typeface="+mn-ea"/>
              </a:rPr>
              <a:t>"match_parent"</a:t>
            </a:r>
            <a:br>
              <a:rPr lang="ko-KR" altLang="ko-KR" sz="1400" b="1" dirty="0">
                <a:solidFill>
                  <a:srgbClr val="008000"/>
                </a:solidFill>
                <a:latin typeface="+mn-ea"/>
              </a:rPr>
            </a:br>
            <a:r>
              <a:rPr lang="ko-KR" altLang="ko-KR" sz="1400" b="1" dirty="0">
                <a:solidFill>
                  <a:srgbClr val="008000"/>
                </a:solidFill>
                <a:latin typeface="+mn-ea"/>
              </a:rPr>
              <a:t>        </a:t>
            </a:r>
            <a:r>
              <a:rPr lang="ko-KR" altLang="ko-KR" sz="1400" b="1" dirty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400" b="1" dirty="0">
                <a:solidFill>
                  <a:srgbClr val="0000FF"/>
                </a:solidFill>
                <a:latin typeface="+mn-ea"/>
              </a:rPr>
              <a:t>:layout_height=</a:t>
            </a:r>
            <a:r>
              <a:rPr lang="ko-KR" altLang="ko-KR" sz="1400" b="1" dirty="0">
                <a:solidFill>
                  <a:srgbClr val="008000"/>
                </a:solidFill>
                <a:latin typeface="+mn-ea"/>
              </a:rPr>
              <a:t>"match_parent"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rgbClr val="000080"/>
              </a:solidFill>
              <a:effectLst/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solidFill>
                  <a:srgbClr val="660E7A"/>
                </a:solidFill>
                <a:latin typeface="+mn-ea"/>
              </a:rPr>
              <a:t> </a:t>
            </a:r>
            <a:r>
              <a:rPr lang="en-US" altLang="ko-KR" sz="1400" b="1" dirty="0" smtClean="0">
                <a:solidFill>
                  <a:srgbClr val="660E7A"/>
                </a:solidFill>
                <a:latin typeface="+mn-ea"/>
              </a:rPr>
              <a:t>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"@+id/textView1"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"Widget실습\n</a:t>
            </a:r>
            <a:r>
              <a:rPr lang="ko-KR" altLang="en-US" sz="1400" b="1" dirty="0" smtClean="0">
                <a:solidFill>
                  <a:srgbClr val="008000"/>
                </a:solidFill>
                <a:latin typeface="+mn-ea"/>
              </a:rPr>
              <a:t>모바일</a:t>
            </a:r>
            <a:r>
              <a:rPr lang="ko-KR" altLang="en-US" sz="1400" b="1" dirty="0">
                <a:solidFill>
                  <a:srgbClr val="008000"/>
                </a:solidFill>
                <a:latin typeface="+mn-ea"/>
              </a:rPr>
              <a:t>앱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\n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프로그래밍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:textColor=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"@android:color/black"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&lt;/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LinearLayout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786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Bitmap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602" y="2388308"/>
            <a:ext cx="2512366" cy="1556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50" y="4436873"/>
            <a:ext cx="1755775" cy="163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645" y="4436873"/>
            <a:ext cx="1731050" cy="163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5790675" y="3761508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4CBC"/>
                </a:solidFill>
              </a:rPr>
              <a:t>Button.png</a:t>
            </a:r>
            <a:endParaRPr lang="en-US" altLang="ko-KR" b="1" dirty="0">
              <a:solidFill>
                <a:srgbClr val="004CB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33639" y="6112873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4CBC"/>
                </a:solidFill>
              </a:rPr>
              <a:t>heart1.png</a:t>
            </a:r>
            <a:endParaRPr lang="en-US" altLang="ko-KR" b="1" dirty="0">
              <a:solidFill>
                <a:srgbClr val="004CBC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26985" y="6138273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4CBC"/>
                </a:solidFill>
              </a:rPr>
              <a:t>heart2.png</a:t>
            </a:r>
            <a:endParaRPr lang="en-US" altLang="ko-KR" b="1" dirty="0">
              <a:solidFill>
                <a:srgbClr val="004CBC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" y="2075170"/>
            <a:ext cx="2702704" cy="159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5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AppWidgetProvider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622300" y="4297030"/>
            <a:ext cx="8229600" cy="1968834"/>
          </a:xfrm>
        </p:spPr>
        <p:txBody>
          <a:bodyPr/>
          <a:lstStyle/>
          <a:p>
            <a:r>
              <a:rPr lang="ko-KR" altLang="en-US" dirty="0" err="1" smtClean="0"/>
              <a:t>앱위젯에서</a:t>
            </a:r>
            <a:r>
              <a:rPr lang="ko-KR" altLang="en-US" dirty="0" smtClean="0"/>
              <a:t> 발생하는 방송 이벤트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onUpdate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업데이트가 발생했을 때</a:t>
            </a:r>
            <a:r>
              <a:rPr lang="en-US" altLang="ko-KR" dirty="0"/>
              <a:t>. </a:t>
            </a:r>
            <a:r>
              <a:rPr lang="en-US" altLang="ko-KR" dirty="0" err="1" smtClean="0"/>
              <a:t>updatePeriodMillis</a:t>
            </a:r>
            <a:r>
              <a:rPr lang="ko-KR" altLang="en-US" dirty="0" smtClean="0"/>
              <a:t>에서 지정한 시간마다 호출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onDeleted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앱위젯이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홈스크린에서</a:t>
            </a:r>
            <a:r>
              <a:rPr lang="ko-KR" altLang="en-US" dirty="0" smtClean="0"/>
              <a:t> 삭제될 때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 smtClean="0"/>
              <a:t>onEnabled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최초 추가될 때 한번 호출</a:t>
            </a:r>
            <a:r>
              <a:rPr lang="en-US" altLang="ko-KR" dirty="0" smtClean="0"/>
              <a:t>. </a:t>
            </a:r>
            <a:r>
              <a:rPr lang="ko-KR" altLang="en-US" dirty="0" smtClean="0"/>
              <a:t>두 개를 추가한다면 가장 처음 한번만 호출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onDisabled</a:t>
            </a:r>
            <a:r>
              <a:rPr lang="en-US" altLang="ko-KR" dirty="0" smtClean="0"/>
              <a:t>: </a:t>
            </a:r>
            <a:r>
              <a:rPr lang="ko-KR" altLang="en-US" dirty="0" smtClean="0"/>
              <a:t>마지막 삭제될 때 한번 호출</a:t>
            </a:r>
            <a:r>
              <a:rPr lang="en-US" altLang="ko-KR" dirty="0" smtClean="0"/>
              <a:t>. </a:t>
            </a:r>
            <a:r>
              <a:rPr lang="ko-KR" altLang="en-US" dirty="0" smtClean="0"/>
              <a:t>두 개가 있었다면 마지막 하나가 삭제될 때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9430" y="1926491"/>
            <a:ext cx="8584401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AppWidgetProvider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</a:p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onUpdate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[]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.onUpdate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828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AppWidget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46907" y="3068638"/>
            <a:ext cx="2354262" cy="109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AndroidManifest.xml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584576" y="1582738"/>
            <a:ext cx="2354262" cy="109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Widget Provider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597276" y="4169171"/>
            <a:ext cx="2354262" cy="225266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Widget Provider Info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(xml)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749676" y="5295501"/>
            <a:ext cx="2049462" cy="82153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Initial Layout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454776" y="3059509"/>
            <a:ext cx="2354262" cy="109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Widget View Layout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(xml)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2" name="꺾인 연결선 11"/>
          <p:cNvCxnSpPr>
            <a:stCxn id="6" idx="3"/>
            <a:endCxn id="8" idx="1"/>
          </p:cNvCxnSpPr>
          <p:nvPr/>
        </p:nvCxnSpPr>
        <p:spPr>
          <a:xfrm flipV="1">
            <a:off x="3001169" y="2128838"/>
            <a:ext cx="583407" cy="1485900"/>
          </a:xfrm>
          <a:prstGeom prst="bentConnector3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6" idx="3"/>
            <a:endCxn id="9" idx="1"/>
          </p:cNvCxnSpPr>
          <p:nvPr/>
        </p:nvCxnSpPr>
        <p:spPr>
          <a:xfrm>
            <a:off x="3001169" y="3614738"/>
            <a:ext cx="596107" cy="1680764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0" idx="3"/>
            <a:endCxn id="11" idx="1"/>
          </p:cNvCxnSpPr>
          <p:nvPr/>
        </p:nvCxnSpPr>
        <p:spPr>
          <a:xfrm flipV="1">
            <a:off x="5799138" y="3605609"/>
            <a:ext cx="655638" cy="2100658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" idx="3"/>
            <a:endCxn id="11" idx="1"/>
          </p:cNvCxnSpPr>
          <p:nvPr/>
        </p:nvCxnSpPr>
        <p:spPr>
          <a:xfrm>
            <a:off x="5938838" y="2128838"/>
            <a:ext cx="515938" cy="1476771"/>
          </a:xfrm>
          <a:prstGeom prst="bentConnector3">
            <a:avLst>
              <a:gd name="adj1" fmla="val 37692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81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내용 업데이트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91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926491"/>
            <a:ext cx="7366119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여러 </a:t>
            </a:r>
            <a:r>
              <a:rPr lang="ko-KR" altLang="en-US" sz="16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앱위젯들의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카운트를 보관하기 위한 </a:t>
            </a:r>
            <a:r>
              <a:rPr lang="ko-KR" altLang="en-US" sz="16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해쉬맵</a:t>
            </a:r>
            <a:endParaRPr lang="ko-KR" altLang="en-US" sz="1600" dirty="0">
              <a:solidFill>
                <a:srgbClr val="3F7F5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HashMap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&lt;Integer, Integer&gt; 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mCountMap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HashMap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&lt;Integer, Integer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&gt;();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특정 </a:t>
            </a:r>
            <a:r>
              <a:rPr lang="ko-KR" altLang="en-US" sz="16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(ID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번호로 구분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의 카운트 내용을 갱신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updateCount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(String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packageName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6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카운트 얻기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Integer count = 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mCountMap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.get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(count ==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count = 0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출력 내용 작성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String output;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output = 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"Count: "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count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((count % 2) == 0)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R.drawable.</a:t>
            </a:r>
            <a:r>
              <a:rPr lang="en-US" altLang="ko-KR" sz="1600" dirty="0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heart2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else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R.drawable.</a:t>
            </a:r>
            <a:r>
              <a:rPr lang="en-US" altLang="ko-KR" sz="1600" dirty="0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heart1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17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내용 업데이트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4030" y="1977291"/>
            <a:ext cx="6389891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카운트 증가 후 보관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count++;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mCountMap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.put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count);</a:t>
            </a:r>
          </a:p>
          <a:p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앱위젯의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화면 구성 설정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RemoteViews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views =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RemoteViews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packageName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endParaRPr lang="en-US" altLang="ko-KR" sz="1600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                 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</a:t>
            </a:r>
            <a:r>
              <a:rPr lang="en-US" altLang="ko-KR" sz="16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myapp_widget_provider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views.</a:t>
            </a:r>
            <a:r>
              <a:rPr lang="en-US" altLang="ko-KR" sz="16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setImageViewResource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sz="160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imageView1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views.</a:t>
            </a:r>
            <a:r>
              <a:rPr lang="en-US" altLang="ko-KR" sz="16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setTextViewText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sz="160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textView1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output);</a:t>
            </a:r>
          </a:p>
          <a:p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6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관리자에게 업데이트를 지시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appWidgetManager.</a:t>
            </a:r>
            <a:r>
              <a:rPr lang="en-US" altLang="ko-KR" sz="16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updateAppWidget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views 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70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내용 업데이트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989197"/>
            <a:ext cx="7189789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vl="0"/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pPr lvl="0"/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onReceive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Intent intent) {</a:t>
            </a:r>
          </a:p>
          <a:p>
            <a:pPr lvl="0"/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MyAppWidgetProvider.onReceive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pPr lvl="0"/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.onReceive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intent);</a:t>
            </a:r>
          </a:p>
          <a:p>
            <a:pPr lvl="0"/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pPr lvl="0"/>
            <a:endParaRPr lang="en-US" altLang="ko-KR" sz="1200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vl="0"/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pPr lvl="0"/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onEnabled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context) {</a:t>
            </a:r>
          </a:p>
          <a:p>
            <a:pPr lvl="0"/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MyAppWidgetProvider.onEnabled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pPr lvl="0"/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.onEnabled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(context);</a:t>
            </a:r>
          </a:p>
          <a:p>
            <a:pPr lvl="0"/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onUpdate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[]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MyAppWidgetProvider.onUpdate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업데이트가 발생한 모든 </a:t>
            </a:r>
            <a:r>
              <a:rPr lang="ko-KR" altLang="en-US" sz="12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endParaRPr lang="ko-KR" altLang="en-US" sz="1200" dirty="0">
              <a:solidFill>
                <a:srgbClr val="3F7F5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: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카운트 갱신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updateCount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context.getPackageName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en-US" altLang="ko-KR" sz="12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super.onUpdate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844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내용 업데이트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926491"/>
            <a:ext cx="7725192" cy="32624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endParaRPr lang="ko-KR" altLang="en-US" sz="1400" dirty="0">
              <a:solidFill>
                <a:prstClr val="black"/>
              </a:solidFill>
              <a:latin typeface="돋움체"/>
              <a:ea typeface="돋움체"/>
            </a:endParaRPr>
          </a:p>
          <a:p>
            <a:pPr lvl="0"/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pPr lvl="0"/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onDeleted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6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[]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pPr lvl="0"/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MyAppWidgetProvider.onDeleted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pPr lvl="0"/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.onDeleted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pPr lvl="0"/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onDisabled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context)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MyAppWidgetProvider.onDisabled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.onDisabled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647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내용 업데이트</a:t>
            </a:r>
            <a:endParaRPr lang="ko-KR" altLang="en-US" dirty="0"/>
          </a:p>
        </p:txBody>
      </p:sp>
      <p:pic>
        <p:nvPicPr>
          <p:cNvPr id="2050" name="Picture 2" descr="C:\Users\GIBBS\Downloads\스크린샷 2016-11-28 오전 4.52.3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649" y="1369402"/>
            <a:ext cx="2766742" cy="51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29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업데이트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5018566"/>
            <a:ext cx="8229600" cy="1701211"/>
          </a:xfrm>
        </p:spPr>
        <p:txBody>
          <a:bodyPr/>
          <a:lstStyle/>
          <a:p>
            <a:r>
              <a:rPr lang="ko-KR" altLang="en-US" dirty="0" smtClean="0"/>
              <a:t>업데이트 주기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updatePeriodMillis</a:t>
            </a:r>
            <a:r>
              <a:rPr lang="en-US" altLang="ko-KR" dirty="0" smtClean="0"/>
              <a:t> </a:t>
            </a:r>
            <a:r>
              <a:rPr lang="ko-KR" altLang="en-US" dirty="0" smtClean="0"/>
              <a:t>속성에는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초를 지정했지만 실제로는 </a:t>
            </a:r>
            <a:r>
              <a:rPr lang="en-US" altLang="ko-KR" dirty="0" smtClean="0"/>
              <a:t>30</a:t>
            </a:r>
            <a:r>
              <a:rPr lang="ko-KR" altLang="en-US" dirty="0" smtClean="0"/>
              <a:t>분 단위로 업데이트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구글에서 정해놓은 최소 업데이트 시간 설정 때문이다</a:t>
            </a:r>
            <a:r>
              <a:rPr lang="en-US" altLang="ko-KR" smtClean="0"/>
              <a:t>.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" t="7103" r="5719" b="21136"/>
          <a:stretch/>
        </p:blipFill>
        <p:spPr bwMode="auto">
          <a:xfrm>
            <a:off x="773922" y="1637413"/>
            <a:ext cx="8059479" cy="3285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왼쪽 대괄호 4"/>
          <p:cNvSpPr/>
          <p:nvPr/>
        </p:nvSpPr>
        <p:spPr>
          <a:xfrm>
            <a:off x="680484" y="3891516"/>
            <a:ext cx="276447" cy="255182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대괄호 6"/>
          <p:cNvSpPr/>
          <p:nvPr/>
        </p:nvSpPr>
        <p:spPr>
          <a:xfrm>
            <a:off x="680483" y="4313275"/>
            <a:ext cx="276447" cy="255182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153" y="38344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30</a:t>
            </a:r>
            <a:r>
              <a:rPr lang="ko-KR" altLang="en-US" dirty="0" smtClean="0"/>
              <a:t>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4153" y="42562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30</a:t>
            </a:r>
            <a:r>
              <a:rPr lang="ko-KR" altLang="en-US" dirty="0" smtClean="0"/>
              <a:t>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1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68471" y="1968333"/>
            <a:ext cx="8455794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&lt;?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xml version="1.0" encoding="utf-8"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?&gt;</a:t>
            </a:r>
            <a:b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appwidget-provider xmlns:android="http://schemas.android.com/apk/res/android"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android:minWidth=“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110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dp" android:minHeight="40dp" 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b="1" dirty="0">
                <a:solidFill>
                  <a:srgbClr val="008000"/>
                </a:solidFill>
                <a:latin typeface="+mn-ea"/>
              </a:rPr>
              <a:t> </a:t>
            </a:r>
            <a:r>
              <a:rPr lang="en-US" altLang="ko-KR" sz="1600" b="1" dirty="0" smtClean="0">
                <a:solidFill>
                  <a:srgbClr val="008000"/>
                </a:solidFill>
                <a:latin typeface="+mn-ea"/>
              </a:rPr>
              <a:t>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:updatePeriodMillis=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“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1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000"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android:previewImage="@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mipmap</a:t>
            </a:r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kumimoji="0" lang="en-US" altLang="ko-KR" sz="1600" b="1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ic_launcher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android:initialLayout="@layout/myapp_widget_provider" 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b="1" dirty="0">
                <a:solidFill>
                  <a:srgbClr val="008000"/>
                </a:solidFill>
                <a:latin typeface="+mn-ea"/>
              </a:rPr>
              <a:t> </a:t>
            </a:r>
            <a:r>
              <a:rPr lang="en-US" altLang="ko-KR" sz="1600" b="1" dirty="0" smtClean="0">
                <a:solidFill>
                  <a:srgbClr val="008000"/>
                </a:solidFill>
                <a:latin typeface="+mn-ea"/>
              </a:rPr>
              <a:t>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android:resizeMode="horizontal|vertical"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android:widgetCategory="home_screen"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android:initialKeyguardLayout="@layout/myapp_widget_provider"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&gt;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&lt;/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appwidget-provider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&gt;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임의의 주기로 업데이트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97229" y="4726122"/>
            <a:ext cx="5147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updatePeriodMillis</a:t>
            </a:r>
            <a:r>
              <a:rPr lang="en-US" altLang="ko-KR" dirty="0" smtClean="0"/>
              <a:t> </a:t>
            </a:r>
            <a:r>
              <a:rPr lang="ko-KR" altLang="en-US" dirty="0" smtClean="0"/>
              <a:t>속성을 </a:t>
            </a:r>
            <a:r>
              <a:rPr lang="en-US" altLang="ko-KR" dirty="0" smtClean="0"/>
              <a:t>“0”</a:t>
            </a:r>
            <a:r>
              <a:rPr lang="ko-KR" altLang="en-US" dirty="0" smtClean="0"/>
              <a:t>으로 지정하면</a:t>
            </a:r>
            <a:endParaRPr lang="en-US" altLang="ko-KR" dirty="0" smtClean="0"/>
          </a:p>
          <a:p>
            <a:r>
              <a:rPr lang="ko-KR" altLang="en-US" dirty="0" smtClean="0"/>
              <a:t>화면이 잠금 모드에서 해제될 때만 업데이트 수행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4626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/res/xml/myapp_widget_provider_info.xml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임의의 주기로 업데이트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업데이트용 서비스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MyappWidgetService.java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3" y="2332262"/>
            <a:ext cx="4729369" cy="397088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610" y="2579569"/>
            <a:ext cx="4263390" cy="315806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798427" y="5022649"/>
            <a:ext cx="1025625" cy="184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18451" y="3954244"/>
            <a:ext cx="1025625" cy="184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25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임의의 주기로 업데이트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업데이트용 서비스 추가</a:t>
            </a:r>
            <a:endParaRPr lang="en-US" altLang="ko-KR" dirty="0"/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AndroidManifest.xml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0" y="2521835"/>
            <a:ext cx="823355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service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android:name=".MyappWidgetService"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android:enabled="true"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android:exported="true"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&gt;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intent-filter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&lt;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action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:name=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"android.appwidget.action.APPWIDGET_UPDATE"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&lt;/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intent-filter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&lt;/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service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&gt;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45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867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MyappWidgetService.java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3310" y="2025313"/>
            <a:ext cx="5591595" cy="43396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u="sng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MyappWidgetService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Service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final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String </a:t>
            </a:r>
            <a:r>
              <a:rPr lang="en-US" altLang="ko-KR" sz="1200" u="sng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"Update </a:t>
            </a:r>
            <a:r>
              <a:rPr lang="en-US" altLang="ko-KR" sz="1200" dirty="0" err="1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</a:t>
            </a:r>
            <a:r>
              <a:rPr lang="en-US" altLang="ko-KR" sz="12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sv-SE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sv-SE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sv-SE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sv-SE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sv-SE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sv-SE" altLang="ko-KR" sz="1200" b="1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onStart</a:t>
            </a:r>
            <a:r>
              <a:rPr lang="sv-SE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(Intent intent, </a:t>
            </a:r>
            <a:r>
              <a:rPr lang="sv-SE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sv-SE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startId)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String command =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intent.getAction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intent.getExtras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getInt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AppWidgetManager.</a:t>
            </a:r>
            <a:r>
              <a:rPr lang="en-US" altLang="ko-KR" sz="1200" b="1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EXTRA_APPWIDGET_ID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AppWidgetManager.getInstance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getApplicationContext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());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command.equals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u="sng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</a:t>
            </a:r>
            <a:r>
              <a:rPr lang="en-US" altLang="ko-KR" sz="1200" u="sng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updateCount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getApplicationContext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().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getPackageName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(),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.onStart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(intent,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startId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IBinder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onBind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(Intent intent)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}}</a:t>
            </a:r>
            <a:endParaRPr lang="en-US" altLang="ko-KR" sz="12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193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MyappWidgetService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서비스는 시작되는 순간 </a:t>
            </a:r>
            <a:r>
              <a:rPr lang="ko-KR" altLang="en-US" dirty="0" err="1" smtClean="0"/>
              <a:t>앱위젯의</a:t>
            </a:r>
            <a:r>
              <a:rPr lang="ko-KR" altLang="en-US" dirty="0" smtClean="0"/>
              <a:t> 업데이트를 호출하고 종료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MyappWidgetProvider</a:t>
            </a:r>
            <a:endParaRPr lang="en-US" altLang="ko-KR" dirty="0" smtClean="0"/>
          </a:p>
          <a:p>
            <a:pPr lvl="1"/>
            <a:r>
              <a:rPr lang="ko-KR" altLang="en-US" dirty="0"/>
              <a:t>서비스를 시작시키기 위해 </a:t>
            </a:r>
            <a:r>
              <a:rPr lang="ko-KR" altLang="en-US" dirty="0" err="1"/>
              <a:t>알람을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ko-KR" altLang="en-US" dirty="0" err="1" smtClean="0"/>
              <a:t>알람은</a:t>
            </a:r>
            <a:r>
              <a:rPr lang="ko-KR" altLang="en-US" dirty="0" smtClean="0"/>
              <a:t> 서비스 시작용 </a:t>
            </a:r>
            <a:r>
              <a:rPr lang="en-US" altLang="ko-KR" dirty="0" err="1" smtClean="0"/>
              <a:t>PendingIntent</a:t>
            </a:r>
            <a:r>
              <a:rPr lang="ko-KR" altLang="en-US" dirty="0" smtClean="0"/>
              <a:t>를 수행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Intent</a:t>
            </a:r>
            <a:r>
              <a:rPr lang="ko-KR" altLang="en-US" dirty="0" smtClean="0"/>
              <a:t>는 갱신하고자 하는 </a:t>
            </a:r>
            <a:r>
              <a:rPr lang="ko-KR" altLang="en-US" dirty="0" err="1" smtClean="0"/>
              <a:t>앱위젯의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포함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0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926491"/>
            <a:ext cx="6849952" cy="44935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3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3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3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makeUpdateAction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String command, </a:t>
            </a:r>
            <a:r>
              <a:rPr lang="en-US" altLang="ko-KR" sz="13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sz="13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{</a:t>
            </a:r>
            <a:endParaRPr lang="ko-KR" altLang="en-US" sz="13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ID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를 가진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인텐트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생성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3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Intent active = </a:t>
            </a:r>
            <a:r>
              <a:rPr lang="en-US" altLang="ko-KR" sz="13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Intent(context, </a:t>
            </a:r>
            <a:r>
              <a:rPr lang="en-US" altLang="ko-KR" sz="13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MyappWidgetService.</a:t>
            </a:r>
            <a:r>
              <a:rPr lang="en-US" altLang="ko-KR" sz="1300" dirty="0" err="1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class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active.setAction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(command);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active.</a:t>
            </a:r>
            <a:r>
              <a:rPr lang="en-US" altLang="ko-KR" sz="13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putExtra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AppWidgetManager.</a:t>
            </a:r>
            <a:r>
              <a:rPr lang="en-US" altLang="ko-KR" sz="1300" b="1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EXTRA_APPWIDGET_ID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3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en-US" sz="13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생성된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인텐트를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Unique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하게 만들어 주기 위해서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Uri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를 추가</a:t>
            </a: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 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실제로는 사용되지 않는 부가 정보이지만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Uri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를 추가함으로 해서</a:t>
            </a: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 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해당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ID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의 유일한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인텐트로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만들어줄 수 있다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 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이 코드가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주석처리된다면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복수개의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중</a:t>
            </a: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 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마지막에 추가된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위젯만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갱신되는 결과를 보인다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Uri data =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Uri.withAppendedPath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Uri.parse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3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3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myappwidgetservice</a:t>
            </a:r>
            <a:r>
              <a:rPr lang="en-US" altLang="ko-KR" sz="13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://widget/id</a:t>
            </a:r>
            <a:r>
              <a:rPr lang="en-US" altLang="ko-KR" sz="1300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/#" </a:t>
            </a:r>
            <a:r>
              <a:rPr lang="en-US" altLang="ko-KR" sz="13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 command + </a:t>
            </a:r>
            <a:r>
              <a:rPr lang="en-US" altLang="ko-KR" sz="13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String.valueOf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));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active.setData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(data);</a:t>
            </a:r>
          </a:p>
          <a:p>
            <a:pPr lvl="1"/>
            <a:endParaRPr lang="ko-KR" altLang="en-US" sz="13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vl="1"/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업데이트 서비스를 구동시키기 위한 </a:t>
            </a:r>
            <a:r>
              <a:rPr lang="ko-KR" altLang="en-US" sz="13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펜딩인텐트</a:t>
            </a:r>
            <a:r>
              <a:rPr lang="ko-KR" altLang="en-US" sz="13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생성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action =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PendingIntent.</a:t>
            </a:r>
            <a:r>
              <a:rPr lang="en-US" altLang="ko-KR" sz="13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getService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</a:p>
          <a:p>
            <a:pPr lvl="1"/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context, 0, active, </a:t>
            </a:r>
            <a:r>
              <a:rPr lang="en-US" altLang="ko-KR" sz="13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PendingIntent.</a:t>
            </a:r>
            <a:r>
              <a:rPr lang="en-US" altLang="ko-KR" sz="13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FLAG_UPDATE_CURRENT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endParaRPr lang="ko-KR" altLang="en-US" sz="13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return</a:t>
            </a:r>
            <a:r>
              <a:rPr lang="en-US" altLang="ko-KR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action;</a:t>
            </a:r>
          </a:p>
          <a:p>
            <a:r>
              <a:rPr lang="ko-KR" altLang="en-US" sz="13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3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13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594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7730" y="1977291"/>
            <a:ext cx="6227987" cy="33239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setAlarm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4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updateInterval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action) {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AlarmManager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alarmManager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AlarmManager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context.getSystemService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ALARM_SERVICE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updateInterval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&gt; 0) 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주어진 갱신 주기마다 반복적인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알람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추가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alarmManager.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setRepeating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AlarmManager.</a:t>
            </a:r>
            <a:r>
              <a:rPr lang="en-US" altLang="ko-KR" sz="14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ELAPSED_REALTIME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SystemClock.elapsedRealtime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(),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updateInterval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action);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알람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제거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alarmManager.cancel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(action);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147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0430" y="1982212"/>
            <a:ext cx="5466561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여러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앱위젯들의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업데이트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인텐트를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보관하기 위한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해쉬맵</a:t>
            </a:r>
            <a:endParaRPr lang="ko-KR" altLang="en-US" sz="1400" dirty="0">
              <a:solidFill>
                <a:srgbClr val="3F7F5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HashMap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&lt;Integer,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 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갱신 주기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mUpdateInterval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@Override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public 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onEnabled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context)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("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", "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MyAppWidgetProvider.onEnabled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");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앱위젯이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최초 추가될 때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인텐트용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4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해쉬맵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생성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HashMap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&lt;Integer,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기본 갱신 주기는 </a:t>
            </a:r>
            <a:r>
              <a:rPr lang="en-US" altLang="ko-KR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1</a:t>
            </a:r>
            <a:r>
              <a:rPr lang="ko-KR" altLang="en-US" sz="14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초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mUpdateInterval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1000;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super.onEnabled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995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2350" y="2017931"/>
            <a:ext cx="7189789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onUpdate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[]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", 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MyAppWidgetProvider.onUpdate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");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업데이트가 발생한 모든 </a:t>
            </a:r>
            <a:r>
              <a:rPr lang="ko-KR" altLang="en-US" sz="12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endParaRPr lang="ko-KR" altLang="en-US" sz="1200" dirty="0">
              <a:solidFill>
                <a:srgbClr val="3F7F5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: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카운트 갱신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updateCount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context.getPackageName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갱신 타이머 등록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action;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action = </a:t>
            </a:r>
            <a:r>
              <a:rPr lang="en-US" altLang="ko-KR" sz="12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(action ==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action = </a:t>
            </a:r>
            <a:r>
              <a:rPr lang="en-US" altLang="ko-KR" sz="12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makeUpdateAction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2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MyappWidgetService.</a:t>
            </a:r>
            <a:r>
              <a:rPr lang="en-US" altLang="ko-KR" sz="12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UPDATE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2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action);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2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setAlarm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200" u="sng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mUpdateInterval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action);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super.onUpdate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appWidgetManager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89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AppWidget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MyappWidgetProvider.java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3310" y="2006977"/>
            <a:ext cx="5226111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onDeleted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[]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", 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MyAppWidgetProvider.onDeleted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제거가 진행되는 모든 </a:t>
            </a:r>
            <a:r>
              <a:rPr lang="ko-KR" altLang="en-US" sz="12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</a:t>
            </a:r>
            <a:endParaRPr lang="ko-KR" altLang="en-US" sz="1200" dirty="0">
              <a:solidFill>
                <a:srgbClr val="3F7F5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2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: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갱신 타이머 해제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PendingIntent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action = </a:t>
            </a:r>
            <a:r>
              <a:rPr lang="en-US" altLang="ko-KR" sz="12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(action !=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200" u="sng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setAlarm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0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action);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2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remove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super.onDeleted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(context,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appWidgetIds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onDisabled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 context)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Log.i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AndroidRuntime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", 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MyAppWidgetProvider.onDisabled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모든 </a:t>
            </a:r>
            <a:r>
              <a:rPr lang="ko-KR" altLang="en-US" sz="12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앱위젯이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제거되면 </a:t>
            </a:r>
            <a:r>
              <a:rPr lang="ko-KR" altLang="en-US" sz="1200" dirty="0" smtClean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실행중인 서비스 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중지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stopService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Intent(</a:t>
            </a:r>
            <a:r>
              <a:rPr lang="en-US" altLang="ko-KR" sz="12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context,MyappWidgetService.</a:t>
            </a:r>
            <a:r>
              <a:rPr lang="en-US" altLang="ko-KR" sz="1200" dirty="0" err="1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</a:t>
            </a:r>
            <a:r>
              <a:rPr lang="ko-KR" altLang="en-US" sz="12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인텐트용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200" dirty="0" err="1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해쉬맵</a:t>
            </a:r>
            <a:r>
              <a:rPr lang="ko-KR" altLang="en-US" sz="1200" dirty="0">
                <a:solidFill>
                  <a:srgbClr val="3F7F5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제거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2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clear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mActionMap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super.onDisabled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(context);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201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임의의 주기로 업데이트</a:t>
            </a:r>
          </a:p>
        </p:txBody>
      </p:sp>
      <p:pic>
        <p:nvPicPr>
          <p:cNvPr id="1026" name="Picture 2" descr="C:\Users\GIBBS\Downloads\Screenshot_148027185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747" y="1336675"/>
            <a:ext cx="2869425" cy="510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GIBBS\Downloads\Screenshot_148027187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742" y="1336675"/>
            <a:ext cx="2869425" cy="510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86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48624</TotalTime>
  <Words>1512</Words>
  <Application>Microsoft Office PowerPoint</Application>
  <PresentationFormat>화면 슬라이드 쇼(4:3)</PresentationFormat>
  <Paragraphs>397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Arial Unicode MS</vt:lpstr>
      <vt:lpstr>HY중고딕</vt:lpstr>
      <vt:lpstr>돋움체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App Widgets</vt:lpstr>
      <vt:lpstr>App Widgets</vt:lpstr>
      <vt:lpstr>App Widgets</vt:lpstr>
      <vt:lpstr>App Widgets</vt:lpstr>
      <vt:lpstr>Manifest</vt:lpstr>
      <vt:lpstr>Metadata</vt:lpstr>
      <vt:lpstr>Metadata</vt:lpstr>
      <vt:lpstr>Layout</vt:lpstr>
      <vt:lpstr>Bitmap 추가</vt:lpstr>
      <vt:lpstr>AppWidgetProvider</vt:lpstr>
      <vt:lpstr>AppWidget 구조</vt:lpstr>
      <vt:lpstr>내용 업데이트</vt:lpstr>
      <vt:lpstr>내용 업데이트</vt:lpstr>
      <vt:lpstr>내용 업데이트</vt:lpstr>
      <vt:lpstr>내용 업데이트</vt:lpstr>
      <vt:lpstr>내용 업데이트</vt:lpstr>
      <vt:lpstr>내용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임의의 주기로 업데이트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2157</cp:revision>
  <cp:lastPrinted>2011-05-09T07:52:42Z</cp:lastPrinted>
  <dcterms:created xsi:type="dcterms:W3CDTF">2010-10-12T07:50:15Z</dcterms:created>
  <dcterms:modified xsi:type="dcterms:W3CDTF">2017-11-28T04:53:11Z</dcterms:modified>
</cp:coreProperties>
</file>