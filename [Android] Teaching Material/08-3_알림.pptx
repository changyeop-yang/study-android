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46"/>
  </p:notesMasterIdLst>
  <p:sldIdLst>
    <p:sldId id="591" r:id="rId2"/>
    <p:sldId id="592" r:id="rId3"/>
    <p:sldId id="593" r:id="rId4"/>
    <p:sldId id="594" r:id="rId5"/>
    <p:sldId id="595" r:id="rId6"/>
    <p:sldId id="636" r:id="rId7"/>
    <p:sldId id="598" r:id="rId8"/>
    <p:sldId id="599" r:id="rId9"/>
    <p:sldId id="600" r:id="rId10"/>
    <p:sldId id="601" r:id="rId11"/>
    <p:sldId id="602" r:id="rId12"/>
    <p:sldId id="644" r:id="rId13"/>
    <p:sldId id="603" r:id="rId14"/>
    <p:sldId id="605" r:id="rId15"/>
    <p:sldId id="606" r:id="rId16"/>
    <p:sldId id="607" r:id="rId17"/>
    <p:sldId id="608" r:id="rId18"/>
    <p:sldId id="610" r:id="rId19"/>
    <p:sldId id="611" r:id="rId20"/>
    <p:sldId id="612" r:id="rId21"/>
    <p:sldId id="614" r:id="rId22"/>
    <p:sldId id="615" r:id="rId23"/>
    <p:sldId id="637" r:id="rId24"/>
    <p:sldId id="617" r:id="rId25"/>
    <p:sldId id="618" r:id="rId26"/>
    <p:sldId id="619" r:id="rId27"/>
    <p:sldId id="620" r:id="rId28"/>
    <p:sldId id="625" r:id="rId29"/>
    <p:sldId id="626" r:id="rId30"/>
    <p:sldId id="627" r:id="rId31"/>
    <p:sldId id="628" r:id="rId32"/>
    <p:sldId id="645" r:id="rId33"/>
    <p:sldId id="630" r:id="rId34"/>
    <p:sldId id="638" r:id="rId35"/>
    <p:sldId id="632" r:id="rId36"/>
    <p:sldId id="633" r:id="rId37"/>
    <p:sldId id="634" r:id="rId38"/>
    <p:sldId id="635" r:id="rId39"/>
    <p:sldId id="639" r:id="rId40"/>
    <p:sldId id="640" r:id="rId41"/>
    <p:sldId id="641" r:id="rId42"/>
    <p:sldId id="642" r:id="rId43"/>
    <p:sldId id="643" r:id="rId44"/>
    <p:sldId id="294" r:id="rId45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6" autoAdjust="0"/>
    <p:restoredTop sz="82017" autoAdjust="0"/>
  </p:normalViewPr>
  <p:slideViewPr>
    <p:cSldViewPr snapToGrid="0">
      <p:cViewPr varScale="1">
        <p:scale>
          <a:sx n="73" d="100"/>
          <a:sy n="73" d="100"/>
        </p:scale>
        <p:origin x="188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java/lang/Runnable.html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eveloper.android.com/reference/android/app/Notification.Builder.html#Notification.Builder(android.content.Context, java.lang.String)" TargetMode="External"/><Relationship Id="rId5" Type="http://schemas.openxmlformats.org/officeDocument/2006/relationships/hyperlink" Target="https://developer.android.com/reference/android/content/Context.html" TargetMode="External"/><Relationship Id="rId4" Type="http://schemas.openxmlformats.org/officeDocument/2006/relationships/hyperlink" Target="https://developer.android.com/reference/android/app/Notification.Builder.html#Notification.Builder(android.content.Context)" TargetMode="Externa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457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74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448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014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136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355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971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288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임의의 레이아웃을 가지는 토스트를 생성할 수 있음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040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134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android:src</a:t>
            </a:r>
            <a:r>
              <a:rPr lang="en-US" altLang="ko-KR" dirty="0" smtClean="0"/>
              <a:t>=“@</a:t>
            </a:r>
            <a:r>
              <a:rPr lang="en-US" altLang="ko-KR" dirty="0" err="1" smtClean="0"/>
              <a:t>mipmap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ic_launcher</a:t>
            </a:r>
            <a:r>
              <a:rPr lang="ko-KR" altLang="en-US" dirty="0" smtClean="0"/>
              <a:t>로 바꾼 부분은 </a:t>
            </a:r>
            <a:r>
              <a:rPr lang="en-US" altLang="ko-KR" dirty="0" smtClean="0"/>
              <a:t>Mac</a:t>
            </a:r>
            <a:r>
              <a:rPr lang="en-US" altLang="ko-KR" baseline="0" dirty="0" smtClean="0"/>
              <a:t> + Android Studio </a:t>
            </a:r>
            <a:r>
              <a:rPr lang="ko-KR" altLang="en-US" baseline="0" dirty="0" smtClean="0"/>
              <a:t>에서는 기본적으로 </a:t>
            </a:r>
            <a:r>
              <a:rPr lang="en-US" altLang="ko-KR" baseline="0" dirty="0" err="1" smtClean="0"/>
              <a:t>ic_launcher</a:t>
            </a:r>
            <a:r>
              <a:rPr lang="ko-KR" altLang="en-US" baseline="0" dirty="0" smtClean="0"/>
              <a:t> 파일이 </a:t>
            </a:r>
            <a:r>
              <a:rPr lang="en-US" altLang="ko-KR" baseline="0" dirty="0" err="1" smtClean="0"/>
              <a:t>mipmap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폴더 아래에 있기 때문이다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smtClean="0"/>
              <a:t>(</a:t>
            </a:r>
            <a:r>
              <a:rPr lang="ko-KR" altLang="en-US" baseline="0" dirty="0" smtClean="0"/>
              <a:t>원 예제에는 </a:t>
            </a:r>
            <a:r>
              <a:rPr lang="en-US" altLang="ko-KR" baseline="0" dirty="0" smtClean="0"/>
              <a:t>@</a:t>
            </a:r>
            <a:r>
              <a:rPr lang="en-US" altLang="ko-KR" baseline="0" dirty="0" err="1" smtClean="0"/>
              <a:t>drawable</a:t>
            </a:r>
            <a:r>
              <a:rPr lang="en-US" altLang="ko-KR" baseline="0" dirty="0" smtClean="0"/>
              <a:t>/~ </a:t>
            </a:r>
            <a:r>
              <a:rPr lang="ko-KR" altLang="en-US" baseline="0" dirty="0" smtClean="0"/>
              <a:t>로 되어있었음</a:t>
            </a:r>
            <a:r>
              <a:rPr lang="en-US" altLang="ko-KR" baseline="0" dirty="0" smtClean="0"/>
              <a:t>)</a:t>
            </a:r>
          </a:p>
          <a:p>
            <a:endParaRPr lang="en-US" altLang="ko-KR" baseline="0" dirty="0" smtClean="0"/>
          </a:p>
          <a:p>
            <a:r>
              <a:rPr lang="en-US" altLang="ko-KR" dirty="0" smtClean="0"/>
              <a:t>layout </a:t>
            </a:r>
            <a:r>
              <a:rPr lang="ko-KR" altLang="en-US" dirty="0" smtClean="0"/>
              <a:t>폴더</a:t>
            </a:r>
            <a:r>
              <a:rPr lang="ko-KR" altLang="en-US" baseline="0" dirty="0" smtClean="0"/>
              <a:t> </a:t>
            </a:r>
            <a:r>
              <a:rPr lang="ko-KR" altLang="en-US" dirty="0" smtClean="0"/>
              <a:t>우 클릭 </a:t>
            </a:r>
            <a:r>
              <a:rPr lang="en-US" altLang="ko-KR" dirty="0" smtClean="0"/>
              <a:t>-&gt; </a:t>
            </a:r>
            <a:r>
              <a:rPr lang="en-US" altLang="ko-KR" baseline="0" dirty="0" smtClean="0"/>
              <a:t>new -&gt; Layout source files </a:t>
            </a:r>
            <a:r>
              <a:rPr lang="ko-KR" altLang="en-US" baseline="0" dirty="0" smtClean="0"/>
              <a:t>로 생성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639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769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649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893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089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770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506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5719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버튼 대화상자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중립 버튼 클릭 시 나오는 결과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761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values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폴더 우클릭</a:t>
            </a:r>
            <a:r>
              <a:rPr lang="en-US" altLang="ko-KR" dirty="0" smtClean="0"/>
              <a:t>-&gt; New -&gt;</a:t>
            </a:r>
            <a:r>
              <a:rPr lang="en-US" altLang="ko-KR" baseline="0" dirty="0" smtClean="0"/>
              <a:t> Values resource file </a:t>
            </a:r>
            <a:r>
              <a:rPr lang="ko-KR" altLang="en-US" baseline="0" dirty="0" smtClean="0"/>
              <a:t>로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생성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9738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50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1261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7404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8310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6206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9954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smtClean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static</a:t>
            </a:r>
            <a:r>
              <a:rPr lang="en-US" altLang="ko-KR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200" dirty="0" smtClean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final</a:t>
            </a:r>
            <a:r>
              <a:rPr lang="en-US" altLang="ko-KR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200" dirty="0" err="1" smtClean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int</a:t>
            </a:r>
            <a:r>
              <a:rPr lang="en-US" altLang="ko-KR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200" dirty="0" smtClean="0">
                <a:solidFill>
                  <a:srgbClr val="0000C0"/>
                </a:solidFill>
                <a:latin typeface="돋움체" pitchFamily="49" charset="-127"/>
                <a:ea typeface="돋움체" pitchFamily="49" charset="-127"/>
              </a:rPr>
              <a:t>G_NOTIFY_NUM</a:t>
            </a:r>
            <a:r>
              <a:rPr lang="en-US" altLang="ko-KR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= 1; </a:t>
            </a:r>
            <a:r>
              <a:rPr lang="en-US" altLang="ko-KR" sz="1200" dirty="0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// </a:t>
            </a:r>
            <a:r>
              <a:rPr lang="ko-KR" altLang="en-US" sz="1200" dirty="0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식별</a:t>
            </a:r>
            <a:r>
              <a:rPr lang="en-US" altLang="ko-KR" sz="1200" dirty="0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ID</a:t>
            </a:r>
          </a:p>
          <a:p>
            <a:r>
              <a:rPr lang="en-US" altLang="ko-KR" dirty="0" smtClean="0"/>
              <a:t> -&gt; </a:t>
            </a:r>
            <a:r>
              <a:rPr lang="ko-KR" altLang="en-US" dirty="0" smtClean="0"/>
              <a:t>알림 식별 </a:t>
            </a:r>
            <a:r>
              <a:rPr lang="en-US" altLang="ko-KR" dirty="0" smtClean="0"/>
              <a:t>ID 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=====</a:t>
            </a:r>
          </a:p>
          <a:p>
            <a:r>
              <a:rPr lang="en-US" altLang="ko-KR" dirty="0" smtClean="0"/>
              <a:t>@Override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부분 위와 같이 맞추어 주었음 </a:t>
            </a:r>
            <a:r>
              <a:rPr lang="en-US" altLang="ko-KR" baseline="0" dirty="0" smtClean="0"/>
              <a:t>(Basic Activity </a:t>
            </a:r>
            <a:r>
              <a:rPr lang="ko-KR" altLang="en-US" baseline="0" dirty="0" smtClean="0"/>
              <a:t>기본설정에는 </a:t>
            </a:r>
            <a:r>
              <a:rPr lang="en-US" altLang="ko-KR" baseline="0" dirty="0" smtClean="0"/>
              <a:t>Protected</a:t>
            </a:r>
            <a:r>
              <a:rPr lang="ko-KR" altLang="en-US" baseline="0" dirty="0" smtClean="0"/>
              <a:t>로 되어있음</a:t>
            </a:r>
            <a:r>
              <a:rPr lang="en-US" altLang="ko-KR" baseline="0" dirty="0" smtClean="0"/>
              <a:t>)</a:t>
            </a:r>
          </a:p>
          <a:p>
            <a:r>
              <a:rPr lang="en-US" altLang="ko-KR" baseline="0" dirty="0" smtClean="0"/>
              <a:t>+ </a:t>
            </a:r>
            <a:r>
              <a:rPr lang="en-US" altLang="ko-KR" baseline="0" dirty="0" err="1" smtClean="0"/>
              <a:t>MainActivity</a:t>
            </a:r>
            <a:r>
              <a:rPr lang="en-US" altLang="ko-KR" baseline="0" dirty="0" smtClean="0"/>
              <a:t> extends </a:t>
            </a:r>
            <a:r>
              <a:rPr lang="ko-KR" altLang="en-US" baseline="0" dirty="0" smtClean="0"/>
              <a:t>부분을 위와 같이 맞추어주자 </a:t>
            </a:r>
            <a:r>
              <a:rPr lang="en-US" altLang="ko-KR" baseline="0" dirty="0" smtClean="0"/>
              <a:t>(Activity</a:t>
            </a:r>
            <a:r>
              <a:rPr lang="ko-KR" altLang="en-US" baseline="0" dirty="0" smtClean="0"/>
              <a:t>가 아닐 시에는 알림이 뜨질 않는다</a:t>
            </a:r>
            <a:r>
              <a:rPr lang="en-US" altLang="ko-KR" baseline="0" dirty="0" smtClean="0"/>
              <a:t>.)</a:t>
            </a:r>
          </a:p>
          <a:p>
            <a:r>
              <a:rPr lang="en-US" altLang="ko-KR" baseline="0" dirty="0" smtClean="0"/>
              <a:t>+ API 22 </a:t>
            </a:r>
            <a:r>
              <a:rPr lang="ko-KR" altLang="en-US" baseline="0" dirty="0" smtClean="0"/>
              <a:t>기준 에뮬레이터로 알림 마크가 상당히 늦게 </a:t>
            </a:r>
            <a:r>
              <a:rPr lang="en-US" altLang="ko-KR" baseline="0" dirty="0" smtClean="0"/>
              <a:t>On </a:t>
            </a:r>
            <a:r>
              <a:rPr lang="ko-KR" altLang="en-US" baseline="0" dirty="0" smtClean="0"/>
              <a:t>되었었다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065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 smtClean="0"/>
              <a:t>boolean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postDelayed</a:t>
            </a:r>
            <a:r>
              <a:rPr lang="en-US" altLang="ko-KR" b="1" dirty="0" smtClean="0"/>
              <a:t> (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Runnable</a:t>
            </a:r>
            <a:r>
              <a:rPr lang="en-US" altLang="ko-KR" b="1" dirty="0" smtClean="0"/>
              <a:t> action, long </a:t>
            </a:r>
            <a:r>
              <a:rPr lang="en-US" altLang="ko-KR" b="1" dirty="0" err="1" smtClean="0"/>
              <a:t>delayMillis</a:t>
            </a:r>
            <a:r>
              <a:rPr lang="en-US" altLang="ko-KR" b="1" dirty="0" smtClean="0"/>
              <a:t>)</a:t>
            </a:r>
            <a:endParaRPr lang="en-US" altLang="ko-KR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Causes the Runnable to be added to the message queue, to be run after the specified amount of time elapses. The runnable will be run on the user interface thread.</a:t>
            </a:r>
          </a:p>
          <a:p>
            <a:endParaRPr lang="en-US" altLang="ko-KR" sz="120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endParaRPr lang="en-US" altLang="ko-KR" sz="120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Notification.Builder</a:t>
            </a:r>
            <a:r>
              <a:rPr lang="en-US" altLang="ko-KR" dirty="0" smtClean="0"/>
              <a:t>(</a:t>
            </a:r>
            <a:r>
              <a:rPr lang="en-US" altLang="ko-KR" sz="120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Context</a:t>
            </a:r>
            <a:r>
              <a:rPr lang="en-US" altLang="ko-KR" dirty="0" smtClean="0"/>
              <a:t> context)</a:t>
            </a:r>
            <a:endParaRPr lang="en-US" altLang="ko-KR" b="1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altLang="ko-KR" sz="1200" b="1" i="1" u="none" kern="1200" dirty="0" smtClean="0">
                <a:solidFill>
                  <a:srgbClr val="00B0F0"/>
                </a:solidFill>
                <a:effectLst/>
                <a:latin typeface="+mn-lt"/>
                <a:ea typeface="+mn-ea"/>
                <a:cs typeface="+mn-cs"/>
              </a:rPr>
              <a:t>This constructor was deprecated in API level 26</a:t>
            </a:r>
            <a:r>
              <a:rPr lang="en-US" altLang="ko-KR" sz="1200" b="1" i="1" u="non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 </a:t>
            </a:r>
            <a:r>
              <a:rPr lang="en-US" altLang="ko-KR" sz="1200" b="1" i="1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Notification.Builder</a:t>
            </a:r>
            <a:r>
              <a:rPr lang="en-US" altLang="ko-KR" sz="1200" b="1" i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(Context, String)</a:t>
            </a:r>
            <a:r>
              <a:rPr lang="en-US" altLang="ko-KR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instead. </a:t>
            </a:r>
            <a:r>
              <a:rPr lang="en-US" altLang="ko-KR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posted Notifications must specify a </a:t>
            </a:r>
            <a:r>
              <a:rPr lang="en-US" altLang="ko-KR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NotificationChannel</a:t>
            </a:r>
            <a:r>
              <a:rPr lang="en-US" altLang="ko-KR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더 자세한 내용은 </a:t>
            </a:r>
            <a:r>
              <a:rPr lang="en-US" altLang="ko-KR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developer</a:t>
            </a:r>
            <a:r>
              <a:rPr lang="en-US" altLang="ko-KR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lang="ko-KR" altLang="en-US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사이트</a:t>
            </a:r>
            <a:r>
              <a:rPr lang="en-US" altLang="ko-KR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lang="ko-KR" altLang="en-US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참고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Notification( </a:t>
            </a:r>
            <a:r>
              <a:rPr lang="ko-KR" altLang="en-US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아이콘</a:t>
            </a:r>
            <a:r>
              <a:rPr lang="en-US" altLang="ko-KR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, String(</a:t>
            </a:r>
            <a:r>
              <a:rPr lang="ko-KR" altLang="en-US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짧은 </a:t>
            </a:r>
            <a:r>
              <a:rPr lang="en-US" altLang="ko-KR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text),</a:t>
            </a:r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millisecond )</a:t>
            </a:r>
          </a:p>
          <a:p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Icon : </a:t>
            </a:r>
            <a:r>
              <a:rPr lang="ko-KR" altLang="en-US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보여질 아이콘</a:t>
            </a:r>
            <a:endParaRPr lang="en-US" altLang="ko-KR" sz="1200" baseline="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String : </a:t>
            </a:r>
            <a:r>
              <a:rPr lang="ko-KR" altLang="en-US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보여질 내용</a:t>
            </a:r>
            <a:endParaRPr lang="en-US" altLang="ko-KR" sz="1200" baseline="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Millisecond : </a:t>
            </a:r>
            <a:r>
              <a:rPr lang="ko-KR" altLang="en-US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통지가</a:t>
            </a:r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ko-KR" altLang="en-US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발생한 시간</a:t>
            </a:r>
            <a:endParaRPr lang="en-US" altLang="ko-KR" sz="1200" baseline="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endParaRPr lang="en-US" altLang="ko-KR" dirty="0" smtClean="0"/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Notification </a:t>
            </a:r>
            <a:r>
              <a:rPr lang="ko-KR" altLang="en-US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옵션</a:t>
            </a:r>
            <a:endParaRPr lang="en-US" altLang="ko-KR" sz="120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 pitchFamily="49" charset="-127"/>
                <a:ea typeface="돋움체" pitchFamily="49" charset="-127"/>
              </a:rPr>
              <a:t>defaults</a:t>
            </a:r>
            <a:r>
              <a:rPr lang="en-US" altLang="ko-KR" sz="12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:</a:t>
            </a:r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(</a:t>
            </a:r>
            <a:r>
              <a:rPr lang="ko-KR" altLang="en-US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사운드 </a:t>
            </a:r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| </a:t>
            </a:r>
            <a:r>
              <a:rPr lang="ko-KR" altLang="en-US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진동 </a:t>
            </a:r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| </a:t>
            </a:r>
            <a:r>
              <a:rPr lang="ko-KR" altLang="en-US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화면  </a:t>
            </a:r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), </a:t>
            </a:r>
            <a:r>
              <a:rPr lang="ko-KR" altLang="en-US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전체</a:t>
            </a:r>
            <a:endParaRPr lang="en-US" altLang="ko-KR" sz="1200" baseline="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Flag : </a:t>
            </a:r>
            <a:r>
              <a:rPr lang="ko-KR" altLang="en-US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통지 메시지가 지워질 때</a:t>
            </a:r>
            <a:endParaRPr lang="en-US" altLang="ko-KR" sz="1200" baseline="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When : </a:t>
            </a:r>
            <a:r>
              <a:rPr lang="ko-KR" altLang="en-US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통지가</a:t>
            </a:r>
            <a:r>
              <a:rPr lang="en-US" altLang="ko-KR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ko-KR" altLang="en-US" sz="1200" baseline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발생한 시간</a:t>
            </a:r>
            <a:endParaRPr lang="en-US" altLang="ko-KR" sz="1200" baseline="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endParaRPr lang="en-US" altLang="ko-KR" sz="1200" baseline="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2111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4182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3591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619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7267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해당 이미지는 </a:t>
            </a:r>
            <a:r>
              <a:rPr lang="en-US" altLang="ko-KR" dirty="0" smtClean="0"/>
              <a:t>API 26 </a:t>
            </a:r>
            <a:r>
              <a:rPr lang="ko-KR" altLang="en-US" dirty="0" smtClean="0"/>
              <a:t>버전이고</a:t>
            </a:r>
            <a:r>
              <a:rPr lang="en-US" altLang="ko-KR" dirty="0" smtClean="0"/>
              <a:t>, Button</a:t>
            </a:r>
            <a:r>
              <a:rPr lang="ko-KR" altLang="en-US" dirty="0" smtClean="0"/>
              <a:t>의 껍데기만 존재하는 이미지임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9356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2568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시간을 짧게 변경해서 테스트해 보자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err="1" smtClean="0"/>
              <a:t>milli</a:t>
            </a:r>
            <a:r>
              <a:rPr lang="en-US" altLang="ko-KR" baseline="0" dirty="0" smtClean="0"/>
              <a:t> == 10</a:t>
            </a:r>
            <a:r>
              <a:rPr lang="ko-KR" altLang="en-US" baseline="0" dirty="0" smtClean="0"/>
              <a:t>의 </a:t>
            </a:r>
            <a:r>
              <a:rPr lang="en-US" altLang="ko-KR" baseline="0" dirty="0" smtClean="0"/>
              <a:t>-3</a:t>
            </a:r>
            <a:r>
              <a:rPr lang="ko-KR" altLang="en-US" baseline="0" dirty="0" smtClean="0"/>
              <a:t>승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5060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RTC (Real</a:t>
            </a:r>
            <a:r>
              <a:rPr lang="en-US" altLang="ko-KR" baseline="0" dirty="0" smtClean="0"/>
              <a:t> Time Clock) : </a:t>
            </a:r>
            <a:r>
              <a:rPr lang="en-US" altLang="ko-KR" dirty="0" smtClean="0"/>
              <a:t>https://ko.wikipedia.org/wiki/</a:t>
            </a:r>
            <a:r>
              <a:rPr lang="ko-KR" altLang="en-US" dirty="0" smtClean="0"/>
              <a:t>실시간</a:t>
            </a:r>
            <a:r>
              <a:rPr lang="en-US" altLang="ko-KR" dirty="0" smtClean="0"/>
              <a:t>_</a:t>
            </a:r>
            <a:r>
              <a:rPr lang="ko-KR" altLang="en-US" dirty="0" smtClean="0"/>
              <a:t>시계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4677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baseline="0" dirty="0" smtClean="0"/>
              <a:t>그냥 </a:t>
            </a:r>
            <a:r>
              <a:rPr lang="ko-KR" altLang="en-US" baseline="0" dirty="0" err="1" smtClean="0"/>
              <a:t>빌드하면</a:t>
            </a:r>
            <a:r>
              <a:rPr lang="ko-KR" altLang="en-US" baseline="0" dirty="0" smtClean="0"/>
              <a:t> 됨</a:t>
            </a:r>
            <a:r>
              <a:rPr lang="en-US" altLang="ko-KR" baseline="0" dirty="0" smtClean="0"/>
              <a:t>, but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…</a:t>
            </a:r>
            <a:r>
              <a:rPr lang="ko-KR" altLang="en-US" baseline="0" dirty="0" smtClean="0"/>
              <a:t>이와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같이 수정해 보자</a:t>
            </a: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4677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4677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4677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4677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4677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579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59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알림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/>
              <a:t>School of Computer Science and Engineering</a:t>
            </a:r>
          </a:p>
          <a:p>
            <a:r>
              <a:rPr lang="en-US" altLang="ko-KR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Toast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작은 팝업 대화상자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임시적인 알림 사항을 전달하기 위해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화면에 잠시 동안 나타나며 일정 시간이 지나면 자동으로 사라짐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알림을 전달하기만 할 뿐 포커스를 받지 않음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사용자가 화면을 주시하고 있는 순간에만 의미가 있음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일정한 </a:t>
            </a:r>
            <a:r>
              <a:rPr lang="ko-KR" altLang="en-US" dirty="0" err="1" smtClean="0"/>
              <a:t>시간동안</a:t>
            </a:r>
            <a:r>
              <a:rPr lang="ko-KR" altLang="en-US" dirty="0" smtClean="0"/>
              <a:t> 화면에 표시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LENGTH_SHORT: </a:t>
            </a:r>
            <a:r>
              <a:rPr lang="ko-KR" altLang="en-US" dirty="0" smtClean="0"/>
              <a:t>짧은 </a:t>
            </a:r>
            <a:r>
              <a:rPr lang="ko-KR" altLang="en-US" dirty="0" err="1" smtClean="0"/>
              <a:t>시간동안</a:t>
            </a:r>
            <a:r>
              <a:rPr lang="ko-KR" altLang="en-US" dirty="0" smtClean="0"/>
              <a:t> 표시 </a:t>
            </a:r>
            <a:r>
              <a:rPr lang="en-US" altLang="ko-KR" dirty="0" smtClean="0"/>
              <a:t>(</a:t>
            </a:r>
            <a:r>
              <a:rPr lang="ko-KR" altLang="en-US" dirty="0" smtClean="0"/>
              <a:t>대략 </a:t>
            </a:r>
            <a:r>
              <a:rPr lang="en-US" altLang="ko-KR" dirty="0" smtClean="0"/>
              <a:t>2</a:t>
            </a:r>
            <a:r>
              <a:rPr lang="ko-KR" altLang="en-US" dirty="0" smtClean="0"/>
              <a:t>초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LENGTH_LONG: </a:t>
            </a:r>
            <a:r>
              <a:rPr lang="ko-KR" altLang="en-US" dirty="0" smtClean="0"/>
              <a:t>긴 </a:t>
            </a:r>
            <a:r>
              <a:rPr lang="ko-KR" altLang="en-US" dirty="0" err="1" smtClean="0"/>
              <a:t>시간동안</a:t>
            </a:r>
            <a:r>
              <a:rPr lang="ko-KR" altLang="en-US" dirty="0" smtClean="0"/>
              <a:t> 표시 </a:t>
            </a:r>
            <a:r>
              <a:rPr lang="en-US" altLang="ko-KR" dirty="0" smtClean="0"/>
              <a:t>(</a:t>
            </a:r>
            <a:r>
              <a:rPr lang="ko-KR" altLang="en-US" dirty="0" smtClean="0"/>
              <a:t>대략 </a:t>
            </a:r>
            <a:r>
              <a:rPr lang="en-US" altLang="ko-KR" dirty="0" smtClean="0"/>
              <a:t>4</a:t>
            </a:r>
            <a:r>
              <a:rPr lang="ko-KR" altLang="en-US" dirty="0" smtClean="0"/>
              <a:t>초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연속적으로 </a:t>
            </a:r>
            <a:r>
              <a:rPr lang="ko-KR" altLang="en-US" dirty="0"/>
              <a:t>토스트가 출력될 경우 차례대로 쌓여있다가 순서대로 표시됨</a:t>
            </a:r>
            <a:endParaRPr lang="en-US" altLang="ko-KR" dirty="0"/>
          </a:p>
          <a:p>
            <a:pPr lvl="2"/>
            <a:r>
              <a:rPr lang="ko-KR" altLang="en-US" dirty="0"/>
              <a:t>빠르게 흐르는 메시지 전달에는 부적합</a:t>
            </a:r>
            <a:endParaRPr lang="en-US" altLang="ko-KR" dirty="0"/>
          </a:p>
          <a:p>
            <a:pPr lvl="1"/>
            <a:r>
              <a:rPr lang="ko-KR" altLang="en-US" dirty="0" smtClean="0"/>
              <a:t>내용의 길이에 따라 표시 시간을 선택하는 것이 일반적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690" y="5545455"/>
            <a:ext cx="2186940" cy="943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853" y="5345573"/>
            <a:ext cx="34194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218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메시지 전달과 의사 확인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복잡한 메시지의 전달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간단한 사용자의 의사 확인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사용자가 확인할 때까지 화면에 출력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dirty="0" err="1" smtClean="0"/>
              <a:t>AlertDialog.Builder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Dialog </a:t>
            </a:r>
            <a:r>
              <a:rPr lang="ko-KR" altLang="en-US" dirty="0" smtClean="0"/>
              <a:t>클래스는 매우 복잡하므로 고수준으로 </a:t>
            </a:r>
            <a:r>
              <a:rPr lang="ko-KR" altLang="en-US" dirty="0" err="1" smtClean="0"/>
              <a:t>래핑된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AlertDialog</a:t>
            </a:r>
            <a:r>
              <a:rPr lang="ko-KR" altLang="en-US" dirty="0" smtClean="0"/>
              <a:t>를 주로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내부 클래스인 </a:t>
            </a:r>
            <a:r>
              <a:rPr lang="en-US" altLang="ko-KR" dirty="0" smtClean="0"/>
              <a:t>Builder</a:t>
            </a:r>
            <a:r>
              <a:rPr lang="ko-KR" altLang="en-US" dirty="0" smtClean="0"/>
              <a:t>를 통해 생성하여 사용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690" y="4710113"/>
            <a:ext cx="327660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275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0" t="2101" r="16483" b="65303"/>
          <a:stretch/>
        </p:blipFill>
        <p:spPr bwMode="auto">
          <a:xfrm>
            <a:off x="856756" y="3770277"/>
            <a:ext cx="3555224" cy="2098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Notification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백그라운드의 사건 발생을 알림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사용자가 화면을 주시하고 있지 않은 시기의 사건 통지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반드시 확인이 필요한 중요 전달 사항에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진동</a:t>
            </a:r>
            <a:r>
              <a:rPr lang="en-US" altLang="ko-KR" dirty="0" smtClean="0"/>
              <a:t>, </a:t>
            </a:r>
            <a:r>
              <a:rPr lang="ko-KR" altLang="en-US" dirty="0" smtClean="0"/>
              <a:t>조명 등과 함께 사용되어 사용자의 주의 환기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안내 내용이 잠시 표시되지만 화면 상단의 아이콘이 내용을 확인할 </a:t>
            </a:r>
            <a:r>
              <a:rPr lang="ko-KR" altLang="en-US" dirty="0"/>
              <a:t>때까지 </a:t>
            </a:r>
            <a:r>
              <a:rPr lang="ko-KR" altLang="en-US" dirty="0" smtClean="0"/>
              <a:t>표시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상태란을</a:t>
            </a:r>
            <a:r>
              <a:rPr lang="ko-KR" altLang="en-US" dirty="0" smtClean="0"/>
              <a:t> 아래로 드래그하면 상세한 내용을 확인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알림을 클릭하면 정해진 </a:t>
            </a:r>
            <a:r>
              <a:rPr lang="ko-KR" altLang="en-US" dirty="0" err="1" smtClean="0"/>
              <a:t>액티비티에게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인텐트</a:t>
            </a:r>
            <a:r>
              <a:rPr lang="ko-KR" altLang="en-US" dirty="0" smtClean="0"/>
              <a:t> 전달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4" name="Frame 13"/>
          <p:cNvSpPr/>
          <p:nvPr/>
        </p:nvSpPr>
        <p:spPr>
          <a:xfrm>
            <a:off x="856756" y="3735078"/>
            <a:ext cx="1568767" cy="319012"/>
          </a:xfrm>
          <a:prstGeom prst="fram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1" r="16207" b="72595"/>
          <a:stretch/>
        </p:blipFill>
        <p:spPr bwMode="auto">
          <a:xfrm>
            <a:off x="4612947" y="4640470"/>
            <a:ext cx="3516924" cy="1742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Frame 14"/>
          <p:cNvSpPr/>
          <p:nvPr/>
        </p:nvSpPr>
        <p:spPr>
          <a:xfrm>
            <a:off x="4612947" y="5369458"/>
            <a:ext cx="3516924" cy="626595"/>
          </a:xfrm>
          <a:prstGeom prst="frame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41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Alarm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 smtClean="0"/>
              <a:t>미리 정해 놓은 시간에 이벤트 발생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운영체제가 관리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알람을</a:t>
            </a:r>
            <a:r>
              <a:rPr lang="ko-KR" altLang="en-US" dirty="0" smtClean="0"/>
              <a:t> 호출한 어플리케이션이 종료되더라도 여전히 작동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설정된 </a:t>
            </a:r>
            <a:r>
              <a:rPr lang="ko-KR" altLang="en-US" dirty="0" err="1" smtClean="0"/>
              <a:t>알람을</a:t>
            </a:r>
            <a:r>
              <a:rPr lang="ko-KR" altLang="en-US" dirty="0" smtClean="0"/>
              <a:t> 취소하기 위해서는 명시적으로 취소 시키거나 기기를 </a:t>
            </a:r>
            <a:r>
              <a:rPr lang="ko-KR" altLang="en-US" dirty="0" err="1" smtClean="0"/>
              <a:t>재부팅</a:t>
            </a:r>
            <a:endParaRPr lang="en-US" altLang="ko-KR" dirty="0" smtClean="0"/>
          </a:p>
          <a:p>
            <a:pPr lvl="1"/>
            <a:r>
              <a:rPr lang="ko-KR" altLang="en-US" dirty="0" err="1"/>
              <a:t>안드로이드</a:t>
            </a:r>
            <a:r>
              <a:rPr lang="ko-KR" altLang="en-US" dirty="0"/>
              <a:t> 시스템이 대기 상태이더라도 기기를 활성화시킨 후 작동</a:t>
            </a:r>
            <a:endParaRPr lang="en-US" altLang="ko-KR" dirty="0"/>
          </a:p>
          <a:p>
            <a:pPr lvl="1"/>
            <a:r>
              <a:rPr lang="ko-KR" altLang="en-US" dirty="0" smtClean="0"/>
              <a:t>전원이 꺼진 상태가 아니라면 어떤 조건에서라도 동작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다양한 활용</a:t>
            </a:r>
            <a:endParaRPr lang="en-US" altLang="ko-KR" dirty="0" smtClean="0"/>
          </a:p>
          <a:p>
            <a:pPr lvl="1"/>
            <a:r>
              <a:rPr lang="ko-KR" altLang="en-US" dirty="0"/>
              <a:t>정해진 시간에 각종 진동과 소리로 </a:t>
            </a:r>
            <a:r>
              <a:rPr lang="ko-KR" altLang="en-US" dirty="0" err="1"/>
              <a:t>모닝콜</a:t>
            </a:r>
            <a:r>
              <a:rPr lang="ko-KR" altLang="en-US" dirty="0"/>
              <a:t> </a:t>
            </a:r>
            <a:r>
              <a:rPr lang="ko-KR" altLang="en-US" dirty="0" smtClean="0"/>
              <a:t>작동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네트워크 </a:t>
            </a:r>
            <a:r>
              <a:rPr lang="ko-KR" altLang="en-US" dirty="0" err="1" smtClean="0"/>
              <a:t>패킷이</a:t>
            </a:r>
            <a:r>
              <a:rPr lang="ko-KR" altLang="en-US" dirty="0" smtClean="0"/>
              <a:t> 할인되는 시간대에 예약된 다운로드 수행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잠든 시간대에 메일과 뉴스 정보 수집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구현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AlarmManager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클래스로 관리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한번만 동작하는 알람</a:t>
            </a:r>
            <a:r>
              <a:rPr lang="en-US" altLang="ko-KR" dirty="0" smtClean="0"/>
              <a:t>(set method)</a:t>
            </a:r>
            <a:r>
              <a:rPr lang="ko-KR" altLang="en-US" dirty="0" smtClean="0"/>
              <a:t>과 주기적으로 동작하는 알람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setRepeating</a:t>
            </a:r>
            <a:r>
              <a:rPr lang="en-US" altLang="ko-KR" dirty="0" smtClean="0"/>
              <a:t> method)</a:t>
            </a:r>
          </a:p>
          <a:p>
            <a:pPr lvl="1"/>
            <a:r>
              <a:rPr lang="ko-KR" altLang="en-US" dirty="0" smtClean="0"/>
              <a:t>과거 시간을 입력할 경우 </a:t>
            </a:r>
            <a:r>
              <a:rPr lang="ko-KR" altLang="en-US" dirty="0" err="1" smtClean="0"/>
              <a:t>알람이</a:t>
            </a:r>
            <a:r>
              <a:rPr lang="en-US" altLang="ko-KR" dirty="0" smtClean="0"/>
              <a:t> </a:t>
            </a:r>
            <a:r>
              <a:rPr lang="ko-KR" altLang="en-US" dirty="0" smtClean="0"/>
              <a:t>즉시 작동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36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#8.3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Toast, Notification, Dialog, Alarm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00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Toast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 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4012637" cy="48320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11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"@+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id/button1“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100" i="1" dirty="0">
                <a:solidFill>
                  <a:srgbClr val="2A00FF"/>
                </a:solidFill>
                <a:latin typeface="맑은 고딕"/>
              </a:rPr>
              <a:t>짧은 토스트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1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"@+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id/button2“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100" i="1" dirty="0">
                <a:solidFill>
                  <a:srgbClr val="2A00FF"/>
                </a:solidFill>
                <a:latin typeface="맑은 고딕"/>
              </a:rPr>
              <a:t>긴 토스트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1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"@+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id/button3“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100" i="1" dirty="0">
                <a:solidFill>
                  <a:srgbClr val="2A00FF"/>
                </a:solidFill>
                <a:latin typeface="맑은 고딕"/>
              </a:rPr>
              <a:t>취소되고 다시 올라오는 토스트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1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"@+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id/button4“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100" i="1" dirty="0">
                <a:solidFill>
                  <a:srgbClr val="2A00FF"/>
                </a:solidFill>
                <a:latin typeface="맑은 고딕"/>
              </a:rPr>
              <a:t>사라지지 않고 내용이 변경되는 토스트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1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 smtClean="0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1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 smtClean="0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 smtClean="0">
                <a:solidFill>
                  <a:srgbClr val="008080"/>
                </a:solidFill>
                <a:latin typeface="맑은 고딕"/>
              </a:rPr>
              <a:t>/&gt;</a:t>
            </a:r>
            <a:endParaRPr lang="en-US" altLang="ko-KR" sz="1100" dirty="0">
              <a:solidFill>
                <a:srgbClr val="008080"/>
              </a:solidFill>
              <a:latin typeface="맑은 고딕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713" y="1452292"/>
            <a:ext cx="2847730" cy="530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8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Toast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5186035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Toast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mCnt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0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onClickButton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switch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v.getId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case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R.id.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button1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Toast.makeText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짧은 </a:t>
            </a:r>
            <a:r>
              <a:rPr lang="ko-KR" altLang="en-US" sz="1200" dirty="0" smtClean="0">
                <a:solidFill>
                  <a:srgbClr val="2A00FF"/>
                </a:solidFill>
                <a:latin typeface="돋움체"/>
                <a:ea typeface="돋움체"/>
              </a:rPr>
              <a:t>시간 토스트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200" b="1" dirty="0" err="1">
                <a:solidFill>
                  <a:srgbClr val="0000C0"/>
                </a:solidFill>
                <a:latin typeface="돋움체"/>
                <a:ea typeface="돋움체"/>
              </a:rPr>
              <a:t>LENGTH_SHORT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).show();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case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R.id.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button2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Toast.makeText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긴 </a:t>
            </a:r>
            <a:r>
              <a:rPr lang="ko-KR" altLang="en-US" sz="1200" dirty="0" smtClean="0">
                <a:solidFill>
                  <a:srgbClr val="2A00FF"/>
                </a:solidFill>
                <a:latin typeface="돋움체"/>
                <a:ea typeface="돋움체"/>
              </a:rPr>
              <a:t>시간 토스트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200" b="1" dirty="0" err="1">
                <a:solidFill>
                  <a:srgbClr val="0000C0"/>
                </a:solidFill>
                <a:latin typeface="돋움체"/>
                <a:ea typeface="돋움체"/>
              </a:rPr>
              <a:t>LENGTH_LONG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).show();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case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R.id.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button3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!=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cancel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mCnt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++;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Toast.makeText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mCnt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번째 토스트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LENGTH_LONG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.setGravity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Gravity.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BOTTOM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|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Gravity.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LEFT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0, 0);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.show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937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  <a:endParaRPr lang="en-US" altLang="ko-KR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app/java/</a:t>
            </a:r>
            <a:r>
              <a:rPr lang="en-US" altLang="ko-KR" dirty="0" smtClean="0"/>
              <a:t>MainActivity</a:t>
            </a:r>
            <a:r>
              <a:rPr lang="en-US" altLang="ko-KR" dirty="0" smtClean="0">
                <a:solidFill>
                  <a:prstClr val="black"/>
                </a:solidFill>
              </a:rPr>
              <a:t>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50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Toast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5262979" cy="24929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case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R.id.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button4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Toast.makeText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LENGTH_SHORT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mCnt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++;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.setGravity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Gravity.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BOTTOM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|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Gravity.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RIGHT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0, 0);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setText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mCnt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번째 토스트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.show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790" y="1143635"/>
            <a:ext cx="2993463" cy="5577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7230" y="4865639"/>
            <a:ext cx="4419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※ </a:t>
            </a:r>
            <a:r>
              <a:rPr lang="ko-KR" altLang="en-US" sz="1600" dirty="0" smtClean="0"/>
              <a:t>세 번째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네번째</a:t>
            </a:r>
            <a:r>
              <a:rPr lang="ko-KR" altLang="en-US" sz="1600" dirty="0" smtClean="0"/>
              <a:t> 버튼의 경우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토스트가 사라지기 전 연속해서 여러 번 클릭해 보라</a:t>
            </a:r>
            <a:endParaRPr lang="ko-KR" altLang="en-US" sz="1600" dirty="0"/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7961386" y="2304767"/>
            <a:ext cx="138546" cy="1754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7056582" y="5116945"/>
            <a:ext cx="1108363" cy="4064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18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10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Toast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3805657" cy="16004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ko-KR" altLang="en-US" sz="1400" dirty="0">
                <a:latin typeface="맑은 고딕"/>
              </a:rPr>
              <a:t>    </a:t>
            </a:r>
            <a:r>
              <a:rPr lang="ko-KR" altLang="en-US" sz="1400" dirty="0" smtClean="0">
                <a:latin typeface="맑은 고딕"/>
              </a:rPr>
              <a:t>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400" i="1" dirty="0" err="1">
                <a:solidFill>
                  <a:srgbClr val="2A00FF"/>
                </a:solidFill>
                <a:latin typeface="맑은 고딕"/>
              </a:rPr>
              <a:t>커스텀</a:t>
            </a:r>
            <a:r>
              <a:rPr lang="ko-KR" altLang="en-US" sz="1400" i="1" dirty="0">
                <a:solidFill>
                  <a:srgbClr val="2A00FF"/>
                </a:solidFill>
                <a:latin typeface="맑은 고딕"/>
              </a:rPr>
              <a:t> 토스트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"@+id/button5"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 smtClean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941" y="1437289"/>
            <a:ext cx="2639915" cy="491906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567629" y="3489434"/>
            <a:ext cx="2052371" cy="2312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37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11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Toast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7785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</a:t>
            </a:r>
            <a:r>
              <a:rPr lang="en-US" altLang="ko-KR" dirty="0" smtClean="0">
                <a:solidFill>
                  <a:srgbClr val="00B0F0"/>
                </a:solidFill>
              </a:rPr>
              <a:t>layout</a:t>
            </a:r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smtClean="0">
                <a:solidFill>
                  <a:srgbClr val="00B0F0"/>
                </a:solidFill>
              </a:rPr>
              <a:t>toast.xml </a:t>
            </a:r>
            <a:r>
              <a:rPr lang="en-US" altLang="ko-KR" dirty="0" smtClean="0"/>
              <a:t> (</a:t>
            </a:r>
            <a:r>
              <a:rPr lang="en-US" altLang="ko-KR" dirty="0"/>
              <a:t>layout </a:t>
            </a:r>
            <a:r>
              <a:rPr lang="ko-KR" altLang="en-US" dirty="0"/>
              <a:t>폴더 우 클릭 </a:t>
            </a:r>
            <a:r>
              <a:rPr lang="en-US" altLang="ko-KR" dirty="0"/>
              <a:t>-&gt; new -&gt; Layout source files 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042" y="1926491"/>
            <a:ext cx="7231456" cy="449996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167042" y="2355700"/>
            <a:ext cx="6001013" cy="11862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6022428" y="6022429"/>
            <a:ext cx="651641" cy="2522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00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Toast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2918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</a:t>
            </a:r>
            <a:r>
              <a:rPr lang="en-US" altLang="ko-KR" dirty="0" smtClean="0">
                <a:solidFill>
                  <a:srgbClr val="00B0F0"/>
                </a:solidFill>
              </a:rPr>
              <a:t>layout</a:t>
            </a:r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smtClean="0">
                <a:solidFill>
                  <a:srgbClr val="00B0F0"/>
                </a:solidFill>
              </a:rPr>
              <a:t>toast.xml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8269956" cy="47089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&lt;?xml version="1.0" encoding="utf-8"?&gt;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xmlns:android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="http://schemas.android.com/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apk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/res/android"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="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="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“</a:t>
            </a:r>
          </a:p>
          <a:p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 </a:t>
            </a:r>
            <a:r>
              <a:rPr lang="en-US" altLang="ko-KR" sz="1200" dirty="0" smtClean="0">
                <a:solidFill>
                  <a:srgbClr val="2A00FF"/>
                </a:solidFill>
                <a:latin typeface="맑은 고딕"/>
              </a:rPr>
              <a:t>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android:orientation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"vertical"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LinearLayout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ImageView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>
                <a:latin typeface="맑은 고딕"/>
              </a:rPr>
              <a:t>    </a:t>
            </a:r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android:src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 smtClean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/>
              </a:rPr>
              <a:t>@</a:t>
            </a:r>
            <a:r>
              <a:rPr lang="en-US" altLang="ko-KR" sz="1200" b="1" dirty="0" err="1" smtClean="0">
                <a:solidFill>
                  <a:srgbClr val="FF0000"/>
                </a:solidFill>
                <a:latin typeface="맑은 고딕"/>
              </a:rPr>
              <a:t>mipmap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/>
              </a:rPr>
              <a:t>/</a:t>
            </a:r>
            <a:r>
              <a:rPr lang="en-US" altLang="ko-KR" sz="1200" b="1" dirty="0" err="1" smtClean="0">
                <a:solidFill>
                  <a:srgbClr val="FF0000"/>
                </a:solidFill>
                <a:latin typeface="맑은 고딕"/>
              </a:rPr>
              <a:t>ic_launcher</a:t>
            </a:r>
            <a:r>
              <a:rPr lang="en-US" altLang="ko-KR" sz="1200" dirty="0" smtClean="0">
                <a:solidFill>
                  <a:srgbClr val="2A00FF"/>
                </a:solidFill>
                <a:latin typeface="맑은 고딕"/>
              </a:rPr>
              <a:t>"</a:t>
            </a:r>
            <a:endParaRPr lang="en-US" altLang="ko-KR" sz="1200" dirty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200" dirty="0" smtClean="0">
                <a:latin typeface="맑은 고딕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 err="1" smtClean="0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dirty="0" smtClean="0">
                <a:solidFill>
                  <a:srgbClr val="2A00FF"/>
                </a:solidFill>
                <a:latin typeface="맑은 고딕"/>
              </a:rPr>
              <a:t>“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200" dirty="0" smtClean="0">
                <a:latin typeface="맑은 고딕"/>
              </a:rPr>
              <a:t>    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TextView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ko-KR" altLang="en-US" sz="1200" dirty="0">
                <a:latin typeface="맑은 고딕"/>
              </a:rPr>
              <a:t>    </a:t>
            </a:r>
            <a:r>
              <a:rPr lang="ko-KR" altLang="en-US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맑은 고딕"/>
              </a:rPr>
              <a:t>임의의 레이아웃을 가지는 토스트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\n</a:t>
            </a:r>
            <a:r>
              <a:rPr lang="ko-KR" altLang="en-US" sz="1200" dirty="0">
                <a:solidFill>
                  <a:srgbClr val="2A00FF"/>
                </a:solidFill>
                <a:latin typeface="맑은 고딕"/>
              </a:rPr>
              <a:t>무엇이라도 출력할 수 있지만 </a:t>
            </a:r>
            <a:r>
              <a:rPr lang="ko-KR" altLang="en-US" sz="1200" dirty="0" err="1">
                <a:solidFill>
                  <a:srgbClr val="2A00FF"/>
                </a:solidFill>
                <a:latin typeface="맑은 고딕"/>
              </a:rPr>
              <a:t>인터렉션은</a:t>
            </a:r>
            <a:r>
              <a:rPr lang="ko-KR" altLang="en-US" sz="1200" dirty="0">
                <a:solidFill>
                  <a:srgbClr val="2A00FF"/>
                </a:solidFill>
                <a:latin typeface="맑은 고딕"/>
              </a:rPr>
              <a:t> 불가능합니다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."</a:t>
            </a:r>
          </a:p>
          <a:p>
            <a:r>
              <a:rPr lang="en-US" altLang="ko-KR" sz="1200" dirty="0" smtClean="0">
                <a:latin typeface="맑은 고딕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latin typeface="맑은 고딕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200" dirty="0" smtClean="0">
                <a:latin typeface="맑은 고딕"/>
              </a:rPr>
              <a:t>    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LinearLayout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ko-KR" altLang="en-US" sz="1200" dirty="0" smtClean="0">
                <a:latin typeface="맑은 고딕"/>
              </a:rPr>
              <a:t>    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 smtClean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200" dirty="0" smtClean="0">
                <a:solidFill>
                  <a:srgbClr val="2A00FF"/>
                </a:solidFill>
                <a:latin typeface="맑은 고딕"/>
              </a:rPr>
              <a:t>버튼이 출력은 되지만 사용은 불가능</a:t>
            </a:r>
            <a:r>
              <a:rPr lang="en-US" altLang="ko-KR" sz="1200" dirty="0" smtClean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200" dirty="0" smtClean="0"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634990" y="2594332"/>
            <a:ext cx="3326130" cy="1172663"/>
          </a:xfrm>
          <a:prstGeom prst="horizontalScroll">
            <a:avLst>
              <a:gd name="adj" fmla="val 1067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토스트에 표시할 내용을 담은</a:t>
            </a:r>
            <a:endParaRPr lang="en-US" altLang="ko-KR" dirty="0" smtClean="0"/>
          </a:p>
          <a:p>
            <a:r>
              <a:rPr lang="ko-KR" altLang="en-US" dirty="0" smtClean="0"/>
              <a:t>레이아웃을 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014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7230" y="2080569"/>
            <a:ext cx="5211683" cy="18158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case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R.id.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button5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LinearLayout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l =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LinearLayout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View.inflate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R.layout.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toast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Toast t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Toast(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setView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(l);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t.setDuration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LENGTH_LONG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t.show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Toast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4025976" y="4353828"/>
            <a:ext cx="2154525" cy="1172663"/>
          </a:xfrm>
          <a:prstGeom prst="horizontalScroll">
            <a:avLst>
              <a:gd name="adj" fmla="val 1067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토스트에 </a:t>
            </a:r>
            <a:r>
              <a:rPr lang="en-US" altLang="ko-KR" dirty="0" smtClean="0"/>
              <a:t>View</a:t>
            </a:r>
            <a:r>
              <a:rPr lang="ko-KR" altLang="en-US" dirty="0" smtClean="0"/>
              <a:t>를 할당하여 출력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343" y="1926492"/>
            <a:ext cx="2158685" cy="4022364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867044" y="4561490"/>
            <a:ext cx="1362556" cy="50449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07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3038011" cy="48320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11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"@+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id/button6“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100" i="1" dirty="0">
                <a:solidFill>
                  <a:srgbClr val="2A00FF"/>
                </a:solidFill>
                <a:latin typeface="맑은 고딕"/>
              </a:rPr>
              <a:t>일반 대화상자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1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"@+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id/button7“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100" i="1" dirty="0">
                <a:solidFill>
                  <a:srgbClr val="2A00FF"/>
                </a:solidFill>
                <a:latin typeface="맑은 고딕"/>
              </a:rPr>
              <a:t>버튼 대화상자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1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1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"@+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id/button8“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100" i="1" dirty="0">
                <a:solidFill>
                  <a:srgbClr val="2A00FF"/>
                </a:solidFill>
                <a:latin typeface="맑은 고딕"/>
              </a:rPr>
              <a:t>선택 대화상자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1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"@+</a:t>
            </a:r>
            <a:r>
              <a:rPr lang="en-US" altLang="ko-KR" sz="1100" i="1" dirty="0" smtClean="0">
                <a:solidFill>
                  <a:srgbClr val="2A00FF"/>
                </a:solidFill>
                <a:latin typeface="맑은 고딕"/>
              </a:rPr>
              <a:t>id/button9“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100" i="1" dirty="0" err="1">
                <a:solidFill>
                  <a:srgbClr val="2A00FF"/>
                </a:solidFill>
                <a:latin typeface="맑은 고딕"/>
              </a:rPr>
              <a:t>커스텀</a:t>
            </a:r>
            <a:r>
              <a:rPr lang="ko-KR" altLang="en-US" sz="1100" i="1" dirty="0">
                <a:solidFill>
                  <a:srgbClr val="2A00FF"/>
                </a:solidFill>
                <a:latin typeface="맑은 고딕"/>
              </a:rPr>
              <a:t> 대화상자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latin typeface="맑은 고딕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1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100" dirty="0" err="1" smtClean="0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1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100" dirty="0" smtClean="0">
                <a:latin typeface="맑은 고딕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맑은 고딕"/>
              </a:rPr>
              <a:t>/&gt;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290" y="1603325"/>
            <a:ext cx="2646596" cy="4931509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255172" y="3909848"/>
            <a:ext cx="2070537" cy="8955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57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649577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case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R.id.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button6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AlertDialog.Builder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dlg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AlertDialog.Builder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dlg.</a:t>
            </a:r>
            <a:r>
              <a:rPr lang="en-US" altLang="ko-KR" sz="12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setIcon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R.mipmap.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ic_launcher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/>
              </a:rPr>
              <a:t>dlg.setTitle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"Android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란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?"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);           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/>
              </a:rPr>
              <a:t>dlg.setMessage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"PC 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운영체제인 ‘윈도우’처럼 스마트폰에서 프로그램을 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실행하도록 하는 구글이 만든 모바일 전용 운영체제다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. "</a:t>
            </a:r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애플 아이폰 콘텐츠 장터인 ‘앱스토어’와 같이 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n-US" altLang="ko-KR" sz="1200" dirty="0" smtClean="0">
                <a:solidFill>
                  <a:srgbClr val="2A00FF"/>
                </a:solidFill>
                <a:latin typeface="Consolas"/>
              </a:rPr>
              <a:t>"‘Google </a:t>
            </a:r>
            <a:r>
              <a:rPr lang="en-US" altLang="ko-KR" sz="1200" dirty="0" err="1" smtClean="0">
                <a:solidFill>
                  <a:srgbClr val="2A00FF"/>
                </a:solidFill>
                <a:latin typeface="Consolas"/>
              </a:rPr>
              <a:t>Playstore</a:t>
            </a:r>
            <a:r>
              <a:rPr lang="ko-KR" altLang="en-US" sz="1200" dirty="0" smtClean="0">
                <a:solidFill>
                  <a:srgbClr val="2A00FF"/>
                </a:solidFill>
                <a:latin typeface="Consolas"/>
              </a:rPr>
              <a:t>’가 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있어서 누구나 원하는 게임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, 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뉴스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, "</a:t>
            </a:r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음악 등 콘텐츠를 내려 받을 수 있으며 구글 검색도 초기화면에서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 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쉽게 할 수 있다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. 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특히 애플이 폐쇄적으로 운영중인 아이폰 체제와 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달리 운영체제를 공개하고 있어 휴대폰 제조업체는 물론 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SK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텔레콤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" </a:t>
            </a:r>
            <a:r>
              <a:rPr lang="ko-KR" altLang="en-US" sz="1200" dirty="0">
                <a:solidFill>
                  <a:srgbClr val="2A00FF"/>
                </a:solidFill>
                <a:latin typeface="Consolas"/>
              </a:rPr>
              <a:t>등 이동통신사도 채택할 수 있는 것이 특징이다</a:t>
            </a:r>
            <a:r>
              <a:rPr lang="en-US" altLang="ko-KR" sz="1200" dirty="0">
                <a:solidFill>
                  <a:srgbClr val="2A00FF"/>
                </a:solidFill>
                <a:latin typeface="Consolas"/>
              </a:rPr>
              <a:t>."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dlg.</a:t>
            </a:r>
            <a:r>
              <a:rPr lang="en-US" altLang="ko-KR" sz="12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show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56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6172200" y="2443513"/>
            <a:ext cx="2840326" cy="682677"/>
          </a:xfrm>
          <a:prstGeom prst="horizontalScroll">
            <a:avLst>
              <a:gd name="adj" fmla="val 2042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긴 내용은 스크롤 가능</a:t>
            </a:r>
            <a:endParaRPr lang="ko-KR" altLang="en-US" dirty="0"/>
          </a:p>
        </p:txBody>
      </p:sp>
      <p:sp>
        <p:nvSpPr>
          <p:cNvPr id="8" name="가로로 말린 두루마리 모양 7"/>
          <p:cNvSpPr/>
          <p:nvPr/>
        </p:nvSpPr>
        <p:spPr>
          <a:xfrm>
            <a:off x="6172200" y="4944693"/>
            <a:ext cx="2840326" cy="1090347"/>
          </a:xfrm>
          <a:prstGeom prst="horizontalScroll">
            <a:avLst>
              <a:gd name="adj" fmla="val 12816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Activity</a:t>
            </a:r>
            <a:r>
              <a:rPr lang="ko-KR" altLang="en-US" dirty="0" smtClean="0"/>
              <a:t>가 일시 정지</a:t>
            </a:r>
            <a:endParaRPr lang="en-US" altLang="ko-KR" dirty="0" smtClean="0"/>
          </a:p>
          <a:p>
            <a:r>
              <a:rPr lang="en-US" altLang="ko-KR" dirty="0" smtClean="0">
                <a:solidFill>
                  <a:srgbClr val="FFFF00"/>
                </a:solidFill>
              </a:rPr>
              <a:t>Back</a:t>
            </a:r>
            <a:r>
              <a:rPr lang="ko-KR" altLang="en-US" dirty="0"/>
              <a:t> </a:t>
            </a:r>
            <a:r>
              <a:rPr lang="ko-KR" altLang="en-US" dirty="0" smtClean="0"/>
              <a:t>버튼 눌러야 꺼짐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348" y="1629727"/>
            <a:ext cx="2634615" cy="490918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429550" y="5765071"/>
            <a:ext cx="287079" cy="26156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14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85912" y="1926491"/>
            <a:ext cx="8084264" cy="32932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    case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R.id.</a:t>
            </a:r>
            <a:r>
              <a:rPr lang="en-US" altLang="ko-KR" sz="1600" dirty="0">
                <a:solidFill>
                  <a:srgbClr val="0000C0"/>
                </a:solidFill>
                <a:latin typeface="돋움체"/>
                <a:ea typeface="돋움체"/>
              </a:rPr>
              <a:t>button7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:  // ver1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new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AlertDialog.Builder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setTitle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smtClean="0">
                <a:solidFill>
                  <a:srgbClr val="2A00FF"/>
                </a:solidFill>
                <a:latin typeface="돋움체"/>
                <a:ea typeface="돋움체"/>
              </a:rPr>
              <a:t>＂</a:t>
            </a:r>
            <a:r>
              <a:rPr lang="ko-KR" altLang="en-US" sz="1600" dirty="0" smtClean="0">
                <a:solidFill>
                  <a:srgbClr val="2A00FF"/>
                </a:solidFill>
                <a:latin typeface="돋움체"/>
                <a:ea typeface="돋움체"/>
              </a:rPr>
              <a:t>안드로이드 수업 설문조사</a:t>
            </a:r>
            <a:r>
              <a:rPr lang="en-US" altLang="ko-KR" sz="1600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setMessage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smtClean="0">
                <a:solidFill>
                  <a:srgbClr val="2A00FF"/>
                </a:solidFill>
                <a:latin typeface="돋움체"/>
                <a:ea typeface="돋움체"/>
              </a:rPr>
              <a:t>＂</a:t>
            </a:r>
            <a:r>
              <a:rPr lang="ko-KR" altLang="en-US" sz="1600" dirty="0" smtClean="0">
                <a:solidFill>
                  <a:srgbClr val="2A00FF"/>
                </a:solidFill>
                <a:latin typeface="돋움체"/>
                <a:ea typeface="돋움체"/>
              </a:rPr>
              <a:t>안드로이드 수업 재미 있다</a:t>
            </a:r>
            <a:r>
              <a:rPr lang="en-US" altLang="ko-KR" sz="1600" dirty="0" smtClean="0">
                <a:solidFill>
                  <a:srgbClr val="2A00FF"/>
                </a:solidFill>
                <a:latin typeface="돋움체"/>
                <a:ea typeface="돋움체"/>
              </a:rPr>
              <a:t>?</a:t>
            </a:r>
            <a:r>
              <a:rPr lang="ko-KR" altLang="en-US" sz="1600" dirty="0" smtClean="0">
                <a:solidFill>
                  <a:srgbClr val="2A00FF"/>
                </a:solidFill>
                <a:latin typeface="돋움체"/>
                <a:ea typeface="돋움체"/>
              </a:rPr>
              <a:t>없다</a:t>
            </a:r>
            <a:r>
              <a:rPr lang="en-US" altLang="ko-KR" sz="1600" dirty="0" smtClean="0">
                <a:solidFill>
                  <a:srgbClr val="2A00FF"/>
                </a:solidFill>
                <a:latin typeface="돋움체"/>
                <a:ea typeface="돋움체"/>
              </a:rPr>
              <a:t>?</a:t>
            </a:r>
            <a:r>
              <a:rPr lang="ko-KR" altLang="en-US" sz="1600" dirty="0" smtClean="0">
                <a:solidFill>
                  <a:srgbClr val="2A00FF"/>
                </a:solidFill>
                <a:highlight>
                  <a:srgbClr val="E8F2FE"/>
                </a:highlight>
                <a:latin typeface="Consolas"/>
              </a:rPr>
              <a:t> </a:t>
            </a:r>
            <a:r>
              <a:rPr lang="en-US" altLang="ko-KR" sz="1600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setPositiveButton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닫기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DialogInterface.OnClickListener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600" dirty="0" smtClean="0">
                <a:solidFill>
                  <a:srgbClr val="646464"/>
                </a:solidFill>
                <a:latin typeface="돋움체"/>
                <a:ea typeface="돋움체"/>
              </a:rPr>
              <a:t>                        @</a:t>
            </a:r>
            <a:r>
              <a:rPr lang="en-US" altLang="ko-KR" sz="16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            public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onClick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DialogInterface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arg0, </a:t>
            </a:r>
            <a:r>
              <a:rPr lang="en-US" altLang="ko-KR" sz="16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arg1) {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}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}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.show();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5280660" y="4674526"/>
            <a:ext cx="3623310" cy="1090347"/>
          </a:xfrm>
          <a:prstGeom prst="horizontalScroll">
            <a:avLst>
              <a:gd name="adj" fmla="val 12816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Listener</a:t>
            </a:r>
            <a:r>
              <a:rPr lang="ko-KR" altLang="en-US" dirty="0" smtClean="0"/>
              <a:t>에 아무런 작업을 하지 않더라도 대화상자는 </a:t>
            </a:r>
            <a:r>
              <a:rPr lang="en-US" altLang="ko-KR" dirty="0" smtClean="0"/>
              <a:t>close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4" y="3642238"/>
            <a:ext cx="1697603" cy="316321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918512" y="3226676"/>
            <a:ext cx="5910178" cy="114562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304690" y="4055724"/>
            <a:ext cx="166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B050"/>
                </a:solidFill>
              </a:rPr>
              <a:t>Listener </a:t>
            </a:r>
            <a:r>
              <a:rPr lang="ko-KR" altLang="en-US" dirty="0" smtClean="0">
                <a:solidFill>
                  <a:srgbClr val="00B050"/>
                </a:solidFill>
              </a:rPr>
              <a:t>객체</a:t>
            </a:r>
            <a:r>
              <a:rPr lang="en-US" altLang="ko-KR" dirty="0" smtClean="0">
                <a:solidFill>
                  <a:srgbClr val="00B050"/>
                </a:solidFill>
              </a:rPr>
              <a:t> </a:t>
            </a:r>
            <a:endParaRPr lang="ko-KR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0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7227" y="1926491"/>
            <a:ext cx="6237605" cy="25545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case R.id.button7: // ver2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new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AlertDialog.Builder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(this)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	  </a:t>
            </a:r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setTitle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(“</a:t>
            </a:r>
            <a:r>
              <a:rPr lang="ko-KR" altLang="en-US" sz="1600" dirty="0" err="1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안드로이드</a:t>
            </a:r>
            <a:r>
              <a:rPr lang="ko-KR" altLang="en-US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수업 설문조사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")</a:t>
            </a: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setMessage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(“</a:t>
            </a:r>
            <a:r>
              <a:rPr lang="ko-KR" altLang="en-US" sz="1600" dirty="0" err="1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안드로이드</a:t>
            </a:r>
            <a:r>
              <a:rPr lang="ko-KR" altLang="en-US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수업 </a:t>
            </a:r>
            <a:r>
              <a:rPr lang="ko-KR" altLang="en-US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재미있다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? </a:t>
            </a:r>
            <a:r>
              <a:rPr lang="ko-KR" altLang="en-US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없다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?")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setPositiveButton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 smtClean="0">
                <a:solidFill>
                  <a:srgbClr val="2A00FF"/>
                </a:solidFill>
                <a:latin typeface="돋움체"/>
                <a:ea typeface="돋움체"/>
              </a:rPr>
              <a:t>긍정적 닫기</a:t>
            </a:r>
            <a:r>
              <a:rPr lang="en-US" altLang="ko-KR" sz="1600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setNeutralButton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중립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setNegativeButton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 smtClean="0">
                <a:solidFill>
                  <a:srgbClr val="2A00FF"/>
                </a:solidFill>
                <a:latin typeface="돋움체"/>
                <a:ea typeface="돋움체"/>
              </a:rPr>
              <a:t>부정적 닫기</a:t>
            </a:r>
            <a:r>
              <a:rPr lang="en-US" altLang="ko-KR" sz="1600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setCancelable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(false)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.show();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break;</a:t>
            </a: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3137626" y="4481036"/>
            <a:ext cx="3211830" cy="1090347"/>
          </a:xfrm>
          <a:prstGeom prst="horizontalScroll">
            <a:avLst>
              <a:gd name="adj" fmla="val 12816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긍정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중립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부정의 총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개의 버튼 사용 가능</a:t>
            </a:r>
            <a:endParaRPr lang="en-US" altLang="ko-KR" dirty="0" smtClean="0"/>
          </a:p>
        </p:txBody>
      </p:sp>
      <p:sp>
        <p:nvSpPr>
          <p:cNvPr id="9" name="가로로 말린 두루마리 모양 5"/>
          <p:cNvSpPr/>
          <p:nvPr/>
        </p:nvSpPr>
        <p:spPr>
          <a:xfrm>
            <a:off x="3149690" y="5571383"/>
            <a:ext cx="3028950" cy="1090347"/>
          </a:xfrm>
          <a:prstGeom prst="horizontalScroll">
            <a:avLst>
              <a:gd name="adj" fmla="val 12816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그저 닫기만 하는 거라면 </a:t>
            </a:r>
            <a:r>
              <a:rPr lang="en-US" altLang="ko-KR" dirty="0" smtClean="0"/>
              <a:t>Listener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null </a:t>
            </a:r>
            <a:r>
              <a:rPr lang="ko-KR" altLang="en-US" dirty="0" smtClean="0"/>
              <a:t>할당</a:t>
            </a:r>
            <a:endParaRPr lang="en-US" altLang="ko-KR" dirty="0" smtClean="0"/>
          </a:p>
        </p:txBody>
      </p:sp>
      <p:sp>
        <p:nvSpPr>
          <p:cNvPr id="10" name="가로로 말린 두루마리 모양 6"/>
          <p:cNvSpPr/>
          <p:nvPr/>
        </p:nvSpPr>
        <p:spPr>
          <a:xfrm>
            <a:off x="92265" y="4538570"/>
            <a:ext cx="2873850" cy="1090347"/>
          </a:xfrm>
          <a:prstGeom prst="horizontalScroll">
            <a:avLst>
              <a:gd name="adj" fmla="val 12816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 smtClean="0"/>
              <a:t>setCancelable</a:t>
            </a:r>
            <a:r>
              <a:rPr lang="ko-KR" altLang="en-US" dirty="0" smtClean="0"/>
              <a:t>을 통해서 </a:t>
            </a:r>
            <a:r>
              <a:rPr lang="en-US" altLang="ko-KR" dirty="0" smtClean="0"/>
              <a:t>Back </a:t>
            </a:r>
            <a:r>
              <a:rPr lang="ko-KR" altLang="en-US" dirty="0" smtClean="0"/>
              <a:t>버튼의 사용 여부 설정</a:t>
            </a:r>
            <a:endParaRPr lang="en-US" altLang="ko-KR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462" y="1926491"/>
            <a:ext cx="2298601" cy="428307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933464" y="4162096"/>
            <a:ext cx="1548383" cy="241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710172" y="3677568"/>
            <a:ext cx="110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B050"/>
                </a:solidFill>
              </a:rPr>
              <a:t>Listener</a:t>
            </a:r>
            <a:endParaRPr lang="ko-KR" altLang="en-US" dirty="0">
              <a:solidFill>
                <a:srgbClr val="00B050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4876800" y="3203763"/>
            <a:ext cx="385165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4088524" y="3434991"/>
            <a:ext cx="385165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4876799" y="3696697"/>
            <a:ext cx="385165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45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647974" cy="43396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Toast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mMsg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null;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mCnt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0;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DialogInterface.OnClickListener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b="1" dirty="0" err="1">
                <a:solidFill>
                  <a:srgbClr val="0000C0"/>
                </a:solidFill>
                <a:highlight>
                  <a:srgbClr val="F0D8A8"/>
                </a:highlight>
                <a:latin typeface="돋움체"/>
                <a:ea typeface="돋움체"/>
              </a:rPr>
              <a:t>mClick</a:t>
            </a:r>
            <a:r>
              <a:rPr lang="en-US" altLang="ko-KR" sz="1200" dirty="0">
                <a:solidFill>
                  <a:srgbClr val="000000"/>
                </a:solidFill>
                <a:highlight>
                  <a:srgbClr val="F0D8A8"/>
                </a:highlight>
                <a:latin typeface="돋움체"/>
                <a:ea typeface="돋움체"/>
              </a:rPr>
              <a:t> = </a:t>
            </a:r>
            <a:r>
              <a:rPr lang="en-US" altLang="ko-KR" sz="1200" dirty="0">
                <a:solidFill>
                  <a:srgbClr val="7F0055"/>
                </a:solidFill>
                <a:highlight>
                  <a:srgbClr val="F0D8A8"/>
                </a:highlight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highlight>
                  <a:srgbClr val="F0D8A8"/>
                </a:highlight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highlight>
                  <a:srgbClr val="F0D8A8"/>
                </a:highlight>
                <a:latin typeface="돋움체"/>
                <a:ea typeface="돋움체"/>
              </a:rPr>
              <a:t>DialogInterface.OnClickListener</a:t>
            </a:r>
            <a:r>
              <a:rPr lang="en-US" altLang="ko-KR" sz="1200" dirty="0">
                <a:solidFill>
                  <a:srgbClr val="000000"/>
                </a:solidFill>
                <a:highlight>
                  <a:srgbClr val="F0D8A8"/>
                </a:highlight>
                <a:latin typeface="돋움체"/>
                <a:ea typeface="돋움체"/>
              </a:rPr>
              <a:t>() {</a:t>
            </a:r>
          </a:p>
          <a:p>
            <a:r>
              <a:rPr lang="en-US" altLang="ko-KR" sz="1200" dirty="0" smtClean="0">
                <a:solidFill>
                  <a:srgbClr val="646464"/>
                </a:solidFill>
                <a:latin typeface="돋움체"/>
                <a:ea typeface="돋움체"/>
              </a:rPr>
              <a:t>        @</a:t>
            </a:r>
            <a:r>
              <a:rPr lang="en-US" altLang="ko-KR" sz="12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onClick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DialogInterface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dialog,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button) {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switch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(button) {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case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DialogInterface.</a:t>
            </a:r>
            <a:r>
              <a:rPr lang="en-US" altLang="ko-KR" sz="1200" b="1" dirty="0" err="1">
                <a:solidFill>
                  <a:srgbClr val="0000C0"/>
                </a:solidFill>
                <a:latin typeface="돋움체"/>
                <a:ea typeface="돋움체"/>
              </a:rPr>
              <a:t>BUTTON_POSITIVE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Toast.makeText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MainActivity.</a:t>
            </a:r>
            <a:r>
              <a:rPr lang="en-US" altLang="ko-KR" sz="1200" dirty="0" err="1" smtClean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                        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난 긍정적인 사람이 좋더라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~"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LENGTH_SHORT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).show();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    break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case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DialogInterface.</a:t>
            </a:r>
            <a:r>
              <a:rPr lang="en-US" altLang="ko-KR" sz="1200" b="1" dirty="0" err="1">
                <a:solidFill>
                  <a:srgbClr val="0000C0"/>
                </a:solidFill>
                <a:latin typeface="돋움체"/>
                <a:ea typeface="돋움체"/>
              </a:rPr>
              <a:t>BUTTON_NEUTRAL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Toast.makeText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MainActivity.</a:t>
            </a:r>
            <a:r>
              <a:rPr lang="en-US" altLang="ko-KR" sz="1200" dirty="0" err="1" smtClean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                        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중립적이시군요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."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LENGTH_SHORT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).show();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    break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case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DialogInterface.</a:t>
            </a:r>
            <a:r>
              <a:rPr lang="en-US" altLang="ko-KR" sz="1200" b="1" dirty="0" err="1">
                <a:solidFill>
                  <a:srgbClr val="0000C0"/>
                </a:solidFill>
                <a:latin typeface="돋움체"/>
                <a:ea typeface="돋움체"/>
              </a:rPr>
              <a:t>BUTTON_NEGATIVE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Toast.makeText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MainActivity.</a:t>
            </a:r>
            <a:r>
              <a:rPr lang="en-US" altLang="ko-KR" sz="1200" dirty="0" err="1" smtClean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                        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이런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, 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부정적인 </a:t>
            </a:r>
            <a:r>
              <a:rPr lang="ko-KR" altLang="en-US" sz="1200" dirty="0" err="1">
                <a:solidFill>
                  <a:srgbClr val="2A00FF"/>
                </a:solidFill>
                <a:latin typeface="돋움체"/>
                <a:ea typeface="돋움체"/>
              </a:rPr>
              <a:t>사람같으니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~"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LENGTH_SHORT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).show();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    break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};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onClickButton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(View v) {</a:t>
            </a: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6252210" y="5371756"/>
            <a:ext cx="2651760" cy="1090347"/>
          </a:xfrm>
          <a:prstGeom prst="horizontalScroll">
            <a:avLst>
              <a:gd name="adj" fmla="val 12816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버튼을 처리할 수 있는 </a:t>
            </a:r>
            <a:r>
              <a:rPr lang="en-US" altLang="ko-KR" dirty="0" smtClean="0"/>
              <a:t>Listener </a:t>
            </a:r>
            <a:r>
              <a:rPr lang="ko-KR" altLang="en-US" dirty="0" smtClean="0"/>
              <a:t>생성</a:t>
            </a:r>
            <a:endParaRPr lang="en-US" altLang="ko-KR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5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9561" y="1926491"/>
            <a:ext cx="6349815" cy="25545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case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R.id.button7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: // ver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3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new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AlertDialog.Builder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(this)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	  </a:t>
            </a:r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setTitle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(＂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안드로이드 수업 설문조사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")</a:t>
            </a: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setMessage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(＂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안드로이드 수업 재미 있다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?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없다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?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highlight>
                  <a:srgbClr val="E8F2FE"/>
                </a:highlight>
                <a:latin typeface="Consolas"/>
              </a:rPr>
              <a:t>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")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setPositiveButton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긍정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b="1" dirty="0" err="1">
                <a:solidFill>
                  <a:srgbClr val="0000C0"/>
                </a:solidFill>
                <a:latin typeface="돋움체"/>
                <a:ea typeface="돋움체"/>
              </a:rPr>
              <a:t>mClick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setNeutralButton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중립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b="1" dirty="0" err="1">
                <a:solidFill>
                  <a:srgbClr val="0000C0"/>
                </a:solidFill>
                <a:latin typeface="돋움체"/>
                <a:ea typeface="돋움체"/>
              </a:rPr>
              <a:t>mClick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setNegativeButton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부정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b="1" dirty="0" err="1">
                <a:solidFill>
                  <a:srgbClr val="0000C0"/>
                </a:solidFill>
                <a:latin typeface="돋움체"/>
                <a:ea typeface="돋움체"/>
              </a:rPr>
              <a:t>mClick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setCancelable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(false)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.show();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break;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4117616" y="4550047"/>
            <a:ext cx="2651760" cy="1090347"/>
          </a:xfrm>
          <a:prstGeom prst="horizontalScroll">
            <a:avLst>
              <a:gd name="adj" fmla="val 12816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버튼 누르면 그에 맞는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토스트가 뜬다</a:t>
            </a:r>
            <a:endParaRPr lang="en-US" altLang="ko-KR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376" y="1857480"/>
            <a:ext cx="2335877" cy="4352534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7487728" y="5001335"/>
            <a:ext cx="905774" cy="1917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394566" y="3677570"/>
            <a:ext cx="1652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>
                <a:solidFill>
                  <a:srgbClr val="00B050"/>
                </a:solidFill>
              </a:rPr>
              <a:t>Listener </a:t>
            </a:r>
            <a:r>
              <a:rPr lang="ko-KR" altLang="en-US" dirty="0" smtClean="0">
                <a:solidFill>
                  <a:srgbClr val="00B050"/>
                </a:solidFill>
              </a:rPr>
              <a:t>객체</a:t>
            </a:r>
            <a:endParaRPr lang="ko-KR" altLang="en-US" dirty="0">
              <a:solidFill>
                <a:srgbClr val="00B050"/>
              </a:solidFill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4492182" y="3702129"/>
            <a:ext cx="58015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V="1">
            <a:off x="4394567" y="3451963"/>
            <a:ext cx="677765" cy="15856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4492182" y="3175918"/>
            <a:ext cx="58015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35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21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9684" y="1283063"/>
            <a:ext cx="2446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</a:t>
            </a:r>
            <a:r>
              <a:rPr lang="en-US" altLang="ko-KR" dirty="0" smtClean="0">
                <a:solidFill>
                  <a:srgbClr val="00B0F0"/>
                </a:solidFill>
              </a:rPr>
              <a:t>values</a:t>
            </a:r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smtClean="0">
                <a:solidFill>
                  <a:srgbClr val="00B0F0"/>
                </a:solidFill>
              </a:rPr>
              <a:t>arrays.xml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9684" y="1926490"/>
            <a:ext cx="5404043" cy="47089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&lt;?xml version=</a:t>
            </a:r>
            <a:r>
              <a:rPr lang="en-US" altLang="ko-KR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"1.0" encoding="utf-8"?&gt;</a:t>
            </a:r>
          </a:p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&lt;resources&gt;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Consolas"/>
              </a:rPr>
              <a:t>    &lt;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string-array </a:t>
            </a:r>
            <a:r>
              <a:rPr lang="en-US" altLang="ko-KR" sz="2000" dirty="0">
                <a:solidFill>
                  <a:srgbClr val="7F007F"/>
                </a:solidFill>
                <a:latin typeface="Consolas"/>
              </a:rPr>
              <a:t>name</a:t>
            </a:r>
            <a:r>
              <a:rPr lang="en-US" altLang="ko-KR" sz="20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2000" i="1" dirty="0" smtClean="0">
                <a:solidFill>
                  <a:srgbClr val="FF0000"/>
                </a:solidFill>
                <a:latin typeface="Consolas"/>
              </a:rPr>
              <a:t>“</a:t>
            </a:r>
            <a:r>
              <a:rPr lang="en-US" altLang="ko-KR" sz="2000" i="1" dirty="0" err="1" smtClean="0">
                <a:solidFill>
                  <a:srgbClr val="FF0000"/>
                </a:solidFill>
                <a:latin typeface="Consolas"/>
              </a:rPr>
              <a:t>mobilegroup</a:t>
            </a:r>
            <a:r>
              <a:rPr lang="en-US" altLang="ko-KR" sz="2000" i="1" dirty="0">
                <a:solidFill>
                  <a:srgbClr val="FF0000"/>
                </a:solidFill>
                <a:latin typeface="Consolas"/>
              </a:rPr>
              <a:t>"</a:t>
            </a:r>
            <a:r>
              <a:rPr lang="en-US" altLang="ko-KR" sz="2000" i="1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Android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Apple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RIM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ko-KR" altLang="en-US" sz="2000" dirty="0">
                <a:solidFill>
                  <a:srgbClr val="000000"/>
                </a:solidFill>
                <a:latin typeface="Consolas"/>
              </a:rPr>
              <a:t>심비안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ko-KR" altLang="en-US" sz="2000" dirty="0">
                <a:solidFill>
                  <a:srgbClr val="000000"/>
                </a:solidFill>
                <a:latin typeface="Consolas"/>
              </a:rPr>
              <a:t>블랙베리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ko-KR" altLang="en-US" sz="2000" dirty="0">
                <a:solidFill>
                  <a:srgbClr val="000000"/>
                </a:solidFill>
                <a:latin typeface="Consolas"/>
              </a:rPr>
              <a:t>윈도모바일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ko-KR" altLang="en-US" sz="2000" dirty="0">
                <a:solidFill>
                  <a:srgbClr val="000000"/>
                </a:solidFill>
                <a:latin typeface="Consolas"/>
              </a:rPr>
              <a:t>바다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ko-KR" altLang="en-US" sz="2000" dirty="0">
                <a:solidFill>
                  <a:srgbClr val="000000"/>
                </a:solidFill>
                <a:latin typeface="Consolas"/>
              </a:rPr>
              <a:t>미고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ko-KR" altLang="en-US" sz="2000" dirty="0">
                <a:solidFill>
                  <a:srgbClr val="000000"/>
                </a:solidFill>
                <a:latin typeface="Consolas"/>
              </a:rPr>
              <a:t>타이젠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ko-KR" altLang="en-US" sz="2000" dirty="0">
                <a:solidFill>
                  <a:srgbClr val="000000"/>
                </a:solidFill>
                <a:latin typeface="Consolas"/>
              </a:rPr>
              <a:t>우분투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ko-KR" sz="20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nsolas"/>
              </a:rPr>
              <a:t>string-array</a:t>
            </a:r>
            <a:r>
              <a:rPr lang="en-US" altLang="ko-KR" sz="2000" dirty="0" smtClean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&lt;/resources&gt;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817870" y="832969"/>
            <a:ext cx="3326130" cy="766088"/>
          </a:xfrm>
          <a:prstGeom prst="horizontalScroll">
            <a:avLst>
              <a:gd name="adj" fmla="val 19625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mtClean="0"/>
              <a:t>문자열 배열 리소스 추가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827" y="1664464"/>
            <a:ext cx="2615973" cy="487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43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8289449" cy="47705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    case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R.id.</a:t>
            </a:r>
            <a:r>
              <a:rPr lang="en-US" altLang="ko-KR" sz="1600" dirty="0">
                <a:solidFill>
                  <a:srgbClr val="0000C0"/>
                </a:solidFill>
                <a:latin typeface="돋움체"/>
                <a:ea typeface="돋움체"/>
              </a:rPr>
              <a:t>button8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AlertDialog.Builder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setTitle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대세는 누구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?"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b="1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setItems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FF0000"/>
                </a:solidFill>
                <a:latin typeface="돋움체"/>
                <a:ea typeface="돋움체"/>
              </a:rPr>
              <a:t>R.array.mobilegroup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DialogInterface.OnClickListener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600" dirty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onClick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DialogInterface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dialog, </a:t>
            </a:r>
            <a:r>
              <a:rPr lang="en-US" altLang="ko-KR" sz="16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which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String[]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mobilegroup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=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getResources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getStringArray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R.array.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mobilegroup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Toast.makeText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MainActivity.</a:t>
            </a:r>
            <a:r>
              <a:rPr lang="en-US" altLang="ko-KR" sz="1600" dirty="0" err="1" smtClean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    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역시 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+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mobilegroup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[which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] + 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 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최고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!"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LENGTH_SHORT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).show();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setNegativeButton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없어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!"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mClick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endParaRPr lang="en-US" altLang="ko-KR" sz="1600" dirty="0">
              <a:solidFill>
                <a:srgbClr val="000000"/>
              </a:solidFill>
              <a:highlight>
                <a:srgbClr val="D4D4D4"/>
              </a:highlight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setCancelable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.show();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400927" y="3010619"/>
            <a:ext cx="6441148" cy="241539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321193" y="5068907"/>
            <a:ext cx="166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B050"/>
                </a:solidFill>
              </a:rPr>
              <a:t>Listener </a:t>
            </a:r>
            <a:r>
              <a:rPr lang="ko-KR" altLang="en-US" dirty="0" smtClean="0">
                <a:solidFill>
                  <a:srgbClr val="00B050"/>
                </a:solidFill>
              </a:rPr>
              <a:t>객체</a:t>
            </a:r>
            <a:r>
              <a:rPr lang="en-US" altLang="ko-KR" dirty="0" smtClean="0">
                <a:solidFill>
                  <a:srgbClr val="00B050"/>
                </a:solidFill>
              </a:rPr>
              <a:t> 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88758" y="5876855"/>
            <a:ext cx="166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B050"/>
                </a:solidFill>
              </a:rPr>
              <a:t>Listener </a:t>
            </a:r>
            <a:r>
              <a:rPr lang="ko-KR" altLang="en-US" dirty="0" smtClean="0">
                <a:solidFill>
                  <a:srgbClr val="00B050"/>
                </a:solidFill>
              </a:rPr>
              <a:t>객체</a:t>
            </a:r>
            <a:endParaRPr lang="ko-KR" altLang="en-US" dirty="0">
              <a:solidFill>
                <a:srgbClr val="00B050"/>
              </a:solidFill>
            </a:endParaRPr>
          </a:p>
        </p:txBody>
      </p:sp>
      <p:cxnSp>
        <p:nvCxnSpPr>
          <p:cNvPr id="12" name="직선 연결선 11"/>
          <p:cNvCxnSpPr>
            <a:endCxn id="9" idx="0"/>
          </p:cNvCxnSpPr>
          <p:nvPr/>
        </p:nvCxnSpPr>
        <p:spPr>
          <a:xfrm flipV="1">
            <a:off x="4837239" y="5876855"/>
            <a:ext cx="784262" cy="775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50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753" y="1827482"/>
            <a:ext cx="2415064" cy="450008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214" y="1827482"/>
            <a:ext cx="2415064" cy="450008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47" y="1827482"/>
            <a:ext cx="2430510" cy="4528868"/>
          </a:xfrm>
          <a:prstGeom prst="rect">
            <a:avLst/>
          </a:prstGeom>
        </p:spPr>
      </p:pic>
      <p:cxnSp>
        <p:nvCxnSpPr>
          <p:cNvPr id="11" name="직선 화살표 연결선 10"/>
          <p:cNvCxnSpPr/>
          <p:nvPr/>
        </p:nvCxnSpPr>
        <p:spPr>
          <a:xfrm flipH="1">
            <a:off x="2216989" y="4339087"/>
            <a:ext cx="224286" cy="1466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H="1">
            <a:off x="4183812" y="2932981"/>
            <a:ext cx="224286" cy="1466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6882859" y="5078972"/>
            <a:ext cx="905774" cy="1917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73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46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</a:t>
            </a:r>
            <a:r>
              <a:rPr lang="en-US" altLang="ko-KR" dirty="0" smtClean="0">
                <a:solidFill>
                  <a:srgbClr val="00B0F0"/>
                </a:solidFill>
              </a:rPr>
              <a:t>values</a:t>
            </a:r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smtClean="0">
                <a:solidFill>
                  <a:srgbClr val="00B0F0"/>
                </a:solidFill>
              </a:rPr>
              <a:t>arrays.xml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4013022" cy="47089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&lt;item&gt;</a:t>
            </a:r>
            <a:r>
              <a:rPr lang="ko-KR" altLang="en-US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우분투</a:t>
            </a:r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item&gt;</a:t>
            </a:r>
          </a:p>
          <a:p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&lt;/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string-array&gt;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string-array </a:t>
            </a:r>
            <a:r>
              <a:rPr lang="en-US" altLang="ko-KR" sz="2000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2000" i="1" dirty="0">
                <a:solidFill>
                  <a:srgbClr val="FF0000"/>
                </a:solidFill>
                <a:latin typeface="맑은 고딕"/>
              </a:rPr>
              <a:t>"grade"</a:t>
            </a:r>
            <a:r>
              <a:rPr lang="en-US" altLang="ko-KR" sz="2000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</a:rPr>
              <a:t>A+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</a:rPr>
              <a:t>A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</a:rPr>
              <a:t>A-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</a:rPr>
              <a:t>B+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</a:rPr>
              <a:t>B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</a:rPr>
              <a:t>B-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</a:rPr>
              <a:t>C+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</a:rPr>
              <a:t>C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</a:rPr>
              <a:t>C-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</a:rPr>
              <a:t>F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 smtClean="0">
                <a:solidFill>
                  <a:srgbClr val="008080"/>
                </a:solidFill>
                <a:latin typeface="맑은 고딕"/>
              </a:rPr>
              <a:t>    &lt;/</a:t>
            </a:r>
            <a:r>
              <a:rPr lang="en-US" altLang="ko-KR" sz="2000" dirty="0">
                <a:solidFill>
                  <a:srgbClr val="3F7F7F"/>
                </a:solidFill>
                <a:latin typeface="맑은 고딕"/>
              </a:rPr>
              <a:t>string-array</a:t>
            </a:r>
            <a:r>
              <a:rPr lang="en-US" altLang="ko-KR" sz="20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&lt;/resources&gt;</a:t>
            </a: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634990" y="2811503"/>
            <a:ext cx="3326130" cy="766088"/>
          </a:xfrm>
          <a:prstGeom prst="horizontalScroll">
            <a:avLst>
              <a:gd name="adj" fmla="val 19625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mtClean="0"/>
              <a:t>문자열 배열 리소스 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394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Dialog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979854"/>
            <a:ext cx="7729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</a:t>
            </a:r>
            <a:r>
              <a:rPr lang="en-US" altLang="ko-KR" dirty="0" smtClean="0">
                <a:solidFill>
                  <a:srgbClr val="00B0F0"/>
                </a:solidFill>
              </a:rPr>
              <a:t>layout</a:t>
            </a:r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smtClean="0">
                <a:solidFill>
                  <a:srgbClr val="00B0F0"/>
                </a:solidFill>
              </a:rPr>
              <a:t>dialog.xml</a:t>
            </a:r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en-US" altLang="ko-KR" dirty="0"/>
              <a:t> (layout </a:t>
            </a:r>
            <a:r>
              <a:rPr lang="ko-KR" altLang="en-US" dirty="0"/>
              <a:t>폴더 우 클릭 </a:t>
            </a:r>
            <a:r>
              <a:rPr lang="en-US" altLang="ko-KR" dirty="0"/>
              <a:t>-&gt; new -&gt; Layout source files )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30" y="1578412"/>
            <a:ext cx="8050794" cy="526297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&lt;?xml version=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"1.0" encoding="utf-8"?&gt;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“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android:orientation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vertical"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…</a:t>
            </a:r>
            <a:endParaRPr lang="en-US" altLang="ko-KR" sz="1200" i="1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TextView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"@+id/textView1"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200" i="1" dirty="0">
                <a:solidFill>
                  <a:srgbClr val="2A00FF"/>
                </a:solidFill>
                <a:latin typeface="맑은 고딕"/>
              </a:rPr>
              <a:t>이름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“</a:t>
            </a:r>
          </a:p>
          <a:p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    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”</a:t>
            </a:r>
            <a:endParaRPr lang="en-US" altLang="ko-KR" sz="1200" i="1" dirty="0">
              <a:solidFill>
                <a:srgbClr val="2A00FF"/>
              </a:solidFill>
              <a:latin typeface="맑은 고딕"/>
            </a:endParaRPr>
          </a:p>
          <a:p>
            <a:r>
              <a:rPr lang="ko-KR" altLang="en-US" sz="1200" dirty="0" smtClean="0"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EditText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"@+id/editText1"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“</a:t>
            </a:r>
          </a:p>
          <a:p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 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   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”</a:t>
            </a:r>
            <a:endParaRPr lang="en-US" altLang="ko-KR" sz="1200" i="1" dirty="0">
              <a:solidFill>
                <a:srgbClr val="2A00FF"/>
              </a:solidFill>
              <a:latin typeface="맑은 고딕"/>
            </a:endParaRPr>
          </a:p>
          <a:p>
            <a:r>
              <a:rPr lang="ko-KR" altLang="en-US" sz="1200" dirty="0" smtClean="0"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TextView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"@+id/textView2"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200" i="1" dirty="0">
                <a:solidFill>
                  <a:srgbClr val="2A00FF"/>
                </a:solidFill>
                <a:latin typeface="맑은 고딕"/>
              </a:rPr>
              <a:t>희망 학점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“</a:t>
            </a:r>
          </a:p>
          <a:p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    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”</a:t>
            </a:r>
            <a:r>
              <a:rPr lang="ko-KR" altLang="en-US" sz="1200" dirty="0" smtClean="0">
                <a:latin typeface="맑은 고딕"/>
              </a:rPr>
              <a:t> </a:t>
            </a:r>
            <a:endParaRPr lang="en-US" altLang="ko-KR" sz="1200" dirty="0" smtClean="0">
              <a:latin typeface="맑은 고딕"/>
            </a:endParaRPr>
          </a:p>
          <a:p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      /&gt;</a:t>
            </a:r>
            <a:endParaRPr lang="en-US" altLang="ko-KR" sz="1200" dirty="0">
              <a:solidFill>
                <a:srgbClr val="008080"/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>
                <a:solidFill>
                  <a:srgbClr val="FF0000"/>
                </a:solidFill>
                <a:latin typeface="맑은 고딕"/>
              </a:rPr>
              <a:t>Spinner</a:t>
            </a:r>
          </a:p>
          <a:p>
            <a:r>
              <a:rPr lang="en-US" altLang="ko-KR" sz="1200" dirty="0">
                <a:latin typeface="맑은 고딕"/>
              </a:rPr>
              <a:t>    </a:t>
            </a:r>
            <a:r>
              <a:rPr lang="en-US" altLang="ko-KR" sz="1200" dirty="0" smtClean="0"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"@+id/spinner1"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“</a:t>
            </a:r>
          </a:p>
          <a:p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 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   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”</a:t>
            </a:r>
            <a:endParaRPr lang="en-US" altLang="ko-KR" sz="1200" i="1" dirty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android:entries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FF0000"/>
                </a:solidFill>
                <a:latin typeface="맑은 고딕"/>
              </a:rPr>
              <a:t>"@array/grade"</a:t>
            </a:r>
          </a:p>
          <a:p>
            <a:r>
              <a:rPr lang="ko-KR" altLang="en-US" sz="1200" dirty="0" smtClean="0"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719074" y="2340569"/>
            <a:ext cx="3028950" cy="1172663"/>
          </a:xfrm>
          <a:prstGeom prst="horizontalScroll">
            <a:avLst>
              <a:gd name="adj" fmla="val 1067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대화상자에 표시할 내용을</a:t>
            </a:r>
            <a:endParaRPr lang="en-US" altLang="ko-KR" dirty="0" smtClean="0"/>
          </a:p>
          <a:p>
            <a:r>
              <a:rPr lang="ko-KR" altLang="en-US" dirty="0" smtClean="0"/>
              <a:t>담은 레이아웃을 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312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29" y="1926491"/>
            <a:ext cx="7463359" cy="28007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case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R.id.</a:t>
            </a:r>
            <a:r>
              <a:rPr lang="en-US" altLang="ko-KR" sz="1600" dirty="0">
                <a:solidFill>
                  <a:srgbClr val="0000C0"/>
                </a:solidFill>
                <a:latin typeface="돋움체"/>
                <a:ea typeface="돋움체"/>
              </a:rPr>
              <a:t>button9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LinearLayout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b="1" dirty="0">
                <a:solidFill>
                  <a:srgbClr val="00B0F0"/>
                </a:solidFill>
                <a:latin typeface="돋움체"/>
                <a:ea typeface="돋움체"/>
              </a:rPr>
              <a:t>l2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LinearLayout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View.inflate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		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b="1" dirty="0" err="1" smtClean="0">
                <a:solidFill>
                  <a:srgbClr val="FF0000"/>
                </a:solidFill>
                <a:latin typeface="돋움체"/>
                <a:ea typeface="돋움체"/>
              </a:rPr>
              <a:t>R.layout.dialog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AlertDialog.Builder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pPr lvl="1"/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setTitle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원하는 결과는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?"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pPr lvl="1"/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setView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b="1" dirty="0">
                <a:solidFill>
                  <a:srgbClr val="00B0F0"/>
                </a:solidFill>
                <a:latin typeface="돋움체"/>
                <a:ea typeface="돋움체"/>
              </a:rPr>
              <a:t>l2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pPr lvl="1"/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setPositiveButton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열심히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!"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mClick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pPr lvl="1"/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setNegativeButton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600" dirty="0">
                <a:solidFill>
                  <a:srgbClr val="2A00FF"/>
                </a:solidFill>
                <a:latin typeface="돋움체"/>
                <a:ea typeface="돋움체"/>
              </a:rPr>
              <a:t>포기</a:t>
            </a:r>
            <a:r>
              <a:rPr lang="en-US" altLang="ko-KR" sz="1600" dirty="0">
                <a:solidFill>
                  <a:srgbClr val="2A00FF"/>
                </a:solidFill>
                <a:latin typeface="돋움체"/>
                <a:ea typeface="돋움체"/>
              </a:rPr>
              <a:t>."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mClick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pPr lvl="1"/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setCancelable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pPr lvl="1"/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.show();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66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382" y="1307689"/>
            <a:ext cx="2921832" cy="544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9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Notification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926491"/>
            <a:ext cx="8151802" cy="30469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public class 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MainActivity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 extends </a:t>
            </a:r>
            <a:r>
              <a:rPr lang="ko-KR" altLang="ko-KR" sz="1600" dirty="0">
                <a:solidFill>
                  <a:schemeClr val="bg1">
                    <a:lumMod val="50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AppCompatActivity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{</a:t>
            </a:r>
          </a:p>
          <a:p>
            <a:endParaRPr lang="ko-KR" altLang="en-US" sz="1600" dirty="0" smtClean="0"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600" dirty="0" smtClean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static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dirty="0" smtClean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final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dirty="0" err="1" smtClean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int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dirty="0" smtClean="0">
                <a:solidFill>
                  <a:srgbClr val="0000C0"/>
                </a:solidFill>
                <a:latin typeface="돋움체" pitchFamily="49" charset="-127"/>
                <a:ea typeface="돋움체" pitchFamily="49" charset="-127"/>
              </a:rPr>
              <a:t>G_NOTIFY_NUM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= 1; </a:t>
            </a:r>
            <a:r>
              <a:rPr lang="en-US" altLang="ko-KR" sz="1600" dirty="0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// </a:t>
            </a:r>
            <a:r>
              <a:rPr lang="ko-KR" altLang="en-US" sz="1600" dirty="0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식별</a:t>
            </a:r>
            <a:r>
              <a:rPr lang="en-US" altLang="ko-KR" sz="1600" dirty="0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ID</a:t>
            </a:r>
          </a:p>
          <a:p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NotificationManager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 pitchFamily="49" charset="-127"/>
                <a:ea typeface="돋움체" pitchFamily="49" charset="-127"/>
              </a:rPr>
              <a:t>m_NotiManager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;</a:t>
            </a:r>
            <a:endParaRPr lang="ko-KR" altLang="en-US" sz="1600" dirty="0" smtClean="0">
              <a:latin typeface="돋움체" pitchFamily="49" charset="-127"/>
              <a:ea typeface="돋움체" pitchFamily="49" charset="-127"/>
            </a:endParaRPr>
          </a:p>
          <a:p>
            <a:endParaRPr lang="en-US" altLang="ko-KR" sz="1600" dirty="0" smtClean="0">
              <a:solidFill>
                <a:schemeClr val="bg1">
                  <a:lumMod val="50000"/>
                </a:schemeClr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@Override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public void 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onCreate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(Bundle 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savedInstanceState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) {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super.onCreate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savedInstanceState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setContentView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R.layout.</a:t>
            </a:r>
            <a:r>
              <a:rPr lang="en-US" altLang="ko-KR" sz="1600" i="1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main</a:t>
            </a:r>
            <a:r>
              <a:rPr lang="en-US" altLang="ko-KR" sz="1600" i="1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);</a:t>
            </a:r>
            <a:endParaRPr lang="ko-KR" altLang="en-US" sz="1600" dirty="0" smtClean="0"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600" b="1" dirty="0" err="1" smtClean="0">
                <a:solidFill>
                  <a:srgbClr val="0000C0"/>
                </a:solidFill>
                <a:latin typeface="돋움체" pitchFamily="49" charset="-127"/>
                <a:ea typeface="돋움체" pitchFamily="49" charset="-127"/>
              </a:rPr>
              <a:t>m_NotiManager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= (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NotificationManager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 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getSystemService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600" b="1" dirty="0" smtClean="0">
                <a:solidFill>
                  <a:srgbClr val="FF0000"/>
                </a:solidFill>
                <a:latin typeface="돋움체" pitchFamily="49" charset="-127"/>
                <a:ea typeface="돋움체" pitchFamily="49" charset="-127"/>
              </a:rPr>
              <a:t>NOTIFICATION_SERVICE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  <a:endParaRPr lang="ko-KR" altLang="en-US" sz="1600" b="1" dirty="0" smtClean="0"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}</a:t>
            </a:r>
          </a:p>
          <a:p>
            <a:endParaRPr lang="en-US" altLang="ko-KR" sz="1600" dirty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99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Notification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926491"/>
            <a:ext cx="8151802" cy="378565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public void 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onClickButton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(View v) {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    switch (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v.getId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()) {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    case R.id.button1: // ver2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        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Toast.makeText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(this,"</a:t>
            </a:r>
            <a:r>
              <a:rPr lang="ko-KR" altLang="en-US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짧은 내용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",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Toast.LENGTH_SHORT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).show();</a:t>
            </a:r>
          </a:p>
          <a:p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    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v.postDelayed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 </a:t>
            </a:r>
            <a:r>
              <a:rPr lang="en-US" altLang="ko-KR" sz="1600" b="1" dirty="0" smtClean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new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Runnable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()  {</a:t>
            </a:r>
          </a:p>
          <a:p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       </a:t>
            </a:r>
            <a:r>
              <a:rPr lang="en-US" altLang="ko-KR" sz="1600" b="1" dirty="0" smtClean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public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b="1" dirty="0" smtClean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void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run()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int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dirty="0" smtClean="0">
                <a:solidFill>
                  <a:srgbClr val="00B0F0"/>
                </a:solidFill>
                <a:latin typeface="돋움체" pitchFamily="49" charset="-127"/>
                <a:ea typeface="돋움체" pitchFamily="49" charset="-127"/>
              </a:rPr>
              <a:t>icon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=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MainActivity.this.getApplicationInfo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().icon;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Intent </a:t>
            </a:r>
            <a:r>
              <a:rPr lang="en-US" altLang="ko-KR" sz="1600" dirty="0" err="1" smtClean="0">
                <a:solidFill>
                  <a:srgbClr val="00B0F0"/>
                </a:solidFill>
                <a:latin typeface="돋움체" pitchFamily="49" charset="-127"/>
                <a:ea typeface="돋움체" pitchFamily="49" charset="-127"/>
              </a:rPr>
              <a:t>intent</a:t>
            </a:r>
            <a:r>
              <a:rPr lang="en-US" altLang="ko-KR" sz="1600" dirty="0" smtClean="0">
                <a:solidFill>
                  <a:srgbClr val="00B0F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= new Intent(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MainActivity.this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, 						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MainActivity.class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intent.addFlags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Intent.FLAG_ACTIVITY_NEW_TASK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PendingIntent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dirty="0" smtClean="0">
                <a:solidFill>
                  <a:srgbClr val="00B0F0"/>
                </a:solidFill>
                <a:latin typeface="돋움체" pitchFamily="49" charset="-127"/>
                <a:ea typeface="돋움체" pitchFamily="49" charset="-127"/>
              </a:rPr>
              <a:t>content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=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PendingIntent.getActivity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endParaRPr lang="en-US" altLang="ko-KR" sz="1600" dirty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				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MainActivity.this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, 0, </a:t>
            </a:r>
            <a:r>
              <a:rPr lang="en-US" altLang="ko-KR" sz="1600" dirty="0" smtClean="0">
                <a:solidFill>
                  <a:srgbClr val="00B0F0"/>
                </a:solidFill>
                <a:latin typeface="돋움체" pitchFamily="49" charset="-127"/>
                <a:ea typeface="돋움체" pitchFamily="49" charset="-127"/>
              </a:rPr>
              <a:t>intent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, 0);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Notification </a:t>
            </a:r>
            <a:r>
              <a:rPr lang="en-US" altLang="ko-KR" sz="1600" b="1" dirty="0" err="1" smtClean="0">
                <a:solidFill>
                  <a:srgbClr val="00B0F0"/>
                </a:solidFill>
                <a:latin typeface="돋움체" pitchFamily="49" charset="-127"/>
                <a:ea typeface="돋움체" pitchFamily="49" charset="-127"/>
              </a:rPr>
              <a:t>notification</a:t>
            </a:r>
            <a:r>
              <a:rPr lang="en-US" altLang="ko-KR" sz="1600" b="1" dirty="0" smtClean="0">
                <a:solidFill>
                  <a:srgbClr val="00B0F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= </a:t>
            </a:r>
            <a:r>
              <a:rPr lang="en-US" altLang="ko-KR" sz="1600" b="1" dirty="0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new </a:t>
            </a:r>
            <a:r>
              <a:rPr lang="en-US" altLang="ko-KR" sz="1600" b="1" dirty="0" err="1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Notification.Builder</a:t>
            </a:r>
            <a:r>
              <a:rPr lang="en-US" altLang="ko-KR" sz="1600" b="1" dirty="0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(</a:t>
            </a:r>
          </a:p>
          <a:p>
            <a:r>
              <a:rPr lang="en-US" altLang="ko-KR" sz="1600" b="1" dirty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b="1" dirty="0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				</a:t>
            </a:r>
            <a:r>
              <a:rPr lang="en-US" altLang="ko-KR" sz="1600" b="1" dirty="0" err="1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MainActivity.this</a:t>
            </a:r>
            <a:r>
              <a:rPr lang="en-US" altLang="ko-KR" sz="1600" b="1" dirty="0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		.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setContentTitle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(“</a:t>
            </a:r>
            <a:r>
              <a:rPr lang="ko-KR" altLang="en-US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짧은 알림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32185" y="6038557"/>
            <a:ext cx="4946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B05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※ </a:t>
            </a:r>
            <a:r>
              <a:rPr lang="en-US" altLang="ko-KR" sz="1600" dirty="0" smtClean="0">
                <a:solidFill>
                  <a:srgbClr val="00B050"/>
                </a:solidFill>
              </a:rPr>
              <a:t>API level 26</a:t>
            </a:r>
            <a:r>
              <a:rPr lang="ko-KR" altLang="en-US" sz="1600" dirty="0" smtClean="0">
                <a:solidFill>
                  <a:srgbClr val="00B050"/>
                </a:solidFill>
              </a:rPr>
              <a:t>에서 없어짐</a:t>
            </a:r>
            <a:r>
              <a:rPr lang="en-US" altLang="ko-KR" sz="1600" dirty="0" smtClean="0">
                <a:solidFill>
                  <a:srgbClr val="00B050"/>
                </a:solidFill>
              </a:rPr>
              <a:t>. </a:t>
            </a:r>
            <a:r>
              <a:rPr lang="ko-KR" altLang="en-US" sz="1600" dirty="0" smtClean="0">
                <a:solidFill>
                  <a:srgbClr val="00B050"/>
                </a:solidFill>
              </a:rPr>
              <a:t>다른 </a:t>
            </a:r>
            <a:r>
              <a:rPr lang="ko-KR" altLang="en-US" sz="1600" dirty="0" err="1" smtClean="0">
                <a:solidFill>
                  <a:srgbClr val="00B050"/>
                </a:solidFill>
              </a:rPr>
              <a:t>생성자로</a:t>
            </a:r>
            <a:r>
              <a:rPr lang="ko-KR" altLang="en-US" sz="1600" dirty="0" smtClean="0">
                <a:solidFill>
                  <a:srgbClr val="00B050"/>
                </a:solidFill>
              </a:rPr>
              <a:t> 대체해야</a:t>
            </a:r>
            <a:r>
              <a:rPr lang="en-US" altLang="ko-KR" sz="1600" dirty="0" smtClean="0">
                <a:solidFill>
                  <a:srgbClr val="00B050"/>
                </a:solidFill>
              </a:rPr>
              <a:t> </a:t>
            </a:r>
            <a:r>
              <a:rPr lang="ko-KR" altLang="en-US" sz="1600" dirty="0" smtClean="0">
                <a:solidFill>
                  <a:srgbClr val="00B050"/>
                </a:solidFill>
              </a:rPr>
              <a:t>함</a:t>
            </a:r>
            <a:r>
              <a:rPr lang="en-US" altLang="ko-KR" sz="1600" dirty="0" smtClean="0">
                <a:solidFill>
                  <a:srgbClr val="00B050"/>
                </a:solidFill>
              </a:rPr>
              <a:t>—</a:t>
            </a:r>
            <a:r>
              <a:rPr lang="ko-KR" altLang="en-US" sz="1600" dirty="0" smtClean="0">
                <a:solidFill>
                  <a:srgbClr val="00B050"/>
                </a:solidFill>
              </a:rPr>
              <a:t>슬라이드 노트 및 </a:t>
            </a:r>
            <a:r>
              <a:rPr lang="en-US" altLang="ko-KR" sz="1600" dirty="0" smtClean="0">
                <a:solidFill>
                  <a:srgbClr val="00B050"/>
                </a:solidFill>
              </a:rPr>
              <a:t>developer </a:t>
            </a:r>
            <a:r>
              <a:rPr lang="ko-KR" altLang="en-US" sz="1600" dirty="0" smtClean="0">
                <a:solidFill>
                  <a:srgbClr val="00B050"/>
                </a:solidFill>
              </a:rPr>
              <a:t>도움말 참고</a:t>
            </a:r>
            <a:endParaRPr lang="en-US" altLang="ko-KR" sz="1600" dirty="0" smtClean="0">
              <a:solidFill>
                <a:srgbClr val="00B050"/>
              </a:solidFill>
            </a:endParaRPr>
          </a:p>
        </p:txBody>
      </p:sp>
      <p:cxnSp>
        <p:nvCxnSpPr>
          <p:cNvPr id="11" name="꺾인 연결선 10"/>
          <p:cNvCxnSpPr>
            <a:endCxn id="4" idx="3"/>
          </p:cNvCxnSpPr>
          <p:nvPr/>
        </p:nvCxnSpPr>
        <p:spPr>
          <a:xfrm rot="5400000">
            <a:off x="7104050" y="5653958"/>
            <a:ext cx="1052040" cy="301935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20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Notification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926491"/>
            <a:ext cx="8151802" cy="32932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		.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setContentText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(“</a:t>
            </a:r>
            <a:r>
              <a:rPr lang="ko-KR" altLang="en-US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짧은 내용의 알림입니다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.”)	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	.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setSmallIcon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600" dirty="0" smtClean="0">
                <a:solidFill>
                  <a:srgbClr val="00B0F0"/>
                </a:solidFill>
                <a:latin typeface="돋움체" pitchFamily="49" charset="-127"/>
                <a:ea typeface="돋움체" pitchFamily="49" charset="-127"/>
              </a:rPr>
              <a:t>icon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	.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setContentIntent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600" dirty="0" smtClean="0">
                <a:solidFill>
                  <a:srgbClr val="00B0F0"/>
                </a:solidFill>
                <a:latin typeface="돋움체" pitchFamily="49" charset="-127"/>
                <a:ea typeface="돋움체" pitchFamily="49" charset="-127"/>
              </a:rPr>
              <a:t>content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	.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setWhen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System.currentTimeMillis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())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	.build();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m_NotiManager.notify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600" b="1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MainActivity.G_NOTIFY_NUM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, </a:t>
            </a:r>
          </a:p>
          <a:p>
            <a:r>
              <a:rPr lang="en-US" altLang="ko-KR" sz="1600" b="1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                              </a:t>
            </a:r>
            <a:r>
              <a:rPr lang="en-US" altLang="ko-KR" sz="1600" b="1" dirty="0" smtClean="0">
                <a:solidFill>
                  <a:srgbClr val="00B0F0"/>
                </a:solidFill>
                <a:latin typeface="돋움체" pitchFamily="49" charset="-127"/>
                <a:ea typeface="돋움체" pitchFamily="49" charset="-127"/>
              </a:rPr>
              <a:t>notification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);}</a:t>
            </a:r>
          </a:p>
          <a:p>
            <a:r>
              <a:rPr lang="ko-KR" altLang="en-US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    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}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,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600" b="1" dirty="0" smtClean="0">
                <a:solidFill>
                  <a:srgbClr val="00B050"/>
                </a:solidFill>
                <a:latin typeface="돋움체" pitchFamily="49" charset="-127"/>
                <a:ea typeface="돋움체" pitchFamily="49" charset="-127"/>
              </a:rPr>
              <a:t>5*1000 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    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    </a:t>
            </a:r>
            <a:r>
              <a:rPr lang="en-US" altLang="ko-KR" sz="1600" dirty="0" smtClean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break</a:t>
            </a:r>
            <a:r>
              <a:rPr lang="en-US" altLang="ko-KR" sz="16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;</a:t>
            </a:r>
          </a:p>
          <a:p>
            <a:endParaRPr lang="en-US" altLang="ko-KR" sz="1600" dirty="0" smtClean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case R.id.button2: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 pitchFamily="49" charset="-127"/>
                <a:ea typeface="돋움체" pitchFamily="49" charset="-127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3518" y="3865807"/>
            <a:ext cx="5029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B050"/>
                </a:solidFill>
                <a:latin typeface="+mn-ea"/>
              </a:rPr>
              <a:t>※ 5000 </a:t>
            </a:r>
            <a:r>
              <a:rPr lang="en-US" altLang="ko-KR" sz="1600" dirty="0" err="1" smtClean="0">
                <a:solidFill>
                  <a:srgbClr val="00B050"/>
                </a:solidFill>
                <a:latin typeface="+mn-ea"/>
              </a:rPr>
              <a:t>ms</a:t>
            </a:r>
            <a:r>
              <a:rPr lang="en-US" altLang="ko-KR" sz="1600" dirty="0" smtClean="0">
                <a:solidFill>
                  <a:srgbClr val="00B050"/>
                </a:solidFill>
                <a:latin typeface="+mn-ea"/>
              </a:rPr>
              <a:t> </a:t>
            </a:r>
            <a:r>
              <a:rPr lang="ko-KR" altLang="en-US" sz="1600" dirty="0" smtClean="0">
                <a:solidFill>
                  <a:srgbClr val="00B050"/>
                </a:solidFill>
                <a:latin typeface="+mn-ea"/>
              </a:rPr>
              <a:t>후에 </a:t>
            </a:r>
            <a:r>
              <a:rPr lang="en-US" altLang="ko-KR" sz="1600" dirty="0" smtClean="0">
                <a:solidFill>
                  <a:srgbClr val="00B050"/>
                </a:solidFill>
                <a:latin typeface="+mn-ea"/>
              </a:rPr>
              <a:t>Runnable </a:t>
            </a:r>
            <a:r>
              <a:rPr lang="ko-KR" altLang="en-US" sz="1600" dirty="0" smtClean="0">
                <a:solidFill>
                  <a:srgbClr val="00B050"/>
                </a:solidFill>
                <a:latin typeface="+mn-ea"/>
              </a:rPr>
              <a:t>실행됨 </a:t>
            </a:r>
            <a:endParaRPr lang="en-US" altLang="ko-KR" sz="1600" dirty="0" smtClean="0">
              <a:solidFill>
                <a:srgbClr val="00B05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374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Notification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3062" y="1923494"/>
            <a:ext cx="8367612" cy="206210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&lt;manifest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xmlns:android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"http://schemas.android.com/</a:t>
            </a:r>
            <a:r>
              <a:rPr lang="en-US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apk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/res/android"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package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"vr.ex5.daemon"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android:versionCode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"1"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android:versionName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"1.0"&gt;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&lt;uses-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sdk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android:minSdkVersion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"8" /&gt;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uses-permission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android:name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FF0000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FF0000"/>
                </a:solidFill>
                <a:latin typeface="맑은 고딕"/>
              </a:rPr>
              <a:t>android.permission.VIBRATE</a:t>
            </a:r>
            <a:r>
              <a:rPr lang="en-US" altLang="ko-KR" sz="1600" i="1" dirty="0">
                <a:solidFill>
                  <a:srgbClr val="FF0000"/>
                </a:solidFill>
                <a:latin typeface="맑은 고딕"/>
              </a:rPr>
              <a:t>"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&gt;&lt;/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uses-permission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endParaRPr lang="ko-KR" altLang="en-US" sz="1600" dirty="0">
              <a:latin typeface="맑은 고딕"/>
            </a:endParaRPr>
          </a:p>
          <a:p>
            <a:r>
              <a:rPr lang="fr-FR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&lt;application </a:t>
            </a:r>
            <a:r>
              <a:rPr lang="fr-FR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android:icon</a:t>
            </a:r>
            <a:r>
              <a:rPr lang="fr-FR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fr-FR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</a:t>
            </a:r>
            <a:r>
              <a:rPr lang="fr-FR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drawable</a:t>
            </a:r>
            <a:r>
              <a:rPr lang="fr-FR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</a:t>
            </a:r>
            <a:r>
              <a:rPr lang="fr-FR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icon</a:t>
            </a:r>
            <a:r>
              <a:rPr lang="fr-FR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 </a:t>
            </a:r>
            <a:r>
              <a:rPr lang="fr-FR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android:label</a:t>
            </a:r>
            <a:r>
              <a:rPr lang="fr-FR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="@string/</a:t>
            </a:r>
            <a:r>
              <a:rPr lang="fr-FR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app_name</a:t>
            </a:r>
            <a:r>
              <a:rPr lang="fr-FR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62" y="1291231"/>
            <a:ext cx="3536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EX8_Notification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/manifests/AndroidManifest.xml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774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06" y="1581976"/>
            <a:ext cx="2456974" cy="450008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304" y="1581976"/>
            <a:ext cx="2456974" cy="450008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08" y="1581976"/>
            <a:ext cx="2456974" cy="4500086"/>
          </a:xfrm>
          <a:prstGeom prst="rect">
            <a:avLst/>
          </a:prstGeom>
        </p:spPr>
      </p:pic>
      <p:cxnSp>
        <p:nvCxnSpPr>
          <p:cNvPr id="7" name="직선 화살표 연결선 6"/>
          <p:cNvCxnSpPr/>
          <p:nvPr/>
        </p:nvCxnSpPr>
        <p:spPr>
          <a:xfrm flipH="1">
            <a:off x="2225616" y="2536166"/>
            <a:ext cx="224286" cy="1466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H="1">
            <a:off x="3821503" y="2035834"/>
            <a:ext cx="224286" cy="1466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6366294" y="2565362"/>
            <a:ext cx="1906438" cy="4625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7789654" y="2649968"/>
            <a:ext cx="224286" cy="1466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80930" y="1581976"/>
            <a:ext cx="2164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※ </a:t>
            </a:r>
            <a:r>
              <a:rPr lang="ko-KR" altLang="en-US" sz="1400" dirty="0" smtClean="0">
                <a:solidFill>
                  <a:srgbClr val="FF0000"/>
                </a:solidFill>
                <a:latin typeface="+mn-ea"/>
              </a:rPr>
              <a:t>버튼 클릭 후</a:t>
            </a:r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400" dirty="0" smtClean="0">
                <a:solidFill>
                  <a:srgbClr val="FF0000"/>
                </a:solidFill>
                <a:latin typeface="+mn-ea"/>
              </a:rPr>
              <a:t>약간 시간이 지난 후 보임</a:t>
            </a:r>
            <a:endParaRPr lang="en-US" altLang="ko-KR" sz="1400" dirty="0" smtClean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1313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Notification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371606" y="2258833"/>
          <a:ext cx="6096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784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옵션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설명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DEFAULT_SOUND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소리 발생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DEFAULT_VIBRATE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진동 발생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DEFAULT_LIGHTS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불빛 깜박임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DEFAULT_ALL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세가지 동작 모두 수행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330274"/>
              </p:ext>
            </p:extLst>
          </p:nvPr>
        </p:nvGraphicFramePr>
        <p:xfrm>
          <a:off x="1371606" y="4267188"/>
          <a:ext cx="6096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5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574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옵션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설명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FLAG_AUTO_CANCEL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아이콘 탭 할 경우 통지</a:t>
                      </a:r>
                      <a:r>
                        <a:rPr lang="ko-KR" altLang="en-US" sz="1200" baseline="0" dirty="0" smtClean="0"/>
                        <a:t> 삭제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2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FLAG_INSISTENT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취소 또는 상태표시줄을 확장하기 전까지 소리 발생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FLAG_NO_CLEAR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‘</a:t>
                      </a:r>
                      <a:r>
                        <a:rPr lang="ko-KR" altLang="en-US" sz="1200" dirty="0" smtClean="0"/>
                        <a:t>초기화</a:t>
                      </a:r>
                      <a:r>
                        <a:rPr lang="en-US" altLang="ko-KR" sz="1200" dirty="0" smtClean="0"/>
                        <a:t>’ </a:t>
                      </a:r>
                      <a:r>
                        <a:rPr lang="ko-KR" altLang="en-US" sz="1200" dirty="0" smtClean="0"/>
                        <a:t>선택할 때 삭제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FLAG_ONGOING_EVENT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계속 진행중인 이벤트 참조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2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FLAG_ONLY_ALERT_ONCE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/>
                        <a:t>이전에 취소된 통지라도 매번 소리와 진동을 발생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FLAG_SHOW_LIGHTS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LED </a:t>
                      </a:r>
                      <a:r>
                        <a:rPr lang="ko-KR" altLang="en-US" sz="1200" dirty="0" smtClean="0"/>
                        <a:t>불빛 출력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9" name="내용 개체 틀 5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sz="2400" dirty="0" smtClean="0">
                <a:latin typeface="Calibri" pitchFamily="34" charset="0"/>
                <a:cs typeface="Calibri" pitchFamily="34" charset="0"/>
              </a:rPr>
              <a:t>Notification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Defaults Option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ko-KR" sz="1600" dirty="0" smtClean="0">
              <a:latin typeface="Calibri" pitchFamily="34" charset="0"/>
              <a:cs typeface="Calibri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ko-KR" sz="1600" dirty="0" smtClean="0">
              <a:latin typeface="Calibri" pitchFamily="34" charset="0"/>
              <a:cs typeface="Calibri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ko-KR" sz="1600" dirty="0" smtClean="0">
              <a:latin typeface="Calibri" pitchFamily="34" charset="0"/>
              <a:cs typeface="Calibri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ko-KR" sz="1600" dirty="0" smtClean="0">
              <a:latin typeface="Calibri" pitchFamily="34" charset="0"/>
              <a:cs typeface="Calibri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ko-KR" sz="1600" dirty="0" smtClean="0">
              <a:latin typeface="Calibri" pitchFamily="34" charset="0"/>
              <a:cs typeface="Calibri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Flag Option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12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#8.4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Toast, Notification, Dialog, Alarm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13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272" y="1626173"/>
            <a:ext cx="2666813" cy="496918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Alarm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EX8_Alarm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3805657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"@+id/button1"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400" i="1" dirty="0" err="1">
                <a:solidFill>
                  <a:srgbClr val="2A00FF"/>
                </a:solidFill>
                <a:latin typeface="맑은 고딕"/>
              </a:rPr>
              <a:t>알람</a:t>
            </a:r>
            <a:r>
              <a:rPr lang="ko-KR" altLang="en-US" sz="1400" i="1" dirty="0">
                <a:solidFill>
                  <a:srgbClr val="2A00FF"/>
                </a:solidFill>
                <a:latin typeface="맑은 고딕"/>
              </a:rPr>
              <a:t> 예약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"setAlarm1"</a:t>
            </a:r>
          </a:p>
          <a:p>
            <a:r>
              <a:rPr lang="ko-KR" altLang="en-US" sz="1400" dirty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"@+id/button2"</a:t>
            </a:r>
          </a:p>
          <a:p>
            <a:r>
              <a:rPr lang="ko-KR" altLang="en-US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400" i="1" dirty="0">
                <a:solidFill>
                  <a:srgbClr val="2A00FF"/>
                </a:solidFill>
                <a:latin typeface="맑은 고딕"/>
              </a:rPr>
              <a:t>반복 </a:t>
            </a:r>
            <a:r>
              <a:rPr lang="ko-KR" altLang="en-US" sz="1400" i="1" dirty="0" err="1">
                <a:solidFill>
                  <a:srgbClr val="2A00FF"/>
                </a:solidFill>
                <a:latin typeface="맑은 고딕"/>
              </a:rPr>
              <a:t>알람</a:t>
            </a:r>
            <a:r>
              <a:rPr lang="ko-KR" altLang="en-US" sz="1400" i="1" dirty="0">
                <a:solidFill>
                  <a:srgbClr val="2A00FF"/>
                </a:solidFill>
                <a:latin typeface="맑은 고딕"/>
              </a:rPr>
              <a:t> 예약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setAlarmR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"@+id/button3"</a:t>
            </a:r>
          </a:p>
          <a:p>
            <a:r>
              <a:rPr lang="en-US" altLang="ko-KR" sz="1400" dirty="0">
                <a:latin typeface="맑은 고딕"/>
              </a:rPr>
              <a:t>   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400" i="1" dirty="0" err="1">
                <a:solidFill>
                  <a:srgbClr val="2A00FF"/>
                </a:solidFill>
                <a:latin typeface="맑은 고딕"/>
              </a:rPr>
              <a:t>알람</a:t>
            </a:r>
            <a:r>
              <a:rPr lang="ko-KR" altLang="en-US" sz="1400" i="1" dirty="0">
                <a:solidFill>
                  <a:srgbClr val="2A00FF"/>
                </a:solidFill>
                <a:latin typeface="맑은 고딕"/>
              </a:rPr>
              <a:t> 취소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cancelAlarm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214204" y="4724621"/>
            <a:ext cx="3028950" cy="1172663"/>
          </a:xfrm>
          <a:prstGeom prst="horizontalScroll">
            <a:avLst>
              <a:gd name="adj" fmla="val 1067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알람 예약 후 종료해도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일정시간이후 다시 앱이뜸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002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Alarm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647974" cy="42780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MainActivity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extends </a:t>
            </a:r>
            <a:r>
              <a:rPr lang="ko-KR" altLang="ko-KR" sz="1600" dirty="0">
                <a:solidFill>
                  <a:schemeClr val="bg1">
                    <a:lumMod val="50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AppCompatActivity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AlarmManager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mAlMan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PendingIntent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mPendInt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/**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Called when the activity is first created. */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@Override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R.layout.main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mAlMan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AlarmManager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getSystemService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0000C0"/>
                </a:solidFill>
                <a:latin typeface="돋움체"/>
                <a:ea typeface="돋움체"/>
              </a:rPr>
              <a:t>ALARM_SERVICE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Intent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i =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Intent(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MainActivity.</a:t>
            </a:r>
            <a:r>
              <a:rPr lang="en-US" altLang="ko-KR" sz="1600" dirty="0" err="1" smtClean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i.addFlags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Intent.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FLAG_ACTIVITY_NEW_TASK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mPendInt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PendingIntent.getActivity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0, i, 0);</a:t>
            </a:r>
          </a:p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prstClr val="black"/>
                </a:solidFill>
              </a:rPr>
              <a:t>EX8_Alarm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81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Alarm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647974" cy="47705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setAlarm1(View v) {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 </a:t>
            </a:r>
            <a:r>
              <a:rPr lang="en-US" altLang="ko-KR" sz="1600" dirty="0" smtClean="0">
                <a:solidFill>
                  <a:srgbClr val="3F7F5F"/>
                </a:solidFill>
                <a:latin typeface="돋움체"/>
                <a:ea typeface="돋움체"/>
              </a:rPr>
              <a:t>3</a:t>
            </a:r>
            <a:r>
              <a:rPr lang="ko-KR" altLang="en-US" sz="1600" dirty="0" smtClean="0">
                <a:solidFill>
                  <a:srgbClr val="3F7F5F"/>
                </a:solidFill>
                <a:latin typeface="돋움체"/>
                <a:ea typeface="돋움체"/>
              </a:rPr>
              <a:t>초 </a:t>
            </a:r>
            <a:r>
              <a:rPr lang="ko-KR" altLang="en-US" sz="1600" dirty="0">
                <a:solidFill>
                  <a:srgbClr val="3F7F5F"/>
                </a:solidFill>
                <a:latin typeface="돋움체"/>
                <a:ea typeface="돋움체"/>
              </a:rPr>
              <a:t>후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Calendar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Calendar.getInstance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cal.setTimeInMillis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System.currentTimeMillis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cal.add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Calendar.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SECOND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3);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mAlMan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set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AlarmManager.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RTC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cal.getTimeInMillis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(),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mPendInt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setAlarmR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(View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v) {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mAlMan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setRepeating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AlarmManager.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ELAPSED_REALTIME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SystemClock.elapsedRealtime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(),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3000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mPendInt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cancelAlarm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mAlMan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cancel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mPendInt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prstClr val="black"/>
                </a:solidFill>
              </a:rPr>
              <a:t>EX8_Alarm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770798" y="2356438"/>
            <a:ext cx="3148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rgbClr val="00B050"/>
                </a:solidFill>
                <a:latin typeface="+mn-ea"/>
              </a:rPr>
              <a:t>※ import </a:t>
            </a:r>
            <a:r>
              <a:rPr lang="en-US" altLang="ko-KR" dirty="0" err="1">
                <a:solidFill>
                  <a:srgbClr val="00B050"/>
                </a:solidFill>
                <a:latin typeface="+mn-ea"/>
              </a:rPr>
              <a:t>java.util.Calendar</a:t>
            </a:r>
            <a:r>
              <a:rPr lang="en-US" altLang="ko-KR" dirty="0">
                <a:solidFill>
                  <a:srgbClr val="00B050"/>
                </a:solidFill>
                <a:latin typeface="+mn-ea"/>
              </a:rPr>
              <a:t>;</a:t>
            </a:r>
            <a:endParaRPr lang="ko-KR" altLang="en-US" dirty="0">
              <a:solidFill>
                <a:srgbClr val="00B05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359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Alarm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smtClean="0"/>
              <a:t>void set(</a:t>
            </a:r>
            <a:r>
              <a:rPr lang="en-US" altLang="ko-KR" sz="2000" dirty="0" err="1" smtClean="0"/>
              <a:t>int</a:t>
            </a:r>
            <a:r>
              <a:rPr lang="en-US" altLang="ko-KR" sz="2000" dirty="0" smtClean="0"/>
              <a:t> type, long time, </a:t>
            </a:r>
            <a:r>
              <a:rPr lang="en-US" altLang="ko-KR" sz="2000" dirty="0" err="1" smtClean="0"/>
              <a:t>PendingIntent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oper</a:t>
            </a:r>
            <a:r>
              <a:rPr lang="en-US" altLang="ko-KR" sz="2000" dirty="0" smtClean="0"/>
              <a:t>)</a:t>
            </a:r>
          </a:p>
          <a:p>
            <a:r>
              <a:rPr lang="en-US" altLang="ko-KR" sz="2000" dirty="0"/>
              <a:t>void </a:t>
            </a:r>
            <a:r>
              <a:rPr lang="en-US" altLang="ko-KR" sz="2000" dirty="0" err="1" smtClean="0"/>
              <a:t>setRepeating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int</a:t>
            </a:r>
            <a:r>
              <a:rPr lang="en-US" altLang="ko-KR" sz="2000" dirty="0" smtClean="0"/>
              <a:t> </a:t>
            </a:r>
            <a:r>
              <a:rPr lang="en-US" altLang="ko-KR" sz="2000" dirty="0"/>
              <a:t>type, long </a:t>
            </a:r>
            <a:r>
              <a:rPr lang="en-US" altLang="ko-KR" sz="2000" dirty="0" smtClean="0"/>
              <a:t>time, long interval, </a:t>
            </a:r>
            <a:r>
              <a:rPr lang="en-US" altLang="ko-KR" sz="2000" dirty="0" err="1"/>
              <a:t>PendingIntent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oper</a:t>
            </a:r>
            <a:r>
              <a:rPr lang="en-US" altLang="ko-KR" sz="2000" dirty="0"/>
              <a:t>)</a:t>
            </a:r>
          </a:p>
          <a:p>
            <a:endParaRPr lang="en-US" altLang="ko-KR" sz="2000" dirty="0" smtClean="0"/>
          </a:p>
          <a:p>
            <a:endParaRPr lang="en-US" altLang="ko-KR" sz="2000" dirty="0"/>
          </a:p>
          <a:p>
            <a:endParaRPr lang="en-US" altLang="ko-KR" sz="2000" dirty="0" smtClean="0"/>
          </a:p>
          <a:p>
            <a:endParaRPr lang="en-US" altLang="ko-KR" sz="2000" dirty="0"/>
          </a:p>
          <a:p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ko-KR" altLang="en-US" dirty="0" smtClean="0"/>
              <a:t>현재 </a:t>
            </a:r>
            <a:r>
              <a:rPr lang="en-US" altLang="ko-KR" dirty="0" smtClean="0"/>
              <a:t>UTC </a:t>
            </a:r>
            <a:r>
              <a:rPr lang="ko-KR" altLang="en-US" dirty="0" smtClean="0"/>
              <a:t>얻기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sz="1800" dirty="0" err="1" smtClean="0"/>
              <a:t>System.currentTimeMillis</a:t>
            </a:r>
            <a:r>
              <a:rPr lang="en-US" altLang="ko-KR" sz="1800" dirty="0" smtClean="0"/>
              <a:t>()</a:t>
            </a:r>
          </a:p>
          <a:p>
            <a:r>
              <a:rPr lang="ko-KR" altLang="en-US" dirty="0" smtClean="0"/>
              <a:t>현재 부팅 경과 시간 얻기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sz="1800" dirty="0" err="1" smtClean="0"/>
              <a:t>SystemClock.elapsedRealtime</a:t>
            </a:r>
            <a:r>
              <a:rPr lang="en-US" altLang="ko-KR" sz="1800" dirty="0" smtClean="0"/>
              <a:t>()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38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06264"/>
              </p:ext>
            </p:extLst>
          </p:nvPr>
        </p:nvGraphicFramePr>
        <p:xfrm>
          <a:off x="662940" y="2334260"/>
          <a:ext cx="79552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2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690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Type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RTC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밀리세컨드</a:t>
                      </a:r>
                      <a:r>
                        <a:rPr lang="ko-KR" altLang="en-US" dirty="0" smtClean="0"/>
                        <a:t> 단위의 </a:t>
                      </a:r>
                      <a:r>
                        <a:rPr lang="ko-KR" altLang="en-US" dirty="0" err="1" smtClean="0"/>
                        <a:t>세계표준시</a:t>
                      </a:r>
                      <a:r>
                        <a:rPr lang="en-US" altLang="ko-KR" dirty="0" smtClean="0"/>
                        <a:t>(UTC)</a:t>
                      </a:r>
                      <a:r>
                        <a:rPr lang="ko-KR" altLang="en-US" dirty="0" smtClean="0"/>
                        <a:t>를 지정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RTC_WAKEUP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장비가 </a:t>
                      </a:r>
                      <a:r>
                        <a:rPr lang="en-US" altLang="ko-KR" dirty="0" smtClean="0"/>
                        <a:t>Sleep </a:t>
                      </a:r>
                      <a:r>
                        <a:rPr lang="ko-KR" altLang="en-US" dirty="0" smtClean="0"/>
                        <a:t>상태이면 깨우기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ELAPSED_REALTIME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부팅된 이후의 경과 시간을 지정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ELAPSED_REALTIME_WAKEUP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장비가 </a:t>
                      </a:r>
                      <a:r>
                        <a:rPr lang="en-US" altLang="ko-KR" dirty="0" smtClean="0"/>
                        <a:t>Sleep </a:t>
                      </a:r>
                      <a:r>
                        <a:rPr lang="ko-KR" altLang="en-US" dirty="0" smtClean="0"/>
                        <a:t>상태이면 깨우기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54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추가사</a:t>
            </a:r>
            <a:r>
              <a:rPr lang="ko-KR" altLang="en-US" dirty="0"/>
              <a:t>항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ko-KR" sz="2000" b="1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import </a:t>
            </a:r>
            <a:r>
              <a:rPr lang="ko-KR" altLang="ko-KR" sz="2000" dirty="0">
                <a:latin typeface="굴림체" panose="020B0609000101010101" pitchFamily="49" charset="-127"/>
                <a:ea typeface="굴림체" panose="020B0609000101010101" pitchFamily="49" charset="-127"/>
              </a:rPr>
              <a:t>android.icu.util.Calendar</a:t>
            </a:r>
            <a:r>
              <a:rPr lang="ko-KR" altLang="ko-KR" sz="20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;</a:t>
            </a:r>
            <a:r>
              <a:rPr lang="en-US" altLang="ko-KR" sz="20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20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를</a:t>
            </a:r>
            <a:r>
              <a:rPr lang="en-US" altLang="ko-KR" sz="20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2000" dirty="0">
                <a:latin typeface="굴림체" panose="020B0609000101010101" pitchFamily="49" charset="-127"/>
                <a:ea typeface="굴림체" panose="020B0609000101010101" pitchFamily="49" charset="-127"/>
              </a:rPr>
              <a:t>사용하는 </a:t>
            </a:r>
            <a:r>
              <a:rPr lang="ko-KR" altLang="en-US" sz="20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경우 에러 </a:t>
            </a:r>
            <a:endParaRPr lang="en-US" altLang="ko-KR" sz="2000" dirty="0" smtClean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sz="2000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39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381" y="1920924"/>
            <a:ext cx="5788324" cy="46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1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추가사</a:t>
            </a:r>
            <a:r>
              <a:rPr lang="ko-KR" altLang="en-US" dirty="0"/>
              <a:t>항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err="1" smtClean="0"/>
              <a:t>Build.gradle</a:t>
            </a:r>
            <a:r>
              <a:rPr lang="en-US" altLang="ko-KR" sz="2000" dirty="0" smtClean="0"/>
              <a:t> (Module: app)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   </a:t>
            </a:r>
            <a:r>
              <a:rPr lang="ko-KR" altLang="en-US" sz="2000" dirty="0" smtClean="0"/>
              <a:t>을 클릭한다</a:t>
            </a:r>
            <a:r>
              <a:rPr lang="en-US" altLang="ko-KR" sz="2000" dirty="0" smtClean="0"/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40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140" y="1285418"/>
            <a:ext cx="3446078" cy="5040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94033" y="4943126"/>
            <a:ext cx="2127825" cy="1657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063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추가사</a:t>
            </a:r>
            <a:r>
              <a:rPr lang="ko-KR" altLang="en-US" dirty="0"/>
              <a:t>항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 smtClean="0"/>
              <a:t>표시된 부분에 값을 변경하고 </a:t>
            </a:r>
            <a:r>
              <a:rPr lang="en-US" altLang="ko-KR" sz="2000" dirty="0" smtClean="0"/>
              <a:t>‘Sync Now’</a:t>
            </a:r>
            <a:r>
              <a:rPr lang="ko-KR" altLang="en-US" sz="2000" dirty="0" smtClean="0"/>
              <a:t>를 적용한다</a:t>
            </a:r>
            <a:r>
              <a:rPr lang="en-US" altLang="ko-KR" sz="2000" dirty="0" smtClean="0"/>
              <a:t>.</a:t>
            </a:r>
          </a:p>
          <a:p>
            <a:pPr marL="0" indent="0">
              <a:buNone/>
            </a:pPr>
            <a:r>
              <a:rPr lang="en-US" altLang="ko-KR" sz="2000" dirty="0" smtClean="0"/>
              <a:t>      - (</a:t>
            </a:r>
            <a:r>
              <a:rPr lang="ko-KR" altLang="en-US" sz="2000" dirty="0" smtClean="0"/>
              <a:t>그림은 </a:t>
            </a:r>
            <a:r>
              <a:rPr lang="en-US" altLang="ko-KR" sz="2000" dirty="0" smtClean="0"/>
              <a:t>API 21 -&gt; API 24</a:t>
            </a:r>
            <a:r>
              <a:rPr lang="ko-KR" altLang="en-US" sz="2000" dirty="0" smtClean="0"/>
              <a:t>로의 변경을 보여준다</a:t>
            </a:r>
            <a:r>
              <a:rPr lang="en-US" altLang="ko-KR" sz="2000" dirty="0" smtClean="0"/>
              <a:t>)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41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87" y="2353160"/>
            <a:ext cx="7326192" cy="400319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7656316" y="2640573"/>
            <a:ext cx="649484" cy="1788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066926" y="4069322"/>
            <a:ext cx="1285874" cy="1883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53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추가사</a:t>
            </a:r>
            <a:r>
              <a:rPr lang="ko-KR" altLang="en-US" dirty="0"/>
              <a:t>항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 smtClean="0"/>
              <a:t>실행 시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에뮬레이터를 </a:t>
            </a:r>
            <a:r>
              <a:rPr lang="en-US" altLang="ko-KR" sz="2000" dirty="0" smtClean="0"/>
              <a:t>API 24 </a:t>
            </a:r>
            <a:r>
              <a:rPr lang="ko-KR" altLang="en-US" sz="2000" dirty="0" smtClean="0"/>
              <a:t>지원 버전으로 추가해준다</a:t>
            </a:r>
            <a:r>
              <a:rPr lang="en-US" altLang="ko-KR" sz="2000" dirty="0" smtClean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   - (</a:t>
            </a:r>
            <a:r>
              <a:rPr lang="ko-KR" altLang="en-US" sz="2000" dirty="0" smtClean="0"/>
              <a:t>안드로이드 </a:t>
            </a:r>
            <a:r>
              <a:rPr lang="en-US" altLang="ko-KR" sz="2000" dirty="0" smtClean="0"/>
              <a:t>7.0 </a:t>
            </a:r>
            <a:r>
              <a:rPr lang="ko-KR" altLang="en-US" sz="2000" dirty="0" smtClean="0"/>
              <a:t>이상</a:t>
            </a:r>
            <a:r>
              <a:rPr lang="en-US" altLang="ko-KR" sz="2000" dirty="0" smtClean="0"/>
              <a:t>)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179" y="2343147"/>
            <a:ext cx="4950000" cy="396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94872" y="3394418"/>
            <a:ext cx="1243751" cy="2631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3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추가사</a:t>
            </a:r>
            <a:r>
              <a:rPr lang="ko-KR" altLang="en-US" dirty="0"/>
              <a:t>항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 smtClean="0"/>
              <a:t>실행 결과 화면</a:t>
            </a:r>
            <a:endParaRPr lang="en-US" altLang="ko-KR" sz="2000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934" y="1484672"/>
            <a:ext cx="2806372" cy="522922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25364" y="2010893"/>
            <a:ext cx="38576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“</a:t>
            </a:r>
            <a:r>
              <a:rPr lang="ko-KR" altLang="en-US" dirty="0"/>
              <a:t>알림 예약</a:t>
            </a:r>
            <a:r>
              <a:rPr lang="en-US" altLang="ko-KR" dirty="0"/>
              <a:t>”</a:t>
            </a:r>
            <a:r>
              <a:rPr lang="ko-KR" altLang="en-US" dirty="0"/>
              <a:t> </a:t>
            </a:r>
            <a:r>
              <a:rPr lang="en-US" altLang="ko-KR" dirty="0"/>
              <a:t>or “</a:t>
            </a:r>
            <a:r>
              <a:rPr lang="ko-KR" altLang="en-US" dirty="0"/>
              <a:t>반복 알림 예약</a:t>
            </a:r>
            <a:r>
              <a:rPr lang="en-US" altLang="ko-KR" dirty="0"/>
              <a:t>”</a:t>
            </a:r>
            <a:r>
              <a:rPr lang="ko-KR" altLang="en-US" dirty="0"/>
              <a:t> 누른 후 </a:t>
            </a:r>
            <a:r>
              <a:rPr lang="ko-KR" altLang="en-US" dirty="0" smtClean="0"/>
              <a:t>기다려보라</a:t>
            </a:r>
            <a:r>
              <a:rPr lang="en-US" altLang="ko-KR" dirty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“</a:t>
            </a:r>
            <a:r>
              <a:rPr lang="ko-KR" altLang="en-US" dirty="0"/>
              <a:t>알림 예약</a:t>
            </a:r>
            <a:r>
              <a:rPr lang="en-US" altLang="ko-KR" dirty="0"/>
              <a:t>”</a:t>
            </a:r>
            <a:r>
              <a:rPr lang="ko-KR" altLang="en-US" dirty="0"/>
              <a:t> </a:t>
            </a:r>
            <a:r>
              <a:rPr lang="en-US" altLang="ko-KR" dirty="0"/>
              <a:t>or “</a:t>
            </a:r>
            <a:r>
              <a:rPr lang="ko-KR" altLang="en-US" dirty="0"/>
              <a:t>반복 알림 예약</a:t>
            </a:r>
            <a:r>
              <a:rPr lang="en-US" altLang="ko-KR" dirty="0"/>
              <a:t>”</a:t>
            </a:r>
            <a:r>
              <a:rPr lang="ko-KR" altLang="en-US" dirty="0"/>
              <a:t> 누른 </a:t>
            </a:r>
            <a:r>
              <a:rPr lang="ko-KR" altLang="en-US" dirty="0" smtClean="0"/>
              <a:t>후 </a:t>
            </a:r>
            <a:r>
              <a:rPr lang="en-US" altLang="ko-KR" dirty="0" smtClean="0"/>
              <a:t>“</a:t>
            </a:r>
            <a:r>
              <a:rPr lang="ko-KR" altLang="en-US" dirty="0"/>
              <a:t>알림 취소</a:t>
            </a:r>
            <a:r>
              <a:rPr lang="en-US" altLang="ko-KR" dirty="0"/>
              <a:t>”</a:t>
            </a:r>
            <a:r>
              <a:rPr lang="ko-KR" altLang="en-US" dirty="0"/>
              <a:t> 버튼을 누르면 </a:t>
            </a:r>
            <a:r>
              <a:rPr lang="ko-KR" altLang="en-US" dirty="0" err="1"/>
              <a:t>알림예약이</a:t>
            </a:r>
            <a:r>
              <a:rPr lang="ko-KR" altLang="en-US" dirty="0"/>
              <a:t> 취소된다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“</a:t>
            </a:r>
            <a:r>
              <a:rPr lang="ko-KR" altLang="en-US" dirty="0"/>
              <a:t>알림 예약</a:t>
            </a:r>
            <a:r>
              <a:rPr lang="en-US" altLang="ko-KR" dirty="0"/>
              <a:t>”</a:t>
            </a:r>
            <a:r>
              <a:rPr lang="ko-KR" altLang="en-US" dirty="0"/>
              <a:t> </a:t>
            </a:r>
            <a:r>
              <a:rPr lang="en-US" altLang="ko-KR" dirty="0"/>
              <a:t>or “</a:t>
            </a:r>
            <a:r>
              <a:rPr lang="ko-KR" altLang="en-US" dirty="0"/>
              <a:t>반복 알림 예약</a:t>
            </a:r>
            <a:r>
              <a:rPr lang="en-US" altLang="ko-KR" dirty="0"/>
              <a:t>”</a:t>
            </a:r>
            <a:r>
              <a:rPr lang="ko-KR" altLang="en-US" dirty="0"/>
              <a:t> 누른 후 </a:t>
            </a:r>
            <a:r>
              <a:rPr lang="ko-KR" altLang="en-US" dirty="0" err="1" smtClean="0"/>
              <a:t>앱을</a:t>
            </a:r>
            <a:r>
              <a:rPr lang="ko-KR" altLang="en-US" dirty="0" smtClean="0"/>
              <a:t> 종료하고 기다려보라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현재</a:t>
            </a:r>
            <a:r>
              <a:rPr lang="en-US" altLang="ko-KR" dirty="0" smtClean="0"/>
              <a:t>, “</a:t>
            </a:r>
            <a:r>
              <a:rPr lang="ko-KR" altLang="en-US" dirty="0" err="1" smtClean="0"/>
              <a:t>반복알림예약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의 </a:t>
            </a:r>
            <a:r>
              <a:rPr lang="ko-KR" altLang="en-US" dirty="0" smtClean="0"/>
              <a:t>경우 한 번만 실행됨</a:t>
            </a:r>
            <a:r>
              <a:rPr lang="en-US" altLang="ko-KR" dirty="0" smtClean="0"/>
              <a:t>…</a:t>
            </a:r>
            <a:r>
              <a:rPr lang="ko-KR" altLang="en-US" dirty="0" smtClean="0"/>
              <a:t>에뮬레이터 및 실제 디바이스에서 모두 제대로 동작 안 </a:t>
            </a:r>
            <a:r>
              <a:rPr lang="ko-KR" altLang="en-US" dirty="0" smtClean="0"/>
              <a:t>하네요</a:t>
            </a:r>
            <a:r>
              <a:rPr lang="en-US" altLang="ko-KR" dirty="0" smtClean="0"/>
              <a:t>…)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9184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44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37915</TotalTime>
  <Words>2739</Words>
  <Application>Microsoft Office PowerPoint</Application>
  <PresentationFormat>화면 슬라이드 쇼(4:3)</PresentationFormat>
  <Paragraphs>755</Paragraphs>
  <Slides>44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7" baseType="lpstr">
      <vt:lpstr>HY중고딕</vt:lpstr>
      <vt:lpstr>굴림체</vt:lpstr>
      <vt:lpstr>돋움체</vt:lpstr>
      <vt:lpstr>맑은 고딕</vt:lpstr>
      <vt:lpstr>휴먼엑스포</vt:lpstr>
      <vt:lpstr>Arial</vt:lpstr>
      <vt:lpstr>Calibri</vt:lpstr>
      <vt:lpstr>Century Gothic</vt:lpstr>
      <vt:lpstr>Consolas</vt:lpstr>
      <vt:lpstr>Courier New</vt:lpstr>
      <vt:lpstr>Palatino Linotype</vt:lpstr>
      <vt:lpstr>Wingdings</vt:lpstr>
      <vt:lpstr>Executive</vt:lpstr>
      <vt:lpstr>알림</vt:lpstr>
      <vt:lpstr>Toast</vt:lpstr>
      <vt:lpstr>Dialog</vt:lpstr>
      <vt:lpstr>Notification</vt:lpstr>
      <vt:lpstr>Alarm</vt:lpstr>
      <vt:lpstr>Example #8.3</vt:lpstr>
      <vt:lpstr>Toast</vt:lpstr>
      <vt:lpstr>Toast</vt:lpstr>
      <vt:lpstr>Toast</vt:lpstr>
      <vt:lpstr>Toast</vt:lpstr>
      <vt:lpstr>Toast</vt:lpstr>
      <vt:lpstr>Toast</vt:lpstr>
      <vt:lpstr>Toast</vt:lpstr>
      <vt:lpstr>Dialog</vt:lpstr>
      <vt:lpstr>Dialog</vt:lpstr>
      <vt:lpstr>Dialog</vt:lpstr>
      <vt:lpstr>Dialog</vt:lpstr>
      <vt:lpstr>Dialog</vt:lpstr>
      <vt:lpstr>Dialog</vt:lpstr>
      <vt:lpstr>Dialog</vt:lpstr>
      <vt:lpstr>Dialog</vt:lpstr>
      <vt:lpstr>Dialog</vt:lpstr>
      <vt:lpstr>Dialog</vt:lpstr>
      <vt:lpstr>Dialog</vt:lpstr>
      <vt:lpstr>Dialog</vt:lpstr>
      <vt:lpstr>Dialog</vt:lpstr>
      <vt:lpstr>Dialog</vt:lpstr>
      <vt:lpstr>Notification</vt:lpstr>
      <vt:lpstr>Notification</vt:lpstr>
      <vt:lpstr>Notification</vt:lpstr>
      <vt:lpstr>Notification</vt:lpstr>
      <vt:lpstr>PowerPoint 프레젠테이션</vt:lpstr>
      <vt:lpstr>Notification</vt:lpstr>
      <vt:lpstr>Example #8.4</vt:lpstr>
      <vt:lpstr>Alarm</vt:lpstr>
      <vt:lpstr>Alarm</vt:lpstr>
      <vt:lpstr>Alarm</vt:lpstr>
      <vt:lpstr>Alarm</vt:lpstr>
      <vt:lpstr>추가사항</vt:lpstr>
      <vt:lpstr>추가사항</vt:lpstr>
      <vt:lpstr>추가사항</vt:lpstr>
      <vt:lpstr>추가사항</vt:lpstr>
      <vt:lpstr>추가사항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2149</cp:revision>
  <cp:lastPrinted>2011-04-05T23:40:50Z</cp:lastPrinted>
  <dcterms:created xsi:type="dcterms:W3CDTF">2010-10-12T07:50:15Z</dcterms:created>
  <dcterms:modified xsi:type="dcterms:W3CDTF">2017-11-14T01:44:52Z</dcterms:modified>
</cp:coreProperties>
</file>