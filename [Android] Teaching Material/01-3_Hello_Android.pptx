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9"/>
  </p:notesMasterIdLst>
  <p:sldIdLst>
    <p:sldId id="256" r:id="rId2"/>
    <p:sldId id="257" r:id="rId3"/>
    <p:sldId id="377" r:id="rId4"/>
    <p:sldId id="259" r:id="rId5"/>
    <p:sldId id="260" r:id="rId6"/>
    <p:sldId id="443" r:id="rId7"/>
    <p:sldId id="261" r:id="rId8"/>
    <p:sldId id="262" r:id="rId9"/>
    <p:sldId id="263" r:id="rId10"/>
    <p:sldId id="442" r:id="rId11"/>
    <p:sldId id="376" r:id="rId12"/>
    <p:sldId id="444" r:id="rId13"/>
    <p:sldId id="346" r:id="rId14"/>
    <p:sldId id="265" r:id="rId15"/>
    <p:sldId id="445" r:id="rId16"/>
    <p:sldId id="446" r:id="rId17"/>
    <p:sldId id="345" r:id="rId18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5BE2"/>
    <a:srgbClr val="004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7" autoAdjust="0"/>
    <p:restoredTop sz="87082" autoAdjust="0"/>
  </p:normalViewPr>
  <p:slideViewPr>
    <p:cSldViewPr snapToGrid="0">
      <p:cViewPr varScale="1">
        <p:scale>
          <a:sx n="100" d="100"/>
          <a:sy n="100" d="100"/>
        </p:scale>
        <p:origin x="-241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0500"/>
    </p:cViewPr>
  </p:sorter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amu.wiki/w/%EB%84%A5%EC%84%9C%EC%8A%A4%205X" TargetMode="External"/><Relationship Id="rId7" Type="http://schemas.openxmlformats.org/officeDocument/2006/relationships/hyperlink" Target="https://namu.wiki/w/%EC%9C%88%EB%8F%84%EC%9A%B0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namu.wiki/w/CyanogenMod" TargetMode="External"/><Relationship Id="rId5" Type="http://schemas.openxmlformats.org/officeDocument/2006/relationships/hyperlink" Target="https://namu.wiki/w/%EC%95%88%EB%93%9C%EB%A1%9C%EC%9D%B4%EB%93%9C(%EC%9A%B4%EC%98%81%EC%B2%B4%EC%A0%9C)/%EB%A7%88%EC%8B%9C%EB%A9%9C%EB%A1%9C#fn-4" TargetMode="External"/><Relationship Id="rId4" Type="http://schemas.openxmlformats.org/officeDocument/2006/relationships/hyperlink" Target="https://namu.wiki/w/%EB%84%A5%EC%84%9C%EC%8A%A4%206P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OHA</a:t>
            </a:r>
            <a:r>
              <a:rPr lang="en-US" altLang="ko-KR" baseline="0" dirty="0" smtClean="0"/>
              <a:t> : </a:t>
            </a:r>
            <a:r>
              <a:rPr lang="ko-KR" altLang="en-US" baseline="0" dirty="0" smtClean="0"/>
              <a:t>개방형 휴대폰 동맹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42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Updated 2014/07:</a:t>
            </a:r>
            <a:r>
              <a:rPr lang="en-US" altLang="ko-KR" baseline="0" dirty="0" smtClean="0"/>
              <a:t> http://en.wikipedia.org/wiki/Open_Handset_Alliance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77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207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206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https://en.wikipedia.org/wiki/Android_version_history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887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597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986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Honeycomb</a:t>
            </a:r>
            <a:r>
              <a:rPr lang="en-US" altLang="ko-KR" baseline="0" dirty="0" smtClean="0"/>
              <a:t> – </a:t>
            </a:r>
            <a:r>
              <a:rPr lang="ko-KR" altLang="en-US" baseline="0" dirty="0" smtClean="0"/>
              <a:t>잦은 버그</a:t>
            </a:r>
            <a:r>
              <a:rPr lang="en-US" altLang="ko-KR" baseline="0" dirty="0" smtClean="0"/>
              <a:t>...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앞 숫자가 바뀔 때 큰 변화</a:t>
            </a:r>
            <a:r>
              <a:rPr lang="en-US" altLang="ko-KR" dirty="0" smtClean="0"/>
              <a:t>-&gt;</a:t>
            </a:r>
            <a:r>
              <a:rPr lang="en-US" altLang="ko-KR" baseline="0" dirty="0" smtClean="0"/>
              <a:t> Android l(5.0)</a:t>
            </a:r>
            <a:r>
              <a:rPr lang="ko-KR" altLang="en-US" baseline="0" dirty="0" smtClean="0"/>
              <a:t>에서 많은 변화가 있을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055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구글은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각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“프로젝트” 명을 붙였다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젤리 빈은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안드로이드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애니메이션을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60fps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실행하기 위해 붙인 이름이 “프로젝트 버터”였고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킷캣은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오직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512MB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램에서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실행시키기 위해 붙인 이름이 “프로젝트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스벨트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”였다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안드로이드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안드로이드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기기들의 배터리 수명을 향상시키기 위해 “프로젝트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볼타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”라는 이름을 붙였다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265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저장소 공식 지원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킷캣부터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뜨거운 감자였던 사안으로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6.0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마시멜로부터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더 적극적으로 지원하게 되었다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외장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아예 내장 메모리처럼 사용할 수 있도록 운영체제 단계에서 지원할 것이라고 한다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외장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뿐만 아니라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OTG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기기도 지원한다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6.0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마시멜로를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탑재한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넥서스 5X"/>
              </a:rPr>
              <a:t>신형 </a:t>
            </a:r>
            <a:r>
              <a:rPr lang="ko-KR" alt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넥서스 5X"/>
              </a:rPr>
              <a:t>넥서스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넥서스 6P"/>
              </a:rPr>
              <a:t>디바이스들이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외장 메모리를 지원하지 않기 때문에 다소 아쉬워하는 분위기다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SD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카드를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계열</a:t>
            </a:r>
            <a:r>
              <a:rPr lang="en-US" altLang="ko-KR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exFAT/FAT 32"/>
              </a:rPr>
              <a:t>[4]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아닌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계열의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리눅스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포맷의 파일 시스템으로 사용한다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 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CyanogenMod"/>
              </a:rPr>
              <a:t>CyanogenMod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같은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소스들은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F2FS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포맷을 사용하기도 한다는 듯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처음 설정 시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카드의 모든 내용이 초기화되고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윈도우"/>
              </a:rPr>
              <a:t>윈도우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Ext2Fsd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같은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서드파티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앱이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없이는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다른 기기에서 사용이 불가능하지만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앱의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데이터를 옮기는 옵션 정도가 아닌 완전히 내장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스토리지와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취급으로 사용 할 수 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4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853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커널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하드웨어 드라이버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프로세스와 메모리 관리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보안</a:t>
            </a:r>
            <a:r>
              <a:rPr lang="en-US" altLang="ko-KR" dirty="0" smtClean="0"/>
              <a:t>, </a:t>
            </a:r>
            <a:r>
              <a:rPr lang="ko-KR" altLang="en-US" dirty="0" smtClean="0"/>
              <a:t>네트워크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전력 관리 등의 핵심 서비스는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2.6 </a:t>
            </a:r>
            <a:r>
              <a:rPr lang="ko-KR" altLang="en-US" dirty="0" err="1" smtClean="0"/>
              <a:t>커널이</a:t>
            </a:r>
            <a:r>
              <a:rPr lang="ko-KR" altLang="en-US" dirty="0" smtClean="0"/>
              <a:t> 담당한다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하드웨어와 </a:t>
            </a:r>
            <a:r>
              <a:rPr lang="ko-KR" altLang="en-US" dirty="0" err="1" smtClean="0"/>
              <a:t>스택</a:t>
            </a:r>
            <a:r>
              <a:rPr lang="ko-KR" altLang="en-US" dirty="0" smtClean="0"/>
              <a:t> 나머지 부분 간의 추상 계층을 제공한다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라이브러리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커널</a:t>
            </a:r>
            <a:r>
              <a:rPr lang="ko-KR" altLang="en-US" dirty="0" smtClean="0"/>
              <a:t> 바로 위에서 동작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libc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SQL </a:t>
            </a:r>
            <a:r>
              <a:rPr lang="ko-KR" altLang="en-US" dirty="0" smtClean="0"/>
              <a:t>같은 다양한 </a:t>
            </a:r>
            <a:r>
              <a:rPr lang="en-US" altLang="ko-KR" dirty="0" smtClean="0"/>
              <a:t>C/C++ </a:t>
            </a:r>
            <a:r>
              <a:rPr lang="ko-KR" altLang="en-US" dirty="0" smtClean="0"/>
              <a:t>코어 라이브러리들을 가지고 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오디오 및 비디오 미디어 재생을 위한 미디어 라이브러리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디스플레이 관리를 제공하기 위한 </a:t>
            </a:r>
            <a:r>
              <a:rPr lang="ko-KR" altLang="en-US" dirty="0" err="1" smtClean="0"/>
              <a:t>서피스</a:t>
            </a:r>
            <a:r>
              <a:rPr lang="ko-KR" altLang="en-US" dirty="0" smtClean="0"/>
              <a:t> 매니저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2D, 3D </a:t>
            </a:r>
            <a:r>
              <a:rPr lang="ko-KR" altLang="en-US" dirty="0" smtClean="0"/>
              <a:t>그래픽스를 위한 </a:t>
            </a:r>
            <a:r>
              <a:rPr lang="en-US" altLang="ko-KR" dirty="0" smtClean="0"/>
              <a:t>SGL, OpenGL </a:t>
            </a:r>
            <a:r>
              <a:rPr lang="ko-KR" altLang="en-US" dirty="0" smtClean="0"/>
              <a:t>등의 그래픽스 라이브러리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네이티브</a:t>
            </a:r>
            <a:r>
              <a:rPr lang="ko-KR" altLang="en-US" dirty="0" smtClean="0"/>
              <a:t> 데이터베이스 지원을 위한 </a:t>
            </a:r>
            <a:r>
              <a:rPr lang="en-US" altLang="ko-KR" dirty="0" smtClean="0"/>
              <a:t>SQLite</a:t>
            </a:r>
          </a:p>
          <a:p>
            <a:pPr lvl="1"/>
            <a:r>
              <a:rPr lang="ko-KR" altLang="en-US" dirty="0" smtClean="0"/>
              <a:t>통합 웹 브라우저와 인터넷 보안을 위한 </a:t>
            </a:r>
            <a:r>
              <a:rPr lang="en-US" altLang="ko-KR" dirty="0" smtClean="0"/>
              <a:t>SSL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WebKit</a:t>
            </a:r>
            <a:endParaRPr lang="en-US" altLang="ko-KR" dirty="0" smtClean="0"/>
          </a:p>
          <a:p>
            <a:r>
              <a:rPr lang="ko-KR" altLang="en-US" dirty="0" err="1" smtClean="0"/>
              <a:t>안드로이드</a:t>
            </a:r>
            <a:r>
              <a:rPr lang="ko-KR" altLang="en-US" dirty="0" smtClean="0"/>
              <a:t> 런타임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모바일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구현이 아닌 </a:t>
            </a:r>
            <a:r>
              <a:rPr lang="ko-KR" altLang="en-US" dirty="0" err="1" smtClean="0"/>
              <a:t>안드로이드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폰이도록</a:t>
            </a:r>
            <a:r>
              <a:rPr lang="ko-KR" altLang="en-US" dirty="0" smtClean="0"/>
              <a:t> 만드는 것은 </a:t>
            </a:r>
            <a:r>
              <a:rPr lang="ko-KR" altLang="en-US" dirty="0" err="1" smtClean="0"/>
              <a:t>안드로이드</a:t>
            </a:r>
            <a:r>
              <a:rPr lang="ko-KR" altLang="en-US" dirty="0" smtClean="0"/>
              <a:t> 런타임 때문이다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코어 라이브러리와 </a:t>
            </a:r>
            <a:r>
              <a:rPr lang="ko-KR" altLang="en-US" dirty="0" err="1" smtClean="0"/>
              <a:t>달빅</a:t>
            </a:r>
            <a:r>
              <a:rPr lang="ko-KR" altLang="en-US" dirty="0" smtClean="0"/>
              <a:t> 가상 </a:t>
            </a:r>
            <a:r>
              <a:rPr lang="ko-KR" altLang="en-US" dirty="0" err="1" smtClean="0"/>
              <a:t>머신을</a:t>
            </a:r>
            <a:r>
              <a:rPr lang="ko-KR" altLang="en-US" dirty="0" smtClean="0"/>
              <a:t> 포함하는 </a:t>
            </a:r>
            <a:r>
              <a:rPr lang="ko-KR" altLang="en-US" dirty="0" err="1" smtClean="0"/>
              <a:t>안드로이드</a:t>
            </a:r>
            <a:r>
              <a:rPr lang="ko-KR" altLang="en-US" dirty="0" smtClean="0"/>
              <a:t> 런타임은 라이브러리와 함께 애플리케이션을 움직이게 하는 엔진으로서 애플리케이션 프레임워크의 기초를 형성</a:t>
            </a:r>
            <a:endParaRPr lang="en-US" altLang="ko-KR" dirty="0" smtClean="0"/>
          </a:p>
          <a:p>
            <a:r>
              <a:rPr lang="ko-KR" altLang="en-US" dirty="0" smtClean="0"/>
              <a:t>코어 라이브러리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달빅은</a:t>
            </a:r>
            <a:r>
              <a:rPr lang="ko-KR" altLang="en-US" dirty="0" smtClean="0"/>
              <a:t> 자바 </a:t>
            </a:r>
            <a:r>
              <a:rPr lang="en-US" altLang="ko-KR" dirty="0" err="1" smtClean="0"/>
              <a:t>vm</a:t>
            </a:r>
            <a:r>
              <a:rPr lang="ko-KR" altLang="en-US" dirty="0" smtClean="0"/>
              <a:t>이 아니다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안드로이드</a:t>
            </a:r>
            <a:r>
              <a:rPr lang="ko-KR" altLang="en-US" dirty="0" smtClean="0"/>
              <a:t> 라이브러리는 코어 자바 라이브러리에서 사용할 수 있는 대부분의 기능과 함께 </a:t>
            </a:r>
            <a:r>
              <a:rPr lang="ko-KR" altLang="en-US" dirty="0" err="1" smtClean="0"/>
              <a:t>안드로이드에서만</a:t>
            </a:r>
            <a:r>
              <a:rPr lang="ko-KR" altLang="en-US" dirty="0" smtClean="0"/>
              <a:t> 사용할 수 있는 전용 라이브러리도 제공</a:t>
            </a:r>
            <a:endParaRPr lang="en-US" altLang="ko-KR" dirty="0" smtClean="0"/>
          </a:p>
          <a:p>
            <a:r>
              <a:rPr lang="ko-KR" altLang="en-US" dirty="0" err="1" smtClean="0"/>
              <a:t>달빅</a:t>
            </a:r>
            <a:r>
              <a:rPr lang="ko-KR" altLang="en-US" dirty="0" smtClean="0"/>
              <a:t> 가상 머신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장치가 복수의 </a:t>
            </a:r>
            <a:r>
              <a:rPr lang="ko-KR" altLang="en-US" dirty="0" err="1" smtClean="0"/>
              <a:t>인스턴스를</a:t>
            </a:r>
            <a:r>
              <a:rPr lang="ko-KR" altLang="en-US" dirty="0" smtClean="0"/>
              <a:t> 효율적으로 실행할 수 있도록 최적화된 레지스터 기반의 가상 머신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스레딩과</a:t>
            </a:r>
            <a:r>
              <a:rPr lang="ko-KR" altLang="en-US" dirty="0" smtClean="0"/>
              <a:t> 하위 수준 메모리 관리를 위해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커널에</a:t>
            </a:r>
            <a:r>
              <a:rPr lang="ko-KR" altLang="en-US" dirty="0" smtClean="0"/>
              <a:t> 의존</a:t>
            </a:r>
            <a:endParaRPr lang="en-US" altLang="ko-KR" dirty="0" smtClean="0"/>
          </a:p>
          <a:p>
            <a:r>
              <a:rPr lang="ko-KR" altLang="en-US" dirty="0" smtClean="0"/>
              <a:t>애플리케이션 프레임워크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안드로이드</a:t>
            </a:r>
            <a:r>
              <a:rPr lang="ko-KR" altLang="en-US" dirty="0" smtClean="0"/>
              <a:t> 애플리케이션을 만드는데 사용되는 클래스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하드웨어 접근과 더불어 사용자 인터페이스와 애플리케이션 리소스 관리를 위한 일반적 추상 역시 제공</a:t>
            </a:r>
            <a:endParaRPr lang="en-US" altLang="ko-KR" dirty="0" smtClean="0"/>
          </a:p>
          <a:p>
            <a:r>
              <a:rPr lang="ko-KR" altLang="en-US" dirty="0" smtClean="0"/>
              <a:t>애플리케이션 계층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네이티브</a:t>
            </a:r>
            <a:r>
              <a:rPr lang="ko-KR" altLang="en-US" dirty="0" smtClean="0"/>
              <a:t> 애플리케이션과 </a:t>
            </a:r>
            <a:r>
              <a:rPr lang="ko-KR" altLang="en-US" dirty="0" err="1" smtClean="0"/>
              <a:t>서드파티</a:t>
            </a:r>
            <a:r>
              <a:rPr lang="ko-KR" altLang="en-US" dirty="0" smtClean="0"/>
              <a:t> 애플리케이션은 모두 동일한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 라이브러리를 이용하는 애플리케이션 계층 위에 구축된다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애플리케이션 계층은 애플리케이션 프레임워크가 제공하는 클래스와 서비스를 사용하며 </a:t>
            </a:r>
            <a:r>
              <a:rPr lang="ko-KR" altLang="en-US" dirty="0" err="1" smtClean="0"/>
              <a:t>안드로이드</a:t>
            </a:r>
            <a:r>
              <a:rPr lang="ko-KR" altLang="en-US" dirty="0" smtClean="0"/>
              <a:t> 런타임 내에서 실행된다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655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HAL ( Hardware</a:t>
            </a:r>
            <a:r>
              <a:rPr lang="en-US" altLang="ko-KR" baseline="0" dirty="0" smtClean="0"/>
              <a:t> Abstraction Layer )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체제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구성하는 한 부분으로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사용된다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엄밀한 기술적 분류로 보면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디바이스 레벨에 있기 때문에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사용함으로써 디바이스에 종속되지 않는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프로그래밍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할 수 있는데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일반적인 경우처럼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처리하는 데 따른 오버헤드가 발생하지 않는다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812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501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275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Android_Gingerbread" TargetMode="External"/><Relationship Id="rId13" Type="http://schemas.openxmlformats.org/officeDocument/2006/relationships/hyperlink" Target="https://en.wikipedia.org/wiki/Android_Lollipop" TargetMode="External"/><Relationship Id="rId3" Type="http://schemas.openxmlformats.org/officeDocument/2006/relationships/hyperlink" Target="https://en.wikipedia.org/wiki/Android_version_history" TargetMode="External"/><Relationship Id="rId7" Type="http://schemas.openxmlformats.org/officeDocument/2006/relationships/hyperlink" Target="https://en.wikipedia.org/wiki/Android_Froyo" TargetMode="External"/><Relationship Id="rId12" Type="http://schemas.openxmlformats.org/officeDocument/2006/relationships/hyperlink" Target="https://en.wikipedia.org/wiki/Android_KitKat" TargetMode="External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en.wikipedia.org/wiki/Android_version_history#Android_8.0_Oreo_.28API_26.2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ndroid_Eclair" TargetMode="External"/><Relationship Id="rId11" Type="http://schemas.openxmlformats.org/officeDocument/2006/relationships/hyperlink" Target="https://en.wikipedia.org/wiki/Android_Jelly_Bean" TargetMode="External"/><Relationship Id="rId5" Type="http://schemas.openxmlformats.org/officeDocument/2006/relationships/hyperlink" Target="https://en.wikipedia.org/wiki/Android_Donut" TargetMode="External"/><Relationship Id="rId15" Type="http://schemas.openxmlformats.org/officeDocument/2006/relationships/hyperlink" Target="https://en.wikipedia.org/wiki/Android_Nougat" TargetMode="External"/><Relationship Id="rId10" Type="http://schemas.openxmlformats.org/officeDocument/2006/relationships/hyperlink" Target="https://en.wikipedia.org/wiki/Android_Ice_Cream_Sandwich" TargetMode="External"/><Relationship Id="rId4" Type="http://schemas.openxmlformats.org/officeDocument/2006/relationships/hyperlink" Target="https://en.wikipedia.org/wiki/Android_Cupcake" TargetMode="External"/><Relationship Id="rId9" Type="http://schemas.openxmlformats.org/officeDocument/2006/relationships/hyperlink" Target="https://en.wikipedia.org/wiki/Android_Honeycomb" TargetMode="External"/><Relationship Id="rId14" Type="http://schemas.openxmlformats.org/officeDocument/2006/relationships/hyperlink" Target="https://en.wikipedia.org/wiki/Android_Marshmallo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Hello Android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</a:t>
            </a:r>
            <a:endParaRPr lang="ko-KR" altLang="en-US" dirty="0"/>
          </a:p>
        </p:txBody>
      </p:sp>
      <p:pic>
        <p:nvPicPr>
          <p:cNvPr id="3074" name="Picture 2" descr="http://verizon-iphone.us/wp-content/plugins/myscript/cache/7002d_Google-Android-army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4913"/>
            <a:ext cx="9144000" cy="565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02418" y="2552282"/>
            <a:ext cx="8088923" cy="3185328"/>
          </a:xfrm>
          <a:prstGeom prst="rect">
            <a:avLst/>
          </a:prstGeom>
          <a:gradFill>
            <a:gsLst>
              <a:gs pos="0">
                <a:schemeClr val="accent1">
                  <a:shade val="51000"/>
                  <a:satMod val="130000"/>
                  <a:alpha val="70000"/>
                </a:schemeClr>
              </a:gs>
              <a:gs pos="80000">
                <a:schemeClr val="accent1">
                  <a:shade val="93000"/>
                  <a:satMod val="130000"/>
                  <a:alpha val="70000"/>
                </a:schemeClr>
              </a:gs>
              <a:gs pos="100000">
                <a:schemeClr val="accent1">
                  <a:shade val="94000"/>
                  <a:satMod val="135000"/>
                  <a:alpha val="7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 smtClean="0"/>
              <a:t>OHA</a:t>
            </a:r>
          </a:p>
          <a:p>
            <a:pPr algn="ctr"/>
            <a:r>
              <a:rPr lang="en-US" altLang="ko-KR" dirty="0" smtClean="0"/>
              <a:t>Open Handset Alliance</a:t>
            </a:r>
          </a:p>
          <a:p>
            <a:pPr algn="ctr"/>
            <a:r>
              <a:rPr lang="en-US" altLang="ko-KR" dirty="0" smtClean="0"/>
              <a:t>“Open Software, Open Device, Open Ecosystem”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 smtClean="0"/>
              <a:t>구글이</a:t>
            </a:r>
            <a:r>
              <a:rPr lang="ko-KR" altLang="en-US" dirty="0" smtClean="0"/>
              <a:t> 주도하며</a:t>
            </a:r>
            <a:r>
              <a:rPr lang="en-US" altLang="ko-KR" dirty="0" smtClean="0"/>
              <a:t>,</a:t>
            </a:r>
          </a:p>
          <a:p>
            <a:pPr algn="ctr"/>
            <a:r>
              <a:rPr lang="ko-KR" altLang="en-US" dirty="0" smtClean="0"/>
              <a:t>통신업체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제조업체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소프트웨어 업체 등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여러 기업이 공동 참여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Nov. 11. 2007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90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435470" y="6376573"/>
            <a:ext cx="56446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http://en.wikipedia.org/wiki/Open_Handset_Alliance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16907"/>
            <a:ext cx="9144000" cy="583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9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Features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 smtClean="0"/>
              <a:t>Linux Kernel</a:t>
            </a:r>
          </a:p>
          <a:p>
            <a:pPr lvl="1"/>
            <a:r>
              <a:rPr lang="ko-KR" altLang="en-US" dirty="0" smtClean="0"/>
              <a:t>상당히 오랜 기간 개발되어 안정적인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커널</a:t>
            </a:r>
            <a:r>
              <a:rPr lang="ko-KR" altLang="en-US" dirty="0" smtClean="0"/>
              <a:t> 기반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smtClean="0"/>
              <a:t>	(</a:t>
            </a:r>
            <a:r>
              <a:rPr lang="ko-KR" altLang="en-US" dirty="0" smtClean="0"/>
              <a:t>정교한 메모리 관리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안정적인 멀티 </a:t>
            </a:r>
            <a:r>
              <a:rPr lang="ko-KR" altLang="en-US" dirty="0" err="1" smtClean="0"/>
              <a:t>스레드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보안 등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err="1" smtClean="0"/>
              <a:t>모바일</a:t>
            </a:r>
            <a:r>
              <a:rPr lang="ko-KR" altLang="en-US" dirty="0" smtClean="0"/>
              <a:t> 환경에 맞게 개조</a:t>
            </a:r>
            <a:endParaRPr lang="en-US" altLang="ko-KR" dirty="0" smtClean="0"/>
          </a:p>
          <a:p>
            <a:pPr marL="914400" lvl="2" indent="0">
              <a:buNone/>
            </a:pPr>
            <a:r>
              <a:rPr lang="en-US" altLang="ko-KR" dirty="0"/>
              <a:t>(</a:t>
            </a:r>
            <a:r>
              <a:rPr lang="ko-KR" altLang="en-US" dirty="0" smtClean="0"/>
              <a:t>어울리지 않는 무거운 기능 제거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알람</a:t>
            </a:r>
            <a:r>
              <a:rPr lang="ko-KR" altLang="en-US" dirty="0" smtClean="0"/>
              <a:t> 및 </a:t>
            </a:r>
            <a:r>
              <a:rPr lang="ko-KR" altLang="en-US" dirty="0" err="1" smtClean="0"/>
              <a:t>디버거</a:t>
            </a:r>
            <a:r>
              <a:rPr lang="ko-KR" altLang="en-US" dirty="0" smtClean="0"/>
              <a:t> 기능 추가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en-US" altLang="ko-KR" dirty="0" smtClean="0"/>
              <a:t>Java Language</a:t>
            </a:r>
          </a:p>
          <a:p>
            <a:pPr lvl="1"/>
            <a:r>
              <a:rPr lang="ko-KR" altLang="en-US" dirty="0" smtClean="0"/>
              <a:t>고수준의 언어로 개발이 쉬움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/>
              <a:t>	</a:t>
            </a:r>
            <a:r>
              <a:rPr lang="en-US" altLang="ko-KR" dirty="0"/>
              <a:t>(NDK (Native</a:t>
            </a:r>
            <a:r>
              <a:rPr lang="ko-KR" altLang="en-US" dirty="0"/>
              <a:t> </a:t>
            </a:r>
            <a:r>
              <a:rPr lang="en-US" altLang="ko-KR" dirty="0"/>
              <a:t>Development Kit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C</a:t>
            </a:r>
            <a:r>
              <a:rPr lang="ko-KR" altLang="en-US" dirty="0" smtClean="0"/>
              <a:t>를 사용 가능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en-US" altLang="ko-KR" dirty="0" smtClean="0"/>
              <a:t>API</a:t>
            </a:r>
          </a:p>
          <a:p>
            <a:pPr lvl="1"/>
            <a:r>
              <a:rPr lang="ko-KR" altLang="en-US" dirty="0" smtClean="0"/>
              <a:t>검증된 많은 라이브러리를 포함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OpenGL ES, SQLite, </a:t>
            </a:r>
            <a:r>
              <a:rPr lang="en-US" altLang="ko-KR" dirty="0" err="1" smtClean="0"/>
              <a:t>FreeType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 </a:t>
            </a:r>
            <a:r>
              <a:rPr lang="ko-KR" altLang="en-US" dirty="0" err="1" smtClean="0"/>
              <a:t>서드파티</a:t>
            </a:r>
            <a:r>
              <a:rPr lang="ko-KR" altLang="en-US" dirty="0" smtClean="0"/>
              <a:t> 라이브러리까지 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기본 제공되는 소프트웨어 교체 가능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Open Source</a:t>
            </a:r>
          </a:p>
          <a:p>
            <a:pPr lvl="1"/>
            <a:r>
              <a:rPr lang="ko-KR" altLang="en-US" dirty="0" smtClean="0"/>
              <a:t>모든 개발도구와 문서가 무료로 제공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20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Features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잦은 업데이트</a:t>
            </a:r>
            <a:endParaRPr lang="en-US" altLang="ko-KR" dirty="0" smtClean="0"/>
          </a:p>
          <a:p>
            <a:pPr lvl="1"/>
            <a:r>
              <a:rPr lang="ko-KR" altLang="en-US" dirty="0" err="1"/>
              <a:t>스마트폰</a:t>
            </a:r>
            <a:r>
              <a:rPr lang="ko-KR" altLang="en-US" dirty="0"/>
              <a:t> </a:t>
            </a:r>
            <a:r>
              <a:rPr lang="ko-KR" altLang="en-US" dirty="0" smtClean="0"/>
              <a:t>제조사의 판매전략 </a:t>
            </a:r>
            <a:r>
              <a:rPr lang="en-US" altLang="ko-KR" dirty="0" smtClean="0"/>
              <a:t>(vs</a:t>
            </a:r>
            <a:r>
              <a:rPr lang="ko-KR" altLang="en-US" dirty="0" smtClean="0"/>
              <a:t> </a:t>
            </a:r>
            <a:r>
              <a:rPr lang="en-US" altLang="ko-KR" dirty="0" smtClean="0"/>
              <a:t>iOS)</a:t>
            </a:r>
          </a:p>
          <a:p>
            <a:pPr lvl="1"/>
            <a:r>
              <a:rPr lang="ko-KR" altLang="en-US" dirty="0" smtClean="0"/>
              <a:t>안정성 부족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개발도구의 사소한 버그도 존재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앱</a:t>
            </a:r>
            <a:r>
              <a:rPr lang="ko-KR" altLang="en-US" dirty="0" smtClean="0"/>
              <a:t> 개발사의 업그레이드 부담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err="1" smtClean="0"/>
              <a:t>안드로이드</a:t>
            </a:r>
            <a:r>
              <a:rPr lang="ko-KR" altLang="en-US" dirty="0" smtClean="0"/>
              <a:t> 오픈 소스 프로젝트</a:t>
            </a:r>
            <a:endParaRPr lang="en-US" altLang="ko-KR" dirty="0" smtClean="0"/>
          </a:p>
          <a:p>
            <a:pPr lvl="1"/>
            <a:r>
              <a:rPr lang="en-US" altLang="ko-KR" dirty="0"/>
              <a:t>https://source.android.com/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다중 하드웨어 플랫폼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07" y="4683152"/>
            <a:ext cx="6535317" cy="193445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096000" y="2627828"/>
            <a:ext cx="2895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Android </a:t>
            </a:r>
            <a:r>
              <a:rPr lang="en-US" altLang="ko-KR" dirty="0"/>
              <a:t>is </a:t>
            </a:r>
            <a:r>
              <a:rPr lang="en-US" altLang="ko-KR" dirty="0">
                <a:solidFill>
                  <a:srgbClr val="00B0F0"/>
                </a:solidFill>
              </a:rPr>
              <a:t>an open source software stack </a:t>
            </a:r>
            <a:r>
              <a:rPr lang="en-US" altLang="ko-KR" dirty="0"/>
              <a:t>for a wide range of mobile devices and </a:t>
            </a:r>
            <a:r>
              <a:rPr lang="en-US" altLang="ko-KR" dirty="0">
                <a:solidFill>
                  <a:srgbClr val="00B0F0"/>
                </a:solidFill>
              </a:rPr>
              <a:t>a corresponding open source project </a:t>
            </a:r>
            <a:r>
              <a:rPr lang="en-US" altLang="ko-KR" dirty="0"/>
              <a:t>led by Google. </a:t>
            </a:r>
            <a:endParaRPr lang="ko-KR" altLang="en-US" dirty="0"/>
          </a:p>
        </p:txBody>
      </p:sp>
      <p:pic>
        <p:nvPicPr>
          <p:cNvPr id="1026" name="Picture 2" descr="https://lh3.googleusercontent.com/KknDSJND3kgEIvKv5w2dyztR8sWBBCuN5WpmcgHhUDnbgU2iQxT-TpmXPUkaP47rebapR1B2EqcMyEpOvZnnIV6y0KH_7Bc=s68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341" y="2470310"/>
            <a:ext cx="1301484" cy="206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05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hlinkClick r:id="rId3"/>
              </a:rPr>
              <a:t>Version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135993"/>
              </p:ext>
            </p:extLst>
          </p:nvPr>
        </p:nvGraphicFramePr>
        <p:xfrm>
          <a:off x="457200" y="1189038"/>
          <a:ext cx="82296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927"/>
                <a:gridCol w="2024742"/>
                <a:gridCol w="2220686"/>
                <a:gridCol w="1446245"/>
              </a:tblGrid>
              <a:tr h="3081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Code</a:t>
                      </a:r>
                      <a:r>
                        <a:rPr lang="en-US" altLang="ko-KR" baseline="0" dirty="0" smtClean="0"/>
                        <a:t>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Version 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Initial release 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API level</a:t>
                      </a:r>
                      <a:endParaRPr lang="ko-KR" altLang="en-US" dirty="0"/>
                    </a:p>
                  </a:txBody>
                  <a:tcPr/>
                </a:tc>
              </a:tr>
              <a:tr h="2825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-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September 23,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-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February 9, 2009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 tooltip="Android Cupcake"/>
                        </a:rPr>
                        <a:t>Cupcake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effectLst/>
                        </a:rPr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April 27,  </a:t>
                      </a:r>
                      <a:r>
                        <a:rPr lang="en-US" sz="1600" dirty="0">
                          <a:effectLst/>
                        </a:rPr>
                        <a:t>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5" tooltip="Android Donut"/>
                        </a:rPr>
                        <a:t>Donut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effectLst/>
                        </a:rPr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September 15, </a:t>
                      </a:r>
                      <a:r>
                        <a:rPr lang="en-US" sz="1600" dirty="0">
                          <a:effectLst/>
                        </a:rPr>
                        <a:t>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6" tooltip="Android Eclair"/>
                        </a:rPr>
                        <a:t>Eclair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effectLst/>
                        </a:rPr>
                        <a:t>2.0 – 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October 26, </a:t>
                      </a:r>
                      <a:r>
                        <a:rPr lang="en-US" sz="1600" dirty="0">
                          <a:effectLst/>
                        </a:rPr>
                        <a:t>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5–7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7" tooltip="Android Froyo"/>
                        </a:rPr>
                        <a:t>Froyo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effectLst/>
                        </a:rPr>
                        <a:t>2.2 – 2.2.3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May 20, </a:t>
                      </a:r>
                      <a:r>
                        <a:rPr lang="en-US" sz="1600" dirty="0">
                          <a:effectLst/>
                        </a:rPr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8" tooltip="Android Gingerbread"/>
                        </a:rPr>
                        <a:t>Gingerbread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2.3 – 2.3.7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December </a:t>
                      </a:r>
                      <a:r>
                        <a:rPr lang="en-US" altLang="ko-KR" sz="1600" dirty="0" smtClean="0">
                          <a:effectLst/>
                        </a:rPr>
                        <a:t>6,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9–10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9" tooltip="Android Honeycomb"/>
                        </a:rPr>
                        <a:t>Honeycomb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3.0 – 3.2.6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February </a:t>
                      </a:r>
                      <a:r>
                        <a:rPr lang="en-US" altLang="ko-KR" sz="1600" dirty="0" smtClean="0">
                          <a:effectLst/>
                        </a:rPr>
                        <a:t>22,</a:t>
                      </a:r>
                      <a:r>
                        <a:rPr lang="en-US" sz="1600" dirty="0" smtClean="0">
                          <a:effectLst/>
                        </a:rPr>
                        <a:t> 2011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11–13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10" tooltip="Android Ice Cream Sandwich"/>
                        </a:rPr>
                        <a:t>Ice Cream Sandwich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4.0 – 4.0.4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October 18, </a:t>
                      </a:r>
                      <a:r>
                        <a:rPr lang="en-US" sz="1600" dirty="0">
                          <a:effectLst/>
                        </a:rPr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14–15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11" tooltip="Android Jelly Bean"/>
                        </a:rPr>
                        <a:t>Jelly Bean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4.1 – 4.3.1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July 9, </a:t>
                      </a:r>
                      <a:r>
                        <a:rPr lang="en-US" sz="1600" dirty="0">
                          <a:effectLst/>
                        </a:rPr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16–18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12" tooltip="Android KitKat"/>
                        </a:rPr>
                        <a:t>KitKat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4.4 – 4.4.4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October 31, </a:t>
                      </a:r>
                      <a:r>
                        <a:rPr lang="en-US" sz="1600" dirty="0">
                          <a:effectLst/>
                        </a:rPr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effectLst/>
                        </a:rPr>
                        <a:t>19–20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13" tooltip="Android Lollipop"/>
                        </a:rPr>
                        <a:t>Lollipop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5.0 – 5.1.1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November 12, </a:t>
                      </a:r>
                      <a:r>
                        <a:rPr lang="en-US" sz="1600" dirty="0">
                          <a:effectLst/>
                        </a:rPr>
                        <a:t>2014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effectLst/>
                        </a:rPr>
                        <a:t>21–22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14" tooltip="Android Marshmallow"/>
                        </a:rPr>
                        <a:t>Marshmallow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effectLst/>
                        </a:rPr>
                        <a:t>6.0 – 6.0.1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October 5, </a:t>
                      </a:r>
                      <a:r>
                        <a:rPr lang="en-US" sz="1600" dirty="0">
                          <a:effectLst/>
                        </a:rP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effectLst/>
                        </a:rPr>
                        <a:t>23</a:t>
                      </a: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sz="16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15" tooltip="Android Nougat"/>
                        </a:rPr>
                        <a:t>Nougat</a:t>
                      </a:r>
                      <a:endParaRPr lang="en-US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b="1" dirty="0">
                          <a:effectLst/>
                        </a:rPr>
                        <a:t>7.0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effectLst/>
                        </a:rPr>
                        <a:t>August 22, </a:t>
                      </a:r>
                      <a:r>
                        <a:rPr lang="en-US" sz="1600" b="1" dirty="0">
                          <a:effectLst/>
                        </a:rPr>
                        <a:t>2016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b="1" dirty="0" smtClean="0">
                          <a:effectLst/>
                        </a:rPr>
                        <a:t>24-25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anchor="ctr"/>
                </a:tc>
              </a:tr>
              <a:tr h="282511">
                <a:tc>
                  <a:txBody>
                    <a:bodyPr/>
                    <a:lstStyle/>
                    <a:p>
                      <a:r>
                        <a:rPr lang="en-US" altLang="ko-KR" sz="1600" u="non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16"/>
                        </a:rPr>
                        <a:t>Oreo</a:t>
                      </a:r>
                      <a:endParaRPr lang="en-US" altLang="ko-KR" sz="16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8.0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August 21, </a:t>
                      </a:r>
                      <a:r>
                        <a:rPr lang="ko-KR" altLang="en-US" sz="1600" dirty="0" smtClean="0">
                          <a:effectLst/>
                        </a:rPr>
                        <a:t> </a:t>
                      </a:r>
                      <a:r>
                        <a:rPr lang="en-US" sz="1600" dirty="0" smtClean="0">
                          <a:effectLst/>
                        </a:rPr>
                        <a:t>2017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26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06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Version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Version History</a:t>
            </a:r>
          </a:p>
          <a:p>
            <a:pPr lvl="1"/>
            <a:r>
              <a:rPr lang="en-US" altLang="ko-KR" dirty="0" smtClean="0"/>
              <a:t>1.0 (2008. 9. 23)</a:t>
            </a:r>
          </a:p>
          <a:p>
            <a:pPr lvl="2"/>
            <a:r>
              <a:rPr lang="en-US" altLang="ko-KR" dirty="0" smtClean="0"/>
              <a:t>SDK, </a:t>
            </a:r>
            <a:r>
              <a:rPr lang="ko-KR" altLang="en-US" dirty="0" smtClean="0"/>
              <a:t>동작 샘플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시스템 구조</a:t>
            </a:r>
            <a:r>
              <a:rPr lang="en-US" altLang="ko-KR" dirty="0" smtClean="0"/>
              <a:t>, SW </a:t>
            </a:r>
            <a:r>
              <a:rPr lang="ko-KR" altLang="en-US" dirty="0" smtClean="0"/>
              <a:t>개발 구조 공개</a:t>
            </a:r>
            <a:endParaRPr lang="en-US" altLang="ko-KR" dirty="0"/>
          </a:p>
          <a:p>
            <a:pPr lvl="2"/>
            <a:r>
              <a:rPr lang="ko-KR" altLang="en-US" dirty="0"/>
              <a:t>최초의 </a:t>
            </a:r>
            <a:r>
              <a:rPr lang="ko-KR" altLang="en-US" dirty="0" err="1"/>
              <a:t>안드로이드</a:t>
            </a:r>
            <a:r>
              <a:rPr lang="ko-KR" altLang="en-US" dirty="0"/>
              <a:t> </a:t>
            </a:r>
            <a:r>
              <a:rPr lang="ko-KR" altLang="en-US" dirty="0" err="1"/>
              <a:t>폰인</a:t>
            </a:r>
            <a:r>
              <a:rPr lang="ko-KR" altLang="en-US" dirty="0"/>
              <a:t> </a:t>
            </a:r>
            <a:r>
              <a:rPr lang="en-US" altLang="ko-KR" dirty="0"/>
              <a:t>HTC G1 </a:t>
            </a:r>
            <a:r>
              <a:rPr lang="ko-KR" altLang="en-US" dirty="0" smtClean="0"/>
              <a:t>출시 </a:t>
            </a:r>
            <a:r>
              <a:rPr lang="en-US" altLang="ko-KR" dirty="0" smtClean="0"/>
              <a:t>(2008. 10. 22)</a:t>
            </a:r>
          </a:p>
          <a:p>
            <a:pPr lvl="2"/>
            <a:endParaRPr lang="en-US" altLang="ko-KR" dirty="0" smtClean="0"/>
          </a:p>
          <a:p>
            <a:pPr lvl="1"/>
            <a:r>
              <a:rPr lang="en-US" altLang="ko-KR" dirty="0" smtClean="0"/>
              <a:t>1.1 (2009. 2. 9)</a:t>
            </a:r>
          </a:p>
          <a:p>
            <a:pPr lvl="2"/>
            <a:r>
              <a:rPr lang="ko-KR" altLang="en-US" dirty="0" err="1" smtClean="0"/>
              <a:t>뷰</a:t>
            </a:r>
            <a:r>
              <a:rPr lang="ko-KR" altLang="en-US" dirty="0" smtClean="0"/>
              <a:t> 개선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새로운 권한 추가</a:t>
            </a:r>
            <a:endParaRPr lang="en-US" altLang="ko-KR" dirty="0"/>
          </a:p>
          <a:p>
            <a:pPr lvl="2"/>
            <a:r>
              <a:rPr lang="ko-KR" altLang="en-US" dirty="0" err="1" smtClean="0"/>
              <a:t>안드로이드</a:t>
            </a:r>
            <a:r>
              <a:rPr lang="ko-KR" altLang="en-US" dirty="0" smtClean="0"/>
              <a:t> 마켓에서 </a:t>
            </a:r>
            <a:r>
              <a:rPr lang="ko-KR" altLang="en-US" dirty="0" err="1" smtClean="0"/>
              <a:t>유료앱</a:t>
            </a:r>
            <a:r>
              <a:rPr lang="ko-KR" altLang="en-US" dirty="0" smtClean="0"/>
              <a:t> 판매 시작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r>
              <a:rPr lang="en-US" altLang="ko-KR" dirty="0" smtClean="0"/>
              <a:t>1.5 Cupcake (2009. 4. 30)</a:t>
            </a:r>
          </a:p>
          <a:p>
            <a:pPr lvl="2"/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커널</a:t>
            </a:r>
            <a:r>
              <a:rPr lang="ko-KR" altLang="en-US" dirty="0" smtClean="0"/>
              <a:t> </a:t>
            </a:r>
            <a:r>
              <a:rPr lang="en-US" altLang="ko-KR" dirty="0" smtClean="0"/>
              <a:t>2.6.27 </a:t>
            </a:r>
            <a:r>
              <a:rPr lang="ko-KR" altLang="en-US" dirty="0" smtClean="0"/>
              <a:t>기반</a:t>
            </a:r>
            <a:r>
              <a:rPr lang="en-US" altLang="ko-KR" dirty="0" smtClean="0"/>
              <a:t>, UI </a:t>
            </a:r>
            <a:r>
              <a:rPr lang="ko-KR" altLang="en-US" dirty="0" smtClean="0"/>
              <a:t>업데이트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비디오 녹화</a:t>
            </a:r>
            <a:r>
              <a:rPr lang="en-US" altLang="ko-KR" dirty="0" smtClean="0"/>
              <a:t>/</a:t>
            </a:r>
            <a:r>
              <a:rPr lang="ko-KR" altLang="en-US" dirty="0" smtClean="0"/>
              <a:t>재생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블루투스</a:t>
            </a:r>
            <a:r>
              <a:rPr lang="ko-KR" altLang="en-US" dirty="0" smtClean="0"/>
              <a:t> 네트워크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r>
              <a:rPr lang="en-US" altLang="ko-KR" dirty="0" smtClean="0"/>
              <a:t>1.6 Donut (2009. 9. 15)</a:t>
            </a:r>
          </a:p>
          <a:p>
            <a:pPr lvl="2"/>
            <a:r>
              <a:rPr lang="ko-KR" altLang="en-US" dirty="0" err="1" smtClean="0"/>
              <a:t>커널</a:t>
            </a:r>
            <a:r>
              <a:rPr lang="ko-KR" altLang="en-US" dirty="0" smtClean="0"/>
              <a:t> </a:t>
            </a:r>
            <a:r>
              <a:rPr lang="en-US" altLang="ko-KR" dirty="0" smtClean="0"/>
              <a:t>2.6.29, </a:t>
            </a:r>
            <a:r>
              <a:rPr lang="ko-KR" altLang="en-US" dirty="0" smtClean="0"/>
              <a:t>빠른 응답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기본 어플리케이션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보이스</a:t>
            </a:r>
            <a:r>
              <a:rPr lang="ko-KR" altLang="en-US" dirty="0" smtClean="0"/>
              <a:t> 검색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1026" name="Picture 2" descr="http://www.webconsuls.com/blog/uploaded_images/android-cupcake-73329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72597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://developer.android.com/assets/images/home/donut-androi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679" y="4970399"/>
            <a:ext cx="19050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169" y="1587745"/>
            <a:ext cx="1600200" cy="116681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6"/>
          <a:srcRect l="2949" t="3376" r="3307" b="3846"/>
          <a:stretch/>
        </p:blipFill>
        <p:spPr>
          <a:xfrm>
            <a:off x="5745708" y="2936630"/>
            <a:ext cx="1595870" cy="120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9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://www.frontsidebus.net/wp-content/uploads/2010/12/android-gingerbread-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3" t="7922" r="26141" b="15265"/>
          <a:stretch/>
        </p:blipFill>
        <p:spPr bwMode="auto">
          <a:xfrm>
            <a:off x="6864340" y="3578486"/>
            <a:ext cx="1523861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Version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510072"/>
            <a:ext cx="5812971" cy="4641492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Version History</a:t>
            </a:r>
          </a:p>
          <a:p>
            <a:pPr lvl="1"/>
            <a:r>
              <a:rPr lang="en-US" altLang="ko-KR" dirty="0" smtClean="0"/>
              <a:t>2.0/2.1 </a:t>
            </a:r>
            <a:r>
              <a:rPr lang="en-US" altLang="ko-KR" dirty="0" err="1" smtClean="0"/>
              <a:t>Eclair</a:t>
            </a:r>
            <a:r>
              <a:rPr lang="en-US" altLang="ko-KR" dirty="0" smtClean="0"/>
              <a:t> (2009. 10. 26)</a:t>
            </a:r>
          </a:p>
          <a:p>
            <a:pPr lvl="2"/>
            <a:r>
              <a:rPr lang="ko-KR" altLang="en-US" dirty="0" smtClean="0"/>
              <a:t>하드웨어 최적화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새로운 브라우저 </a:t>
            </a:r>
            <a:r>
              <a:rPr lang="en-US" altLang="ko-KR" dirty="0" smtClean="0"/>
              <a:t>UI, HTML5 </a:t>
            </a:r>
            <a:r>
              <a:rPr lang="ko-KR" altLang="en-US" dirty="0" smtClean="0"/>
              <a:t>지원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구글맵</a:t>
            </a:r>
            <a:r>
              <a:rPr lang="ko-KR" altLang="en-US" dirty="0" smtClean="0"/>
              <a:t> 향상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카메라 향상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r>
              <a:rPr lang="en-US" altLang="ko-KR" dirty="0" smtClean="0"/>
              <a:t>2.2 </a:t>
            </a:r>
            <a:r>
              <a:rPr lang="en-US" altLang="ko-KR" dirty="0" err="1" smtClean="0"/>
              <a:t>Froyo</a:t>
            </a:r>
            <a:r>
              <a:rPr lang="en-US" altLang="ko-KR" dirty="0" smtClean="0"/>
              <a:t> (2010. 5. 20)</a:t>
            </a:r>
          </a:p>
          <a:p>
            <a:pPr lvl="2"/>
            <a:r>
              <a:rPr lang="ko-KR" altLang="en-US" dirty="0" smtClean="0"/>
              <a:t>속도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메모리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퍼포먼스</a:t>
            </a:r>
            <a:r>
              <a:rPr lang="ko-KR" altLang="en-US" dirty="0" smtClean="0"/>
              <a:t> 최적화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브라우저와 어플리케이션 연동 향상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플래시 지원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r>
              <a:rPr lang="en-US" altLang="ko-KR" dirty="0" smtClean="0"/>
              <a:t>2.3/2.4 Gingerbread (2010. 12. 6)</a:t>
            </a:r>
          </a:p>
          <a:p>
            <a:pPr lvl="2"/>
            <a:r>
              <a:rPr lang="en-US" altLang="ko-KR" dirty="0" smtClean="0"/>
              <a:t>UI </a:t>
            </a:r>
            <a:r>
              <a:rPr lang="ko-KR" altLang="en-US" dirty="0" smtClean="0"/>
              <a:t>향상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대형 해상도 지원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멀티미디어 향상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메모리 관리 성능 향상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다양한 센서 지원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r>
              <a:rPr lang="en-US" altLang="ko-KR" dirty="0" smtClean="0"/>
              <a:t>3.0 Honeycomb (2011. 2. 22)</a:t>
            </a:r>
          </a:p>
          <a:p>
            <a:pPr lvl="2"/>
            <a:r>
              <a:rPr lang="ko-KR" altLang="en-US" dirty="0" err="1" smtClean="0"/>
              <a:t>타블렛</a:t>
            </a:r>
            <a:r>
              <a:rPr lang="ko-KR" altLang="en-US" dirty="0" smtClean="0"/>
              <a:t> </a:t>
            </a:r>
            <a:r>
              <a:rPr lang="en-US" altLang="ko-KR" dirty="0" smtClean="0"/>
              <a:t>UI</a:t>
            </a:r>
            <a:r>
              <a:rPr lang="ko-KR" altLang="en-US" dirty="0" smtClean="0"/>
              <a:t>에 최적화</a:t>
            </a:r>
            <a:r>
              <a:rPr lang="en-US" altLang="ko-KR" dirty="0" smtClean="0"/>
              <a:t>, 3</a:t>
            </a:r>
            <a:r>
              <a:rPr lang="ko-KR" altLang="en-US" dirty="0" smtClean="0"/>
              <a:t>차원 바탕화면과 </a:t>
            </a:r>
            <a:r>
              <a:rPr lang="ko-KR" altLang="en-US" dirty="0" err="1" smtClean="0"/>
              <a:t>위젯</a:t>
            </a:r>
            <a:r>
              <a:rPr lang="ko-KR" altLang="en-US" dirty="0" smtClean="0"/>
              <a:t> 지원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멀티테스킹</a:t>
            </a:r>
            <a:r>
              <a:rPr lang="ko-KR" altLang="en-US" dirty="0" smtClean="0"/>
              <a:t> 향상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하드웨어 가속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멀티코어 프로세서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1026" name="Picture 2" descr="http://www.thebesthandphone.com/wp-content/uploads/2011/02/android-honeycomb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089" y="4999900"/>
            <a:ext cx="2008362" cy="200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developer.android.com/assets/images/home/froyo-androi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654" y="2031463"/>
            <a:ext cx="2033232" cy="154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developer.android.com/assets/images/home/eclair-android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8"/>
          <a:stretch/>
        </p:blipFill>
        <p:spPr bwMode="auto">
          <a:xfrm>
            <a:off x="6505794" y="536448"/>
            <a:ext cx="2240954" cy="149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24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Version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510072"/>
            <a:ext cx="5812971" cy="4641492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Version History</a:t>
            </a:r>
          </a:p>
          <a:p>
            <a:pPr lvl="1"/>
            <a:r>
              <a:rPr lang="en-US" altLang="ko-KR" dirty="0" smtClean="0"/>
              <a:t>Honeycomb </a:t>
            </a:r>
          </a:p>
          <a:p>
            <a:pPr lvl="2"/>
            <a:r>
              <a:rPr lang="en-US" altLang="ko-KR" dirty="0" smtClean="0"/>
              <a:t>3.0 Revision 2 ( 2011. 07 )</a:t>
            </a:r>
          </a:p>
          <a:p>
            <a:pPr lvl="2"/>
            <a:r>
              <a:rPr lang="en-US" altLang="ko-KR" dirty="0" smtClean="0"/>
              <a:t>3.1 Revision 3 ( 2011. 07 )</a:t>
            </a:r>
          </a:p>
          <a:p>
            <a:pPr lvl="2"/>
            <a:r>
              <a:rPr lang="en-US" altLang="ko-KR" dirty="0" smtClean="0"/>
              <a:t>3.2 Revision 1 ( 2011. 07 )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 smtClean="0"/>
              <a:t>Ice Cream Sandwich</a:t>
            </a:r>
          </a:p>
          <a:p>
            <a:pPr lvl="2"/>
            <a:r>
              <a:rPr lang="en-US" altLang="ko-KR" dirty="0" smtClean="0"/>
              <a:t>4.0.3 ~ </a:t>
            </a:r>
            <a:r>
              <a:rPr lang="en-US" altLang="ko-KR" dirty="0"/>
              <a:t>4.0.4 </a:t>
            </a:r>
            <a:r>
              <a:rPr lang="en-US" altLang="ko-KR" dirty="0" smtClean="0"/>
              <a:t>(  2011. 12 )</a:t>
            </a:r>
          </a:p>
          <a:p>
            <a:pPr lvl="3"/>
            <a:r>
              <a:rPr lang="en-US" altLang="ko-KR" sz="1400" dirty="0" smtClean="0"/>
              <a:t>UI</a:t>
            </a:r>
            <a:r>
              <a:rPr lang="ko-KR" altLang="en-US" sz="1400" dirty="0" smtClean="0"/>
              <a:t>를 이용한 가상 버튼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음성인식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보이스</a:t>
            </a:r>
            <a:r>
              <a:rPr lang="ko-KR" altLang="en-US" sz="1400" dirty="0" smtClean="0"/>
              <a:t> 메일</a:t>
            </a:r>
            <a:r>
              <a:rPr lang="en-US" altLang="ko-KR" sz="1400" dirty="0" smtClean="0"/>
              <a:t>, </a:t>
            </a:r>
            <a:br>
              <a:rPr lang="en-US" altLang="ko-KR" sz="1400" dirty="0" smtClean="0"/>
            </a:br>
            <a:r>
              <a:rPr lang="en-US" altLang="ko-KR" sz="1400" dirty="0" smtClean="0"/>
              <a:t>USB Hosting,  Face </a:t>
            </a:r>
            <a:r>
              <a:rPr lang="en-US" altLang="ko-KR" sz="1400" dirty="0" err="1" smtClean="0"/>
              <a:t>unLock</a:t>
            </a:r>
            <a:r>
              <a:rPr lang="en-US" altLang="ko-KR" sz="1400" dirty="0" smtClean="0"/>
              <a:t>,   </a:t>
            </a:r>
            <a:r>
              <a:rPr lang="ko-KR" altLang="en-US" sz="1400" dirty="0" err="1" smtClean="0"/>
              <a:t>위젯</a:t>
            </a:r>
            <a:r>
              <a:rPr lang="ko-KR" altLang="en-US" sz="1400" dirty="0" smtClean="0"/>
              <a:t> 향상</a:t>
            </a:r>
            <a:r>
              <a:rPr lang="en-US" altLang="ko-KR" sz="1400" dirty="0" smtClean="0"/>
              <a:t>, </a:t>
            </a:r>
            <a:br>
              <a:rPr lang="en-US" altLang="ko-KR" sz="1400" dirty="0" smtClean="0"/>
            </a:br>
            <a:r>
              <a:rPr lang="ko-KR" altLang="en-US" sz="1400" dirty="0" err="1" smtClean="0"/>
              <a:t>태블릿과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스마트폰간의</a:t>
            </a:r>
            <a:r>
              <a:rPr lang="ko-KR" altLang="en-US" sz="1400" dirty="0" smtClean="0"/>
              <a:t> 첫 통합 </a:t>
            </a:r>
            <a:r>
              <a:rPr lang="en-US" altLang="ko-KR" sz="1400" dirty="0" smtClean="0"/>
              <a:t>OS</a:t>
            </a:r>
          </a:p>
          <a:p>
            <a:pPr lvl="1"/>
            <a:r>
              <a:rPr lang="en-US" altLang="ko-KR" dirty="0" smtClean="0"/>
              <a:t>Jelly Bean</a:t>
            </a:r>
          </a:p>
          <a:p>
            <a:pPr lvl="2"/>
            <a:r>
              <a:rPr lang="en-US" altLang="ko-KR" sz="1400" dirty="0" smtClean="0"/>
              <a:t>4.1.x ~ 4.2 ( 2012. 11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)</a:t>
            </a:r>
          </a:p>
          <a:p>
            <a:pPr lvl="3"/>
            <a:r>
              <a:rPr lang="ko-KR" altLang="en-US" sz="1400" dirty="0" smtClean="0"/>
              <a:t>터치스크린 반응성 개선</a:t>
            </a:r>
            <a:endParaRPr lang="en-US" altLang="ko-KR" sz="1400" dirty="0" smtClean="0"/>
          </a:p>
          <a:p>
            <a:pPr lvl="3"/>
            <a:r>
              <a:rPr lang="ko-KR" altLang="en-US" sz="1400" dirty="0" smtClean="0"/>
              <a:t>앱과 연계되는 알림 기능 확장</a:t>
            </a:r>
            <a:endParaRPr lang="en-US" altLang="ko-KR" sz="1400" dirty="0" smtClean="0"/>
          </a:p>
          <a:p>
            <a:pPr lvl="3"/>
            <a:r>
              <a:rPr lang="en-US" altLang="ko-KR" sz="1400" dirty="0" smtClean="0"/>
              <a:t>HTML5</a:t>
            </a:r>
            <a:r>
              <a:rPr lang="ko-KR" altLang="en-US" sz="1400" dirty="0" smtClean="0"/>
              <a:t>와 자바스크립트 성능이 향상</a:t>
            </a:r>
            <a:endParaRPr lang="en-US" altLang="ko-KR" sz="1400" dirty="0" smtClean="0"/>
          </a:p>
          <a:p>
            <a:pPr lvl="3"/>
            <a:r>
              <a:rPr lang="en-US" altLang="ko-KR" sz="1400" dirty="0" smtClean="0"/>
              <a:t>USB </a:t>
            </a:r>
            <a:r>
              <a:rPr lang="ko-KR" altLang="en-US" sz="1400" dirty="0" smtClean="0"/>
              <a:t>오디오 출력과 멀티채널 오디오 지원</a:t>
            </a:r>
            <a:endParaRPr lang="en-US" altLang="ko-KR" sz="1400" dirty="0" smtClean="0"/>
          </a:p>
          <a:p>
            <a:pPr lvl="3"/>
            <a:endParaRPr lang="en-US" altLang="ko-KR" dirty="0" smtClean="0"/>
          </a:p>
          <a:p>
            <a:pPr lvl="2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1026" name="Picture 2" descr="http://www.thebesthandphone.com/wp-content/uploads/2011/02/android-honeycomb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765" y="911376"/>
            <a:ext cx="2008362" cy="200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vbflash\Documents\Android-Ice-Cream-Sandwich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89970" y="2848302"/>
            <a:ext cx="1829953" cy="1337899"/>
          </a:xfrm>
          <a:prstGeom prst="rect">
            <a:avLst/>
          </a:prstGeom>
          <a:noFill/>
        </p:spPr>
      </p:pic>
      <p:pic>
        <p:nvPicPr>
          <p:cNvPr id="1027" name="Picture 3" descr="C:\Users\vbflash\Documents\eplus-leaf-23-post-24454.jp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95650" y="4379835"/>
            <a:ext cx="1618593" cy="18323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8424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Version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5812971" cy="464149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Version History</a:t>
            </a:r>
          </a:p>
          <a:p>
            <a:pPr lvl="1"/>
            <a:r>
              <a:rPr lang="en-US" altLang="ko-KR" dirty="0" err="1"/>
              <a:t>Kitkat</a:t>
            </a:r>
            <a:r>
              <a:rPr lang="en-US" altLang="ko-KR" dirty="0"/>
              <a:t> (4.4)</a:t>
            </a:r>
          </a:p>
          <a:p>
            <a:pPr lvl="2"/>
            <a:r>
              <a:rPr lang="en-US" altLang="ko-KR" dirty="0" smtClean="0"/>
              <a:t>2013. 09 </a:t>
            </a:r>
          </a:p>
          <a:p>
            <a:pPr lvl="2"/>
            <a:r>
              <a:rPr lang="ko-KR" altLang="en-US" dirty="0" err="1" smtClean="0"/>
              <a:t>안드로이드</a:t>
            </a:r>
            <a:r>
              <a:rPr lang="ko-KR" altLang="en-US" dirty="0" smtClean="0"/>
              <a:t> 상단바</a:t>
            </a:r>
            <a:r>
              <a:rPr lang="en-US" altLang="ko-KR" dirty="0" smtClean="0"/>
              <a:t>UI, </a:t>
            </a:r>
            <a:r>
              <a:rPr lang="ko-KR" altLang="en-US" dirty="0" smtClean="0"/>
              <a:t>아이콘 변경 가능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구글자체 안드로이드 버전 업데이트 지원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배터리 타임 개선</a:t>
            </a:r>
            <a:endParaRPr lang="en-US" altLang="ko-KR" dirty="0"/>
          </a:p>
          <a:p>
            <a:pPr lvl="2"/>
            <a:endParaRPr lang="en-US" altLang="ko-KR" dirty="0" smtClean="0"/>
          </a:p>
          <a:p>
            <a:pPr lvl="1"/>
            <a:r>
              <a:rPr lang="en-US" altLang="ko-KR" dirty="0" err="1" smtClean="0"/>
              <a:t>Lolipop</a:t>
            </a:r>
            <a:r>
              <a:rPr lang="en-US" altLang="ko-KR" dirty="0" smtClean="0"/>
              <a:t> (5.0 ~ 5.1.1)</a:t>
            </a:r>
          </a:p>
          <a:p>
            <a:pPr lvl="2"/>
            <a:r>
              <a:rPr lang="en-US" altLang="ko-KR" dirty="0" smtClean="0"/>
              <a:t>2014. 10</a:t>
            </a:r>
          </a:p>
          <a:p>
            <a:pPr lvl="2"/>
            <a:r>
              <a:rPr lang="en-US" altLang="ko-KR" dirty="0"/>
              <a:t>64</a:t>
            </a:r>
            <a:r>
              <a:rPr lang="ko-KR" altLang="en-US" dirty="0"/>
              <a:t>비트 </a:t>
            </a:r>
            <a:r>
              <a:rPr lang="en-US" altLang="ko-KR" dirty="0"/>
              <a:t>CPU</a:t>
            </a:r>
            <a:r>
              <a:rPr lang="ko-KR" altLang="en-US" dirty="0"/>
              <a:t>정식으로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2"/>
            <a:r>
              <a:rPr lang="ko-KR" altLang="en-US" dirty="0" err="1"/>
              <a:t>볼타</a:t>
            </a:r>
            <a:r>
              <a:rPr lang="ko-KR" altLang="en-US" dirty="0"/>
              <a:t> </a:t>
            </a:r>
            <a:r>
              <a:rPr lang="en-US" altLang="ko-KR" dirty="0"/>
              <a:t>(Project Volta) </a:t>
            </a:r>
            <a:r>
              <a:rPr lang="ko-KR" altLang="en-US" dirty="0"/>
              <a:t>프로젝트 적용 </a:t>
            </a:r>
            <a:r>
              <a:rPr lang="en-US" altLang="ko-KR" dirty="0"/>
              <a:t>- </a:t>
            </a:r>
            <a:r>
              <a:rPr lang="ko-KR" altLang="en-US" dirty="0"/>
              <a:t>배터리 향상</a:t>
            </a:r>
          </a:p>
          <a:p>
            <a:pPr lvl="2"/>
            <a:r>
              <a:rPr lang="en-US" altLang="ko-KR" dirty="0"/>
              <a:t>UI,</a:t>
            </a:r>
            <a:r>
              <a:rPr lang="ko-KR" altLang="en-US" dirty="0"/>
              <a:t>아이콘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7" name="Picture 2" descr="Android KitKat masc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489" y="1704355"/>
            <a:ext cx="320040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323" y="3547957"/>
            <a:ext cx="2990955" cy="299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0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Version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199" y="1484672"/>
            <a:ext cx="7111651" cy="464149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Version History</a:t>
            </a:r>
          </a:p>
          <a:p>
            <a:pPr lvl="1"/>
            <a:r>
              <a:rPr lang="en-US" altLang="ko-KR" dirty="0" smtClean="0"/>
              <a:t>Marshmallow (6.0 ~ 6.0.1)</a:t>
            </a:r>
            <a:endParaRPr lang="en-US" altLang="ko-KR" dirty="0"/>
          </a:p>
          <a:p>
            <a:pPr lvl="2"/>
            <a:r>
              <a:rPr lang="en-US" altLang="ko-KR" dirty="0"/>
              <a:t>2015. 10.05 release</a:t>
            </a:r>
          </a:p>
          <a:p>
            <a:pPr lvl="2"/>
            <a:r>
              <a:rPr lang="en-US" altLang="ko-KR" dirty="0"/>
              <a:t>USB Type-C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2"/>
            <a:r>
              <a:rPr lang="ko-KR" altLang="en-US" dirty="0"/>
              <a:t>외부저장소 공식 지원</a:t>
            </a:r>
            <a:endParaRPr lang="en-US" altLang="ko-KR" dirty="0"/>
          </a:p>
          <a:p>
            <a:pPr lvl="1"/>
            <a:r>
              <a:rPr lang="en-US" altLang="ko-KR" dirty="0" smtClean="0"/>
              <a:t>Nougat (7.0)</a:t>
            </a:r>
          </a:p>
          <a:p>
            <a:pPr lvl="2"/>
            <a:r>
              <a:rPr lang="en-US" altLang="ko-KR" dirty="0" smtClean="0"/>
              <a:t>2016. 08. 22 </a:t>
            </a:r>
            <a:r>
              <a:rPr lang="ko-KR" altLang="en-US" dirty="0" smtClean="0"/>
              <a:t>정식 공개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구글의</a:t>
            </a:r>
            <a:r>
              <a:rPr lang="ko-KR" altLang="en-US" dirty="0"/>
              <a:t> </a:t>
            </a:r>
            <a:r>
              <a:rPr lang="ko-KR" altLang="en-US" dirty="0" smtClean="0"/>
              <a:t>가상현실</a:t>
            </a:r>
            <a:r>
              <a:rPr lang="ko-KR" altLang="en-US" dirty="0"/>
              <a:t> 플랫폼 </a:t>
            </a:r>
            <a:r>
              <a:rPr lang="ko-KR" altLang="en-US" dirty="0" err="1" smtClean="0"/>
              <a:t>데이드림</a:t>
            </a:r>
            <a:r>
              <a:rPr lang="ko-KR" altLang="en-US" dirty="0" smtClean="0"/>
              <a:t> 사용가능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게임 개발자를 위한 </a:t>
            </a:r>
            <a:r>
              <a:rPr lang="en-US" altLang="ko-KR" dirty="0" smtClean="0"/>
              <a:t>3D</a:t>
            </a:r>
            <a:r>
              <a:rPr lang="ko-KR" altLang="en-US" dirty="0"/>
              <a:t> </a:t>
            </a:r>
            <a:r>
              <a:rPr lang="ko-KR" altLang="en-US" dirty="0" err="1" smtClean="0"/>
              <a:t>렌더링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 </a:t>
            </a:r>
            <a:r>
              <a:rPr lang="en-US" altLang="ko-KR" dirty="0" err="1" smtClean="0"/>
              <a:t>Vulkan</a:t>
            </a:r>
            <a:r>
              <a:rPr lang="en-US" altLang="ko-KR" dirty="0" smtClean="0"/>
              <a:t> API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멀티윈도우 기능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Oreo(8.0)</a:t>
            </a:r>
            <a:endParaRPr lang="en-US" altLang="ko-KR" dirty="0"/>
          </a:p>
          <a:p>
            <a:pPr lvl="2"/>
            <a:r>
              <a:rPr lang="en-US" altLang="ko-KR" dirty="0"/>
              <a:t>Setting app, Lock Screen </a:t>
            </a:r>
            <a:r>
              <a:rPr lang="ko-KR" altLang="en-US" dirty="0"/>
              <a:t>디자인</a:t>
            </a:r>
            <a:r>
              <a:rPr lang="en-US" altLang="ko-KR" dirty="0"/>
              <a:t> </a:t>
            </a:r>
            <a:r>
              <a:rPr lang="ko-KR" altLang="en-US" dirty="0"/>
              <a:t>변경</a:t>
            </a:r>
            <a:endParaRPr lang="en-US" altLang="ko-KR" dirty="0"/>
          </a:p>
          <a:p>
            <a:pPr lvl="2"/>
            <a:r>
              <a:rPr lang="en-US" altLang="ko-KR" dirty="0" smtClean="0"/>
              <a:t>Unicode 10.0 emoji(</a:t>
            </a:r>
            <a:r>
              <a:rPr lang="ko-KR" altLang="en-US" dirty="0" smtClean="0"/>
              <a:t>유니코드</a:t>
            </a:r>
            <a:r>
              <a:rPr lang="en-US" altLang="ko-KR" dirty="0" smtClean="0"/>
              <a:t> </a:t>
            </a:r>
            <a:r>
              <a:rPr lang="ko-KR" altLang="en-US" dirty="0" smtClean="0"/>
              <a:t>체계를 이용해 만든 그림문자</a:t>
            </a:r>
            <a:r>
              <a:rPr lang="en-US" altLang="ko-KR" dirty="0" smtClean="0"/>
              <a:t>)</a:t>
            </a:r>
          </a:p>
          <a:p>
            <a:pPr lvl="2"/>
            <a:r>
              <a:rPr lang="en-US" altLang="ko-KR" dirty="0" smtClean="0"/>
              <a:t>Adaptive icons</a:t>
            </a:r>
          </a:p>
          <a:p>
            <a:pPr lvl="2"/>
            <a:r>
              <a:rPr lang="en-US" altLang="ko-KR" dirty="0" smtClean="0"/>
              <a:t>Sony LDAC codec support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28" y="1484672"/>
            <a:ext cx="2704247" cy="260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3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836506" y="5961003"/>
            <a:ext cx="5915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https://en.wikipedia.org/wiki/Android_version_history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03195" y="1378212"/>
            <a:ext cx="4553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Calibri" pitchFamily="34" charset="0"/>
                <a:cs typeface="Calibri" pitchFamily="34" charset="0"/>
              </a:rPr>
              <a:t>Global Android version distribution</a:t>
            </a:r>
            <a:endParaRPr lang="ko-KR" altLang="en-US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50" name="Picture 2" descr="https://upload.wikimedia.org/wikipedia/commons/thumb/e/ee/Android_historical_version_distribution_-_vector.svg/1280px-Android_historical_version_distribution_-_vector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0671"/>
            <a:ext cx="9623718" cy="370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09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Version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457199" y="1484670"/>
            <a:ext cx="7844971" cy="545836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버전별</a:t>
            </a:r>
            <a:r>
              <a:rPr lang="ko-KR" altLang="en-US" dirty="0" smtClean="0"/>
              <a:t> 시장 점유율 </a:t>
            </a:r>
            <a:r>
              <a:rPr lang="en-US" altLang="ko-KR" sz="1800" dirty="0" smtClean="0"/>
              <a:t>(2016.08.01)</a:t>
            </a:r>
            <a:endParaRPr lang="en-US" altLang="ko-KR" dirty="0" smtClean="0"/>
          </a:p>
        </p:txBody>
      </p:sp>
      <p:sp>
        <p:nvSpPr>
          <p:cNvPr id="8" name="내용 개체 틀 5"/>
          <p:cNvSpPr txBox="1">
            <a:spLocks/>
          </p:cNvSpPr>
          <p:nvPr/>
        </p:nvSpPr>
        <p:spPr>
          <a:xfrm>
            <a:off x="346068" y="6395738"/>
            <a:ext cx="5092043" cy="462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lvl="1">
              <a:buNone/>
            </a:pPr>
            <a:r>
              <a:rPr lang="en-US" altLang="ko-KR" sz="1200" dirty="0"/>
              <a:t>http://developer.android.com/about/dashboards/index.html#Platform</a:t>
            </a:r>
            <a:endParaRPr lang="en-US" altLang="ko-KR" sz="12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01" y="2024732"/>
            <a:ext cx="3509683" cy="437678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585447" y="2005780"/>
            <a:ext cx="420399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Calibri" pitchFamily="34" charset="0"/>
                <a:cs typeface="Calibri" pitchFamily="34" charset="0"/>
              </a:rPr>
              <a:t>버전별</a:t>
            </a:r>
            <a:r>
              <a:rPr lang="ko-KR" alt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ko-KR" altLang="en-US" sz="2400" dirty="0" smtClean="0">
                <a:latin typeface="Calibri" pitchFamily="34" charset="0"/>
                <a:cs typeface="Calibri" pitchFamily="34" charset="0"/>
              </a:rPr>
              <a:t>호환성</a:t>
            </a:r>
            <a:endParaRPr lang="en-US" altLang="ko-KR" sz="2400" dirty="0" smtClean="0">
              <a:latin typeface="Calibri" pitchFamily="34" charset="0"/>
              <a:cs typeface="Calibri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개발된 어플리케이션의 내용에 따라 </a:t>
            </a:r>
            <a:r>
              <a:rPr lang="ko-KR" altLang="en-US" dirty="0" smtClean="0"/>
              <a:t>호환이 불가능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구글에서</a:t>
            </a:r>
            <a:r>
              <a:rPr lang="ko-KR" altLang="en-US" dirty="0"/>
              <a:t> 하위 호환을 전혀 염두에 두지 않은 업데이트를 실시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5131837" y="4453821"/>
            <a:ext cx="34896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갤럭시</a:t>
            </a:r>
            <a:r>
              <a:rPr lang="ko-KR" altLang="en-US" dirty="0"/>
              <a:t> </a:t>
            </a:r>
            <a:r>
              <a:rPr lang="en-US" altLang="ko-KR" dirty="0"/>
              <a:t>S   2.1 –&gt; 2.2 -&gt; 2.3</a:t>
            </a:r>
          </a:p>
          <a:p>
            <a:r>
              <a:rPr lang="ko-KR" altLang="en-US" dirty="0" err="1"/>
              <a:t>갤럭시</a:t>
            </a:r>
            <a:r>
              <a:rPr lang="ko-KR" altLang="en-US" dirty="0"/>
              <a:t> </a:t>
            </a:r>
            <a:r>
              <a:rPr lang="en-US" altLang="ko-KR" dirty="0"/>
              <a:t>S2  3.0 -&gt; 4.0 -&gt; 4.1</a:t>
            </a:r>
          </a:p>
          <a:p>
            <a:r>
              <a:rPr lang="ko-KR" altLang="en-US" dirty="0" err="1"/>
              <a:t>갤럭시</a:t>
            </a:r>
            <a:r>
              <a:rPr lang="ko-KR" altLang="en-US" dirty="0"/>
              <a:t> </a:t>
            </a:r>
            <a:r>
              <a:rPr lang="en-US" altLang="ko-KR" dirty="0"/>
              <a:t>S3  4.0 -&gt; 4.1 -&gt; 4.3 -&gt; 4.4</a:t>
            </a:r>
          </a:p>
          <a:p>
            <a:r>
              <a:rPr lang="ko-KR" altLang="en-US" dirty="0" err="1"/>
              <a:t>갤럭시</a:t>
            </a:r>
            <a:r>
              <a:rPr lang="ko-KR" altLang="en-US" dirty="0"/>
              <a:t> </a:t>
            </a:r>
            <a:r>
              <a:rPr lang="en-US" altLang="ko-KR" dirty="0"/>
              <a:t>S4  4.2 -&gt; 4.3 -&gt; 4.4</a:t>
            </a:r>
          </a:p>
          <a:p>
            <a:r>
              <a:rPr lang="ko-KR" altLang="en-US" dirty="0" err="1"/>
              <a:t>갤럭시</a:t>
            </a:r>
            <a:r>
              <a:rPr lang="ko-KR" altLang="en-US" dirty="0"/>
              <a:t> </a:t>
            </a:r>
            <a:r>
              <a:rPr lang="en-US" altLang="ko-KR" dirty="0"/>
              <a:t>S5  </a:t>
            </a:r>
            <a:r>
              <a:rPr lang="en-US" altLang="ko-KR" dirty="0" smtClean="0"/>
              <a:t>4.4 -&gt; 5.0 -&gt; 5.1 -&gt; 6.0</a:t>
            </a:r>
          </a:p>
          <a:p>
            <a:r>
              <a:rPr lang="ko-KR" altLang="en-US" dirty="0" err="1" smtClean="0"/>
              <a:t>갤럭시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S6  5.0 -&gt; 5.1 -&gt; 6.0</a:t>
            </a:r>
            <a:r>
              <a:rPr lang="en-US" altLang="ko-KR" b="1" dirty="0" smtClean="0"/>
              <a:t> -&gt; 7.0</a:t>
            </a:r>
          </a:p>
          <a:p>
            <a:r>
              <a:rPr lang="ko-KR" altLang="en-US" dirty="0" err="1" smtClean="0"/>
              <a:t>갤럭시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S7  6.0</a:t>
            </a:r>
            <a:r>
              <a:rPr lang="en-US" altLang="ko-KR" b="1" dirty="0"/>
              <a:t> -&gt; 7.0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153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Architecture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46" y="1542513"/>
            <a:ext cx="6011461" cy="4883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오른쪽 대괄호 7"/>
          <p:cNvSpPr/>
          <p:nvPr/>
        </p:nvSpPr>
        <p:spPr>
          <a:xfrm>
            <a:off x="7721442" y="3589495"/>
            <a:ext cx="107461" cy="2829818"/>
          </a:xfrm>
          <a:prstGeom prst="rightBracket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대괄호 10"/>
          <p:cNvSpPr/>
          <p:nvPr/>
        </p:nvSpPr>
        <p:spPr>
          <a:xfrm>
            <a:off x="7721442" y="1542513"/>
            <a:ext cx="107461" cy="2004138"/>
          </a:xfrm>
          <a:prstGeom prst="rightBracket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045665" y="2333567"/>
            <a:ext cx="61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045665" y="474314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</a:t>
            </a:r>
            <a:endParaRPr lang="ko-KR" altLang="en-US" dirty="0"/>
          </a:p>
        </p:txBody>
      </p:sp>
      <p:cxnSp>
        <p:nvCxnSpPr>
          <p:cNvPr id="13" name="꺾인 연결선 12"/>
          <p:cNvCxnSpPr>
            <a:stCxn id="9" idx="2"/>
          </p:cNvCxnSpPr>
          <p:nvPr/>
        </p:nvCxnSpPr>
        <p:spPr>
          <a:xfrm rot="5400000">
            <a:off x="6997735" y="2695758"/>
            <a:ext cx="1348823" cy="136310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52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 Stack</a:t>
            </a:r>
            <a:endParaRPr lang="ko-KR" altLang="en-US" dirty="0"/>
          </a:p>
        </p:txBody>
      </p:sp>
      <p:pic>
        <p:nvPicPr>
          <p:cNvPr id="1026" name="Picture 2" descr="Android framework detai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73" y="1653559"/>
            <a:ext cx="5886450" cy="408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750905" y="6007656"/>
            <a:ext cx="49825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https://source.android.com/source/index.html</a:t>
            </a:r>
          </a:p>
        </p:txBody>
      </p:sp>
    </p:spTree>
    <p:extLst>
      <p:ext uri="{BB962C8B-B14F-4D97-AF65-F5344CB8AC3E}">
        <p14:creationId xmlns:p14="http://schemas.microsoft.com/office/powerpoint/2010/main" val="326793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Development Tools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86317" y="1307689"/>
            <a:ext cx="3425952" cy="4641492"/>
          </a:xfr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Language</a:t>
            </a:r>
          </a:p>
          <a:p>
            <a:pPr lvl="1"/>
            <a:r>
              <a:rPr lang="en-US" altLang="ko-KR" dirty="0" smtClean="0"/>
              <a:t>Java</a:t>
            </a:r>
          </a:p>
          <a:p>
            <a:pPr lvl="1"/>
            <a:r>
              <a:rPr lang="en-US" altLang="ko-KR" dirty="0" smtClean="0"/>
              <a:t>XML</a:t>
            </a:r>
          </a:p>
          <a:p>
            <a:pPr lvl="1"/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Tools</a:t>
            </a:r>
          </a:p>
          <a:p>
            <a:pPr lvl="1"/>
            <a:r>
              <a:rPr lang="en-US" altLang="ko-KR" dirty="0" smtClean="0"/>
              <a:t>Android Studio</a:t>
            </a:r>
          </a:p>
          <a:p>
            <a:pPr lvl="1"/>
            <a:r>
              <a:rPr lang="en-US" altLang="ko-KR" dirty="0" err="1" smtClean="0"/>
              <a:t>Genymotion</a:t>
            </a:r>
            <a:r>
              <a:rPr lang="en-US" altLang="ko-KR" dirty="0" smtClean="0"/>
              <a:t>(Emulator)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6146" name="Picture 2" descr="http://sirini.net/blog/data/2011/02/24/jav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664" y="1348867"/>
            <a:ext cx="1533525" cy="285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cfs2.tistory.com/upload_control/download.blog?fhandle=YmxvZzY1MTYxQGZzMi50aXN0b3J5LmNvbTovYXR0YWNoLzAvMTIucG5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472" y="1812830"/>
            <a:ext cx="3208020" cy="192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684" y="4420023"/>
            <a:ext cx="2760671" cy="13107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957" y="4729764"/>
            <a:ext cx="2595535" cy="63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2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34842</TotalTime>
  <Words>1027</Words>
  <Application>Microsoft Office PowerPoint</Application>
  <PresentationFormat>화면 슬라이드 쇼(4:3)</PresentationFormat>
  <Paragraphs>284</Paragraphs>
  <Slides>17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Executive</vt:lpstr>
      <vt:lpstr>Hello Android</vt:lpstr>
      <vt:lpstr>Android</vt:lpstr>
      <vt:lpstr>PowerPoint 프레젠테이션</vt:lpstr>
      <vt:lpstr>Features</vt:lpstr>
      <vt:lpstr>Features</vt:lpstr>
      <vt:lpstr>Version</vt:lpstr>
      <vt:lpstr>Version</vt:lpstr>
      <vt:lpstr>Version</vt:lpstr>
      <vt:lpstr>Version</vt:lpstr>
      <vt:lpstr>Version</vt:lpstr>
      <vt:lpstr>Version</vt:lpstr>
      <vt:lpstr>Version</vt:lpstr>
      <vt:lpstr>Version</vt:lpstr>
      <vt:lpstr>Architecture</vt:lpstr>
      <vt:lpstr>Android Stack</vt:lpstr>
      <vt:lpstr>Development Tools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1915</cp:revision>
  <cp:lastPrinted>2011-03-04T09:01:28Z</cp:lastPrinted>
  <dcterms:created xsi:type="dcterms:W3CDTF">2010-10-12T07:50:15Z</dcterms:created>
  <dcterms:modified xsi:type="dcterms:W3CDTF">2017-08-28T18:39:28Z</dcterms:modified>
</cp:coreProperties>
</file>