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8" r:id="rId1"/>
  </p:sldMasterIdLst>
  <p:notesMasterIdLst>
    <p:notesMasterId r:id="rId41"/>
  </p:notesMasterIdLst>
  <p:sldIdLst>
    <p:sldId id="256" r:id="rId2"/>
    <p:sldId id="304" r:id="rId3"/>
    <p:sldId id="306" r:id="rId4"/>
    <p:sldId id="305" r:id="rId5"/>
    <p:sldId id="307" r:id="rId6"/>
    <p:sldId id="309" r:id="rId7"/>
    <p:sldId id="295" r:id="rId8"/>
    <p:sldId id="296" r:id="rId9"/>
    <p:sldId id="314" r:id="rId10"/>
    <p:sldId id="315" r:id="rId11"/>
    <p:sldId id="316" r:id="rId12"/>
    <p:sldId id="317" r:id="rId13"/>
    <p:sldId id="318" r:id="rId14"/>
    <p:sldId id="319" r:id="rId15"/>
    <p:sldId id="320" r:id="rId16"/>
    <p:sldId id="321" r:id="rId17"/>
    <p:sldId id="324" r:id="rId18"/>
    <p:sldId id="325" r:id="rId19"/>
    <p:sldId id="326" r:id="rId20"/>
    <p:sldId id="327" r:id="rId21"/>
    <p:sldId id="328" r:id="rId22"/>
    <p:sldId id="334" r:id="rId23"/>
    <p:sldId id="330" r:id="rId24"/>
    <p:sldId id="331" r:id="rId25"/>
    <p:sldId id="332" r:id="rId26"/>
    <p:sldId id="333" r:id="rId27"/>
    <p:sldId id="398" r:id="rId28"/>
    <p:sldId id="337" r:id="rId29"/>
    <p:sldId id="336" r:id="rId30"/>
    <p:sldId id="338" r:id="rId31"/>
    <p:sldId id="399" r:id="rId32"/>
    <p:sldId id="348" r:id="rId33"/>
    <p:sldId id="340" r:id="rId34"/>
    <p:sldId id="397" r:id="rId35"/>
    <p:sldId id="344" r:id="rId36"/>
    <p:sldId id="345" r:id="rId37"/>
    <p:sldId id="346" r:id="rId38"/>
    <p:sldId id="347" r:id="rId39"/>
    <p:sldId id="392" r:id="rId40"/>
  </p:sldIdLst>
  <p:sldSz cx="9144000" cy="6858000" type="screen4x3"/>
  <p:notesSz cx="6800850" cy="987266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5F5F5F"/>
    <a:srgbClr val="004CBC"/>
    <a:srgbClr val="0066FF"/>
    <a:srgbClr val="005B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24" autoAdjust="0"/>
    <p:restoredTop sz="94289" autoAdjust="0"/>
  </p:normalViewPr>
  <p:slideViewPr>
    <p:cSldViewPr snapToGrid="0">
      <p:cViewPr varScale="1">
        <p:scale>
          <a:sx n="83" d="100"/>
          <a:sy n="83" d="100"/>
        </p:scale>
        <p:origin x="1334" y="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-3870" y="-120"/>
      </p:cViewPr>
      <p:guideLst>
        <p:guide orient="horz" pos="3110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035" cy="4936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2241" y="0"/>
            <a:ext cx="2947035" cy="4936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0D873F-EA2E-46B8-AF3A-207077BF9E2A}" type="datetimeFigureOut">
              <a:rPr lang="ko-KR" altLang="en-US" smtClean="0"/>
              <a:pPr/>
              <a:t>2017-11-21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39775"/>
            <a:ext cx="4937125" cy="37036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085" y="4689515"/>
            <a:ext cx="5440680" cy="444269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7316"/>
            <a:ext cx="2947035" cy="4936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2241" y="9377316"/>
            <a:ext cx="2947035" cy="4936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45C23-547F-4807-82A2-44CB5165115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3763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5207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6535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81167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26240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30446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0853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9637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28889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57843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15463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135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69027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‘</a:t>
            </a:r>
            <a:r>
              <a:rPr lang="ko-KR" altLang="en-US" dirty="0" smtClean="0"/>
              <a:t>작업 시작</a:t>
            </a:r>
            <a:r>
              <a:rPr lang="en-US" altLang="ko-KR" dirty="0" smtClean="0"/>
              <a:t>’ </a:t>
            </a:r>
            <a:r>
              <a:rPr lang="ko-KR" altLang="en-US" dirty="0" smtClean="0"/>
              <a:t>버튼 누르면 해당 버튼이 </a:t>
            </a:r>
            <a:r>
              <a:rPr lang="en-US" altLang="ko-KR" dirty="0" smtClean="0"/>
              <a:t>‘</a:t>
            </a:r>
            <a:r>
              <a:rPr lang="ko-KR" altLang="en-US" dirty="0" smtClean="0"/>
              <a:t>작업 중지</a:t>
            </a:r>
            <a:r>
              <a:rPr lang="en-US" altLang="ko-KR" dirty="0" smtClean="0"/>
              <a:t>‘</a:t>
            </a:r>
            <a:r>
              <a:rPr lang="ko-KR" altLang="en-US" dirty="0" smtClean="0"/>
              <a:t>로</a:t>
            </a:r>
            <a:r>
              <a:rPr lang="en-US" altLang="ko-KR" dirty="0" smtClean="0"/>
              <a:t> </a:t>
            </a:r>
            <a:r>
              <a:rPr lang="ko-KR" altLang="en-US" dirty="0" smtClean="0"/>
              <a:t>변경</a:t>
            </a:r>
            <a:endParaRPr lang="en-US" altLang="ko-KR" dirty="0" smtClean="0"/>
          </a:p>
          <a:p>
            <a:r>
              <a:rPr lang="en-US" altLang="ko-KR" dirty="0" smtClean="0"/>
              <a:t>‘</a:t>
            </a:r>
            <a:r>
              <a:rPr lang="ko-KR" altLang="en-US" dirty="0" smtClean="0"/>
              <a:t>진행상황확인</a:t>
            </a:r>
            <a:r>
              <a:rPr lang="en-US" altLang="ko-KR" dirty="0" smtClean="0"/>
              <a:t>‘ </a:t>
            </a:r>
            <a:r>
              <a:rPr lang="ko-KR" altLang="en-US" dirty="0" smtClean="0"/>
              <a:t>클릭 시 하단의 </a:t>
            </a:r>
            <a:r>
              <a:rPr lang="en-US" altLang="ko-KR" dirty="0" err="1" smtClean="0"/>
              <a:t>TextView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출력</a:t>
            </a:r>
            <a:endParaRPr lang="en-US" altLang="ko-KR" baseline="0" dirty="0" smtClean="0"/>
          </a:p>
          <a:p>
            <a:endParaRPr lang="en-US" altLang="ko-KR" baseline="0" dirty="0" smtClean="0"/>
          </a:p>
          <a:p>
            <a:r>
              <a:rPr lang="en-US" altLang="ko-KR" dirty="0" smtClean="0"/>
              <a:t>‘</a:t>
            </a:r>
            <a:r>
              <a:rPr lang="ko-KR" altLang="en-US" dirty="0" smtClean="0"/>
              <a:t>진행</a:t>
            </a:r>
            <a:r>
              <a:rPr lang="en-US" altLang="ko-KR" dirty="0" smtClean="0"/>
              <a:t>~’ </a:t>
            </a:r>
            <a:r>
              <a:rPr lang="ko-KR" altLang="en-US" dirty="0" smtClean="0"/>
              <a:t>누를 시 내용 반영 계속 됨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88395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9231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70135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69148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01372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 smtClean="0">
                <a:effectLst/>
              </a:rPr>
              <a:t>Void</a:t>
            </a:r>
            <a:r>
              <a:rPr lang="en-US" altLang="ko-KR" baseline="0" dirty="0" smtClean="0">
                <a:effectLst/>
              </a:rPr>
              <a:t> </a:t>
            </a:r>
            <a:r>
              <a:rPr lang="en-US" altLang="ko-KR" dirty="0" err="1" smtClean="0">
                <a:effectLst/>
              </a:rPr>
              <a:t>handleMessage</a:t>
            </a:r>
            <a:r>
              <a:rPr lang="en-US" altLang="ko-KR" dirty="0" smtClean="0">
                <a:effectLst/>
              </a:rPr>
              <a:t>(Message </a:t>
            </a:r>
            <a:r>
              <a:rPr lang="en-US" altLang="ko-KR" dirty="0" err="1" smtClean="0">
                <a:effectLst/>
              </a:rPr>
              <a:t>msg</a:t>
            </a:r>
            <a:r>
              <a:rPr lang="en-US" altLang="ko-KR" dirty="0" smtClean="0">
                <a:effectLst/>
              </a:rPr>
              <a:t>)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 smtClean="0">
                <a:effectLst/>
                <a:sym typeface="Wingdings" panose="05000000000000000000" pitchFamily="2" charset="2"/>
              </a:rPr>
              <a:t> </a:t>
            </a:r>
            <a:r>
              <a:rPr lang="en-US" altLang="ko-KR" dirty="0" smtClean="0">
                <a:effectLst/>
              </a:rPr>
              <a:t>Subclasses must implement this to receive messages.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03477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 err="1" smtClean="0"/>
              <a:t>boolean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sendEmptyMessage</a:t>
            </a:r>
            <a:r>
              <a:rPr lang="en-US" altLang="ko-KR" dirty="0" smtClean="0"/>
              <a:t> (</a:t>
            </a:r>
            <a:r>
              <a:rPr lang="en-US" altLang="ko-KR" dirty="0" err="1" smtClean="0"/>
              <a:t>int</a:t>
            </a:r>
            <a:r>
              <a:rPr lang="en-US" altLang="ko-KR" dirty="0" smtClean="0"/>
              <a:t> what)</a:t>
            </a:r>
          </a:p>
          <a:p>
            <a:r>
              <a:rPr lang="en-US" altLang="ko-KR" dirty="0" smtClean="0">
                <a:sym typeface="Wingdings" panose="05000000000000000000" pitchFamily="2" charset="2"/>
              </a:rPr>
              <a:t> </a:t>
            </a:r>
            <a:r>
              <a:rPr lang="en-US" altLang="ko-KR" dirty="0" smtClean="0"/>
              <a:t>Sends a Message containing only the what value.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72788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859159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Message obtain (Handler h, </a:t>
            </a:r>
          </a:p>
          <a:p>
            <a:r>
              <a:rPr lang="en-US" altLang="ko-KR" dirty="0" smtClean="0"/>
              <a:t>                </a:t>
            </a:r>
            <a:r>
              <a:rPr lang="en-US" altLang="ko-KR" dirty="0" err="1" smtClean="0"/>
              <a:t>int</a:t>
            </a:r>
            <a:r>
              <a:rPr lang="en-US" altLang="ko-KR" dirty="0" smtClean="0"/>
              <a:t> what, </a:t>
            </a:r>
          </a:p>
          <a:p>
            <a:r>
              <a:rPr lang="en-US" altLang="ko-KR" dirty="0" smtClean="0"/>
              <a:t>                </a:t>
            </a:r>
            <a:r>
              <a:rPr lang="en-US" altLang="ko-KR" dirty="0" err="1" smtClean="0"/>
              <a:t>int</a:t>
            </a:r>
            <a:r>
              <a:rPr lang="en-US" altLang="ko-KR" dirty="0" smtClean="0"/>
              <a:t> arg1, </a:t>
            </a:r>
          </a:p>
          <a:p>
            <a:r>
              <a:rPr lang="en-US" altLang="ko-KR" dirty="0" smtClean="0"/>
              <a:t>                </a:t>
            </a:r>
            <a:r>
              <a:rPr lang="en-US" altLang="ko-KR" dirty="0" err="1" smtClean="0"/>
              <a:t>int</a:t>
            </a:r>
            <a:r>
              <a:rPr lang="en-US" altLang="ko-KR" dirty="0" smtClean="0"/>
              <a:t> arg2)</a:t>
            </a:r>
          </a:p>
          <a:p>
            <a:r>
              <a:rPr lang="en-US" altLang="ko-KR" dirty="0" smtClean="0"/>
              <a:t>Same as obtain(), but sets the values of the target, what, arg1, and arg2 members.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672183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168608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슬라이드에 명시된 이름으로 </a:t>
            </a:r>
            <a:r>
              <a:rPr lang="en-US" altLang="ko-KR" dirty="0" smtClean="0"/>
              <a:t>Project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생성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354057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534594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0" lang="en-US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&lt;</a:t>
            </a:r>
            <a:r>
              <a:rPr kumimoji="0" lang="ko-KR" altLang="en-US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메시지 </a:t>
            </a:r>
            <a:r>
              <a:rPr kumimoji="0" lang="ko-KR" altLang="en-US" sz="12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루퍼</a:t>
            </a:r>
            <a:r>
              <a:rPr kumimoji="0" lang="ko-KR" altLang="en-US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생성</a:t>
            </a:r>
            <a:r>
              <a:rPr kumimoji="0" lang="en-US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&gt;</a:t>
            </a:r>
          </a:p>
          <a:p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Looper.</a:t>
            </a:r>
            <a:r>
              <a:rPr kumimoji="0" lang="ko-KR" altLang="ko-KR" sz="12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prepare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();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en-US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…</a:t>
            </a:r>
          </a:p>
          <a:p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Looper.</a:t>
            </a:r>
            <a:r>
              <a:rPr kumimoji="0" lang="ko-KR" altLang="ko-KR" sz="12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loop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();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004989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243769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134899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Message obtain (Handler h, </a:t>
            </a:r>
          </a:p>
          <a:p>
            <a:r>
              <a:rPr lang="en-US" altLang="ko-KR" dirty="0" smtClean="0"/>
              <a:t>                </a:t>
            </a:r>
            <a:r>
              <a:rPr lang="en-US" altLang="ko-KR" dirty="0" err="1" smtClean="0"/>
              <a:t>int</a:t>
            </a:r>
            <a:r>
              <a:rPr lang="en-US" altLang="ko-KR" dirty="0" smtClean="0"/>
              <a:t> what, </a:t>
            </a:r>
          </a:p>
          <a:p>
            <a:r>
              <a:rPr lang="en-US" altLang="ko-KR" dirty="0" smtClean="0"/>
              <a:t>                </a:t>
            </a:r>
            <a:r>
              <a:rPr lang="en-US" altLang="ko-KR" dirty="0" err="1" smtClean="0"/>
              <a:t>int</a:t>
            </a:r>
            <a:r>
              <a:rPr lang="en-US" altLang="ko-KR" dirty="0" smtClean="0"/>
              <a:t> arg1, </a:t>
            </a:r>
          </a:p>
          <a:p>
            <a:r>
              <a:rPr lang="en-US" altLang="ko-KR" dirty="0" smtClean="0"/>
              <a:t>                </a:t>
            </a:r>
            <a:r>
              <a:rPr lang="en-US" altLang="ko-KR" dirty="0" err="1" smtClean="0"/>
              <a:t>int</a:t>
            </a:r>
            <a:r>
              <a:rPr lang="en-US" altLang="ko-KR" dirty="0" smtClean="0"/>
              <a:t> arg2)</a:t>
            </a:r>
          </a:p>
          <a:p>
            <a:r>
              <a:rPr lang="en-US" altLang="ko-KR" dirty="0" smtClean="0"/>
              <a:t>Same as obtain(), but sets the values of the target, what, arg1, and arg2 members.</a:t>
            </a:r>
            <a:endParaRPr lang="ko-KR" altLang="en-US" dirty="0" smtClean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722055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942877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548092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610629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682488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1644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새 프로젝트 생성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006698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b="1" dirty="0" smtClean="0"/>
              <a:t>Result </a:t>
            </a:r>
            <a:r>
              <a:rPr lang="en-US" altLang="ko-KR" b="1" dirty="0" err="1" smtClean="0"/>
              <a:t>doInBackground</a:t>
            </a:r>
            <a:r>
              <a:rPr lang="en-US" altLang="ko-KR" b="1" dirty="0" smtClean="0"/>
              <a:t> (</a:t>
            </a:r>
            <a:r>
              <a:rPr lang="en-US" altLang="ko-KR" b="1" dirty="0" err="1" smtClean="0"/>
              <a:t>Params</a:t>
            </a:r>
            <a:r>
              <a:rPr lang="en-US" altLang="ko-KR" b="1" dirty="0" smtClean="0"/>
              <a:t>... </a:t>
            </a:r>
            <a:r>
              <a:rPr lang="en-US" altLang="ko-KR" b="1" dirty="0" err="1" smtClean="0"/>
              <a:t>params</a:t>
            </a:r>
            <a:r>
              <a:rPr lang="en-US" altLang="ko-KR" b="1" dirty="0" smtClean="0"/>
              <a:t>)</a:t>
            </a:r>
          </a:p>
          <a:p>
            <a:r>
              <a:rPr lang="en-US" altLang="ko-KR" b="0" dirty="0" smtClean="0"/>
              <a:t>Override this method to perform a computation on a background thread. </a:t>
            </a:r>
            <a:r>
              <a:rPr lang="en-US" altLang="ko-KR" b="0" u="sng" dirty="0" smtClean="0"/>
              <a:t>The specified parameters are the parameters passed to execute(</a:t>
            </a:r>
            <a:r>
              <a:rPr lang="en-US" altLang="ko-KR" b="0" u="sng" dirty="0" err="1" smtClean="0"/>
              <a:t>Params</a:t>
            </a:r>
            <a:r>
              <a:rPr lang="en-US" altLang="ko-KR" b="0" u="sng" dirty="0" smtClean="0"/>
              <a:t>...) by the caller of this ta</a:t>
            </a:r>
            <a:r>
              <a:rPr lang="en-US" altLang="ko-KR" b="0" dirty="0" smtClean="0"/>
              <a:t>sk. This method can call </a:t>
            </a:r>
            <a:r>
              <a:rPr lang="en-US" altLang="ko-KR" b="0" dirty="0" err="1" smtClean="0"/>
              <a:t>publishProgress</a:t>
            </a:r>
            <a:r>
              <a:rPr lang="en-US" altLang="ko-KR" b="0" dirty="0" smtClean="0"/>
              <a:t>(Progress...) to publish updates on the UI thread.</a:t>
            </a:r>
          </a:p>
          <a:p>
            <a:endParaRPr lang="en-US" altLang="ko-KR" b="1" dirty="0" smtClean="0"/>
          </a:p>
          <a:p>
            <a:r>
              <a:rPr lang="en-US" altLang="ko-KR" b="1" dirty="0" smtClean="0"/>
              <a:t>void </a:t>
            </a:r>
            <a:r>
              <a:rPr lang="en-US" altLang="ko-KR" b="1" dirty="0" err="1" smtClean="0"/>
              <a:t>publishProgress</a:t>
            </a:r>
            <a:r>
              <a:rPr lang="en-US" altLang="ko-KR" b="1" dirty="0" smtClean="0"/>
              <a:t> (Progress... values)</a:t>
            </a:r>
          </a:p>
          <a:p>
            <a:r>
              <a:rPr lang="en-US" altLang="ko-KR" u="sng" dirty="0" smtClean="0"/>
              <a:t>This method can be invoked from </a:t>
            </a:r>
            <a:r>
              <a:rPr lang="en-US" altLang="ko-KR" u="sng" dirty="0" err="1" smtClean="0"/>
              <a:t>doInBackground</a:t>
            </a:r>
            <a:r>
              <a:rPr lang="en-US" altLang="ko-KR" u="sng" dirty="0" smtClean="0"/>
              <a:t>(</a:t>
            </a:r>
            <a:r>
              <a:rPr lang="en-US" altLang="ko-KR" u="sng" dirty="0" err="1" smtClean="0"/>
              <a:t>Params</a:t>
            </a:r>
            <a:r>
              <a:rPr lang="en-US" altLang="ko-KR" u="sng" dirty="0" smtClean="0"/>
              <a:t>...) to publish updates on the UI thread while the background computation is still running</a:t>
            </a:r>
            <a:r>
              <a:rPr lang="en-US" altLang="ko-KR" dirty="0" smtClean="0"/>
              <a:t>. </a:t>
            </a:r>
            <a:r>
              <a:rPr lang="en-US" altLang="ko-KR" u="sng" dirty="0" smtClean="0"/>
              <a:t>Each call to this method will trigger the execution of </a:t>
            </a:r>
            <a:r>
              <a:rPr lang="en-US" altLang="ko-KR" u="sng" dirty="0" err="1" smtClean="0"/>
              <a:t>onProgressUpdate</a:t>
            </a:r>
            <a:r>
              <a:rPr lang="en-US" altLang="ko-KR" u="sng" dirty="0" smtClean="0"/>
              <a:t>(Progress...) on the UI thread</a:t>
            </a:r>
            <a:r>
              <a:rPr lang="en-US" altLang="ko-KR" dirty="0" smtClean="0"/>
              <a:t>. </a:t>
            </a:r>
            <a:r>
              <a:rPr lang="en-US" altLang="ko-KR" dirty="0" err="1" smtClean="0"/>
              <a:t>onProgressUpdate</a:t>
            </a:r>
            <a:r>
              <a:rPr lang="en-US" altLang="ko-KR" dirty="0" smtClean="0"/>
              <a:t>(Progress...) will not be called if the task has been canceled.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503053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224393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b="1" dirty="0" err="1" smtClean="0"/>
              <a:t>AsyncTask</a:t>
            </a:r>
            <a:r>
              <a:rPr lang="en-US" altLang="ko-KR" b="1" dirty="0" smtClean="0"/>
              <a:t>&lt;</a:t>
            </a:r>
            <a:r>
              <a:rPr lang="en-US" altLang="ko-KR" b="1" dirty="0" err="1" smtClean="0"/>
              <a:t>Params</a:t>
            </a:r>
            <a:r>
              <a:rPr lang="en-US" altLang="ko-KR" b="1" dirty="0" smtClean="0"/>
              <a:t>, Progress, Result&gt; execute (</a:t>
            </a:r>
            <a:r>
              <a:rPr lang="en-US" altLang="ko-KR" b="1" dirty="0" err="1" smtClean="0"/>
              <a:t>Params</a:t>
            </a:r>
            <a:r>
              <a:rPr lang="en-US" altLang="ko-KR" b="1" dirty="0" smtClean="0"/>
              <a:t>... </a:t>
            </a:r>
            <a:r>
              <a:rPr lang="en-US" altLang="ko-KR" b="1" dirty="0" err="1" smtClean="0"/>
              <a:t>params</a:t>
            </a:r>
            <a:r>
              <a:rPr lang="en-US" altLang="ko-KR" b="1" dirty="0" smtClean="0"/>
              <a:t>)</a:t>
            </a:r>
          </a:p>
          <a:p>
            <a:r>
              <a:rPr lang="en-US" altLang="ko-KR" dirty="0" smtClean="0"/>
              <a:t>Executes the task with the specified parameters. The task returns itself (this) so that the caller can keep a reference to it.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598843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(</a:t>
            </a:r>
            <a:r>
              <a:rPr lang="ko-KR" altLang="en-US" dirty="0" smtClean="0"/>
              <a:t>가운데 그림</a:t>
            </a:r>
            <a:r>
              <a:rPr lang="en-US" altLang="ko-KR" dirty="0" smtClean="0"/>
              <a:t>) : 10</a:t>
            </a:r>
            <a:r>
              <a:rPr lang="ko-KR" altLang="en-US" dirty="0" smtClean="0"/>
              <a:t>까지 자동 </a:t>
            </a:r>
            <a:r>
              <a:rPr lang="ko-KR" altLang="en-US" dirty="0" err="1" smtClean="0"/>
              <a:t>카운팅</a:t>
            </a:r>
            <a:r>
              <a:rPr lang="ko-KR" altLang="en-US" dirty="0" smtClean="0"/>
              <a:t> 된다</a:t>
            </a:r>
            <a:r>
              <a:rPr lang="en-US" altLang="ko-KR" dirty="0" smtClean="0"/>
              <a:t>. -&gt; </a:t>
            </a:r>
            <a:r>
              <a:rPr lang="ko-KR" altLang="en-US" dirty="0" smtClean="0"/>
              <a:t>그림은 도중에</a:t>
            </a:r>
            <a:r>
              <a:rPr lang="ko-KR" altLang="en-US" baseline="0" dirty="0" smtClean="0"/>
              <a:t> 캡쳐를 했기 때문에 </a:t>
            </a:r>
            <a:r>
              <a:rPr lang="en-US" altLang="ko-KR" baseline="0" dirty="0" smtClean="0"/>
              <a:t>10</a:t>
            </a:r>
            <a:r>
              <a:rPr lang="ko-KR" altLang="en-US" baseline="0" dirty="0" smtClean="0"/>
              <a:t>이 아닌 수가 나왔다</a:t>
            </a:r>
            <a:r>
              <a:rPr lang="en-US" altLang="ko-KR" baseline="0" dirty="0" smtClean="0"/>
              <a:t>.</a:t>
            </a:r>
          </a:p>
          <a:p>
            <a:endParaRPr lang="en-US" altLang="ko-KR" baseline="0" dirty="0" smtClean="0"/>
          </a:p>
          <a:p>
            <a:r>
              <a:rPr lang="en-US" altLang="ko-KR" baseline="0" dirty="0" smtClean="0"/>
              <a:t>‘</a:t>
            </a:r>
            <a:r>
              <a:rPr lang="ko-KR" altLang="en-US" baseline="0" dirty="0" smtClean="0"/>
              <a:t>취소됨</a:t>
            </a:r>
            <a:r>
              <a:rPr lang="en-US" altLang="ko-KR" baseline="0" dirty="0" smtClean="0"/>
              <a:t>’</a:t>
            </a:r>
            <a:r>
              <a:rPr lang="ko-KR" altLang="en-US" baseline="0" dirty="0" smtClean="0"/>
              <a:t>은 바로 </a:t>
            </a:r>
            <a:r>
              <a:rPr lang="ko-KR" altLang="en-US" baseline="0" dirty="0" err="1" smtClean="0"/>
              <a:t>뜨진</a:t>
            </a:r>
            <a:r>
              <a:rPr lang="ko-KR" altLang="en-US" baseline="0" dirty="0" smtClean="0"/>
              <a:t> 않았다</a:t>
            </a:r>
            <a:r>
              <a:rPr lang="en-US" altLang="ko-KR" baseline="0" dirty="0" smtClean="0"/>
              <a:t>. (</a:t>
            </a:r>
            <a:r>
              <a:rPr lang="ko-KR" altLang="en-US" baseline="0" dirty="0" smtClean="0"/>
              <a:t>에뮬레이터 기준</a:t>
            </a:r>
            <a:r>
              <a:rPr lang="en-US" altLang="ko-KR" baseline="0" smtClean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03269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079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>
                <a:latin typeface="Calibri" pitchFamily="34" charset="0"/>
                <a:cs typeface="Calibri" pitchFamily="34" charset="0"/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ko-KR" dirty="0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B1D5F-33CD-4488-976B-F9464FD91753}" type="datetime1">
              <a:rPr lang="ko-KR" altLang="en-US" smtClean="0"/>
              <a:pPr/>
              <a:t>2017-11-21</a:t>
            </a:fld>
            <a:endParaRPr lang="ko-KR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A0C15-7F47-4547-995A-E06B8BD978BD}" type="datetime1">
              <a:rPr lang="ko-KR" altLang="en-US" smtClean="0"/>
              <a:pPr/>
              <a:t>2017-11-21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276DC-5F53-4EC5-9E0B-7C43E8461919}" type="datetime1">
              <a:rPr lang="ko-KR" altLang="en-US" smtClean="0"/>
              <a:pPr/>
              <a:t>2017-11-21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80812-1F40-45FD-82CF-F544E5564805}" type="datetime1">
              <a:rPr lang="ko-KR" altLang="en-US" smtClean="0"/>
              <a:pPr/>
              <a:t>2017-11-21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F5704-1777-4A4F-9646-122E7F100DB5}" type="datetime1">
              <a:rPr lang="ko-KR" altLang="en-US" smtClean="0"/>
              <a:pPr/>
              <a:t>2017-11-21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A8956-45F5-40BA-9EC4-3972E0A2B8E3}" type="datetime1">
              <a:rPr lang="ko-KR" altLang="en-US" smtClean="0"/>
              <a:pPr/>
              <a:t>2017-11-21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6DBBE-459F-47F7-AC25-C1520DCBA826}" type="datetime1">
              <a:rPr lang="ko-KR" altLang="en-US" smtClean="0"/>
              <a:pPr/>
              <a:t>2017-11-21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D703F-420F-4C6E-A47B-DAAC0702168C}" type="datetime1">
              <a:rPr lang="ko-KR" altLang="en-US" smtClean="0"/>
              <a:pPr/>
              <a:t>2017-11-21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317E0-6ED8-49AC-8F3C-035789E329D3}" type="datetime1">
              <a:rPr lang="ko-KR" altLang="en-US" smtClean="0"/>
              <a:pPr/>
              <a:t>2017-11-21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6A579-5918-4B54-82E8-D4CEFF471756}" type="datetime1">
              <a:rPr lang="ko-KR" altLang="en-US" smtClean="0"/>
              <a:pPr/>
              <a:t>2017-11-21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19546-0714-4120-89FC-4148593C534F}" type="datetime1">
              <a:rPr lang="ko-KR" altLang="en-US" smtClean="0"/>
              <a:pPr/>
              <a:t>2017-11-21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altLang="ko-KR" dirty="0" smtClean="0"/>
              <a:t>Click to edit Master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84672"/>
            <a:ext cx="8229600" cy="4641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3B9C821C-F261-4C36-858D-913B97B2EFDC}" type="datetime1">
              <a:rPr lang="ko-KR" altLang="en-US" smtClean="0"/>
              <a:pPr/>
              <a:t>2017-11-21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27345" y="110416"/>
            <a:ext cx="2137143" cy="27809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1" name="TextBox 10"/>
          <p:cNvSpPr txBox="1"/>
          <p:nvPr userDrawn="1"/>
        </p:nvSpPr>
        <p:spPr>
          <a:xfrm>
            <a:off x="-3205" y="171313"/>
            <a:ext cx="1125180" cy="2782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300"/>
              </a:lnSpc>
            </a:pPr>
            <a:r>
              <a:rPr lang="en-US" altLang="ko-KR" sz="1800" kern="1200" spc="0" dirty="0" smtClean="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rPr>
              <a:t>COMP</a:t>
            </a:r>
            <a:r>
              <a:rPr lang="en-US" altLang="ko-KR" sz="1800" kern="1200" spc="0" dirty="0" smtClean="0">
                <a:solidFill>
                  <a:srgbClr val="FF0000"/>
                </a:solidFill>
                <a:latin typeface="Calibri" pitchFamily="34" charset="0"/>
                <a:ea typeface="+mn-ea"/>
                <a:cs typeface="Calibri" pitchFamily="34" charset="0"/>
              </a:rPr>
              <a:t>3</a:t>
            </a:r>
            <a:r>
              <a:rPr lang="en-US" altLang="ko-KR" sz="1800" kern="1200" spc="0" dirty="0" smtClean="0">
                <a:solidFill>
                  <a:schemeClr val="accent5"/>
                </a:solidFill>
                <a:latin typeface="Calibri" pitchFamily="34" charset="0"/>
                <a:ea typeface="+mn-ea"/>
                <a:cs typeface="Calibri" pitchFamily="34" charset="0"/>
              </a:rPr>
              <a:t>2</a:t>
            </a:r>
            <a:r>
              <a:rPr lang="en-US" altLang="ko-KR" sz="1800" kern="1200" spc="0" dirty="0" smtClean="0">
                <a:solidFill>
                  <a:srgbClr val="0066FF"/>
                </a:solidFill>
                <a:latin typeface="Calibri" pitchFamily="34" charset="0"/>
                <a:ea typeface="+mn-ea"/>
                <a:cs typeface="Calibri" pitchFamily="34" charset="0"/>
              </a:rPr>
              <a:t>8</a:t>
            </a:r>
            <a:endParaRPr lang="ko-KR" altLang="en-US" sz="1800" kern="1200" spc="0" dirty="0" smtClean="0">
              <a:solidFill>
                <a:schemeClr val="tx1">
                  <a:lumMod val="50000"/>
                  <a:lumOff val="50000"/>
                </a:schemeClr>
              </a:solidFill>
              <a:latin typeface="Calibri" pitchFamily="34" charset="0"/>
              <a:ea typeface="+mn-ea"/>
              <a:cs typeface="Calibri" pitchFamily="34" charset="0"/>
            </a:endParaRPr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949172" y="101474"/>
            <a:ext cx="1474704" cy="391812"/>
            <a:chOff x="983729" y="101774"/>
            <a:chExt cx="1474704" cy="391812"/>
          </a:xfrm>
        </p:grpSpPr>
        <p:sp>
          <p:nvSpPr>
            <p:cNvPr id="10" name="TextBox 9"/>
            <p:cNvSpPr txBox="1"/>
            <p:nvPr userDrawn="1"/>
          </p:nvSpPr>
          <p:spPr>
            <a:xfrm>
              <a:off x="983729" y="101774"/>
              <a:ext cx="1151277" cy="2714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indent="0" algn="l" defTabSz="914400" rtl="0" eaLnBrk="1" fontAlgn="auto" latinLnBrk="1" hangingPunct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600" b="0" kern="12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ea typeface="+mn-ea"/>
                  <a:cs typeface="Calibri" pitchFamily="34" charset="0"/>
                </a:rPr>
                <a:t>M</a:t>
              </a:r>
              <a:r>
                <a:rPr lang="en-US" altLang="ko-KR" sz="1600" kern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obile </a:t>
              </a:r>
              <a:r>
                <a:rPr lang="en-US" altLang="ko-KR" sz="1600" b="0" kern="12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ea typeface="+mn-ea"/>
                  <a:cs typeface="Calibri" pitchFamily="34" charset="0"/>
                </a:rPr>
                <a:t>A</a:t>
              </a:r>
              <a:r>
                <a:rPr lang="en-US" altLang="ko-KR" sz="1600" kern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pp</a:t>
              </a:r>
              <a:endParaRPr lang="ko-KR" altLang="en-US" sz="1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+mn-ea"/>
                <a:cs typeface="Calibri" pitchFamily="34" charset="0"/>
              </a:endParaRPr>
            </a:p>
          </p:txBody>
        </p:sp>
        <p:sp>
          <p:nvSpPr>
            <p:cNvPr id="12" name="직사각형 11"/>
            <p:cNvSpPr/>
            <p:nvPr userDrawn="1"/>
          </p:nvSpPr>
          <p:spPr>
            <a:xfrm>
              <a:off x="1053433" y="155032"/>
              <a:ext cx="140500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P</a:t>
              </a:r>
              <a:r>
                <a:rPr kumimoji="0" lang="en-US" altLang="ko-KR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rogramming I</a:t>
              </a:r>
              <a:endParaRPr lang="ko-KR" altLang="en-US" sz="1600" dirty="0" smtClean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1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Calibri" pitchFamily="34" charset="0"/>
          <a:ea typeface="+mj-ea"/>
          <a:cs typeface="Calibri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1pPr>
      <a:lvl2pPr marL="742950" indent="-28575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3pPr>
      <a:lvl4pPr marL="16002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5pPr>
      <a:lvl6pPr marL="25146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://developer.android.com/reference/android/os/Looper.html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88840"/>
            <a:ext cx="7772400" cy="864096"/>
          </a:xfrm>
          <a:solidFill>
            <a:srgbClr val="004CBC"/>
          </a:solidFill>
        </p:spPr>
        <p:txBody>
          <a:bodyPr>
            <a:normAutofit/>
          </a:bodyPr>
          <a:lstStyle/>
          <a:p>
            <a:r>
              <a:rPr lang="ko-KR" altLang="en-US" sz="4800" b="1" dirty="0" smtClean="0"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rPr>
              <a:t>백그라운드 </a:t>
            </a:r>
            <a:r>
              <a:rPr lang="en-US" altLang="ko-KR" sz="4800" b="1" dirty="0" smtClean="0"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rPr>
              <a:t>- 1</a:t>
            </a:r>
            <a:endParaRPr lang="ko-KR" altLang="en-US" sz="4800" b="1" dirty="0"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5122" name="Picture 2" descr="http://www.ddaily.co.kr/DATA/news/20110210/20110210140451__I6720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27" b="22179"/>
          <a:stretch/>
        </p:blipFill>
        <p:spPr bwMode="auto">
          <a:xfrm>
            <a:off x="2208089" y="3084845"/>
            <a:ext cx="4762500" cy="1778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부제목 4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 err="1"/>
              <a:t>Gi</a:t>
            </a:r>
            <a:r>
              <a:rPr lang="en-US" altLang="ko-KR" dirty="0"/>
              <a:t> Sook Jung, </a:t>
            </a:r>
            <a:r>
              <a:rPr lang="en-US" altLang="ko-KR" dirty="0" err="1"/>
              <a:t>Ph.D</a:t>
            </a:r>
            <a:endParaRPr lang="en-US" altLang="ko-KR" dirty="0"/>
          </a:p>
          <a:p>
            <a:r>
              <a:rPr lang="en-US" altLang="ko-KR" dirty="0"/>
              <a:t>School of Computer Science and Engineering</a:t>
            </a:r>
          </a:p>
          <a:p>
            <a:r>
              <a:rPr lang="en-US" altLang="ko-KR" dirty="0"/>
              <a:t>College of IT Engineering, KNU</a:t>
            </a:r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57308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오른쪽 화살표 29"/>
          <p:cNvSpPr/>
          <p:nvPr/>
        </p:nvSpPr>
        <p:spPr>
          <a:xfrm>
            <a:off x="7978140" y="4514850"/>
            <a:ext cx="400050" cy="205740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Multitasking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다중작업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동시에 여러 작업을 수행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작업</a:t>
            </a:r>
            <a:r>
              <a:rPr lang="en-US" altLang="ko-KR" dirty="0" smtClean="0"/>
              <a:t>(Task)</a:t>
            </a:r>
            <a:r>
              <a:rPr lang="ko-KR" altLang="en-US" dirty="0" smtClean="0"/>
              <a:t>을 </a:t>
            </a:r>
            <a:r>
              <a:rPr lang="ko-KR" altLang="en-US" dirty="0" err="1" smtClean="0"/>
              <a:t>스케쥴하여</a:t>
            </a:r>
            <a:r>
              <a:rPr lang="ko-KR" altLang="en-US" dirty="0" smtClean="0"/>
              <a:t> 적절하게 교차수행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상대적으로 느린 </a:t>
            </a:r>
            <a:r>
              <a:rPr lang="en-US" altLang="ko-KR" dirty="0" smtClean="0"/>
              <a:t>I/O </a:t>
            </a:r>
            <a:r>
              <a:rPr lang="ko-KR" altLang="en-US" dirty="0" smtClean="0"/>
              <a:t>대기시간을 활용</a:t>
            </a:r>
            <a:r>
              <a:rPr lang="en-US" altLang="ko-KR" dirty="0" smtClean="0"/>
              <a:t>, CPU </a:t>
            </a:r>
            <a:r>
              <a:rPr lang="ko-KR" altLang="en-US" dirty="0" err="1" smtClean="0"/>
              <a:t>사용율을</a:t>
            </a:r>
            <a:r>
              <a:rPr lang="ko-KR" altLang="en-US" dirty="0" smtClean="0"/>
              <a:t> 극대화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각 </a:t>
            </a:r>
            <a:r>
              <a:rPr lang="en-US" altLang="ko-KR" dirty="0" smtClean="0"/>
              <a:t>Task</a:t>
            </a:r>
            <a:r>
              <a:rPr lang="ko-KR" altLang="en-US" dirty="0" smtClean="0"/>
              <a:t>의 입장에서는 처리시간이 느려지지만</a:t>
            </a:r>
            <a:r>
              <a:rPr lang="en-US" altLang="ko-KR" dirty="0" smtClean="0"/>
              <a:t>, </a:t>
            </a:r>
            <a:r>
              <a:rPr lang="ko-KR" altLang="en-US" dirty="0" smtClean="0"/>
              <a:t>전체적인 효율성은 증가</a:t>
            </a: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</a:t>
            </a:fld>
            <a:endParaRPr lang="ko-KR" altLang="en-US"/>
          </a:p>
        </p:txBody>
      </p:sp>
      <p:grpSp>
        <p:nvGrpSpPr>
          <p:cNvPr id="19" name="그룹 18"/>
          <p:cNvGrpSpPr/>
          <p:nvPr/>
        </p:nvGrpSpPr>
        <p:grpSpPr>
          <a:xfrm>
            <a:off x="3463290" y="5360670"/>
            <a:ext cx="2567940" cy="1074420"/>
            <a:chOff x="2893695" y="5101590"/>
            <a:chExt cx="2567940" cy="1074420"/>
          </a:xfrm>
        </p:grpSpPr>
        <p:sp>
          <p:nvSpPr>
            <p:cNvPr id="10" name="모서리가 둥근 직사각형 9"/>
            <p:cNvSpPr/>
            <p:nvPr/>
          </p:nvSpPr>
          <p:spPr>
            <a:xfrm>
              <a:off x="5050155" y="5204460"/>
              <a:ext cx="411480" cy="137160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모서리가 둥근 직사각형 10"/>
            <p:cNvSpPr/>
            <p:nvPr/>
          </p:nvSpPr>
          <p:spPr>
            <a:xfrm>
              <a:off x="5050155" y="5444490"/>
              <a:ext cx="411480" cy="137160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모서리가 둥근 직사각형 11"/>
            <p:cNvSpPr/>
            <p:nvPr/>
          </p:nvSpPr>
          <p:spPr>
            <a:xfrm>
              <a:off x="5050155" y="5680710"/>
              <a:ext cx="411480" cy="137160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모서리가 둥근 직사각형 12"/>
            <p:cNvSpPr/>
            <p:nvPr/>
          </p:nvSpPr>
          <p:spPr>
            <a:xfrm>
              <a:off x="5050155" y="5916930"/>
              <a:ext cx="411480" cy="137160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모서리가 둥근 직사각형 13"/>
            <p:cNvSpPr/>
            <p:nvPr/>
          </p:nvSpPr>
          <p:spPr>
            <a:xfrm>
              <a:off x="2893695" y="5204460"/>
              <a:ext cx="411480" cy="137160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모서리가 둥근 직사각형 14"/>
            <p:cNvSpPr/>
            <p:nvPr/>
          </p:nvSpPr>
          <p:spPr>
            <a:xfrm>
              <a:off x="2893695" y="5444490"/>
              <a:ext cx="411480" cy="137160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모서리가 둥근 직사각형 15"/>
            <p:cNvSpPr/>
            <p:nvPr/>
          </p:nvSpPr>
          <p:spPr>
            <a:xfrm>
              <a:off x="2893695" y="5680710"/>
              <a:ext cx="411480" cy="137160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모서리가 둥근 직사각형 16"/>
            <p:cNvSpPr/>
            <p:nvPr/>
          </p:nvSpPr>
          <p:spPr>
            <a:xfrm>
              <a:off x="2893695" y="5916930"/>
              <a:ext cx="411480" cy="137160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3175635" y="5101590"/>
              <a:ext cx="2000250" cy="1074420"/>
            </a:xfrm>
            <a:prstGeom prst="rect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3200" dirty="0" smtClean="0"/>
                <a:t>CPU</a:t>
              </a:r>
              <a:endParaRPr lang="ko-KR" altLang="en-US" sz="3200" dirty="0"/>
            </a:p>
          </p:txBody>
        </p:sp>
      </p:grpSp>
      <p:sp>
        <p:nvSpPr>
          <p:cNvPr id="20" name="순서도: 수행의 시작/종료 19"/>
          <p:cNvSpPr/>
          <p:nvPr/>
        </p:nvSpPr>
        <p:spPr>
          <a:xfrm>
            <a:off x="1371600" y="3451860"/>
            <a:ext cx="2091690" cy="605790"/>
          </a:xfrm>
          <a:prstGeom prst="flowChartTerminator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Task 1</a:t>
            </a:r>
            <a:endParaRPr lang="ko-KR" altLang="en-US" dirty="0"/>
          </a:p>
        </p:txBody>
      </p:sp>
      <p:sp>
        <p:nvSpPr>
          <p:cNvPr id="21" name="순서도: 수행의 시작/종료 20"/>
          <p:cNvSpPr/>
          <p:nvPr/>
        </p:nvSpPr>
        <p:spPr>
          <a:xfrm>
            <a:off x="3699510" y="3451860"/>
            <a:ext cx="2091690" cy="605790"/>
          </a:xfrm>
          <a:prstGeom prst="flowChartTerminator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Task 2</a:t>
            </a:r>
            <a:endParaRPr lang="ko-KR" altLang="en-US" dirty="0"/>
          </a:p>
        </p:txBody>
      </p:sp>
      <p:sp>
        <p:nvSpPr>
          <p:cNvPr id="22" name="순서도: 수행의 시작/종료 21"/>
          <p:cNvSpPr/>
          <p:nvPr/>
        </p:nvSpPr>
        <p:spPr>
          <a:xfrm>
            <a:off x="6031230" y="3451860"/>
            <a:ext cx="2091690" cy="605790"/>
          </a:xfrm>
          <a:prstGeom prst="flowChartTerminator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Task 3</a:t>
            </a:r>
            <a:endParaRPr lang="ko-KR" altLang="en-US" dirty="0"/>
          </a:p>
        </p:txBody>
      </p:sp>
      <p:sp>
        <p:nvSpPr>
          <p:cNvPr id="23" name="직사각형 22"/>
          <p:cNvSpPr/>
          <p:nvPr/>
        </p:nvSpPr>
        <p:spPr>
          <a:xfrm>
            <a:off x="1371600" y="4366260"/>
            <a:ext cx="6751320" cy="50292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모서리가 둥근 직사각형 23"/>
          <p:cNvSpPr/>
          <p:nvPr/>
        </p:nvSpPr>
        <p:spPr>
          <a:xfrm>
            <a:off x="1371599" y="4366260"/>
            <a:ext cx="1045845" cy="502920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25" name="모서리가 둥근 직사각형 24"/>
          <p:cNvSpPr/>
          <p:nvPr/>
        </p:nvSpPr>
        <p:spPr>
          <a:xfrm>
            <a:off x="2417445" y="4366260"/>
            <a:ext cx="1720215" cy="502920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2</a:t>
            </a:r>
            <a:endParaRPr lang="ko-KR" altLang="en-US" dirty="0"/>
          </a:p>
        </p:txBody>
      </p:sp>
      <p:sp>
        <p:nvSpPr>
          <p:cNvPr id="26" name="모서리가 둥근 직사각형 25"/>
          <p:cNvSpPr/>
          <p:nvPr/>
        </p:nvSpPr>
        <p:spPr>
          <a:xfrm>
            <a:off x="4137661" y="4366260"/>
            <a:ext cx="607694" cy="50292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3</a:t>
            </a:r>
            <a:endParaRPr lang="ko-KR" altLang="en-US" dirty="0"/>
          </a:p>
        </p:txBody>
      </p:sp>
      <p:sp>
        <p:nvSpPr>
          <p:cNvPr id="27" name="모서리가 둥근 직사각형 26"/>
          <p:cNvSpPr/>
          <p:nvPr/>
        </p:nvSpPr>
        <p:spPr>
          <a:xfrm>
            <a:off x="4747261" y="4366260"/>
            <a:ext cx="1304926" cy="502920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28" name="모서리가 둥근 직사각형 27"/>
          <p:cNvSpPr/>
          <p:nvPr/>
        </p:nvSpPr>
        <p:spPr>
          <a:xfrm>
            <a:off x="6052186" y="4366260"/>
            <a:ext cx="1331594" cy="50292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3</a:t>
            </a:r>
            <a:endParaRPr lang="ko-KR" altLang="en-US" dirty="0"/>
          </a:p>
        </p:txBody>
      </p:sp>
      <p:sp>
        <p:nvSpPr>
          <p:cNvPr id="29" name="모서리가 둥근 직사각형 28"/>
          <p:cNvSpPr/>
          <p:nvPr/>
        </p:nvSpPr>
        <p:spPr>
          <a:xfrm>
            <a:off x="7383780" y="4366260"/>
            <a:ext cx="739140" cy="502920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2</a:t>
            </a:r>
            <a:endParaRPr lang="ko-KR" altLang="en-US" dirty="0"/>
          </a:p>
        </p:txBody>
      </p:sp>
      <p:cxnSp>
        <p:nvCxnSpPr>
          <p:cNvPr id="32" name="직선 연결선 31"/>
          <p:cNvCxnSpPr/>
          <p:nvPr/>
        </p:nvCxnSpPr>
        <p:spPr>
          <a:xfrm>
            <a:off x="1371599" y="4869180"/>
            <a:ext cx="2373631" cy="4914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/>
          <p:cNvCxnSpPr/>
          <p:nvPr/>
        </p:nvCxnSpPr>
        <p:spPr>
          <a:xfrm flipH="1">
            <a:off x="5745480" y="4869180"/>
            <a:ext cx="2377440" cy="4914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5638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Multitasking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Context-switching</a:t>
            </a:r>
          </a:p>
          <a:p>
            <a:pPr lvl="1"/>
            <a:r>
              <a:rPr lang="ko-KR" altLang="en-US" dirty="0" smtClean="0"/>
              <a:t>이전</a:t>
            </a:r>
            <a:r>
              <a:rPr lang="en-US" altLang="ko-KR" dirty="0"/>
              <a:t> </a:t>
            </a:r>
            <a:r>
              <a:rPr lang="en-US" altLang="ko-KR" dirty="0" smtClean="0"/>
              <a:t>Task</a:t>
            </a:r>
            <a:r>
              <a:rPr lang="ko-KR" altLang="en-US" dirty="0" smtClean="0"/>
              <a:t>의 상태를 보관하고 다음 </a:t>
            </a:r>
            <a:r>
              <a:rPr lang="en-US" altLang="ko-KR" dirty="0" smtClean="0"/>
              <a:t>Task</a:t>
            </a:r>
            <a:r>
              <a:rPr lang="ko-KR" altLang="en-US" dirty="0" smtClean="0"/>
              <a:t>를 처리하기 위해 상태를 복원하는 작업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Processing Cost</a:t>
            </a:r>
            <a:r>
              <a:rPr lang="ko-KR" altLang="en-US" dirty="0" smtClean="0"/>
              <a:t>의 관점에서는 아무 일도 하지 않는 </a:t>
            </a:r>
            <a:r>
              <a:rPr lang="en-US" altLang="ko-KR" dirty="0" smtClean="0"/>
              <a:t>Overhead Cost</a:t>
            </a:r>
            <a:r>
              <a:rPr lang="ko-KR" altLang="en-US" dirty="0" smtClean="0"/>
              <a:t>에 해당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전환</a:t>
            </a:r>
            <a:r>
              <a:rPr lang="en-US" altLang="ko-KR" dirty="0" smtClean="0"/>
              <a:t> </a:t>
            </a:r>
            <a:r>
              <a:rPr lang="ko-KR" altLang="en-US" dirty="0" smtClean="0"/>
              <a:t>비용을 감소시키기 위해 다양한 기술들을 사용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최신</a:t>
            </a:r>
            <a:r>
              <a:rPr lang="en-US" altLang="ko-KR" dirty="0" smtClean="0"/>
              <a:t> </a:t>
            </a:r>
            <a:r>
              <a:rPr lang="en-US" altLang="ko-KR" dirty="0"/>
              <a:t>CPU</a:t>
            </a:r>
            <a:r>
              <a:rPr lang="ko-KR" altLang="en-US" dirty="0"/>
              <a:t>들은 </a:t>
            </a:r>
            <a:r>
              <a:rPr lang="ko-KR" altLang="en-US" dirty="0" err="1"/>
              <a:t>멀티태스킹에</a:t>
            </a:r>
            <a:r>
              <a:rPr lang="ko-KR" altLang="en-US" dirty="0"/>
              <a:t> 적합하도록 특화된 명령들을 제공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→ 오버헤드 비용이 상당히 </a:t>
            </a:r>
            <a:r>
              <a:rPr lang="ko-KR" altLang="en-US" dirty="0" smtClean="0"/>
              <a:t>감소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</a:t>
            </a:fld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3463290" y="5360670"/>
            <a:ext cx="2567940" cy="1074420"/>
            <a:chOff x="2893695" y="5101590"/>
            <a:chExt cx="2567940" cy="1074420"/>
          </a:xfrm>
        </p:grpSpPr>
        <p:sp>
          <p:nvSpPr>
            <p:cNvPr id="6" name="모서리가 둥근 직사각형 5"/>
            <p:cNvSpPr/>
            <p:nvPr/>
          </p:nvSpPr>
          <p:spPr>
            <a:xfrm>
              <a:off x="5050155" y="5204460"/>
              <a:ext cx="411480" cy="137160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모서리가 둥근 직사각형 6"/>
            <p:cNvSpPr/>
            <p:nvPr/>
          </p:nvSpPr>
          <p:spPr>
            <a:xfrm>
              <a:off x="5050155" y="5444490"/>
              <a:ext cx="411480" cy="137160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모서리가 둥근 직사각형 7"/>
            <p:cNvSpPr/>
            <p:nvPr/>
          </p:nvSpPr>
          <p:spPr>
            <a:xfrm>
              <a:off x="5050155" y="5680710"/>
              <a:ext cx="411480" cy="137160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모서리가 둥근 직사각형 8"/>
            <p:cNvSpPr/>
            <p:nvPr/>
          </p:nvSpPr>
          <p:spPr>
            <a:xfrm>
              <a:off x="5050155" y="5916930"/>
              <a:ext cx="411480" cy="137160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모서리가 둥근 직사각형 9"/>
            <p:cNvSpPr/>
            <p:nvPr/>
          </p:nvSpPr>
          <p:spPr>
            <a:xfrm>
              <a:off x="2893695" y="5204460"/>
              <a:ext cx="411480" cy="137160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모서리가 둥근 직사각형 10"/>
            <p:cNvSpPr/>
            <p:nvPr/>
          </p:nvSpPr>
          <p:spPr>
            <a:xfrm>
              <a:off x="2893695" y="5444490"/>
              <a:ext cx="411480" cy="137160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모서리가 둥근 직사각형 11"/>
            <p:cNvSpPr/>
            <p:nvPr/>
          </p:nvSpPr>
          <p:spPr>
            <a:xfrm>
              <a:off x="2893695" y="5680710"/>
              <a:ext cx="411480" cy="137160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모서리가 둥근 직사각형 12"/>
            <p:cNvSpPr/>
            <p:nvPr/>
          </p:nvSpPr>
          <p:spPr>
            <a:xfrm>
              <a:off x="2893695" y="5916930"/>
              <a:ext cx="411480" cy="137160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3175635" y="5101590"/>
              <a:ext cx="2000250" cy="1074420"/>
            </a:xfrm>
            <a:prstGeom prst="rect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3200" dirty="0" smtClean="0"/>
                <a:t>CPU</a:t>
              </a:r>
              <a:endParaRPr lang="ko-KR" altLang="en-US" sz="3200" dirty="0"/>
            </a:p>
          </p:txBody>
        </p:sp>
      </p:grpSp>
      <p:sp>
        <p:nvSpPr>
          <p:cNvPr id="16" name="직사각형 15"/>
          <p:cNvSpPr/>
          <p:nvPr/>
        </p:nvSpPr>
        <p:spPr>
          <a:xfrm>
            <a:off x="1371600" y="3577590"/>
            <a:ext cx="6751320" cy="50292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모서리가 둥근 직사각형 16"/>
          <p:cNvSpPr/>
          <p:nvPr/>
        </p:nvSpPr>
        <p:spPr>
          <a:xfrm>
            <a:off x="1371599" y="3577590"/>
            <a:ext cx="1045845" cy="502920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23" name="순서도: 수행의 시작/종료 22"/>
          <p:cNvSpPr/>
          <p:nvPr/>
        </p:nvSpPr>
        <p:spPr>
          <a:xfrm>
            <a:off x="3699510" y="4629150"/>
            <a:ext cx="2091690" cy="605790"/>
          </a:xfrm>
          <a:prstGeom prst="flowChartTerminator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Task 1</a:t>
            </a:r>
            <a:endParaRPr lang="ko-KR" altLang="en-US" dirty="0"/>
          </a:p>
        </p:txBody>
      </p:sp>
      <p:sp>
        <p:nvSpPr>
          <p:cNvPr id="24" name="직사각형 23"/>
          <p:cNvSpPr/>
          <p:nvPr/>
        </p:nvSpPr>
        <p:spPr>
          <a:xfrm>
            <a:off x="2417444" y="3577590"/>
            <a:ext cx="194310" cy="5029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모서리가 둥근 직사각형 24"/>
          <p:cNvSpPr/>
          <p:nvPr/>
        </p:nvSpPr>
        <p:spPr>
          <a:xfrm>
            <a:off x="2611754" y="3577590"/>
            <a:ext cx="1720215" cy="502920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2</a:t>
            </a:r>
            <a:endParaRPr lang="ko-KR" altLang="en-US" dirty="0"/>
          </a:p>
        </p:txBody>
      </p:sp>
      <p:sp>
        <p:nvSpPr>
          <p:cNvPr id="26" name="직사각형 25"/>
          <p:cNvSpPr/>
          <p:nvPr/>
        </p:nvSpPr>
        <p:spPr>
          <a:xfrm>
            <a:off x="4331969" y="3577590"/>
            <a:ext cx="194310" cy="5029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모서리가 둥근 직사각형 26"/>
          <p:cNvSpPr/>
          <p:nvPr/>
        </p:nvSpPr>
        <p:spPr>
          <a:xfrm>
            <a:off x="4526279" y="3577590"/>
            <a:ext cx="607694" cy="50292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3</a:t>
            </a:r>
            <a:endParaRPr lang="ko-KR" altLang="en-US" dirty="0"/>
          </a:p>
        </p:txBody>
      </p:sp>
      <p:sp>
        <p:nvSpPr>
          <p:cNvPr id="28" name="오른쪽 화살표 27"/>
          <p:cNvSpPr/>
          <p:nvPr/>
        </p:nvSpPr>
        <p:spPr>
          <a:xfrm>
            <a:off x="7978140" y="3726180"/>
            <a:ext cx="400050" cy="205740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순서도: 수행의 시작/종료 28"/>
          <p:cNvSpPr/>
          <p:nvPr/>
        </p:nvSpPr>
        <p:spPr>
          <a:xfrm>
            <a:off x="3699510" y="4629150"/>
            <a:ext cx="2091690" cy="605790"/>
          </a:xfrm>
          <a:prstGeom prst="flowChartTerminator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Task 2</a:t>
            </a:r>
            <a:endParaRPr lang="ko-KR" altLang="en-US" dirty="0"/>
          </a:p>
        </p:txBody>
      </p:sp>
      <p:sp>
        <p:nvSpPr>
          <p:cNvPr id="30" name="순서도: 수행의 시작/종료 29"/>
          <p:cNvSpPr/>
          <p:nvPr/>
        </p:nvSpPr>
        <p:spPr>
          <a:xfrm>
            <a:off x="3701415" y="4629150"/>
            <a:ext cx="2091690" cy="605790"/>
          </a:xfrm>
          <a:prstGeom prst="flowChartTerminator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Task 3</a:t>
            </a:r>
            <a:endParaRPr lang="ko-KR" alt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3711559" y="4259818"/>
            <a:ext cx="2071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Context Switching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95729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" presetClass="exit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500"/>
                            </p:stCondLst>
                            <p:childTnLst>
                              <p:par>
                                <p:cTn id="55" presetID="1" presetClass="exit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5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3" grpId="0" animBg="1"/>
      <p:bldP spid="23" grpId="1" animBg="1"/>
      <p:bldP spid="24" grpId="0" animBg="1"/>
      <p:bldP spid="25" grpId="0" animBg="1"/>
      <p:bldP spid="26" grpId="0" animBg="1"/>
      <p:bldP spid="27" grpId="0" animBg="1"/>
      <p:bldP spid="29" grpId="0" animBg="1"/>
      <p:bldP spid="29" grpId="1" animBg="1"/>
      <p:bldP spid="30" grpId="0" animBg="1"/>
      <p:bldP spid="31" grpId="0"/>
      <p:bldP spid="31" grpId="1"/>
      <p:bldP spid="31" grpId="2"/>
      <p:bldP spid="31" grpId="3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Multitasking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 smtClean="0"/>
              <a:t>Process</a:t>
            </a:r>
          </a:p>
          <a:p>
            <a:pPr lvl="1"/>
            <a:r>
              <a:rPr lang="ko-KR" altLang="en-US" dirty="0" smtClean="0"/>
              <a:t>기본적인</a:t>
            </a:r>
            <a:r>
              <a:rPr lang="en-US" altLang="ko-KR" dirty="0" smtClean="0"/>
              <a:t> Task </a:t>
            </a:r>
            <a:r>
              <a:rPr lang="ko-KR" altLang="en-US" dirty="0" smtClean="0"/>
              <a:t>단위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작업을 수행하기 위한 모든 정보를 포함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서로 다른 프로세스들은 간섭하지 않는 것이 원칙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멀티프로세스를 지원하기 위한 </a:t>
            </a:r>
            <a:r>
              <a:rPr lang="ko-KR" altLang="en-US" dirty="0" err="1" smtClean="0"/>
              <a:t>컨텍스트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스위칭</a:t>
            </a:r>
            <a:r>
              <a:rPr lang="ko-KR" altLang="en-US" dirty="0" smtClean="0"/>
              <a:t> 비용은 상당히 비쌈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r>
              <a:rPr lang="en-US" altLang="ko-KR" dirty="0" smtClean="0"/>
              <a:t>Light-</a:t>
            </a:r>
            <a:r>
              <a:rPr lang="en-US" altLang="ko-KR" dirty="0"/>
              <a:t>W</a:t>
            </a:r>
            <a:r>
              <a:rPr lang="en-US" altLang="ko-KR" dirty="0" smtClean="0"/>
              <a:t>eight Process</a:t>
            </a:r>
          </a:p>
          <a:p>
            <a:pPr lvl="1"/>
            <a:r>
              <a:rPr lang="ko-KR" altLang="en-US" dirty="0" smtClean="0"/>
              <a:t>일부</a:t>
            </a:r>
            <a:r>
              <a:rPr lang="en-US" altLang="ko-KR" dirty="0" smtClean="0"/>
              <a:t> </a:t>
            </a:r>
            <a:r>
              <a:rPr lang="ko-KR" altLang="en-US" dirty="0" smtClean="0"/>
              <a:t>유닉스 시스템과 </a:t>
            </a:r>
            <a:r>
              <a:rPr lang="ko-KR" altLang="en-US" dirty="0" err="1" smtClean="0"/>
              <a:t>솔라리스</a:t>
            </a:r>
            <a:r>
              <a:rPr lang="ko-KR" altLang="en-US" dirty="0" smtClean="0"/>
              <a:t> 시스템에서 지원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LWP</a:t>
            </a:r>
            <a:r>
              <a:rPr lang="ko-KR" altLang="en-US" dirty="0" smtClean="0"/>
              <a:t>는 하나의 </a:t>
            </a:r>
            <a:r>
              <a:rPr lang="ko-KR" altLang="en-US" dirty="0" err="1" smtClean="0"/>
              <a:t>커널</a:t>
            </a:r>
            <a:r>
              <a:rPr lang="ko-KR" altLang="en-US" dirty="0" smtClean="0"/>
              <a:t>  </a:t>
            </a:r>
            <a:r>
              <a:rPr lang="ko-KR" altLang="en-US" dirty="0" err="1" smtClean="0"/>
              <a:t>스레드와</a:t>
            </a:r>
            <a:r>
              <a:rPr lang="ko-KR" altLang="en-US" dirty="0" smtClean="0"/>
              <a:t> 프로세스 주소공간을 공유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하지만 완전히 별개의 프로세스로 처리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프로세스에 비해 </a:t>
            </a:r>
            <a:r>
              <a:rPr lang="ko-KR" altLang="en-US" dirty="0" err="1" smtClean="0"/>
              <a:t>컨텍스트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스위칭</a:t>
            </a:r>
            <a:r>
              <a:rPr lang="ko-KR" altLang="en-US" dirty="0" smtClean="0"/>
              <a:t> 비용이 저렴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r>
              <a:rPr lang="en-US" altLang="ko-KR" dirty="0" smtClean="0"/>
              <a:t>Thread</a:t>
            </a:r>
          </a:p>
          <a:p>
            <a:pPr lvl="1"/>
            <a:r>
              <a:rPr lang="ko-KR" altLang="en-US" dirty="0" smtClean="0"/>
              <a:t>하나의 프로세스 내부에 독립적으로 동작하는 작은 단위의 작업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모든 것을 공유하며 단지 명령어 처리 공간만 독립적으로 사용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잘못된 설계로 프로세스 내부를 손상시킬 가능성이 있지만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err="1" smtClean="0"/>
              <a:t>컨텍스트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스위칭</a:t>
            </a:r>
            <a:r>
              <a:rPr lang="ko-KR" altLang="en-US" dirty="0" smtClean="0"/>
              <a:t> 비용이 가장 저렴</a:t>
            </a: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234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5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Multitasking</a:t>
            </a:r>
            <a:endParaRPr lang="ko-KR" altLang="en-US" dirty="0"/>
          </a:p>
        </p:txBody>
      </p:sp>
      <p:sp>
        <p:nvSpPr>
          <p:cNvPr id="5" name="모서리가 둥근 직사각형 4"/>
          <p:cNvSpPr/>
          <p:nvPr/>
        </p:nvSpPr>
        <p:spPr>
          <a:xfrm>
            <a:off x="811530" y="1924050"/>
            <a:ext cx="7520940" cy="1257300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dirty="0" smtClean="0"/>
              <a:t>Process A</a:t>
            </a:r>
            <a:endParaRPr lang="ko-KR" altLang="en-US" dirty="0"/>
          </a:p>
        </p:txBody>
      </p:sp>
      <p:sp>
        <p:nvSpPr>
          <p:cNvPr id="6" name="모서리가 둥근 직사각형 5"/>
          <p:cNvSpPr/>
          <p:nvPr/>
        </p:nvSpPr>
        <p:spPr>
          <a:xfrm>
            <a:off x="811530" y="3436620"/>
            <a:ext cx="7520940" cy="2339340"/>
          </a:xfrm>
          <a:prstGeom prst="roundRect">
            <a:avLst>
              <a:gd name="adj" fmla="val 11781"/>
            </a:avLst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dirty="0" smtClean="0"/>
              <a:t>Process B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1154430" y="3935730"/>
            <a:ext cx="6858000" cy="41529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dirty="0" smtClean="0"/>
              <a:t>main thread</a:t>
            </a:r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2606040" y="4503420"/>
            <a:ext cx="3429000" cy="41529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dirty="0" smtClean="0"/>
              <a:t>thread 1</a:t>
            </a:r>
            <a:endParaRPr lang="ko-KR" alt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2868930" y="5071110"/>
            <a:ext cx="1714500" cy="41529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dirty="0" smtClean="0"/>
              <a:t>thread 2</a:t>
            </a:r>
            <a:endParaRPr lang="ko-KR" altLang="en-US" dirty="0"/>
          </a:p>
        </p:txBody>
      </p:sp>
      <p:sp>
        <p:nvSpPr>
          <p:cNvPr id="11" name="직사각형 10"/>
          <p:cNvSpPr/>
          <p:nvPr/>
        </p:nvSpPr>
        <p:spPr>
          <a:xfrm>
            <a:off x="5528310" y="5071110"/>
            <a:ext cx="2004060" cy="41529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dirty="0" smtClean="0"/>
              <a:t>thread 2</a:t>
            </a:r>
            <a:endParaRPr lang="ko-KR" alt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1143000" y="2447925"/>
            <a:ext cx="6858000" cy="41529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dirty="0" smtClean="0"/>
              <a:t>main thread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19129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ANR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Performance vs. Responsiveness</a:t>
            </a:r>
          </a:p>
          <a:p>
            <a:pPr lvl="1"/>
            <a:r>
              <a:rPr lang="ko-KR" altLang="en-US" dirty="0" smtClean="0"/>
              <a:t>최신</a:t>
            </a:r>
            <a:r>
              <a:rPr lang="en-US" altLang="ko-KR" dirty="0" smtClean="0"/>
              <a:t> UI</a:t>
            </a:r>
            <a:r>
              <a:rPr lang="ko-KR" altLang="en-US" dirty="0" smtClean="0"/>
              <a:t>는 </a:t>
            </a:r>
            <a:r>
              <a:rPr lang="ko-KR" altLang="en-US" dirty="0" err="1" smtClean="0"/>
              <a:t>반응성을</a:t>
            </a:r>
            <a:r>
              <a:rPr lang="ko-KR" altLang="en-US" dirty="0" smtClean="0"/>
              <a:t> 중시하는 추세</a:t>
            </a:r>
            <a:endParaRPr lang="en-US" altLang="ko-KR" dirty="0" smtClean="0"/>
          </a:p>
          <a:p>
            <a:pPr lvl="1"/>
            <a:r>
              <a:rPr lang="ko-KR" altLang="en-US" dirty="0" err="1" smtClean="0"/>
              <a:t>모바일</a:t>
            </a:r>
            <a:r>
              <a:rPr lang="ko-KR" altLang="en-US" dirty="0" smtClean="0"/>
              <a:t> 장비는 이동 중에 수시로 사용</a:t>
            </a:r>
            <a:r>
              <a:rPr lang="en-US" altLang="ko-KR" dirty="0" smtClean="0"/>
              <a:t>, </a:t>
            </a:r>
            <a:r>
              <a:rPr lang="ko-KR" altLang="en-US" dirty="0" smtClean="0"/>
              <a:t>접근 시점이 매우 불규칙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 smtClean="0"/>
              <a:t>→ 최대한의 신속한 반응이 중요</a:t>
            </a:r>
            <a:endParaRPr lang="en-US" altLang="ko-KR" dirty="0" smtClean="0"/>
          </a:p>
          <a:p>
            <a:pPr lvl="1"/>
            <a:r>
              <a:rPr lang="ko-KR" altLang="en-US" dirty="0" err="1" smtClean="0"/>
              <a:t>안드로이드</a:t>
            </a:r>
            <a:r>
              <a:rPr lang="ko-KR" altLang="en-US" dirty="0" smtClean="0"/>
              <a:t> 시스템은 수행되고 있는 어플리케이션들의 </a:t>
            </a:r>
            <a:r>
              <a:rPr lang="ko-KR" altLang="en-US" dirty="0" err="1" smtClean="0"/>
              <a:t>반응성을</a:t>
            </a:r>
            <a:r>
              <a:rPr lang="ko-KR" altLang="en-US" dirty="0" smtClean="0"/>
              <a:t> 수시로 확인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반응이 없을 경우 즉시 사용자에게 통보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r>
              <a:rPr lang="en-US" altLang="ko-KR" dirty="0" smtClean="0"/>
              <a:t>Application Not Responding</a:t>
            </a:r>
          </a:p>
          <a:p>
            <a:pPr lvl="1"/>
            <a:r>
              <a:rPr lang="ko-KR" altLang="en-US" dirty="0" smtClean="0"/>
              <a:t>반응이 없는 어플리케이션의 상태를 사용자에게 보고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Activity</a:t>
            </a:r>
            <a:r>
              <a:rPr lang="ko-KR" altLang="en-US" dirty="0" smtClean="0"/>
              <a:t>가 </a:t>
            </a:r>
            <a:r>
              <a:rPr lang="en-US" altLang="ko-KR" dirty="0" smtClean="0"/>
              <a:t>5</a:t>
            </a:r>
            <a:r>
              <a:rPr lang="ko-KR" altLang="en-US" dirty="0" smtClean="0"/>
              <a:t>초 이상 사용자의 입력에 반응하지 않을 때</a:t>
            </a:r>
            <a:endParaRPr lang="en-US" altLang="ko-KR" dirty="0" smtClean="0"/>
          </a:p>
          <a:p>
            <a:pPr lvl="2"/>
            <a:r>
              <a:rPr lang="en-US" altLang="ko-KR" dirty="0" err="1" smtClean="0"/>
              <a:t>BroadcastReceiver</a:t>
            </a:r>
            <a:r>
              <a:rPr lang="ko-KR" altLang="en-US" dirty="0" smtClean="0"/>
              <a:t>가 </a:t>
            </a:r>
            <a:r>
              <a:rPr lang="en-US" altLang="ko-KR" dirty="0" smtClean="0"/>
              <a:t>10</a:t>
            </a:r>
            <a:r>
              <a:rPr lang="ko-KR" altLang="en-US" dirty="0" smtClean="0"/>
              <a:t>초 내로 </a:t>
            </a:r>
            <a:r>
              <a:rPr lang="ko-KR" altLang="en-US" dirty="0" err="1" smtClean="0"/>
              <a:t>리턴하지</a:t>
            </a:r>
            <a:r>
              <a:rPr lang="ko-KR" altLang="en-US" dirty="0" smtClean="0"/>
              <a:t> 않을 때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사용자는 </a:t>
            </a:r>
            <a:r>
              <a:rPr lang="en-US" altLang="ko-KR" dirty="0" smtClean="0"/>
              <a:t>ANR </a:t>
            </a:r>
            <a:r>
              <a:rPr lang="ko-KR" altLang="en-US" dirty="0" smtClean="0"/>
              <a:t>대화상자에서 강제 종료할 것인지 좀 더 대기할 것인지 선택 가능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최대한 사용자의 입력에 바로 반응하는 것이 중요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긴 작업은 백그라운드 </a:t>
            </a:r>
            <a:r>
              <a:rPr lang="ko-KR" altLang="en-US" dirty="0" err="1" smtClean="0"/>
              <a:t>스레드로</a:t>
            </a:r>
            <a:r>
              <a:rPr lang="ko-KR" altLang="en-US" dirty="0" smtClean="0"/>
              <a:t> 분리하는 것이 필수</a:t>
            </a: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9585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Thread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Multi-threading</a:t>
            </a:r>
          </a:p>
          <a:p>
            <a:pPr lvl="1"/>
            <a:r>
              <a:rPr lang="ko-KR" altLang="en-US" dirty="0" err="1" smtClean="0"/>
              <a:t>리눅스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커널과</a:t>
            </a:r>
            <a:r>
              <a:rPr lang="ko-KR" altLang="en-US" dirty="0" smtClean="0"/>
              <a:t> 가상 </a:t>
            </a:r>
            <a:r>
              <a:rPr lang="ko-KR" altLang="en-US" dirty="0" err="1" smtClean="0"/>
              <a:t>머신이</a:t>
            </a:r>
            <a:r>
              <a:rPr lang="ko-KR" altLang="en-US" dirty="0" smtClean="0"/>
              <a:t> 기본적으로 </a:t>
            </a:r>
            <a:r>
              <a:rPr lang="ko-KR" altLang="en-US" dirty="0" err="1" smtClean="0"/>
              <a:t>멀티스레딩을</a:t>
            </a:r>
            <a:r>
              <a:rPr lang="ko-KR" altLang="en-US" dirty="0" smtClean="0"/>
              <a:t> 지원 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iOS</a:t>
            </a:r>
            <a:r>
              <a:rPr lang="ko-KR" altLang="en-US" dirty="0" smtClean="0"/>
              <a:t>와의 가장 큰 차이점</a:t>
            </a:r>
            <a:r>
              <a:rPr lang="en-US" altLang="ko-KR" dirty="0" smtClean="0"/>
              <a:t>)</a:t>
            </a:r>
          </a:p>
          <a:p>
            <a:pPr lvl="1"/>
            <a:r>
              <a:rPr lang="ko-KR" altLang="en-US" dirty="0" smtClean="0"/>
              <a:t>백그라운드 작업 수행이 용이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자바의 </a:t>
            </a:r>
            <a:r>
              <a:rPr lang="ko-KR" altLang="en-US" dirty="0" err="1" smtClean="0"/>
              <a:t>스레드</a:t>
            </a:r>
            <a:r>
              <a:rPr lang="ko-KR" altLang="en-US" dirty="0" smtClean="0"/>
              <a:t> 구문을 사용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r>
              <a:rPr lang="ko-KR" altLang="en-US" dirty="0" smtClean="0"/>
              <a:t>구현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Thread </a:t>
            </a:r>
            <a:r>
              <a:rPr lang="ko-KR" altLang="en-US" dirty="0" smtClean="0"/>
              <a:t>클래스를 상속하여 구현하거나 </a:t>
            </a:r>
            <a:r>
              <a:rPr lang="en-US" altLang="ko-KR" dirty="0" smtClean="0"/>
              <a:t>Runnable </a:t>
            </a:r>
            <a:r>
              <a:rPr lang="ko-KR" altLang="en-US" dirty="0" smtClean="0"/>
              <a:t>인터페이스를 상속하여 구현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메인 </a:t>
            </a:r>
            <a:r>
              <a:rPr lang="ko-KR" altLang="en-US" dirty="0" err="1"/>
              <a:t>스레드를</a:t>
            </a:r>
            <a:r>
              <a:rPr lang="ko-KR" altLang="en-US" dirty="0"/>
              <a:t> 제외한 모든 </a:t>
            </a:r>
            <a:r>
              <a:rPr lang="ko-KR" altLang="en-US" dirty="0" err="1"/>
              <a:t>스레드는</a:t>
            </a:r>
            <a:r>
              <a:rPr lang="ko-KR" altLang="en-US" dirty="0"/>
              <a:t> </a:t>
            </a:r>
            <a:r>
              <a:rPr lang="en-US" altLang="ko-KR" dirty="0"/>
              <a:t>View</a:t>
            </a:r>
            <a:r>
              <a:rPr lang="ko-KR" altLang="en-US" dirty="0"/>
              <a:t>를 직접적으로 조작할 수 </a:t>
            </a:r>
            <a:r>
              <a:rPr lang="ko-KR" altLang="en-US" dirty="0" smtClean="0"/>
              <a:t>없음</a:t>
            </a:r>
            <a:endParaRPr lang="en-US" altLang="ko-KR" dirty="0" smtClean="0"/>
          </a:p>
          <a:p>
            <a:pPr lvl="1"/>
            <a:r>
              <a:rPr lang="en-US" altLang="ko-KR" dirty="0"/>
              <a:t>Handler </a:t>
            </a:r>
            <a:r>
              <a:rPr lang="ko-KR" altLang="en-US" dirty="0"/>
              <a:t>클래스를 통하여 </a:t>
            </a:r>
            <a:r>
              <a:rPr lang="ko-KR" altLang="en-US" dirty="0" err="1"/>
              <a:t>스레드간</a:t>
            </a:r>
            <a:r>
              <a:rPr lang="ko-KR" altLang="en-US" dirty="0"/>
              <a:t> 메시지를 </a:t>
            </a:r>
            <a:r>
              <a:rPr lang="ko-KR" altLang="en-US" dirty="0" smtClean="0"/>
              <a:t>전달하는 방법으로 </a:t>
            </a:r>
            <a:r>
              <a:rPr lang="en-US" altLang="ko-KR" dirty="0" smtClean="0"/>
              <a:t>View</a:t>
            </a:r>
            <a:r>
              <a:rPr lang="ko-KR" altLang="en-US" dirty="0" smtClean="0"/>
              <a:t>를 갱신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6430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AsyncTask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 smtClean="0"/>
              <a:t>Thread + Handler + Helper</a:t>
            </a:r>
          </a:p>
          <a:p>
            <a:pPr lvl="1"/>
            <a:r>
              <a:rPr lang="ko-KR" altLang="en-US" dirty="0" smtClean="0"/>
              <a:t>백그라운드 작업을 위해 </a:t>
            </a:r>
            <a:r>
              <a:rPr lang="ko-KR" altLang="en-US" dirty="0" err="1" smtClean="0"/>
              <a:t>스레드와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핸들러를</a:t>
            </a:r>
            <a:r>
              <a:rPr lang="ko-KR" altLang="en-US" dirty="0" smtClean="0"/>
              <a:t> 만들고 관리하는 것을 대신 수행하는 도우미 클래스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필요할 때마다 메인 </a:t>
            </a:r>
            <a:r>
              <a:rPr lang="ko-KR" altLang="en-US" dirty="0" err="1" smtClean="0"/>
              <a:t>스레드에서</a:t>
            </a:r>
            <a:r>
              <a:rPr lang="ko-KR" altLang="en-US" dirty="0" smtClean="0"/>
              <a:t> 호출하여 사용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r>
              <a:rPr lang="en-US" altLang="ko-KR" dirty="0" err="1"/>
              <a:t>AsyncTask</a:t>
            </a:r>
            <a:r>
              <a:rPr lang="en-US" altLang="ko-KR" dirty="0"/>
              <a:t> </a:t>
            </a:r>
            <a:r>
              <a:rPr lang="ko-KR" altLang="en-US" dirty="0"/>
              <a:t>클래스를 상속하여 </a:t>
            </a:r>
            <a:r>
              <a:rPr lang="ko-KR" altLang="en-US" dirty="0" err="1"/>
              <a:t>콜백</a:t>
            </a:r>
            <a:r>
              <a:rPr lang="ko-KR" altLang="en-US" dirty="0"/>
              <a:t> </a:t>
            </a:r>
            <a:r>
              <a:rPr lang="ko-KR" altLang="en-US" dirty="0" err="1"/>
              <a:t>메서드를</a:t>
            </a:r>
            <a:r>
              <a:rPr lang="ko-KR" altLang="en-US" dirty="0"/>
              <a:t> </a:t>
            </a:r>
            <a:r>
              <a:rPr lang="ko-KR" altLang="en-US" dirty="0" smtClean="0"/>
              <a:t>구현</a:t>
            </a:r>
            <a:endParaRPr lang="en-US" altLang="ko-KR" dirty="0"/>
          </a:p>
          <a:p>
            <a:pPr lvl="1"/>
            <a:r>
              <a:rPr lang="en-US" altLang="ko-KR" dirty="0" smtClean="0"/>
              <a:t>void </a:t>
            </a:r>
            <a:r>
              <a:rPr lang="en-US" altLang="ko-KR" dirty="0" err="1" smtClean="0"/>
              <a:t>onPreExecute</a:t>
            </a:r>
            <a:r>
              <a:rPr lang="en-US" altLang="ko-KR" dirty="0" smtClean="0"/>
              <a:t>()</a:t>
            </a:r>
          </a:p>
          <a:p>
            <a:pPr marL="914400" lvl="2" indent="0">
              <a:buNone/>
            </a:pPr>
            <a:r>
              <a:rPr lang="ko-KR" altLang="en-US" dirty="0" smtClean="0"/>
              <a:t>작업을 준비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Result </a:t>
            </a:r>
            <a:r>
              <a:rPr lang="en-US" altLang="ko-KR" dirty="0" err="1" smtClean="0"/>
              <a:t>doInBackground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Params</a:t>
            </a:r>
            <a:r>
              <a:rPr lang="en-US" altLang="ko-KR" dirty="0" smtClean="0"/>
              <a:t>… par)</a:t>
            </a:r>
          </a:p>
          <a:p>
            <a:pPr marL="914400" lvl="2" indent="0">
              <a:buNone/>
            </a:pPr>
            <a:r>
              <a:rPr lang="ko-KR" altLang="en-US" dirty="0" smtClean="0"/>
              <a:t>백그라운드 작업을 수행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void </a:t>
            </a:r>
            <a:r>
              <a:rPr lang="en-US" altLang="ko-KR" dirty="0" err="1" smtClean="0"/>
              <a:t>onProgressUpdate</a:t>
            </a:r>
            <a:r>
              <a:rPr lang="en-US" altLang="ko-KR" dirty="0" smtClean="0"/>
              <a:t>(Progress… </a:t>
            </a:r>
            <a:r>
              <a:rPr lang="en-US" altLang="ko-KR" dirty="0" err="1" smtClean="0"/>
              <a:t>val</a:t>
            </a:r>
            <a:r>
              <a:rPr lang="en-US" altLang="ko-KR" dirty="0" smtClean="0"/>
              <a:t>)</a:t>
            </a:r>
          </a:p>
          <a:p>
            <a:pPr marL="914400" lvl="2" indent="0">
              <a:buNone/>
            </a:pPr>
            <a:r>
              <a:rPr lang="ko-KR" altLang="en-US" dirty="0" smtClean="0"/>
              <a:t>진행상황 표시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void </a:t>
            </a:r>
            <a:r>
              <a:rPr lang="en-US" altLang="ko-KR" dirty="0" err="1" smtClean="0"/>
              <a:t>onPostExecute</a:t>
            </a:r>
            <a:r>
              <a:rPr lang="en-US" altLang="ko-KR" dirty="0" smtClean="0"/>
              <a:t>(Result res)</a:t>
            </a:r>
          </a:p>
          <a:p>
            <a:pPr marL="914400" lvl="2" indent="0">
              <a:buNone/>
            </a:pPr>
            <a:r>
              <a:rPr lang="ko-KR" altLang="en-US" dirty="0" smtClean="0"/>
              <a:t>작업이 끝난 후 마무리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void </a:t>
            </a:r>
            <a:r>
              <a:rPr lang="en-US" altLang="ko-KR" dirty="0" err="1" smtClean="0"/>
              <a:t>onCancelled</a:t>
            </a:r>
            <a:r>
              <a:rPr lang="en-US" altLang="ko-KR" dirty="0" smtClean="0"/>
              <a:t>()</a:t>
            </a:r>
          </a:p>
          <a:p>
            <a:pPr marL="914400" lvl="2" indent="0">
              <a:buNone/>
            </a:pPr>
            <a:r>
              <a:rPr lang="ko-KR" altLang="en-US" dirty="0" smtClean="0"/>
              <a:t>작업을 취소했을 경우 정리</a:t>
            </a: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774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97584" y="2039455"/>
            <a:ext cx="5272899" cy="44550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&lt;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  <a:cs typeface="Times New Roman" panose="02020603050405020304" pitchFamily="18" charset="0"/>
              </a:rPr>
              <a:t>LinearLayout 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  <a:cs typeface="Times New Roman" panose="02020603050405020304" pitchFamily="18" charset="0"/>
              </a:rPr>
              <a:t>xmlns: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  <a:cs typeface="Times New Roman" panose="02020603050405020304" pitchFamily="18" charset="0"/>
              </a:rPr>
              <a:t>android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  <a:cs typeface="Times New Roman" panose="02020603050405020304" pitchFamily="18" charset="0"/>
              </a:rPr>
              <a:t>=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  <a:cs typeface="Times New Roman" panose="02020603050405020304" pitchFamily="18" charset="0"/>
              </a:rPr>
              <a:t>"http://schemas.android.com/apk/res/android"</a:t>
            </a:r>
            <a:b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  <a:cs typeface="Times New Roman" panose="02020603050405020304" pitchFamily="18" charset="0"/>
              </a:rPr>
            </a:b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  <a:cs typeface="Times New Roman" panose="02020603050405020304" pitchFamily="18" charset="0"/>
              </a:rPr>
              <a:t>    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  <a:cs typeface="Times New Roman" panose="02020603050405020304" pitchFamily="18" charset="0"/>
              </a:rPr>
              <a:t>xmlns: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  <a:cs typeface="Times New Roman" panose="02020603050405020304" pitchFamily="18" charset="0"/>
              </a:rPr>
              <a:t>tools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  <a:cs typeface="Times New Roman" panose="02020603050405020304" pitchFamily="18" charset="0"/>
              </a:rPr>
              <a:t>=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  <a:cs typeface="Times New Roman" panose="02020603050405020304" pitchFamily="18" charset="0"/>
              </a:rPr>
              <a:t>"http://schemas.android.com/tools"</a:t>
            </a:r>
            <a:b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  <a:cs typeface="Times New Roman" panose="02020603050405020304" pitchFamily="18" charset="0"/>
              </a:rPr>
            </a:b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  <a:cs typeface="Times New Roman" panose="02020603050405020304" pitchFamily="18" charset="0"/>
              </a:rPr>
              <a:t>    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  <a:cs typeface="Times New Roman" panose="02020603050405020304" pitchFamily="18" charset="0"/>
              </a:rPr>
              <a:t>android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  <a:cs typeface="Times New Roman" panose="02020603050405020304" pitchFamily="18" charset="0"/>
              </a:rPr>
              <a:t>:orientation=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  <a:cs typeface="Times New Roman" panose="02020603050405020304" pitchFamily="18" charset="0"/>
              </a:rPr>
              <a:t>"vertical"</a:t>
            </a:r>
            <a:b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  <a:cs typeface="Times New Roman" panose="02020603050405020304" pitchFamily="18" charset="0"/>
              </a:rPr>
            </a:b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  <a:cs typeface="Times New Roman" panose="02020603050405020304" pitchFamily="18" charset="0"/>
              </a:rPr>
              <a:t>    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  <a:cs typeface="Times New Roman" panose="02020603050405020304" pitchFamily="18" charset="0"/>
              </a:rPr>
              <a:t>android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  <a:cs typeface="Times New Roman" panose="02020603050405020304" pitchFamily="18" charset="0"/>
              </a:rPr>
              <a:t>:layout_width=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  <a:cs typeface="Times New Roman" panose="02020603050405020304" pitchFamily="18" charset="0"/>
              </a:rPr>
              <a:t>"match_parent"</a:t>
            </a:r>
            <a:b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  <a:cs typeface="Times New Roman" panose="02020603050405020304" pitchFamily="18" charset="0"/>
              </a:rPr>
            </a:b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  <a:cs typeface="Times New Roman" panose="02020603050405020304" pitchFamily="18" charset="0"/>
              </a:rPr>
              <a:t>    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  <a:cs typeface="Times New Roman" panose="02020603050405020304" pitchFamily="18" charset="0"/>
              </a:rPr>
              <a:t>android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  <a:cs typeface="Times New Roman" panose="02020603050405020304" pitchFamily="18" charset="0"/>
              </a:rPr>
              <a:t>:layout_height=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  <a:cs typeface="Times New Roman" panose="02020603050405020304" pitchFamily="18" charset="0"/>
              </a:rPr>
              <a:t>"match_parent"</a:t>
            </a: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&gt;</a:t>
            </a:r>
            <a:b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</a:b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/>
            </a:r>
            <a:b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</a:b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    &lt;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  <a:cs typeface="Times New Roman" panose="02020603050405020304" pitchFamily="18" charset="0"/>
              </a:rPr>
              <a:t>Button</a:t>
            </a:r>
            <a:b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  <a:cs typeface="Times New Roman" panose="02020603050405020304" pitchFamily="18" charset="0"/>
              </a:rPr>
            </a:b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  <a:cs typeface="Times New Roman" panose="02020603050405020304" pitchFamily="18" charset="0"/>
              </a:rPr>
              <a:t>        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  <a:cs typeface="Times New Roman" panose="02020603050405020304" pitchFamily="18" charset="0"/>
              </a:rPr>
              <a:t>android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  <a:cs typeface="Times New Roman" panose="02020603050405020304" pitchFamily="18" charset="0"/>
              </a:rPr>
              <a:t>:id=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  <a:cs typeface="Times New Roman" panose="02020603050405020304" pitchFamily="18" charset="0"/>
              </a:rPr>
              <a:t>"@+id/button1"</a:t>
            </a:r>
            <a:b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  <a:cs typeface="Times New Roman" panose="02020603050405020304" pitchFamily="18" charset="0"/>
              </a:rPr>
            </a:b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  <a:cs typeface="Times New Roman" panose="02020603050405020304" pitchFamily="18" charset="0"/>
              </a:rPr>
              <a:t>        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  <a:cs typeface="Times New Roman" panose="02020603050405020304" pitchFamily="18" charset="0"/>
              </a:rPr>
              <a:t>android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  <a:cs typeface="Times New Roman" panose="02020603050405020304" pitchFamily="18" charset="0"/>
              </a:rPr>
              <a:t>:layout_width=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  <a:cs typeface="Times New Roman" panose="02020603050405020304" pitchFamily="18" charset="0"/>
              </a:rPr>
              <a:t>"match_parent"</a:t>
            </a:r>
            <a:b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  <a:cs typeface="Times New Roman" panose="02020603050405020304" pitchFamily="18" charset="0"/>
              </a:rPr>
            </a:b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  <a:cs typeface="Times New Roman" panose="02020603050405020304" pitchFamily="18" charset="0"/>
              </a:rPr>
              <a:t>        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  <a:cs typeface="Times New Roman" panose="02020603050405020304" pitchFamily="18" charset="0"/>
              </a:rPr>
              <a:t>android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  <a:cs typeface="Times New Roman" panose="02020603050405020304" pitchFamily="18" charset="0"/>
              </a:rPr>
              <a:t>:layout_height=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  <a:cs typeface="Times New Roman" panose="02020603050405020304" pitchFamily="18" charset="0"/>
              </a:rPr>
              <a:t>"wrap_content"</a:t>
            </a:r>
            <a:b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  <a:cs typeface="Times New Roman" panose="02020603050405020304" pitchFamily="18" charset="0"/>
              </a:rPr>
            </a:b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  <a:cs typeface="Times New Roman" panose="02020603050405020304" pitchFamily="18" charset="0"/>
              </a:rPr>
              <a:t>        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  <a:cs typeface="Times New Roman" panose="02020603050405020304" pitchFamily="18" charset="0"/>
              </a:rPr>
              <a:t>android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  <a:cs typeface="Times New Roman" panose="02020603050405020304" pitchFamily="18" charset="0"/>
              </a:rPr>
              <a:t>:text=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  <a:cs typeface="Times New Roman" panose="02020603050405020304" pitchFamily="18" charset="0"/>
              </a:rPr>
              <a:t>"작업 시작!"</a:t>
            </a:r>
            <a:b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  <a:cs typeface="Times New Roman" panose="02020603050405020304" pitchFamily="18" charset="0"/>
              </a:rPr>
            </a:b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  <a:cs typeface="Times New Roman" panose="02020603050405020304" pitchFamily="18" charset="0"/>
              </a:rPr>
              <a:t>        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  <a:cs typeface="Times New Roman" panose="02020603050405020304" pitchFamily="18" charset="0"/>
              </a:rPr>
              <a:t>android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  <a:cs typeface="Times New Roman" panose="02020603050405020304" pitchFamily="18" charset="0"/>
              </a:rPr>
              <a:t>:onClick=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  <a:cs typeface="Times New Roman" panose="02020603050405020304" pitchFamily="18" charset="0"/>
              </a:rPr>
              <a:t>"</a:t>
            </a:r>
            <a:r>
              <a:rPr lang="ko-KR" altLang="ko-KR" sz="1050" b="1" dirty="0" smtClean="0">
                <a:solidFill>
                  <a:srgbClr val="008000"/>
                </a:solidFill>
                <a:latin typeface="+mn-ea"/>
                <a:cs typeface="Times New Roman" panose="02020603050405020304" pitchFamily="18" charset="0"/>
              </a:rPr>
              <a:t>startWork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  <a:cs typeface="Times New Roman" panose="02020603050405020304" pitchFamily="18" charset="0"/>
              </a:rPr>
              <a:t>"</a:t>
            </a: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/&gt;</a:t>
            </a:r>
            <a:b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</a:b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/>
            </a:r>
            <a:b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</a:b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    &lt;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  <a:cs typeface="Times New Roman" panose="02020603050405020304" pitchFamily="18" charset="0"/>
              </a:rPr>
              <a:t>Button</a:t>
            </a:r>
            <a:b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  <a:cs typeface="Times New Roman" panose="02020603050405020304" pitchFamily="18" charset="0"/>
              </a:rPr>
            </a:b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  <a:cs typeface="Times New Roman" panose="02020603050405020304" pitchFamily="18" charset="0"/>
              </a:rPr>
              <a:t>        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  <a:cs typeface="Times New Roman" panose="02020603050405020304" pitchFamily="18" charset="0"/>
              </a:rPr>
              <a:t>android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  <a:cs typeface="Times New Roman" panose="02020603050405020304" pitchFamily="18" charset="0"/>
              </a:rPr>
              <a:t>:id=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  <a:cs typeface="Times New Roman" panose="02020603050405020304" pitchFamily="18" charset="0"/>
              </a:rPr>
              <a:t>"@+id/button2"</a:t>
            </a:r>
            <a:b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  <a:cs typeface="Times New Roman" panose="02020603050405020304" pitchFamily="18" charset="0"/>
              </a:rPr>
            </a:b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  <a:cs typeface="Times New Roman" panose="02020603050405020304" pitchFamily="18" charset="0"/>
              </a:rPr>
              <a:t>        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  <a:cs typeface="Times New Roman" panose="02020603050405020304" pitchFamily="18" charset="0"/>
              </a:rPr>
              <a:t>android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  <a:cs typeface="Times New Roman" panose="02020603050405020304" pitchFamily="18" charset="0"/>
              </a:rPr>
              <a:t>:layout_width=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  <a:cs typeface="Times New Roman" panose="02020603050405020304" pitchFamily="18" charset="0"/>
              </a:rPr>
              <a:t>"match_parent"</a:t>
            </a:r>
            <a:b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  <a:cs typeface="Times New Roman" panose="02020603050405020304" pitchFamily="18" charset="0"/>
              </a:rPr>
            </a:b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  <a:cs typeface="Times New Roman" panose="02020603050405020304" pitchFamily="18" charset="0"/>
              </a:rPr>
              <a:t>        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  <a:cs typeface="Times New Roman" panose="02020603050405020304" pitchFamily="18" charset="0"/>
              </a:rPr>
              <a:t>android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  <a:cs typeface="Times New Roman" panose="02020603050405020304" pitchFamily="18" charset="0"/>
              </a:rPr>
              <a:t>:layout_height=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  <a:cs typeface="Times New Roman" panose="02020603050405020304" pitchFamily="18" charset="0"/>
              </a:rPr>
              <a:t>"wrap_content"</a:t>
            </a:r>
            <a:b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  <a:cs typeface="Times New Roman" panose="02020603050405020304" pitchFamily="18" charset="0"/>
              </a:rPr>
            </a:b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  <a:cs typeface="Times New Roman" panose="02020603050405020304" pitchFamily="18" charset="0"/>
              </a:rPr>
              <a:t>        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  <a:cs typeface="Times New Roman" panose="02020603050405020304" pitchFamily="18" charset="0"/>
              </a:rPr>
              <a:t>android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  <a:cs typeface="Times New Roman" panose="02020603050405020304" pitchFamily="18" charset="0"/>
              </a:rPr>
              <a:t>:text=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  <a:cs typeface="Times New Roman" panose="02020603050405020304" pitchFamily="18" charset="0"/>
              </a:rPr>
              <a:t>"진행 상황 확인!"</a:t>
            </a:r>
            <a:b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  <a:cs typeface="Times New Roman" panose="02020603050405020304" pitchFamily="18" charset="0"/>
              </a:rPr>
            </a:b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  <a:cs typeface="Times New Roman" panose="02020603050405020304" pitchFamily="18" charset="0"/>
              </a:rPr>
              <a:t>        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  <a:cs typeface="Times New Roman" panose="02020603050405020304" pitchFamily="18" charset="0"/>
              </a:rPr>
              <a:t>android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  <a:cs typeface="Times New Roman" panose="02020603050405020304" pitchFamily="18" charset="0"/>
              </a:rPr>
              <a:t>:onClick=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  <a:cs typeface="Times New Roman" panose="02020603050405020304" pitchFamily="18" charset="0"/>
              </a:rPr>
              <a:t>"</a:t>
            </a:r>
            <a:r>
              <a:rPr lang="ko-KR" altLang="ko-KR" sz="1050" b="1" dirty="0" smtClean="0">
                <a:solidFill>
                  <a:srgbClr val="008000"/>
                </a:solidFill>
                <a:latin typeface="+mn-ea"/>
                <a:cs typeface="Times New Roman" panose="02020603050405020304" pitchFamily="18" charset="0"/>
              </a:rPr>
              <a:t>onClickButton"</a:t>
            </a: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/&gt;</a:t>
            </a:r>
            <a:b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</a:b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/>
            </a:r>
            <a:b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</a:b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    &lt;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  <a:cs typeface="Times New Roman" panose="02020603050405020304" pitchFamily="18" charset="0"/>
              </a:rPr>
              <a:t>TextView</a:t>
            </a:r>
            <a:b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  <a:cs typeface="Times New Roman" panose="02020603050405020304" pitchFamily="18" charset="0"/>
              </a:rPr>
            </a:b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  <a:cs typeface="Times New Roman" panose="02020603050405020304" pitchFamily="18" charset="0"/>
              </a:rPr>
              <a:t>        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  <a:cs typeface="Times New Roman" panose="02020603050405020304" pitchFamily="18" charset="0"/>
              </a:rPr>
              <a:t>android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  <a:cs typeface="Times New Roman" panose="02020603050405020304" pitchFamily="18" charset="0"/>
              </a:rPr>
              <a:t>:id=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  <a:cs typeface="Times New Roman" panose="02020603050405020304" pitchFamily="18" charset="0"/>
              </a:rPr>
              <a:t>"@+id/textView1"</a:t>
            </a:r>
            <a:b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  <a:cs typeface="Times New Roman" panose="02020603050405020304" pitchFamily="18" charset="0"/>
              </a:rPr>
            </a:b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  <a:cs typeface="Times New Roman" panose="02020603050405020304" pitchFamily="18" charset="0"/>
              </a:rPr>
              <a:t>        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  <a:cs typeface="Times New Roman" panose="02020603050405020304" pitchFamily="18" charset="0"/>
              </a:rPr>
              <a:t>android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  <a:cs typeface="Times New Roman" panose="02020603050405020304" pitchFamily="18" charset="0"/>
              </a:rPr>
              <a:t>:layout_width=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  <a:cs typeface="Times New Roman" panose="02020603050405020304" pitchFamily="18" charset="0"/>
              </a:rPr>
              <a:t>"match_parent"</a:t>
            </a:r>
            <a:b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  <a:cs typeface="Times New Roman" panose="02020603050405020304" pitchFamily="18" charset="0"/>
              </a:rPr>
            </a:b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  <a:cs typeface="Times New Roman" panose="02020603050405020304" pitchFamily="18" charset="0"/>
              </a:rPr>
              <a:t>        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  <a:cs typeface="Times New Roman" panose="02020603050405020304" pitchFamily="18" charset="0"/>
              </a:rPr>
              <a:t>android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  <a:cs typeface="Times New Roman" panose="02020603050405020304" pitchFamily="18" charset="0"/>
              </a:rPr>
              <a:t>:layout_height=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  <a:cs typeface="Times New Roman" panose="02020603050405020304" pitchFamily="18" charset="0"/>
              </a:rPr>
              <a:t>"wrap_content"</a:t>
            </a:r>
            <a:b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  <a:cs typeface="Times New Roman" panose="02020603050405020304" pitchFamily="18" charset="0"/>
              </a:rPr>
            </a:b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  <a:cs typeface="Times New Roman" panose="02020603050405020304" pitchFamily="18" charset="0"/>
              </a:rPr>
              <a:t>        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  <a:cs typeface="Times New Roman" panose="02020603050405020304" pitchFamily="18" charset="0"/>
              </a:rPr>
              <a:t>android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  <a:cs typeface="Times New Roman" panose="02020603050405020304" pitchFamily="18" charset="0"/>
              </a:rPr>
              <a:t>:text=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  <a:cs typeface="Times New Roman" panose="02020603050405020304" pitchFamily="18" charset="0"/>
              </a:rPr>
              <a:t>"출력" </a:t>
            </a: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/&gt;</a:t>
            </a:r>
            <a:b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</a:b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/>
            </a:r>
            <a:b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</a:b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&lt;/</a:t>
            </a:r>
            <a:r>
              <a:rPr kumimoji="0" lang="ko-KR" altLang="ko-KR" sz="105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  <a:cs typeface="Times New Roman" panose="02020603050405020304" pitchFamily="18" charset="0"/>
              </a:rPr>
              <a:t>LinearLayout</a:t>
            </a:r>
            <a:r>
              <a:rPr kumimoji="0" lang="ko-KR" altLang="ko-KR" sz="105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&gt;</a:t>
            </a:r>
            <a:endParaRPr kumimoji="0" lang="ko-KR" altLang="ko-K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9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Background Working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97584" y="1307689"/>
            <a:ext cx="3199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prstClr val="black"/>
                </a:solidFill>
              </a:rPr>
              <a:t>BackgroundTest_1</a:t>
            </a:r>
          </a:p>
          <a:p>
            <a:r>
              <a:rPr lang="en-US" altLang="ko-KR" dirty="0" smtClean="0">
                <a:solidFill>
                  <a:prstClr val="black"/>
                </a:solidFill>
              </a:rPr>
              <a:t>/res/layout/activity_main.xml</a:t>
            </a:r>
            <a:endParaRPr lang="ko-KR" altLang="en-US" dirty="0">
              <a:solidFill>
                <a:prstClr val="black"/>
              </a:solidFill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3218" y="1307689"/>
            <a:ext cx="2854166" cy="5318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970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10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Background Working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48706" y="1347890"/>
            <a:ext cx="21239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prstClr val="black"/>
                </a:solidFill>
              </a:rPr>
              <a:t>BackgroundTest_1</a:t>
            </a:r>
          </a:p>
          <a:p>
            <a:r>
              <a:rPr lang="en-US" altLang="ko-KR" dirty="0" smtClean="0">
                <a:solidFill>
                  <a:prstClr val="black"/>
                </a:solidFill>
              </a:rPr>
              <a:t>MainActivity.java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315961" y="2157749"/>
            <a:ext cx="6283018" cy="43396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int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mForeCount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=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0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int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mBackCount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=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0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boolean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mBreak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=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true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/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public void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onClickButton(View v) {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mForeCount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++;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String output =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"카운트 증가"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output +=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\n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ForeCount: "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+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mForeCount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output +=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\n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BackCount: "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+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mBackCount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TextView txt = (TextView)findViewById(R.id.</a:t>
            </a:r>
            <a:r>
              <a:rPr kumimoji="0" lang="ko-KR" altLang="ko-KR" sz="1200" b="1" i="1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textView1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);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txt.setText(output);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}</a:t>
            </a:r>
            <a:endParaRPr kumimoji="0" lang="en-US" altLang="ko-KR" sz="12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/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public void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startWork(View v) {</a:t>
            </a:r>
            <a:r>
              <a:rPr kumimoji="0" lang="en-US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	</a:t>
            </a:r>
            <a:r>
              <a:rPr kumimoji="0" lang="en-US" altLang="ko-KR" sz="1200" b="0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// ver1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/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mBreak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=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false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while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(!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mBreak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) {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mBackCount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++;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</a:t>
            </a:r>
            <a:r>
              <a:rPr kumimoji="0" lang="ko-KR" altLang="ko-KR" sz="1200" b="0" i="0" u="none" strike="noStrike" cap="none" normalizeH="0" baseline="0" dirty="0" err="1" smtClean="0">
                <a:ln>
                  <a:noFill/>
                </a:ln>
                <a:effectLst/>
                <a:latin typeface="+mn-ea"/>
              </a:rPr>
              <a:t>Log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effectLst/>
                <a:latin typeface="+mn-ea"/>
              </a:rPr>
              <a:t>.</a:t>
            </a:r>
            <a:r>
              <a:rPr kumimoji="0" lang="en-US" altLang="ko-KR" sz="1200" b="0" i="0" u="none" strike="noStrike" cap="none" normalizeH="0" baseline="0" dirty="0" smtClean="0">
                <a:ln>
                  <a:noFill/>
                </a:ln>
                <a:effectLst/>
                <a:latin typeface="+mn-ea"/>
              </a:rPr>
              <a:t>d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(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 Main : "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,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"BackCount: "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+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mBackCount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);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try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{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    Thread.</a:t>
            </a:r>
            <a:r>
              <a:rPr kumimoji="0" lang="ko-KR" altLang="ko-KR" sz="12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sleep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(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200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);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}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catch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(InterruptedException e) { ; }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}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}</a:t>
            </a:r>
            <a:endParaRPr kumimoji="0" lang="ko-KR" altLang="ko-KR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88810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11</a:t>
            </a:fld>
            <a:endParaRPr lang="ko-KR" altLang="en-US"/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ANR</a:t>
            </a:r>
            <a:endParaRPr lang="ko-KR" altLang="en-US" dirty="0"/>
          </a:p>
        </p:txBody>
      </p:sp>
      <p:sp>
        <p:nvSpPr>
          <p:cNvPr id="8" name="가로로 말린 두루마리 모양 7"/>
          <p:cNvSpPr/>
          <p:nvPr/>
        </p:nvSpPr>
        <p:spPr>
          <a:xfrm>
            <a:off x="388189" y="1767181"/>
            <a:ext cx="5408762" cy="1211580"/>
          </a:xfrm>
          <a:prstGeom prst="horizontalScroll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/>
              <a:t>‘</a:t>
            </a:r>
            <a:r>
              <a:rPr lang="ko-KR" altLang="en-US" dirty="0" smtClean="0"/>
              <a:t>작업 시작</a:t>
            </a:r>
            <a:r>
              <a:rPr lang="en-US" altLang="ko-KR" dirty="0" smtClean="0"/>
              <a:t>’</a:t>
            </a:r>
            <a:r>
              <a:rPr lang="ko-KR" altLang="en-US" dirty="0" smtClean="0"/>
              <a:t>을 누른</a:t>
            </a:r>
            <a:r>
              <a:rPr lang="en-US" altLang="ko-KR" dirty="0" smtClean="0"/>
              <a:t> </a:t>
            </a:r>
            <a:r>
              <a:rPr lang="ko-KR" altLang="en-US" dirty="0" smtClean="0"/>
              <a:t>후</a:t>
            </a:r>
            <a:r>
              <a:rPr lang="en-US" altLang="ko-KR" dirty="0" smtClean="0"/>
              <a:t>,  ‘</a:t>
            </a:r>
            <a:r>
              <a:rPr lang="ko-KR" altLang="en-US" dirty="0" smtClean="0"/>
              <a:t>진행상황확인</a:t>
            </a:r>
            <a:r>
              <a:rPr lang="en-US" altLang="ko-KR" dirty="0" smtClean="0"/>
              <a:t>!’</a:t>
            </a:r>
            <a:r>
              <a:rPr lang="ko-KR" altLang="en-US" dirty="0" smtClean="0"/>
              <a:t>을 천천히 몇 번  누르면서 </a:t>
            </a:r>
            <a:r>
              <a:rPr lang="ko-KR" altLang="en-US" dirty="0" err="1" smtClean="0"/>
              <a:t>반응성을</a:t>
            </a:r>
            <a:r>
              <a:rPr lang="ko-KR" altLang="en-US" dirty="0" smtClean="0"/>
              <a:t> 살펴보라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31227"/>
            <a:ext cx="9144000" cy="2431551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9443" y="914714"/>
            <a:ext cx="2225810" cy="4147443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1906438" y="5960853"/>
            <a:ext cx="1483743" cy="3019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378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697230" y="1779687"/>
            <a:ext cx="5602014" cy="50783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public void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startWork(View v) {</a:t>
            </a:r>
            <a:r>
              <a:rPr kumimoji="0" lang="en-US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	</a:t>
            </a:r>
            <a:r>
              <a:rPr kumimoji="0" lang="en-US" altLang="ko-KR" sz="1200" b="0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// ver2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/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if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(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mBreak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) {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mBreak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=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false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Button start = (Button)findViewById(R.id.</a:t>
            </a:r>
            <a:r>
              <a:rPr kumimoji="0" lang="ko-KR" altLang="ko-KR" sz="1200" b="1" i="1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button1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);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start.setText(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"작업 중지!"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);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/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BackCounter thread =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new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BackCounter();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thread.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setDaemon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(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true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);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thread.start();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/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}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else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{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mBreak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=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true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Button start = (Button)findViewById(R.id.</a:t>
            </a:r>
            <a:r>
              <a:rPr kumimoji="0" lang="ko-KR" altLang="ko-KR" sz="1200" b="1" i="1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button1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);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start.setText(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"작업 시작!"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);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}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}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/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class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BackCounter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extends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Thread {</a:t>
            </a:r>
            <a:r>
              <a:rPr kumimoji="0" lang="en-US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	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/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public void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run() {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while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(!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mBreak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) {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mBackCount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++;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    Log.</a:t>
            </a:r>
            <a:r>
              <a:rPr kumimoji="0" lang="en-US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d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(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"Main"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,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"BackCount: "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+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mBackCount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);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try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{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        Thread.</a:t>
            </a:r>
            <a:r>
              <a:rPr kumimoji="0" lang="ko-KR" altLang="ko-KR" sz="12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sleep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(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200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);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    }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catch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(InterruptedException e) { ; }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}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}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}</a:t>
            </a:r>
            <a:endParaRPr kumimoji="0" lang="ko-KR" altLang="ko-KR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232015"/>
            <a:ext cx="21239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prstClr val="black"/>
                </a:solidFill>
              </a:rPr>
              <a:t>BackgroundTest_1</a:t>
            </a:r>
          </a:p>
          <a:p>
            <a:r>
              <a:rPr lang="en-US" altLang="ko-KR" dirty="0" smtClean="0">
                <a:solidFill>
                  <a:prstClr val="black"/>
                </a:solidFill>
              </a:rPr>
              <a:t>MainActivity.java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12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Daemon Thread</a:t>
            </a:r>
            <a:endParaRPr lang="ko-KR" altLang="en-US" dirty="0"/>
          </a:p>
        </p:txBody>
      </p:sp>
      <p:sp>
        <p:nvSpPr>
          <p:cNvPr id="8" name="가로로 말린 두루마리 모양 7"/>
          <p:cNvSpPr/>
          <p:nvPr/>
        </p:nvSpPr>
        <p:spPr>
          <a:xfrm>
            <a:off x="5137138" y="2620439"/>
            <a:ext cx="3406140" cy="1211580"/>
          </a:xfrm>
          <a:prstGeom prst="horizontalScroll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/>
              <a:t>Daemon Thread:</a:t>
            </a:r>
          </a:p>
          <a:p>
            <a:r>
              <a:rPr lang="ko-KR" altLang="en-US" dirty="0"/>
              <a:t>호출한 주 </a:t>
            </a:r>
            <a:r>
              <a:rPr lang="ko-KR" altLang="en-US" dirty="0" err="1"/>
              <a:t>스레드가</a:t>
            </a:r>
            <a:r>
              <a:rPr lang="ko-KR" altLang="en-US" dirty="0"/>
              <a:t> 종료될 때</a:t>
            </a:r>
            <a:endParaRPr lang="en-US" altLang="ko-KR" dirty="0"/>
          </a:p>
          <a:p>
            <a:r>
              <a:rPr lang="ko-KR" altLang="en-US" dirty="0"/>
              <a:t>같이 종료되는 </a:t>
            </a:r>
            <a:r>
              <a:rPr lang="ko-KR" altLang="en-US" dirty="0" err="1"/>
              <a:t>스레드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4988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13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Daemon Thread</a:t>
            </a:r>
            <a:endParaRPr lang="ko-KR" altLang="en-US" dirty="0"/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3669362" y="6016881"/>
            <a:ext cx="4521200" cy="5588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altLang="ko-KR" dirty="0" smtClean="0"/>
              <a:t>Button </a:t>
            </a:r>
            <a:r>
              <a:rPr lang="ko-KR" altLang="en-US" dirty="0" smtClean="0"/>
              <a:t>클릭 시 진행 사항 반영</a:t>
            </a:r>
            <a:endParaRPr lang="en-US" altLang="ko-KR" dirty="0" smtClean="0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7" y="1391775"/>
            <a:ext cx="2415064" cy="4500086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2893" y="1409307"/>
            <a:ext cx="2418214" cy="4505956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4755" y="1391775"/>
            <a:ext cx="2415064" cy="4500086"/>
          </a:xfrm>
          <a:prstGeom prst="rect">
            <a:avLst/>
          </a:prstGeom>
        </p:spPr>
      </p:pic>
      <p:cxnSp>
        <p:nvCxnSpPr>
          <p:cNvPr id="15" name="직선 화살표 연결선 14"/>
          <p:cNvCxnSpPr/>
          <p:nvPr/>
        </p:nvCxnSpPr>
        <p:spPr>
          <a:xfrm flipH="1">
            <a:off x="1983860" y="2303252"/>
            <a:ext cx="216098" cy="18115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/>
          <p:nvPr/>
        </p:nvCxnSpPr>
        <p:spPr>
          <a:xfrm flipH="1">
            <a:off x="4821728" y="2570672"/>
            <a:ext cx="216098" cy="18115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/>
          <p:cNvCxnSpPr/>
          <p:nvPr/>
        </p:nvCxnSpPr>
        <p:spPr>
          <a:xfrm flipH="1">
            <a:off x="7823721" y="2570672"/>
            <a:ext cx="216098" cy="18115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2626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44678" y="1652437"/>
            <a:ext cx="21239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prstClr val="black"/>
                </a:solidFill>
              </a:rPr>
              <a:t>BackgroundTest_1</a:t>
            </a:r>
          </a:p>
          <a:p>
            <a:r>
              <a:rPr lang="en-US" altLang="ko-KR" dirty="0" smtClean="0">
                <a:solidFill>
                  <a:prstClr val="black"/>
                </a:solidFill>
              </a:rPr>
              <a:t>MainActivity.java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14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Daemon Thread</a:t>
            </a:r>
            <a:endParaRPr lang="ko-KR" altLang="en-US" dirty="0"/>
          </a:p>
        </p:txBody>
      </p:sp>
      <p:sp>
        <p:nvSpPr>
          <p:cNvPr id="7" name="가로로 말린 두루마리 모양 6"/>
          <p:cNvSpPr/>
          <p:nvPr/>
        </p:nvSpPr>
        <p:spPr>
          <a:xfrm>
            <a:off x="4197961" y="2494677"/>
            <a:ext cx="4103504" cy="2174914"/>
          </a:xfrm>
          <a:prstGeom prst="horizontalScroll">
            <a:avLst>
              <a:gd name="adj" fmla="val 6300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/>
              <a:t>Daemon Thread</a:t>
            </a:r>
            <a:r>
              <a:rPr lang="en-US" altLang="ko-KR" dirty="0" smtClean="0"/>
              <a:t>:</a:t>
            </a:r>
          </a:p>
          <a:p>
            <a:r>
              <a:rPr lang="ko-KR" altLang="en-US" dirty="0" smtClean="0"/>
              <a:t>실질적으로 모든 </a:t>
            </a:r>
            <a:r>
              <a:rPr lang="ko-KR" altLang="en-US" dirty="0" err="1" smtClean="0"/>
              <a:t>스레드가</a:t>
            </a:r>
            <a:r>
              <a:rPr lang="ko-KR" altLang="en-US" dirty="0" smtClean="0"/>
              <a:t> 종료할 때까지 주 </a:t>
            </a:r>
            <a:r>
              <a:rPr lang="ko-KR" altLang="en-US" dirty="0" err="1" smtClean="0"/>
              <a:t>스레드가</a:t>
            </a:r>
            <a:r>
              <a:rPr lang="ko-KR" altLang="en-US" dirty="0" smtClean="0"/>
              <a:t> 종료하지 않으므로 무한루프 </a:t>
            </a:r>
            <a:r>
              <a:rPr lang="ko-KR" altLang="en-US" dirty="0" err="1" smtClean="0"/>
              <a:t>스레드가</a:t>
            </a:r>
            <a:r>
              <a:rPr lang="ko-KR" altLang="en-US" dirty="0" smtClean="0"/>
              <a:t> 멈추지 않는다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그래서 메인 </a:t>
            </a:r>
            <a:r>
              <a:rPr lang="ko-KR" altLang="en-US" dirty="0" err="1" smtClean="0"/>
              <a:t>액티비티에서</a:t>
            </a:r>
            <a:r>
              <a:rPr lang="ko-KR" altLang="en-US" dirty="0" smtClean="0"/>
              <a:t> 중지 작업을 처리하여 준다</a:t>
            </a:r>
            <a:r>
              <a:rPr lang="en-US" altLang="ko-KR" dirty="0" smtClean="0"/>
              <a:t>.</a:t>
            </a:r>
            <a:endParaRPr lang="en-US" altLang="ko-KR" dirty="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938968" y="2508580"/>
            <a:ext cx="2821209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808000"/>
                </a:solidFill>
                <a:effectLst/>
                <a:latin typeface="+mn-ea"/>
              </a:rPr>
              <a:t>@Override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808000"/>
                </a:solidFill>
                <a:effectLst/>
                <a:latin typeface="+mn-ea"/>
              </a:rPr>
            </a:b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public void 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onDestroy() {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mBreak 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=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true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;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super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.onDestroy();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}</a:t>
            </a:r>
            <a:endParaRPr kumimoji="0" lang="ko-KR" altLang="ko-KR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68750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499723" y="1748909"/>
            <a:ext cx="5885793" cy="513986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public void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startWork(View v) {</a:t>
            </a:r>
            <a:r>
              <a:rPr kumimoji="0" lang="en-US" altLang="ko-KR" sz="12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	</a:t>
            </a:r>
            <a:r>
              <a:rPr kumimoji="0" lang="en-US" altLang="ko-KR" sz="12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 </a:t>
            </a:r>
            <a:r>
              <a:rPr kumimoji="0" lang="en-US" altLang="ko-KR" sz="1200" b="0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// ver</a:t>
            </a:r>
            <a:r>
              <a:rPr lang="en-US" altLang="ko-KR" sz="1200" dirty="0">
                <a:solidFill>
                  <a:srgbClr val="008000"/>
                </a:solidFill>
                <a:latin typeface="+mn-ea"/>
              </a:rPr>
              <a:t>3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/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if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(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mBreak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) {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mBreak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=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false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        Button start = (Button)findViewById(R.id.</a:t>
            </a:r>
            <a:r>
              <a:rPr kumimoji="0" lang="ko-KR" altLang="ko-KR" sz="1200" b="1" i="1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button1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);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        start.setText(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"작업 중지!"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);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/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</a:t>
            </a:r>
            <a:r>
              <a:rPr kumimoji="0" lang="ko-KR" altLang="ko-KR" sz="1600" b="1" i="0" u="sng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Thread thread = </a:t>
            </a:r>
            <a:r>
              <a:rPr kumimoji="0" lang="ko-KR" altLang="ko-KR" sz="1600" b="1" i="0" u="sng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new </a:t>
            </a:r>
            <a:r>
              <a:rPr kumimoji="0" lang="ko-KR" altLang="ko-KR" sz="1600" b="1" i="0" u="sng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Thread(</a:t>
            </a:r>
            <a:r>
              <a:rPr kumimoji="0" lang="ko-KR" altLang="ko-KR" sz="1600" b="1" i="0" u="sng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new </a:t>
            </a:r>
            <a:r>
              <a:rPr kumimoji="0" lang="ko-KR" altLang="ko-KR" sz="1600" b="1" i="0" u="sng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BackCounter());</a:t>
            </a:r>
            <a:br>
              <a:rPr kumimoji="0" lang="ko-KR" altLang="ko-KR" sz="1600" b="1" i="0" u="sng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thread.setDaemon(true);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        thread.start();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/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    }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else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{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mBreak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=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true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        Button start = (Button)findViewById(R.id.</a:t>
            </a:r>
            <a:r>
              <a:rPr kumimoji="0" lang="ko-KR" altLang="ko-KR" sz="1200" b="1" i="1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button1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);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        start.setText(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"작업 시작!"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);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    }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+mn-ea"/>
              </a:rPr>
              <a:t>}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/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/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class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BackCounter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implements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Runnable {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public void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run() {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while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(!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mBreak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) {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mBackCount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++;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    </a:t>
            </a:r>
            <a:r>
              <a:rPr kumimoji="0" lang="ko-KR" altLang="ko-KR" sz="12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Log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.</a:t>
            </a:r>
            <a:r>
              <a:rPr kumimoji="0" lang="en-US" altLang="ko-KR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d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(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"Main"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,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"BackCount: "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+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mBackCount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);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try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{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        Thread.</a:t>
            </a:r>
            <a:r>
              <a:rPr kumimoji="0" lang="ko-KR" altLang="ko-KR" sz="1200" b="1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sleep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(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200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);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    }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catch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(InterruptedException e) { ; }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}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}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}</a:t>
            </a:r>
            <a:endParaRPr kumimoji="0" lang="ko-KR" altLang="ko-KR" sz="3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232015"/>
            <a:ext cx="21239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prstClr val="black"/>
                </a:solidFill>
              </a:rPr>
              <a:t>BackgroundTest_1</a:t>
            </a:r>
          </a:p>
          <a:p>
            <a:r>
              <a:rPr lang="en-US" altLang="ko-KR" dirty="0" smtClean="0">
                <a:solidFill>
                  <a:prstClr val="black"/>
                </a:solidFill>
              </a:rPr>
              <a:t>MainActivity.java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15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Daemon Thread</a:t>
            </a:r>
            <a:endParaRPr lang="ko-KR" altLang="en-US" dirty="0"/>
          </a:p>
        </p:txBody>
      </p:sp>
      <p:sp>
        <p:nvSpPr>
          <p:cNvPr id="6" name="가로로 말린 두루마리 모양 5"/>
          <p:cNvSpPr/>
          <p:nvPr/>
        </p:nvSpPr>
        <p:spPr>
          <a:xfrm>
            <a:off x="5097780" y="4458335"/>
            <a:ext cx="3589020" cy="2263140"/>
          </a:xfrm>
          <a:prstGeom prst="horizontalScroll">
            <a:avLst>
              <a:gd name="adj" fmla="val 7450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/>
              <a:t>Runnable interface:</a:t>
            </a:r>
          </a:p>
          <a:p>
            <a:r>
              <a:rPr lang="ko-KR" altLang="en-US" dirty="0" smtClean="0"/>
              <a:t>자바는 다중 상속이 불가능하기 때문에 기존의 클래스에 </a:t>
            </a:r>
            <a:r>
              <a:rPr lang="ko-KR" altLang="en-US" dirty="0" err="1" smtClean="0"/>
              <a:t>스레드의</a:t>
            </a:r>
            <a:r>
              <a:rPr lang="ko-KR" altLang="en-US" dirty="0" smtClean="0"/>
              <a:t> 기능을 더하고 싶다면 인터페이스를 이용하면 된다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35361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027430" y="1956297"/>
            <a:ext cx="6516414" cy="30469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public void 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showCount() {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String output =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"카운트 증가"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;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output +=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\n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ForeCount: " 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+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mForeCount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;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output +=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\n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BackCount: " 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+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mBackCount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;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TextView txt = (TextView)findViewById(R.id.</a:t>
            </a:r>
            <a:r>
              <a:rPr kumimoji="0" lang="ko-KR" altLang="ko-KR" sz="1600" b="1" i="1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textView1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);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txt.setText(output);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}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/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public void 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onClickButton(View v) {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mForeCount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++;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showCount();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}</a:t>
            </a:r>
            <a:endParaRPr kumimoji="0" lang="ko-KR" altLang="ko-KR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1232015"/>
            <a:ext cx="21239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prstClr val="black"/>
                </a:solidFill>
              </a:rPr>
              <a:t>BackgroundTest_1</a:t>
            </a:r>
          </a:p>
          <a:p>
            <a:r>
              <a:rPr lang="en-US" altLang="ko-KR" dirty="0" smtClean="0">
                <a:solidFill>
                  <a:prstClr val="black"/>
                </a:solidFill>
              </a:rPr>
              <a:t>MainActivity.java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16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Daemon Thread</a:t>
            </a:r>
            <a:endParaRPr lang="ko-KR" altLang="en-US" dirty="0"/>
          </a:p>
        </p:txBody>
      </p:sp>
      <p:sp>
        <p:nvSpPr>
          <p:cNvPr id="7" name="가로로 말린 두루마리 모양 6"/>
          <p:cNvSpPr/>
          <p:nvPr/>
        </p:nvSpPr>
        <p:spPr>
          <a:xfrm>
            <a:off x="6555105" y="1523315"/>
            <a:ext cx="2388870" cy="1211580"/>
          </a:xfrm>
          <a:prstGeom prst="horizontalScroll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/>
              <a:t>카운트 출력 기능을 단독 </a:t>
            </a:r>
            <a:r>
              <a:rPr lang="ko-KR" altLang="en-US" dirty="0" err="1" smtClean="0"/>
              <a:t>메서드로</a:t>
            </a:r>
            <a:r>
              <a:rPr lang="ko-KR" altLang="en-US" dirty="0" smtClean="0"/>
              <a:t> 분리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22542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Handler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>
          <a:xfrm>
            <a:off x="457200" y="1484672"/>
            <a:ext cx="8229600" cy="4641492"/>
          </a:xfrm>
        </p:spPr>
        <p:txBody>
          <a:bodyPr/>
          <a:lstStyle/>
          <a:p>
            <a:r>
              <a:rPr lang="ko-KR" altLang="en-US" dirty="0" smtClean="0"/>
              <a:t>이벤트 수신</a:t>
            </a:r>
            <a:endParaRPr lang="en-US" altLang="ko-KR" dirty="0" smtClean="0"/>
          </a:p>
          <a:p>
            <a:pPr lvl="1"/>
            <a:r>
              <a:rPr lang="en-US" altLang="ko-KR" sz="2000" dirty="0" smtClean="0"/>
              <a:t>public void </a:t>
            </a:r>
            <a:r>
              <a:rPr lang="en-US" altLang="ko-KR" sz="2000" dirty="0" err="1" smtClean="0"/>
              <a:t>handleMessage</a:t>
            </a:r>
            <a:r>
              <a:rPr lang="en-US" altLang="ko-KR" sz="2000" dirty="0" smtClean="0"/>
              <a:t> (Message </a:t>
            </a:r>
            <a:r>
              <a:rPr lang="en-US" altLang="ko-KR" sz="2000" dirty="0" err="1" smtClean="0"/>
              <a:t>msg</a:t>
            </a:r>
            <a:r>
              <a:rPr lang="en-US" altLang="ko-KR" sz="2000" dirty="0" smtClean="0"/>
              <a:t>);</a:t>
            </a:r>
          </a:p>
          <a:p>
            <a:pPr lvl="1"/>
            <a:endParaRPr lang="en-US" altLang="ko-KR" dirty="0"/>
          </a:p>
          <a:p>
            <a:r>
              <a:rPr lang="ko-KR" altLang="en-US" dirty="0" smtClean="0"/>
              <a:t>이벤트 송신</a:t>
            </a:r>
            <a:endParaRPr lang="en-US" altLang="ko-KR" dirty="0" smtClean="0"/>
          </a:p>
          <a:p>
            <a:pPr lvl="1"/>
            <a:r>
              <a:rPr lang="en-US" altLang="ko-KR" sz="2000" dirty="0" err="1" smtClean="0"/>
              <a:t>boolean</a:t>
            </a:r>
            <a:r>
              <a:rPr lang="en-US" altLang="ko-KR" sz="2000" dirty="0" smtClean="0"/>
              <a:t> </a:t>
            </a:r>
            <a:r>
              <a:rPr lang="en-US" altLang="ko-KR" sz="2000" dirty="0" err="1" smtClean="0"/>
              <a:t>sendEmptyMessage</a:t>
            </a:r>
            <a:r>
              <a:rPr lang="en-US" altLang="ko-KR" sz="2000" dirty="0" smtClean="0"/>
              <a:t> (</a:t>
            </a:r>
            <a:r>
              <a:rPr lang="en-US" altLang="ko-KR" sz="2000" dirty="0" err="1" smtClean="0"/>
              <a:t>int</a:t>
            </a:r>
            <a:r>
              <a:rPr lang="en-US" altLang="ko-KR" sz="2000" dirty="0" smtClean="0"/>
              <a:t> what);</a:t>
            </a:r>
          </a:p>
          <a:p>
            <a:pPr lvl="1"/>
            <a:r>
              <a:rPr lang="en-US" altLang="ko-KR" sz="2000" dirty="0" err="1" smtClean="0"/>
              <a:t>boolean</a:t>
            </a:r>
            <a:r>
              <a:rPr lang="en-US" altLang="ko-KR" sz="2000" dirty="0" smtClean="0"/>
              <a:t> </a:t>
            </a:r>
            <a:r>
              <a:rPr lang="en-US" altLang="ko-KR" sz="2000" dirty="0" err="1" smtClean="0"/>
              <a:t>sendMessage</a:t>
            </a:r>
            <a:r>
              <a:rPr lang="en-US" altLang="ko-KR" sz="2000" dirty="0" smtClean="0"/>
              <a:t> (Message </a:t>
            </a:r>
            <a:r>
              <a:rPr lang="en-US" altLang="ko-KR" sz="2000" dirty="0" err="1" smtClean="0"/>
              <a:t>msg</a:t>
            </a:r>
            <a:r>
              <a:rPr lang="en-US" altLang="ko-KR" sz="2000" dirty="0" smtClean="0"/>
              <a:t>);</a:t>
            </a:r>
          </a:p>
          <a:p>
            <a:pPr lvl="1"/>
            <a:r>
              <a:rPr lang="en-US" altLang="ko-KR" sz="2000" dirty="0" err="1" smtClean="0"/>
              <a:t>boolean</a:t>
            </a:r>
            <a:r>
              <a:rPr lang="en-US" altLang="ko-KR" sz="2000" dirty="0" smtClean="0"/>
              <a:t> </a:t>
            </a:r>
            <a:r>
              <a:rPr lang="en-US" altLang="ko-KR" sz="2000" dirty="0" err="1" smtClean="0"/>
              <a:t>sendMessageAtFrontOfQueue</a:t>
            </a:r>
            <a:r>
              <a:rPr lang="en-US" altLang="ko-KR" sz="2000" dirty="0" smtClean="0"/>
              <a:t> (Message </a:t>
            </a:r>
            <a:r>
              <a:rPr lang="en-US" altLang="ko-KR" sz="2000" dirty="0" err="1" smtClean="0"/>
              <a:t>msg</a:t>
            </a:r>
            <a:r>
              <a:rPr lang="en-US" altLang="ko-KR" sz="2000" dirty="0" smtClean="0"/>
              <a:t>);</a:t>
            </a:r>
            <a:endParaRPr lang="ko-KR" altLang="en-US" sz="2000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0429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851337" y="2729496"/>
            <a:ext cx="5391807" cy="18158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Handler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mHandler 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=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new 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Handler() {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public void 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handleMessage(Message msg) {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if 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(msg.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what 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== 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1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) {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    showCount();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}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}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};</a:t>
            </a:r>
            <a:endParaRPr kumimoji="0" lang="ko-KR" altLang="ko-KR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18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Handler</a:t>
            </a:r>
            <a:endParaRPr lang="ko-KR" altLang="en-US" dirty="0"/>
          </a:p>
        </p:txBody>
      </p:sp>
      <p:sp>
        <p:nvSpPr>
          <p:cNvPr id="6" name="가로로 말린 두루마리 모양 5"/>
          <p:cNvSpPr/>
          <p:nvPr/>
        </p:nvSpPr>
        <p:spPr>
          <a:xfrm>
            <a:off x="6067688" y="3565068"/>
            <a:ext cx="2143125" cy="1211580"/>
          </a:xfrm>
          <a:prstGeom prst="horizontalScroll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/>
              <a:t>메시지를 받으면 카운트 화면 출력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51793" y="1851895"/>
            <a:ext cx="21239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prstClr val="black"/>
                </a:solidFill>
              </a:rPr>
              <a:t>BackgroundTest_1</a:t>
            </a:r>
          </a:p>
          <a:p>
            <a:r>
              <a:rPr lang="en-US" altLang="ko-KR" dirty="0" smtClean="0">
                <a:solidFill>
                  <a:prstClr val="black"/>
                </a:solidFill>
              </a:rPr>
              <a:t>MainActivity.java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5138179" y="2729496"/>
            <a:ext cx="33099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b="1" dirty="0" smtClean="0">
                <a:solidFill>
                  <a:srgbClr val="008000"/>
                </a:solidFill>
                <a:latin typeface="+mn-ea"/>
              </a:rPr>
              <a:t>※ </a:t>
            </a:r>
            <a:r>
              <a:rPr lang="ko-KR" altLang="ko-KR" b="1" dirty="0" smtClean="0">
                <a:solidFill>
                  <a:srgbClr val="008000"/>
                </a:solidFill>
                <a:latin typeface="+mn-ea"/>
              </a:rPr>
              <a:t>import </a:t>
            </a:r>
            <a:r>
              <a:rPr lang="ko-KR" altLang="ko-KR" dirty="0">
                <a:solidFill>
                  <a:srgbClr val="008000"/>
                </a:solidFill>
                <a:latin typeface="+mn-ea"/>
              </a:rPr>
              <a:t>android.os.Handler;</a:t>
            </a:r>
            <a:endParaRPr lang="ko-KR" altLang="ko-KR" sz="4400" dirty="0">
              <a:solidFill>
                <a:srgbClr val="008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30673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861849" y="2143047"/>
            <a:ext cx="7147034" cy="30469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  <a:t>class 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  <a:t>BackCounter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  <a:t>implements 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  <a:t>Runnable {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  <a:t>   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  <a:t>public void 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  <a:t>run() {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  <a:t>       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  <a:t>while 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  <a:t>(!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  <a:t>mBreak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  <a:t>) {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  <a:t>           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  <a:t>mBackCount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  <a:t>++;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/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   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mHandler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.sendEmptyMessage(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1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);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/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    </a:t>
            </a:r>
            <a:r>
              <a:rPr kumimoji="0" lang="ko-KR" altLang="ko-KR" sz="1600" b="0" i="0" u="none" strike="noStrike" cap="none" normalizeH="0" baseline="0" dirty="0" err="1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  <a:t>Log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  <a:t>.</a:t>
            </a:r>
            <a:r>
              <a:rPr kumimoji="0" lang="en-US" altLang="ko-KR" sz="16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  <a:t>d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  <a:t>(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  <a:t>"Main"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  <a:t>,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  <a:t>"BackCount: " 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  <a:t>+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  <a:t>mBackCount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  <a:t>);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  <a:t>           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  <a:t>try 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  <a:t>{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  <a:t>                Thread.</a:t>
            </a:r>
            <a:r>
              <a:rPr kumimoji="0" lang="ko-KR" altLang="ko-KR" sz="1600" b="0" i="1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  <a:t>sleep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  <a:t>(200);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  <a:t>            }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  <a:t>catch 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  <a:t>(InterruptedException e) { ; }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  <a:t>        }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  <a:t>    }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  <a:t>}</a:t>
            </a:r>
            <a:endParaRPr kumimoji="0" lang="ko-KR" altLang="ko-KR" sz="4000" b="0" i="0" u="none" strike="noStrike" cap="none" normalizeH="0" baseline="0" dirty="0" smtClean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latin typeface="+mn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232015"/>
            <a:ext cx="21239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prstClr val="black"/>
                </a:solidFill>
              </a:rPr>
              <a:t>BackgroundTest_1</a:t>
            </a:r>
          </a:p>
          <a:p>
            <a:r>
              <a:rPr lang="en-US" altLang="ko-KR" dirty="0" smtClean="0">
                <a:solidFill>
                  <a:prstClr val="black"/>
                </a:solidFill>
              </a:rPr>
              <a:t>MainActivity.java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19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Handler</a:t>
            </a:r>
            <a:endParaRPr lang="ko-KR" altLang="en-US" dirty="0"/>
          </a:p>
        </p:txBody>
      </p:sp>
      <p:sp>
        <p:nvSpPr>
          <p:cNvPr id="6" name="가로로 말린 두루마리 모양 5"/>
          <p:cNvSpPr/>
          <p:nvPr/>
        </p:nvSpPr>
        <p:spPr>
          <a:xfrm>
            <a:off x="6504473" y="1603325"/>
            <a:ext cx="1942297" cy="1211580"/>
          </a:xfrm>
          <a:prstGeom prst="horizontalScroll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err="1" smtClean="0"/>
              <a:t>스레드에서는</a:t>
            </a:r>
            <a:r>
              <a:rPr lang="ko-KR" altLang="en-US" dirty="0" smtClean="0"/>
              <a:t> 메시지를 전송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7475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20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Handler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8694" y="1671376"/>
            <a:ext cx="5040000" cy="233595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172" y="1552738"/>
            <a:ext cx="2634615" cy="4909185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1187983" y="3255873"/>
            <a:ext cx="553732" cy="1351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3838694" y="5119049"/>
            <a:ext cx="5040000" cy="532025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altLang="ko-KR" dirty="0" err="1" smtClean="0"/>
              <a:t>BackCount</a:t>
            </a:r>
            <a:r>
              <a:rPr lang="en-US" altLang="ko-KR" dirty="0" smtClean="0"/>
              <a:t> </a:t>
            </a:r>
            <a:r>
              <a:rPr lang="ko-KR" altLang="en-US" dirty="0" smtClean="0"/>
              <a:t>가 실시간으로 변경됨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2921088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811735" y="1994516"/>
            <a:ext cx="7332673" cy="35394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  <a:t>class 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  <a:t>BackCounter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  <a:t>implements 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  <a:t>Runnable {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  <a:t>   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  <a:t>public void 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  <a:t>run() {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  <a:t>       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  <a:t>while 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  <a:t>(!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  <a:t>mBreak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  <a:t>) {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  <a:t>           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  <a:t>mBackCount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  <a:t>++;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/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    Message msg = Message.</a:t>
            </a:r>
            <a:r>
              <a:rPr kumimoji="0" lang="ko-KR" altLang="ko-KR" sz="16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obtain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(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+mn-ea"/>
              </a:rPr>
              <a:t>mHandler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, 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1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, 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0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, 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0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);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    </a:t>
            </a:r>
            <a:r>
              <a:rPr kumimoji="0" lang="en-US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// 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msg.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what 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= 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1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;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   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mHandler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.sendEmptyMessage(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1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);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    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  <a:t>Log.</a:t>
            </a:r>
            <a:r>
              <a:rPr kumimoji="0" lang="ko-KR" altLang="ko-KR" sz="1600" b="0" i="1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  <a:t>i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  <a:t>(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  <a:t>"Main"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  <a:t>,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  <a:t>"BackCount: " 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  <a:t>+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  <a:t>mBackCount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  <a:t>);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  <a:t>           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  <a:t>try 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  <a:t>{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  <a:t>                Thread.</a:t>
            </a:r>
            <a:r>
              <a:rPr kumimoji="0" lang="ko-KR" altLang="ko-KR" sz="1600" b="0" i="1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  <a:t>sleep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  <a:t>(200);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  <a:t>            }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  <a:t>catch 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  <a:t>(InterruptedException e) { ; }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  <a:t>        }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  <a:t>    }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+mn-ea"/>
              </a:rPr>
              <a:t>}</a:t>
            </a:r>
            <a:endParaRPr kumimoji="0" lang="ko-KR" altLang="ko-KR" sz="4000" b="0" i="0" u="none" strike="noStrike" cap="none" normalizeH="0" baseline="0" dirty="0" smtClean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latin typeface="+mn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21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Message </a:t>
            </a:r>
            <a:r>
              <a:rPr lang="ko-KR" altLang="en-US" dirty="0" smtClean="0"/>
              <a:t>재사용</a:t>
            </a:r>
            <a:endParaRPr lang="ko-KR" altLang="en-US" dirty="0"/>
          </a:p>
        </p:txBody>
      </p:sp>
      <p:sp>
        <p:nvSpPr>
          <p:cNvPr id="6" name="가로로 말린 두루마리 모양 5"/>
          <p:cNvSpPr/>
          <p:nvPr/>
        </p:nvSpPr>
        <p:spPr>
          <a:xfrm>
            <a:off x="6240780" y="1469290"/>
            <a:ext cx="2708909" cy="1211580"/>
          </a:xfrm>
          <a:prstGeom prst="horizontalScroll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/>
              <a:t>한번 사용되고 버려진 메시지를 </a:t>
            </a:r>
            <a:r>
              <a:rPr lang="en-US" altLang="ko-KR" dirty="0" smtClean="0"/>
              <a:t>Pool</a:t>
            </a:r>
            <a:r>
              <a:rPr lang="ko-KR" altLang="en-US" dirty="0" smtClean="0"/>
              <a:t>에서 꺼내서 </a:t>
            </a:r>
            <a:r>
              <a:rPr lang="ko-KR" altLang="en-US" dirty="0" smtClean="0">
                <a:solidFill>
                  <a:srgbClr val="00B0F0"/>
                </a:solidFill>
              </a:rPr>
              <a:t>재사용</a:t>
            </a:r>
            <a:endParaRPr lang="ko-KR" altLang="en-US" dirty="0">
              <a:solidFill>
                <a:srgbClr val="00B0F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1295075"/>
            <a:ext cx="21239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prstClr val="black"/>
                </a:solidFill>
              </a:rPr>
              <a:t>BackgroundTest_1</a:t>
            </a:r>
          </a:p>
          <a:p>
            <a:r>
              <a:rPr lang="en-US" altLang="ko-KR" dirty="0" smtClean="0">
                <a:solidFill>
                  <a:prstClr val="black"/>
                </a:solidFill>
              </a:rPr>
              <a:t>MainActivity.java</a:t>
            </a:r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3558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Message </a:t>
            </a:r>
            <a:r>
              <a:rPr lang="en-US" altLang="ko-KR" dirty="0" err="1"/>
              <a:t>Looper</a:t>
            </a:r>
            <a:endParaRPr lang="ko-KR" altLang="en-US" dirty="0"/>
          </a:p>
        </p:txBody>
      </p:sp>
      <p:sp>
        <p:nvSpPr>
          <p:cNvPr id="31" name="내용 개체 틀 3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 smtClean="0"/>
              <a:t>Looper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메시지를 큐에 담고 하나씩 꺼내어 </a:t>
            </a:r>
            <a:r>
              <a:rPr lang="ko-KR" altLang="en-US" dirty="0" err="1" smtClean="0"/>
              <a:t>핸들러를</a:t>
            </a:r>
            <a:r>
              <a:rPr lang="ko-KR" altLang="en-US" dirty="0" smtClean="0"/>
              <a:t> 호출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주 </a:t>
            </a:r>
            <a:r>
              <a:rPr lang="ko-KR" altLang="en-US" dirty="0" err="1" smtClean="0"/>
              <a:t>스레드는</a:t>
            </a:r>
            <a:r>
              <a:rPr lang="ko-KR" altLang="en-US" dirty="0" smtClean="0"/>
              <a:t> 실행 시 자동으로 </a:t>
            </a:r>
            <a:r>
              <a:rPr lang="ko-KR" altLang="en-US" dirty="0" err="1" smtClean="0"/>
              <a:t>루퍼가</a:t>
            </a:r>
            <a:r>
              <a:rPr lang="ko-KR" altLang="en-US" dirty="0" smtClean="0"/>
              <a:t> 활성화 됨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모든 </a:t>
            </a:r>
            <a:r>
              <a:rPr lang="ko-KR" altLang="en-US" dirty="0" err="1" smtClean="0"/>
              <a:t>스레드는</a:t>
            </a:r>
            <a:r>
              <a:rPr lang="ko-KR" altLang="en-US" dirty="0" smtClean="0"/>
              <a:t> 자신만의 </a:t>
            </a:r>
            <a:r>
              <a:rPr lang="ko-KR" altLang="en-US" dirty="0" err="1" smtClean="0"/>
              <a:t>루퍼를</a:t>
            </a:r>
            <a:r>
              <a:rPr lang="ko-KR" altLang="en-US" dirty="0" smtClean="0"/>
              <a:t> 작동시킬 수 있음</a:t>
            </a:r>
            <a:endParaRPr lang="en-US" altLang="ko-KR" dirty="0" smtClean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22</a:t>
            </a:fld>
            <a:endParaRPr lang="ko-KR" altLang="en-US"/>
          </a:p>
        </p:txBody>
      </p:sp>
      <p:grpSp>
        <p:nvGrpSpPr>
          <p:cNvPr id="4" name="그룹 21"/>
          <p:cNvGrpSpPr/>
          <p:nvPr/>
        </p:nvGrpSpPr>
        <p:grpSpPr>
          <a:xfrm>
            <a:off x="2891789" y="4019550"/>
            <a:ext cx="2286000" cy="2286000"/>
            <a:chOff x="1840230" y="2594610"/>
            <a:chExt cx="2286000" cy="2286000"/>
          </a:xfrm>
        </p:grpSpPr>
        <p:grpSp>
          <p:nvGrpSpPr>
            <p:cNvPr id="5" name="그룹 19"/>
            <p:cNvGrpSpPr/>
            <p:nvPr/>
          </p:nvGrpSpPr>
          <p:grpSpPr>
            <a:xfrm>
              <a:off x="1840230" y="2594610"/>
              <a:ext cx="2286000" cy="2286000"/>
              <a:chOff x="1840230" y="2594610"/>
              <a:chExt cx="2286000" cy="2286000"/>
            </a:xfrm>
          </p:grpSpPr>
          <p:sp>
            <p:nvSpPr>
              <p:cNvPr id="11" name="타원 10"/>
              <p:cNvSpPr/>
              <p:nvPr/>
            </p:nvSpPr>
            <p:spPr>
              <a:xfrm>
                <a:off x="1840230" y="2594610"/>
                <a:ext cx="2286000" cy="2286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3" name="직선 연결선 12"/>
              <p:cNvCxnSpPr>
                <a:stCxn id="11" idx="1"/>
                <a:endCxn id="11" idx="5"/>
              </p:cNvCxnSpPr>
              <p:nvPr/>
            </p:nvCxnSpPr>
            <p:spPr>
              <a:xfrm>
                <a:off x="2175007" y="2929387"/>
                <a:ext cx="1616446" cy="1616446"/>
              </a:xfrm>
              <a:prstGeom prst="line">
                <a:avLst/>
              </a:prstGeom>
              <a:ln w="3810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직선 연결선 14"/>
              <p:cNvCxnSpPr>
                <a:stCxn id="11" idx="0"/>
                <a:endCxn id="11" idx="4"/>
              </p:cNvCxnSpPr>
              <p:nvPr/>
            </p:nvCxnSpPr>
            <p:spPr>
              <a:xfrm>
                <a:off x="2983230" y="2594610"/>
                <a:ext cx="0" cy="2286000"/>
              </a:xfrm>
              <a:prstGeom prst="line">
                <a:avLst/>
              </a:prstGeom>
              <a:ln w="3810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직선 연결선 16"/>
              <p:cNvCxnSpPr>
                <a:stCxn id="11" idx="7"/>
                <a:endCxn id="11" idx="3"/>
              </p:cNvCxnSpPr>
              <p:nvPr/>
            </p:nvCxnSpPr>
            <p:spPr>
              <a:xfrm flipH="1">
                <a:off x="2175007" y="2929387"/>
                <a:ext cx="1616446" cy="1616446"/>
              </a:xfrm>
              <a:prstGeom prst="line">
                <a:avLst/>
              </a:prstGeom>
              <a:ln w="3810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직선 연결선 18"/>
              <p:cNvCxnSpPr>
                <a:stCxn id="11" idx="6"/>
                <a:endCxn id="11" idx="2"/>
              </p:cNvCxnSpPr>
              <p:nvPr/>
            </p:nvCxnSpPr>
            <p:spPr>
              <a:xfrm flipH="1">
                <a:off x="1840230" y="3737610"/>
                <a:ext cx="2286000" cy="0"/>
              </a:xfrm>
              <a:prstGeom prst="line">
                <a:avLst/>
              </a:prstGeom>
              <a:ln w="3810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" name="타원 20"/>
            <p:cNvSpPr/>
            <p:nvPr/>
          </p:nvSpPr>
          <p:spPr>
            <a:xfrm>
              <a:off x="2293368" y="3047748"/>
              <a:ext cx="1379723" cy="1379723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>
                  <a:solidFill>
                    <a:schemeClr val="tx1"/>
                  </a:solidFill>
                </a:rPr>
                <a:t>Queue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4" name="자유형 23"/>
          <p:cNvSpPr/>
          <p:nvPr/>
        </p:nvSpPr>
        <p:spPr>
          <a:xfrm>
            <a:off x="2396240" y="3865245"/>
            <a:ext cx="830326" cy="617220"/>
          </a:xfrm>
          <a:custGeom>
            <a:avLst/>
            <a:gdLst>
              <a:gd name="connsiteX0" fmla="*/ 0 w 720090"/>
              <a:gd name="connsiteY0" fmla="*/ 195418 h 585755"/>
              <a:gd name="connsiteX1" fmla="*/ 125730 w 720090"/>
              <a:gd name="connsiteY1" fmla="*/ 183988 h 585755"/>
              <a:gd name="connsiteX2" fmla="*/ 365760 w 720090"/>
              <a:gd name="connsiteY2" fmla="*/ 12538 h 585755"/>
              <a:gd name="connsiteX3" fmla="*/ 285750 w 720090"/>
              <a:gd name="connsiteY3" fmla="*/ 572608 h 585755"/>
              <a:gd name="connsiteX4" fmla="*/ 571500 w 720090"/>
              <a:gd name="connsiteY4" fmla="*/ 412588 h 585755"/>
              <a:gd name="connsiteX5" fmla="*/ 720090 w 720090"/>
              <a:gd name="connsiteY5" fmla="*/ 458308 h 585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20090" h="585755">
                <a:moveTo>
                  <a:pt x="0" y="195418"/>
                </a:moveTo>
                <a:cubicBezTo>
                  <a:pt x="32385" y="204943"/>
                  <a:pt x="64770" y="214468"/>
                  <a:pt x="125730" y="183988"/>
                </a:cubicBezTo>
                <a:cubicBezTo>
                  <a:pt x="186690" y="153508"/>
                  <a:pt x="339090" y="-52232"/>
                  <a:pt x="365760" y="12538"/>
                </a:cubicBezTo>
                <a:cubicBezTo>
                  <a:pt x="392430" y="77308"/>
                  <a:pt x="251460" y="505933"/>
                  <a:pt x="285750" y="572608"/>
                </a:cubicBezTo>
                <a:cubicBezTo>
                  <a:pt x="320040" y="639283"/>
                  <a:pt x="499110" y="431638"/>
                  <a:pt x="571500" y="412588"/>
                </a:cubicBezTo>
                <a:cubicBezTo>
                  <a:pt x="643890" y="393538"/>
                  <a:pt x="681990" y="425923"/>
                  <a:pt x="720090" y="458308"/>
                </a:cubicBezTo>
              </a:path>
            </a:pathLst>
          </a:custGeom>
          <a:ln w="38100">
            <a:solidFill>
              <a:srgbClr val="FF0000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순서도: 문서 24"/>
          <p:cNvSpPr/>
          <p:nvPr/>
        </p:nvSpPr>
        <p:spPr>
          <a:xfrm>
            <a:off x="354080" y="2988945"/>
            <a:ext cx="1508760" cy="720090"/>
          </a:xfrm>
          <a:prstGeom prst="flowChartDocument">
            <a:avLst/>
          </a:prstGeom>
          <a:gradFill>
            <a:gsLst>
              <a:gs pos="0">
                <a:schemeClr val="accent2">
                  <a:shade val="51000"/>
                  <a:satMod val="130000"/>
                  <a:alpha val="67000"/>
                </a:schemeClr>
              </a:gs>
              <a:gs pos="80000">
                <a:schemeClr val="accent2">
                  <a:shade val="93000"/>
                  <a:satMod val="130000"/>
                  <a:alpha val="67000"/>
                </a:schemeClr>
              </a:gs>
              <a:gs pos="100000">
                <a:schemeClr val="accent2">
                  <a:shade val="94000"/>
                  <a:satMod val="135000"/>
                  <a:alpha val="67000"/>
                </a:schemeClr>
              </a:gs>
            </a:gsLst>
          </a:gradFill>
          <a:scene3d>
            <a:camera prst="perspectiveHeroicExtremeLeftFacing"/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Message</a:t>
            </a:r>
            <a:endParaRPr lang="ko-KR" altLang="en-US" dirty="0"/>
          </a:p>
        </p:txBody>
      </p:sp>
      <p:sp>
        <p:nvSpPr>
          <p:cNvPr id="23" name="순서도: 문서 22"/>
          <p:cNvSpPr/>
          <p:nvPr/>
        </p:nvSpPr>
        <p:spPr>
          <a:xfrm>
            <a:off x="887480" y="3556635"/>
            <a:ext cx="1508760" cy="720090"/>
          </a:xfrm>
          <a:prstGeom prst="flowChartDocumen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Message</a:t>
            </a:r>
            <a:endParaRPr lang="ko-KR" altLang="en-US" dirty="0"/>
          </a:p>
        </p:txBody>
      </p:sp>
      <p:cxnSp>
        <p:nvCxnSpPr>
          <p:cNvPr id="27" name="직선 화살표 연결선 26"/>
          <p:cNvCxnSpPr/>
          <p:nvPr/>
        </p:nvCxnSpPr>
        <p:spPr>
          <a:xfrm flipV="1">
            <a:off x="4983480" y="4354328"/>
            <a:ext cx="1040130" cy="396742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순서도: 대체 처리 27"/>
          <p:cNvSpPr/>
          <p:nvPr/>
        </p:nvSpPr>
        <p:spPr>
          <a:xfrm>
            <a:off x="6195060" y="3699510"/>
            <a:ext cx="2560320" cy="1051560"/>
          </a:xfrm>
          <a:prstGeom prst="flowChartAlternateProcess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Handler</a:t>
            </a:r>
            <a:endParaRPr lang="ko-KR" altLang="en-US" dirty="0"/>
          </a:p>
        </p:txBody>
      </p:sp>
      <p:sp>
        <p:nvSpPr>
          <p:cNvPr id="30" name="직사각형 29"/>
          <p:cNvSpPr/>
          <p:nvPr/>
        </p:nvSpPr>
        <p:spPr>
          <a:xfrm>
            <a:off x="6486525" y="4602480"/>
            <a:ext cx="1977390" cy="136829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dirty="0" err="1" smtClean="0"/>
              <a:t>handleMessage</a:t>
            </a:r>
            <a:endParaRPr lang="en-US" altLang="ko-KR" dirty="0" smtClean="0"/>
          </a:p>
          <a:p>
            <a:pPr algn="ctr"/>
            <a:r>
              <a:rPr lang="en-US" altLang="ko-KR" dirty="0" smtClean="0"/>
              <a:t>…</a:t>
            </a:r>
          </a:p>
          <a:p>
            <a:pPr algn="ctr"/>
            <a:r>
              <a:rPr lang="en-US" altLang="ko-KR" dirty="0" smtClean="0"/>
              <a:t>…</a:t>
            </a:r>
          </a:p>
          <a:p>
            <a:pPr algn="ctr"/>
            <a:r>
              <a:rPr lang="en-US" altLang="ko-KR" dirty="0" smtClean="0"/>
              <a:t>…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57268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402456" y="1957021"/>
            <a:ext cx="5234152" cy="45243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9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&lt;</a:t>
            </a: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TextView</a:t>
            </a:r>
            <a:b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</a:b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    </a:t>
            </a: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android</a:t>
            </a: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:layout_width=</a:t>
            </a: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"match_parent"</a:t>
            </a:r>
            <a:b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</a:b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    </a:t>
            </a: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android</a:t>
            </a: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:layout_height=</a:t>
            </a: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"wrap_content"</a:t>
            </a:r>
            <a:b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</a:b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    </a:t>
            </a: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android</a:t>
            </a: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:text=</a:t>
            </a: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"누적계산기" </a:t>
            </a:r>
            <a:r>
              <a:rPr kumimoji="0" lang="ko-KR" altLang="ko-KR" sz="9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/&gt;</a:t>
            </a:r>
            <a:br>
              <a:rPr kumimoji="0" lang="ko-KR" altLang="ko-KR" sz="9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9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&lt;</a:t>
            </a: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TextView</a:t>
            </a:r>
            <a:b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</a:b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    </a:t>
            </a: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android</a:t>
            </a: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:layout_width=</a:t>
            </a: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"match_parent"</a:t>
            </a:r>
            <a:b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</a:b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    </a:t>
            </a: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android</a:t>
            </a: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:layout_height=</a:t>
            </a: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"wrap_content"</a:t>
            </a:r>
            <a:b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</a:b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    </a:t>
            </a: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android</a:t>
            </a: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:text=</a:t>
            </a: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"1부터 입력된 숫자까지 누적시켜 더한 다음 선택된 계산을 수행합니다." </a:t>
            </a:r>
            <a:r>
              <a:rPr kumimoji="0" lang="ko-KR" altLang="ko-KR" sz="9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/&gt;</a:t>
            </a:r>
            <a:br>
              <a:rPr kumimoji="0" lang="ko-KR" altLang="ko-KR" sz="9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9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&lt;</a:t>
            </a: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EditText</a:t>
            </a:r>
            <a:b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</a:b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    </a:t>
            </a: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android</a:t>
            </a: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:id=</a:t>
            </a: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"@+id/editText1"</a:t>
            </a:r>
            <a:b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</a:b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    </a:t>
            </a: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android</a:t>
            </a: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:layout_width=</a:t>
            </a: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"match_parent"</a:t>
            </a:r>
            <a:b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</a:b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    </a:t>
            </a: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android</a:t>
            </a: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:layout_height=</a:t>
            </a: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"wrap_content" </a:t>
            </a:r>
            <a:r>
              <a:rPr kumimoji="0" lang="ko-KR" altLang="ko-KR" sz="9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/&gt;</a:t>
            </a:r>
            <a:br>
              <a:rPr kumimoji="0" lang="ko-KR" altLang="ko-KR" sz="9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9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&lt;</a:t>
            </a: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Button</a:t>
            </a:r>
            <a:b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</a:b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    </a:t>
            </a: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android</a:t>
            </a: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:id=</a:t>
            </a: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"@+id/button1"</a:t>
            </a:r>
            <a:b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</a:b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    </a:t>
            </a: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android</a:t>
            </a: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:text=</a:t>
            </a: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"제곱 계산"</a:t>
            </a:r>
            <a:b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</a:b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    </a:t>
            </a: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android</a:t>
            </a: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:layout_width=</a:t>
            </a: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"match_parent"</a:t>
            </a:r>
            <a:b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</a:b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    </a:t>
            </a: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android</a:t>
            </a: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:layout_height=</a:t>
            </a: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"wrap_content"</a:t>
            </a:r>
            <a:b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</a:b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    </a:t>
            </a: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android</a:t>
            </a: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:onClick=</a:t>
            </a: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"calcNumber" </a:t>
            </a:r>
            <a:r>
              <a:rPr kumimoji="0" lang="ko-KR" altLang="ko-KR" sz="9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/&gt;</a:t>
            </a:r>
            <a:br>
              <a:rPr kumimoji="0" lang="ko-KR" altLang="ko-KR" sz="9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9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&lt;</a:t>
            </a: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Button</a:t>
            </a:r>
            <a:b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</a:b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    </a:t>
            </a: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android</a:t>
            </a: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:id=</a:t>
            </a: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"@+id/button2"</a:t>
            </a:r>
            <a:b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</a:b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    </a:t>
            </a: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android</a:t>
            </a: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:text=</a:t>
            </a: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"제곱근 계산"</a:t>
            </a:r>
            <a:b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</a:b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    </a:t>
            </a: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android</a:t>
            </a: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:layout_width=</a:t>
            </a: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"match_parent"</a:t>
            </a:r>
            <a:b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</a:b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    </a:t>
            </a: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android</a:t>
            </a: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:layout_height=</a:t>
            </a: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"wrap_content"</a:t>
            </a:r>
            <a:b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</a:b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    </a:t>
            </a: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android</a:t>
            </a: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:onClick=</a:t>
            </a: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"calcNumber" </a:t>
            </a:r>
            <a:r>
              <a:rPr kumimoji="0" lang="ko-KR" altLang="ko-KR" sz="9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/&gt;</a:t>
            </a:r>
            <a:br>
              <a:rPr kumimoji="0" lang="ko-KR" altLang="ko-KR" sz="9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9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&lt;</a:t>
            </a: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TextView</a:t>
            </a:r>
            <a:b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</a:b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    </a:t>
            </a: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android</a:t>
            </a: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:layout_width=</a:t>
            </a: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"match_parent"</a:t>
            </a:r>
            <a:b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</a:b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    </a:t>
            </a: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android</a:t>
            </a: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:layout_height=</a:t>
            </a: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"wrap_content"</a:t>
            </a:r>
            <a:b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</a:b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    </a:t>
            </a: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android</a:t>
            </a: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:text=</a:t>
            </a: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"출력" </a:t>
            </a:r>
            <a:r>
              <a:rPr kumimoji="0" lang="ko-KR" altLang="ko-KR" sz="9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/&gt;</a:t>
            </a:r>
            <a:br>
              <a:rPr kumimoji="0" lang="ko-KR" altLang="ko-KR" sz="9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9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&lt;</a:t>
            </a: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TextView</a:t>
            </a:r>
            <a:b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</a:b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    </a:t>
            </a: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android</a:t>
            </a: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:id=</a:t>
            </a: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"@+id/textView2"</a:t>
            </a:r>
            <a:b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</a:b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    </a:t>
            </a: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android</a:t>
            </a: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:layout_width=</a:t>
            </a: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"match_parent"</a:t>
            </a:r>
            <a:b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</a:b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    </a:t>
            </a: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android</a:t>
            </a: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:layout_height=</a:t>
            </a: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"wrap_content" </a:t>
            </a:r>
            <a:r>
              <a:rPr kumimoji="0" lang="ko-KR" altLang="ko-KR" sz="9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/&gt;</a:t>
            </a:r>
            <a:endParaRPr kumimoji="0" lang="ko-KR" altLang="ko-K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23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Message </a:t>
            </a:r>
            <a:r>
              <a:rPr lang="en-US" altLang="ko-KR" dirty="0" err="1" smtClean="0"/>
              <a:t>Looper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97230" y="1280160"/>
            <a:ext cx="3199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prstClr val="black"/>
                </a:solidFill>
              </a:rPr>
              <a:t>MsgLoopTest_1</a:t>
            </a:r>
          </a:p>
          <a:p>
            <a:r>
              <a:rPr lang="en-US" altLang="ko-KR" dirty="0" smtClean="0">
                <a:solidFill>
                  <a:prstClr val="black"/>
                </a:solidFill>
              </a:rPr>
              <a:t>/res/layout/activity_main.xml</a:t>
            </a:r>
            <a:endParaRPr lang="ko-KR" altLang="en-US" dirty="0">
              <a:solidFill>
                <a:prstClr val="black"/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8663" y="1572151"/>
            <a:ext cx="2634615" cy="4909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98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0621" y="3143902"/>
            <a:ext cx="3456000" cy="2827047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427" y="3189854"/>
            <a:ext cx="5040000" cy="1524072"/>
          </a:xfrm>
          <a:prstGeom prst="rect">
            <a:avLst/>
          </a:prstGeom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24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Message </a:t>
            </a:r>
            <a:r>
              <a:rPr lang="en-US" altLang="ko-KR" dirty="0" err="1"/>
              <a:t>Looper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97230" y="1280160"/>
            <a:ext cx="19080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prstClr val="black"/>
                </a:solidFill>
              </a:rPr>
              <a:t>MsgLoopTest_1</a:t>
            </a:r>
          </a:p>
          <a:p>
            <a:r>
              <a:rPr lang="en-US" altLang="ko-KR" dirty="0" smtClean="0">
                <a:solidFill>
                  <a:prstClr val="black"/>
                </a:solidFill>
              </a:rPr>
              <a:t>CalcThread.java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9" name="Rectangle 4"/>
          <p:cNvSpPr/>
          <p:nvPr/>
        </p:nvSpPr>
        <p:spPr>
          <a:xfrm>
            <a:off x="3762780" y="3828639"/>
            <a:ext cx="1618440" cy="2531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Rectangle 4"/>
          <p:cNvSpPr/>
          <p:nvPr/>
        </p:nvSpPr>
        <p:spPr>
          <a:xfrm>
            <a:off x="5990773" y="3353763"/>
            <a:ext cx="2945848" cy="2613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20153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009059" y="2149019"/>
            <a:ext cx="6968359" cy="45243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public class 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CalcThread </a:t>
            </a:r>
            <a:r>
              <a:rPr kumimoji="0" lang="ko-KR" altLang="ko-KR" sz="1600" b="1" i="0" u="sng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extends </a:t>
            </a:r>
            <a:r>
              <a:rPr kumimoji="0" lang="ko-KR" altLang="ko-KR" sz="1600" b="1" i="0" u="sng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Thread</a:t>
            </a:r>
            <a:r>
              <a:rPr kumimoji="0" lang="ko-KR" altLang="ko-KR" sz="1600" b="1" i="0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{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Handler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mMainHandler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;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Handler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mCalcHandler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;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/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CalcThread(Handler main) {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mMainHandler 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= main;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}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/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public void 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run() {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Looper.</a:t>
            </a:r>
            <a:r>
              <a:rPr kumimoji="0" lang="ko-KR" altLang="ko-KR" sz="16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prepare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();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mCalcHandler 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=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new 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CalcHandler();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Looper.</a:t>
            </a:r>
            <a:r>
              <a:rPr kumimoji="0" lang="ko-KR" altLang="ko-KR" sz="16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loop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();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}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/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public 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Handler getHandler() {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return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mCalcHandler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;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}</a:t>
            </a:r>
            <a:endParaRPr kumimoji="0" lang="en-US" altLang="ko-KR" sz="16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600" dirty="0" smtClean="0">
                <a:solidFill>
                  <a:srgbClr val="000000"/>
                </a:solidFill>
                <a:latin typeface="+mn-ea"/>
              </a:rPr>
              <a:t>. . .</a:t>
            </a:r>
            <a:endParaRPr kumimoji="0" lang="en-US" altLang="ko-KR" sz="16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97230" y="1280160"/>
            <a:ext cx="19080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prstClr val="black"/>
                </a:solidFill>
              </a:rPr>
              <a:t>MsgLoopTest_1</a:t>
            </a:r>
          </a:p>
          <a:p>
            <a:r>
              <a:rPr lang="en-US" altLang="ko-KR" dirty="0" smtClean="0">
                <a:solidFill>
                  <a:prstClr val="black"/>
                </a:solidFill>
              </a:rPr>
              <a:t>CalcThread.java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25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Message </a:t>
            </a:r>
            <a:r>
              <a:rPr lang="en-US" altLang="ko-KR" dirty="0" err="1"/>
              <a:t>Looper</a:t>
            </a:r>
            <a:endParaRPr lang="ko-KR" altLang="en-US" dirty="0"/>
          </a:p>
        </p:txBody>
      </p:sp>
      <p:sp>
        <p:nvSpPr>
          <p:cNvPr id="9" name="가로로 말린 두루마리 모양 8"/>
          <p:cNvSpPr/>
          <p:nvPr/>
        </p:nvSpPr>
        <p:spPr>
          <a:xfrm>
            <a:off x="5472430" y="4514587"/>
            <a:ext cx="3417569" cy="839570"/>
          </a:xfrm>
          <a:prstGeom prst="horizontalScroll">
            <a:avLst>
              <a:gd name="adj" fmla="val 16584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err="1" smtClean="0"/>
              <a:t>스레드는</a:t>
            </a:r>
            <a:r>
              <a:rPr lang="ko-KR" altLang="en-US" dirty="0" smtClean="0"/>
              <a:t> 메시지 </a:t>
            </a:r>
            <a:r>
              <a:rPr lang="ko-KR" altLang="en-US" dirty="0" err="1" smtClean="0"/>
              <a:t>루퍼만</a:t>
            </a:r>
            <a:r>
              <a:rPr lang="ko-KR" altLang="en-US" dirty="0" smtClean="0"/>
              <a:t> 작동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03365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882869" y="1829931"/>
            <a:ext cx="7660409" cy="48936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. . .</a:t>
            </a:r>
          </a:p>
          <a:p>
            <a:pPr lvl="1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class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CalcHandler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extends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Handler {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public void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handleMessage(Message msg) {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Message retMsg = Message.</a:t>
            </a:r>
            <a:r>
              <a:rPr kumimoji="0" lang="ko-KR" altLang="ko-KR" sz="12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obtain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();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retMsg.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what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= msg.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what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retMsg.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arg1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=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0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for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(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int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n =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1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; n &lt;= msg.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arg1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; n++) {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    retMsg.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arg1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+= n;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try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{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        Thread.</a:t>
            </a:r>
            <a:r>
              <a:rPr kumimoji="0" lang="ko-KR" altLang="ko-KR" sz="12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sleep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(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500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);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    }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catch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(InterruptedException e) {;}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}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</a:t>
            </a:r>
            <a:r>
              <a:rPr kumimoji="0" lang="ko-KR" altLang="ko-KR" sz="1200" b="0" i="1" u="none" strike="noStrike" cap="none" normalizeH="0" baseline="0" dirty="0" smtClean="0">
                <a:ln>
                  <a:noFill/>
                </a:ln>
                <a:solidFill>
                  <a:srgbClr val="808080"/>
                </a:solidFill>
                <a:effectLst/>
                <a:latin typeface="+mn-ea"/>
              </a:rPr>
              <a:t>// 선택된 계산 수행</a:t>
            </a:r>
            <a:br>
              <a:rPr kumimoji="0" lang="ko-KR" altLang="ko-KR" sz="1200" b="0" i="1" u="none" strike="noStrike" cap="none" normalizeH="0" baseline="0" dirty="0" smtClean="0">
                <a:ln>
                  <a:noFill/>
                </a:ln>
                <a:solidFill>
                  <a:srgbClr val="808080"/>
                </a:solidFill>
                <a:effectLst/>
                <a:latin typeface="+mn-ea"/>
              </a:rPr>
            </a:br>
            <a:r>
              <a:rPr kumimoji="0" lang="ko-KR" altLang="ko-KR" sz="1200" b="0" i="1" u="none" strike="noStrike" cap="none" normalizeH="0" baseline="0" dirty="0" smtClean="0">
                <a:ln>
                  <a:noFill/>
                </a:ln>
                <a:solidFill>
                  <a:srgbClr val="808080"/>
                </a:solidFill>
                <a:effectLst/>
                <a:latin typeface="+mn-ea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switch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(msg.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what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) {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case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1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:</a:t>
            </a:r>
            <a:r>
              <a:rPr kumimoji="0" lang="ko-KR" altLang="ko-KR" sz="1200" b="0" i="1" u="none" strike="noStrike" cap="none" normalizeH="0" baseline="0" dirty="0" smtClean="0">
                <a:ln>
                  <a:noFill/>
                </a:ln>
                <a:solidFill>
                  <a:srgbClr val="808080"/>
                </a:solidFill>
                <a:effectLst/>
                <a:latin typeface="+mn-ea"/>
              </a:rPr>
              <a:t>// 제곱 계산</a:t>
            </a:r>
            <a:br>
              <a:rPr kumimoji="0" lang="ko-KR" altLang="ko-KR" sz="1200" b="0" i="1" u="none" strike="noStrike" cap="none" normalizeH="0" baseline="0" dirty="0" smtClean="0">
                <a:ln>
                  <a:noFill/>
                </a:ln>
                <a:solidFill>
                  <a:srgbClr val="808080"/>
                </a:solidFill>
                <a:effectLst/>
                <a:latin typeface="+mn-ea"/>
              </a:rPr>
            </a:br>
            <a:r>
              <a:rPr kumimoji="0" lang="ko-KR" altLang="ko-KR" sz="1200" b="0" i="1" u="none" strike="noStrike" cap="none" normalizeH="0" baseline="0" dirty="0" smtClean="0">
                <a:ln>
                  <a:noFill/>
                </a:ln>
                <a:solidFill>
                  <a:srgbClr val="808080"/>
                </a:solidFill>
                <a:effectLst/>
                <a:latin typeface="+mn-ea"/>
              </a:rPr>
              <a:t>               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retMsg.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arg2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= retMsg.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arg1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* retMsg.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arg1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break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case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2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:</a:t>
            </a:r>
            <a:r>
              <a:rPr kumimoji="0" lang="ko-KR" altLang="ko-KR" sz="1200" b="0" i="1" u="none" strike="noStrike" cap="none" normalizeH="0" baseline="0" dirty="0" smtClean="0">
                <a:ln>
                  <a:noFill/>
                </a:ln>
                <a:solidFill>
                  <a:srgbClr val="808080"/>
                </a:solidFill>
                <a:effectLst/>
                <a:latin typeface="+mn-ea"/>
              </a:rPr>
              <a:t>// 제곱근 계산</a:t>
            </a:r>
            <a:br>
              <a:rPr kumimoji="0" lang="ko-KR" altLang="ko-KR" sz="1200" b="0" i="1" u="none" strike="noStrike" cap="none" normalizeH="0" baseline="0" dirty="0" smtClean="0">
                <a:ln>
                  <a:noFill/>
                </a:ln>
                <a:solidFill>
                  <a:srgbClr val="808080"/>
                </a:solidFill>
                <a:effectLst/>
                <a:latin typeface="+mn-ea"/>
              </a:rPr>
            </a:br>
            <a:r>
              <a:rPr kumimoji="0" lang="ko-KR" altLang="ko-KR" sz="1200" b="0" i="1" u="none" strike="noStrike" cap="none" normalizeH="0" baseline="0" dirty="0" smtClean="0">
                <a:ln>
                  <a:noFill/>
                </a:ln>
                <a:solidFill>
                  <a:srgbClr val="808080"/>
                </a:solidFill>
                <a:effectLst/>
                <a:latin typeface="+mn-ea"/>
              </a:rPr>
              <a:t>               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retMsg.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obj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=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new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Double(Math.</a:t>
            </a:r>
            <a:r>
              <a:rPr kumimoji="0" lang="ko-KR" altLang="ko-KR" sz="12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sqrt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((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double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)retMsg.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arg1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));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break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}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</a:t>
            </a:r>
            <a:r>
              <a:rPr kumimoji="0" lang="ko-KR" altLang="ko-KR" sz="1200" b="0" i="1" u="none" strike="noStrike" cap="none" normalizeH="0" baseline="0" dirty="0" smtClean="0">
                <a:ln>
                  <a:noFill/>
                </a:ln>
                <a:solidFill>
                  <a:srgbClr val="808080"/>
                </a:solidFill>
                <a:effectLst/>
                <a:latin typeface="+mn-ea"/>
              </a:rPr>
              <a:t>// 메인 </a:t>
            </a:r>
            <a:r>
              <a:rPr kumimoji="0" lang="ko-KR" altLang="ko-KR" sz="1200" b="0" i="1" u="none" strike="noStrike" cap="none" normalizeH="0" baseline="0" dirty="0" err="1" smtClean="0">
                <a:ln>
                  <a:noFill/>
                </a:ln>
                <a:solidFill>
                  <a:srgbClr val="808080"/>
                </a:solidFill>
                <a:effectLst/>
                <a:latin typeface="+mn-ea"/>
              </a:rPr>
              <a:t>메세지</a:t>
            </a:r>
            <a:r>
              <a:rPr kumimoji="0" lang="ko-KR" altLang="ko-KR" sz="1200" b="0" i="1" u="none" strike="noStrike" cap="none" normalizeH="0" baseline="0" dirty="0" smtClean="0">
                <a:ln>
                  <a:noFill/>
                </a:ln>
                <a:solidFill>
                  <a:srgbClr val="808080"/>
                </a:solidFill>
                <a:effectLst/>
                <a:latin typeface="+mn-ea"/>
              </a:rPr>
              <a:t> 루프로 전달</a:t>
            </a:r>
            <a:br>
              <a:rPr kumimoji="0" lang="ko-KR" altLang="ko-KR" sz="1200" b="0" i="1" u="none" strike="noStrike" cap="none" normalizeH="0" baseline="0" dirty="0" smtClean="0">
                <a:ln>
                  <a:noFill/>
                </a:ln>
                <a:solidFill>
                  <a:srgbClr val="808080"/>
                </a:solidFill>
                <a:effectLst/>
                <a:latin typeface="+mn-ea"/>
              </a:rPr>
            </a:br>
            <a:r>
              <a:rPr kumimoji="0" lang="ko-KR" altLang="ko-KR" sz="1200" b="0" i="1" u="none" strike="noStrike" cap="none" normalizeH="0" baseline="0" dirty="0" smtClean="0">
                <a:ln>
                  <a:noFill/>
                </a:ln>
                <a:solidFill>
                  <a:srgbClr val="808080"/>
                </a:solidFill>
                <a:effectLst/>
                <a:latin typeface="+mn-ea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mMainHandler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.sendMessage(retMsg);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}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}</a:t>
            </a:r>
            <a:endParaRPr kumimoji="0" lang="en-US" altLang="ko-KR" sz="12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200" dirty="0">
                <a:solidFill>
                  <a:srgbClr val="000000"/>
                </a:solidFill>
                <a:latin typeface="+mn-ea"/>
              </a:rPr>
              <a:t>}</a:t>
            </a:r>
            <a:endParaRPr kumimoji="0" lang="ko-KR" altLang="ko-KR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26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Message </a:t>
            </a:r>
            <a:r>
              <a:rPr lang="en-US" altLang="ko-KR" dirty="0" err="1"/>
              <a:t>Looper</a:t>
            </a:r>
            <a:endParaRPr lang="ko-KR" altLang="en-US" dirty="0"/>
          </a:p>
        </p:txBody>
      </p:sp>
      <p:sp>
        <p:nvSpPr>
          <p:cNvPr id="6" name="가로로 말린 두루마리 모양 5"/>
          <p:cNvSpPr/>
          <p:nvPr/>
        </p:nvSpPr>
        <p:spPr>
          <a:xfrm>
            <a:off x="6195061" y="2283668"/>
            <a:ext cx="2948939" cy="995943"/>
          </a:xfrm>
          <a:prstGeom prst="horizontalScroll">
            <a:avLst>
              <a:gd name="adj" fmla="val 11993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/>
              <a:t>실제 작업 내용은 메시지 </a:t>
            </a:r>
            <a:r>
              <a:rPr lang="ko-KR" altLang="en-US" dirty="0" err="1" smtClean="0"/>
              <a:t>핸들러가</a:t>
            </a:r>
            <a:r>
              <a:rPr lang="ko-KR" altLang="en-US" dirty="0" smtClean="0"/>
              <a:t> 처리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97230" y="1280160"/>
            <a:ext cx="19080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prstClr val="black"/>
                </a:solidFill>
              </a:rPr>
              <a:t>MsgLoopTest_1</a:t>
            </a:r>
          </a:p>
          <a:p>
            <a:r>
              <a:rPr lang="en-US" altLang="ko-KR" dirty="0" smtClean="0">
                <a:solidFill>
                  <a:prstClr val="black"/>
                </a:solidFill>
              </a:rPr>
              <a:t>CalcThread.java</a:t>
            </a:r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7019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697230" y="1972656"/>
            <a:ext cx="7914290" cy="46166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CalcThread 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mThread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;</a:t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Handler 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mHandler 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= 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new 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Handler() {</a:t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public void 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handleMessage(Message msg) {</a:t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String output = 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""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;</a:t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/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switch 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(msg.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what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) {</a:t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    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case 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1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:</a:t>
            </a:r>
            <a:r>
              <a:rPr kumimoji="0" lang="ko-KR" altLang="ko-KR" sz="1400" b="0" i="1" u="none" strike="noStrike" cap="none" normalizeH="0" baseline="0" dirty="0" smtClean="0">
                <a:ln>
                  <a:noFill/>
                </a:ln>
                <a:solidFill>
                  <a:srgbClr val="808080"/>
                </a:solidFill>
                <a:effectLst/>
                <a:latin typeface="+mn-ea"/>
              </a:rPr>
              <a:t>// 제곱 계산</a:t>
            </a:r>
            <a:br>
              <a:rPr kumimoji="0" lang="ko-KR" altLang="ko-KR" sz="1400" b="0" i="1" u="none" strike="noStrike" cap="none" normalizeH="0" baseline="0" dirty="0" smtClean="0">
                <a:ln>
                  <a:noFill/>
                </a:ln>
                <a:solidFill>
                  <a:srgbClr val="808080"/>
                </a:solidFill>
                <a:effectLst/>
                <a:latin typeface="+mn-ea"/>
              </a:rPr>
            </a:br>
            <a:r>
              <a:rPr kumimoji="0" lang="ko-KR" altLang="ko-KR" sz="1400" b="0" i="1" u="none" strike="noStrike" cap="none" normalizeH="0" baseline="0" dirty="0" smtClean="0">
                <a:ln>
                  <a:noFill/>
                </a:ln>
                <a:solidFill>
                  <a:srgbClr val="808080"/>
                </a:solidFill>
                <a:effectLst/>
                <a:latin typeface="+mn-ea"/>
              </a:rPr>
              <a:t>                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output = 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"제곱 계산"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;</a:t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        output += 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\n</a:t>
            </a:r>
            <a:r>
              <a:rPr kumimoji="0" lang="ko-KR" altLang="ko-KR" sz="1400" b="1" i="0" u="none" strike="noStrike" cap="none" normalizeH="0" baseline="0" dirty="0" err="1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누적값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: " 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+ msg.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arg1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;</a:t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        output += 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\n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제곱: " 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+ msg.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arg2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;</a:t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        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break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;</a:t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    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case 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2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:</a:t>
            </a:r>
            <a:r>
              <a:rPr kumimoji="0" lang="ko-KR" altLang="ko-KR" sz="1400" b="0" i="1" u="none" strike="noStrike" cap="none" normalizeH="0" baseline="0" dirty="0" smtClean="0">
                <a:ln>
                  <a:noFill/>
                </a:ln>
                <a:solidFill>
                  <a:srgbClr val="808080"/>
                </a:solidFill>
                <a:effectLst/>
                <a:latin typeface="+mn-ea"/>
              </a:rPr>
              <a:t>// 제곱근 계산</a:t>
            </a:r>
            <a:br>
              <a:rPr kumimoji="0" lang="ko-KR" altLang="ko-KR" sz="1400" b="0" i="1" u="none" strike="noStrike" cap="none" normalizeH="0" baseline="0" dirty="0" smtClean="0">
                <a:ln>
                  <a:noFill/>
                </a:ln>
                <a:solidFill>
                  <a:srgbClr val="808080"/>
                </a:solidFill>
                <a:effectLst/>
                <a:latin typeface="+mn-ea"/>
              </a:rPr>
            </a:br>
            <a:r>
              <a:rPr kumimoji="0" lang="ko-KR" altLang="ko-KR" sz="1400" b="0" i="1" u="none" strike="noStrike" cap="none" normalizeH="0" baseline="0" dirty="0" smtClean="0">
                <a:ln>
                  <a:noFill/>
                </a:ln>
                <a:solidFill>
                  <a:srgbClr val="808080"/>
                </a:solidFill>
                <a:effectLst/>
                <a:latin typeface="+mn-ea"/>
              </a:rPr>
              <a:t>                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output = 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"제곱근 계산"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;</a:t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        output += 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\n</a:t>
            </a:r>
            <a:r>
              <a:rPr kumimoji="0" lang="ko-KR" altLang="ko-KR" sz="1400" b="1" i="0" u="none" strike="noStrike" cap="none" normalizeH="0" baseline="0" dirty="0" err="1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누적값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: " 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+ msg.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arg1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;</a:t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        output += 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\n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제곱근: " 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+ ((Double) msg.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obj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).doubleValue();</a:t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        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break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;</a:t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}</a:t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TextView txt = (TextView) findViewById(R.id.</a:t>
            </a:r>
            <a:r>
              <a:rPr kumimoji="0" lang="ko-KR" altLang="ko-KR" sz="1400" b="1" i="1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textView2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);</a:t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txt.setText(output);</a:t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}</a:t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};</a:t>
            </a:r>
            <a:endParaRPr kumimoji="0" lang="ko-KR" altLang="ko-KR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27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Message </a:t>
            </a:r>
            <a:r>
              <a:rPr lang="en-US" altLang="ko-KR" dirty="0" err="1"/>
              <a:t>Looper</a:t>
            </a:r>
            <a:endParaRPr lang="ko-KR" altLang="en-US" dirty="0"/>
          </a:p>
        </p:txBody>
      </p:sp>
      <p:sp>
        <p:nvSpPr>
          <p:cNvPr id="6" name="가로로 말린 두루마리 모양 5"/>
          <p:cNvSpPr/>
          <p:nvPr/>
        </p:nvSpPr>
        <p:spPr>
          <a:xfrm>
            <a:off x="6252210" y="2896416"/>
            <a:ext cx="2628899" cy="1384564"/>
          </a:xfrm>
          <a:prstGeom prst="horizontalScroll">
            <a:avLst>
              <a:gd name="adj" fmla="val 10673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/>
              <a:t>작업 </a:t>
            </a:r>
            <a:r>
              <a:rPr lang="ko-KR" altLang="en-US" dirty="0" err="1" smtClean="0"/>
              <a:t>스레드가</a:t>
            </a:r>
            <a:r>
              <a:rPr lang="ko-KR" altLang="en-US" dirty="0" smtClean="0"/>
              <a:t> 넘겨준 메시지를 분석하여 작업 결과를 출력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97230" y="1280160"/>
            <a:ext cx="19868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prstClr val="black"/>
                </a:solidFill>
              </a:rPr>
              <a:t>MsgLoopTest_1</a:t>
            </a:r>
          </a:p>
          <a:p>
            <a:r>
              <a:rPr lang="en-US" altLang="ko-KR" dirty="0" smtClean="0">
                <a:solidFill>
                  <a:prstClr val="black"/>
                </a:solidFill>
              </a:rPr>
              <a:t>MainActivity.java</a:t>
            </a:r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5580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600882" y="1926491"/>
            <a:ext cx="7576165" cy="48320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public void 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calcNumber(View v) {</a:t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    TextView txt = (TextView) findViewById(R.id.</a:t>
            </a:r>
            <a:r>
              <a:rPr kumimoji="0" lang="ko-KR" altLang="ko-KR" sz="1400" b="1" i="1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textView2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);</a:t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    EditText edit = (EditText) findViewById(R.id.</a:t>
            </a:r>
            <a:r>
              <a:rPr kumimoji="0" lang="ko-KR" altLang="ko-KR" sz="1400" b="1" i="1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editText1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);</a:t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    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int 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num = Integer.</a:t>
            </a:r>
            <a:r>
              <a:rPr kumimoji="0" lang="ko-KR" altLang="ko-KR" sz="14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parseInt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(edit.getText().toString());</a:t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/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    Message msg;</a:t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    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switch 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(v.getId()) {</a:t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        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case 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R.id.</a:t>
            </a:r>
            <a:r>
              <a:rPr kumimoji="0" lang="ko-KR" altLang="ko-KR" sz="1400" b="1" i="1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button1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:</a:t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            msg = Message.</a:t>
            </a:r>
            <a:r>
              <a:rPr kumimoji="0" lang="ko-KR" altLang="ko-KR" sz="14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obtain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(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mHandler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, 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1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, num, 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0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);</a:t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            </a:t>
            </a:r>
            <a:r>
              <a:rPr kumimoji="0" lang="ko-KR" altLang="ko-KR" sz="1400" b="0" i="1" u="none" strike="noStrike" cap="none" normalizeH="0" baseline="0" dirty="0" smtClean="0">
                <a:ln>
                  <a:noFill/>
                </a:ln>
                <a:solidFill>
                  <a:srgbClr val="80808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//mThread.mCalcHandler.sendMessage(msg);</a:t>
            </a:r>
            <a:br>
              <a:rPr kumimoji="0" lang="ko-KR" altLang="ko-KR" sz="1400" b="0" i="1" u="none" strike="noStrike" cap="none" normalizeH="0" baseline="0" dirty="0" smtClean="0">
                <a:ln>
                  <a:noFill/>
                </a:ln>
                <a:solidFill>
                  <a:srgbClr val="80808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400" b="0" i="1" u="none" strike="noStrike" cap="none" normalizeH="0" baseline="0" dirty="0" smtClean="0">
                <a:ln>
                  <a:noFill/>
                </a:ln>
                <a:solidFill>
                  <a:srgbClr val="80808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            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mThread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.getHandler().sendMessage(msg);</a:t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            txt.setText(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"제곱 계산 중..."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);</a:t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            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break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;</a:t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/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        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case 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R.id.</a:t>
            </a:r>
            <a:r>
              <a:rPr kumimoji="0" lang="ko-KR" altLang="ko-KR" sz="1400" b="1" i="1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button2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:</a:t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            msg = Message.</a:t>
            </a:r>
            <a:r>
              <a:rPr kumimoji="0" lang="ko-KR" altLang="ko-KR" sz="14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obtain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(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mHandler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, 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2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, num, 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0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);</a:t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            </a:t>
            </a:r>
            <a:r>
              <a:rPr kumimoji="0" lang="ko-KR" altLang="ko-KR" sz="1400" b="0" i="1" u="none" strike="noStrike" cap="none" normalizeH="0" baseline="0" dirty="0" smtClean="0">
                <a:ln>
                  <a:noFill/>
                </a:ln>
                <a:solidFill>
                  <a:srgbClr val="80808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//mThread.mCalcHandler.sendMessage(msg);</a:t>
            </a:r>
            <a:br>
              <a:rPr kumimoji="0" lang="ko-KR" altLang="ko-KR" sz="1400" b="0" i="1" u="none" strike="noStrike" cap="none" normalizeH="0" baseline="0" dirty="0" smtClean="0">
                <a:ln>
                  <a:noFill/>
                </a:ln>
                <a:solidFill>
                  <a:srgbClr val="80808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400" b="0" i="1" u="none" strike="noStrike" cap="none" normalizeH="0" baseline="0" dirty="0" smtClean="0">
                <a:ln>
                  <a:noFill/>
                </a:ln>
                <a:solidFill>
                  <a:srgbClr val="80808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            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mThread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.getHandler().sendMessage(msg);</a:t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            txt.setText(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"제곱근 계산 중..."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);</a:t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            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break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;</a:t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    }</a:t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}</a:t>
            </a:r>
            <a:endParaRPr kumimoji="0" lang="ko-KR" altLang="ko-KR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28</a:t>
            </a:fld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Message </a:t>
            </a:r>
            <a:r>
              <a:rPr lang="en-US" altLang="ko-KR" dirty="0" err="1"/>
              <a:t>Looper</a:t>
            </a:r>
            <a:endParaRPr lang="ko-KR" altLang="en-US" dirty="0"/>
          </a:p>
        </p:txBody>
      </p:sp>
      <p:sp>
        <p:nvSpPr>
          <p:cNvPr id="6" name="가로로 말린 두루마리 모양 5"/>
          <p:cNvSpPr/>
          <p:nvPr/>
        </p:nvSpPr>
        <p:spPr>
          <a:xfrm>
            <a:off x="5682772" y="2796784"/>
            <a:ext cx="3326130" cy="1172663"/>
          </a:xfrm>
          <a:prstGeom prst="horizontalScroll">
            <a:avLst>
              <a:gd name="adj" fmla="val 10673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/>
              <a:t>버튼을 누르면 작업 </a:t>
            </a:r>
            <a:r>
              <a:rPr lang="ko-KR" altLang="en-US" dirty="0" err="1" smtClean="0"/>
              <a:t>스레드의</a:t>
            </a:r>
            <a:r>
              <a:rPr lang="ko-KR" altLang="en-US" dirty="0"/>
              <a:t> </a:t>
            </a:r>
            <a:r>
              <a:rPr lang="ko-KR" altLang="en-US" dirty="0" err="1" smtClean="0"/>
              <a:t>핸들러에게</a:t>
            </a:r>
            <a:r>
              <a:rPr lang="ko-KR" altLang="en-US" dirty="0" smtClean="0"/>
              <a:t> 메시지를 전송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97230" y="1280160"/>
            <a:ext cx="19868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prstClr val="black"/>
                </a:solidFill>
              </a:rPr>
              <a:t>MsgLoopTest_1</a:t>
            </a:r>
          </a:p>
          <a:p>
            <a:r>
              <a:rPr lang="en-US" altLang="ko-KR" dirty="0" smtClean="0">
                <a:solidFill>
                  <a:prstClr val="black"/>
                </a:solidFill>
              </a:rPr>
              <a:t>MainActivity.java</a:t>
            </a:r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4925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294128" y="2182870"/>
            <a:ext cx="6914451" cy="224676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smtClean="0">
                <a:ln>
                  <a:noFill/>
                </a:ln>
                <a:solidFill>
                  <a:srgbClr val="808000"/>
                </a:solidFill>
                <a:effectLst/>
                <a:latin typeface="+mn-ea"/>
              </a:rPr>
              <a:t>@Override</a:t>
            </a:r>
            <a:br>
              <a:rPr kumimoji="0" lang="ko-KR" altLang="ko-KR" sz="1400" b="0" i="0" u="none" strike="noStrike" cap="none" normalizeH="0" baseline="0" smtClean="0">
                <a:ln>
                  <a:noFill/>
                </a:ln>
                <a:solidFill>
                  <a:srgbClr val="808000"/>
                </a:solidFill>
                <a:effectLst/>
                <a:latin typeface="+mn-ea"/>
              </a:rPr>
            </a:br>
            <a:r>
              <a:rPr kumimoji="0" lang="ko-KR" altLang="ko-KR" sz="1400" b="1" i="0" u="none" strike="noStrike" cap="none" normalizeH="0" baseline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protected void </a:t>
            </a:r>
            <a:r>
              <a:rPr kumimoji="0" lang="ko-KR" altLang="ko-KR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onCreate(Bundle savedInstanceState) {</a:t>
            </a:r>
            <a:br>
              <a:rPr kumimoji="0" lang="ko-KR" altLang="ko-KR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</a:t>
            </a:r>
            <a:r>
              <a:rPr kumimoji="0" lang="ko-KR" altLang="ko-KR" sz="1400" b="1" i="0" u="none" strike="noStrike" cap="none" normalizeH="0" baseline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super</a:t>
            </a:r>
            <a:r>
              <a:rPr kumimoji="0" lang="ko-KR" altLang="ko-KR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.onCreate(savedInstanceState);</a:t>
            </a:r>
            <a:br>
              <a:rPr kumimoji="0" lang="ko-KR" altLang="ko-KR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setContentView(R.layout.</a:t>
            </a:r>
            <a:r>
              <a:rPr kumimoji="0" lang="ko-KR" altLang="ko-KR" sz="1400" b="1" i="1" u="none" strike="noStrike" cap="none" normalizeH="0" baseline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activity_main</a:t>
            </a:r>
            <a:r>
              <a:rPr kumimoji="0" lang="ko-KR" altLang="ko-KR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);</a:t>
            </a:r>
            <a:br>
              <a:rPr kumimoji="0" lang="ko-KR" altLang="ko-KR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/>
            </a:r>
            <a:br>
              <a:rPr kumimoji="0" lang="ko-KR" altLang="ko-KR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</a:t>
            </a:r>
            <a:r>
              <a:rPr kumimoji="0" lang="ko-KR" altLang="ko-KR" sz="1400" b="1" i="0" u="none" strike="noStrike" cap="none" normalizeH="0" baseline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mThread </a:t>
            </a:r>
            <a:r>
              <a:rPr kumimoji="0" lang="ko-KR" altLang="ko-KR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= </a:t>
            </a:r>
            <a:r>
              <a:rPr kumimoji="0" lang="ko-KR" altLang="ko-KR" sz="1400" b="1" i="0" u="none" strike="noStrike" cap="none" normalizeH="0" baseline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new </a:t>
            </a:r>
            <a:r>
              <a:rPr kumimoji="0" lang="ko-KR" altLang="ko-KR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CalcThread(</a:t>
            </a:r>
            <a:r>
              <a:rPr kumimoji="0" lang="ko-KR" altLang="ko-KR" sz="1400" b="1" i="0" u="none" strike="noStrike" cap="none" normalizeH="0" baseline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mHandler</a:t>
            </a:r>
            <a:r>
              <a:rPr kumimoji="0" lang="ko-KR" altLang="ko-KR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);</a:t>
            </a:r>
            <a:br>
              <a:rPr kumimoji="0" lang="ko-KR" altLang="ko-KR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</a:t>
            </a:r>
            <a:r>
              <a:rPr kumimoji="0" lang="ko-KR" altLang="ko-KR" sz="1400" b="1" i="0" u="none" strike="noStrike" cap="none" normalizeH="0" baseline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mThread</a:t>
            </a:r>
            <a:r>
              <a:rPr kumimoji="0" lang="ko-KR" altLang="ko-KR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.setDaemon(</a:t>
            </a:r>
            <a:r>
              <a:rPr kumimoji="0" lang="ko-KR" altLang="ko-KR" sz="1400" b="1" i="0" u="none" strike="noStrike" cap="none" normalizeH="0" baseline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true</a:t>
            </a:r>
            <a:r>
              <a:rPr kumimoji="0" lang="ko-KR" altLang="ko-KR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);</a:t>
            </a:r>
            <a:br>
              <a:rPr kumimoji="0" lang="ko-KR" altLang="ko-KR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</a:t>
            </a:r>
            <a:r>
              <a:rPr kumimoji="0" lang="ko-KR" altLang="ko-KR" sz="1400" b="1" i="0" u="none" strike="noStrike" cap="none" normalizeH="0" baseline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mThread</a:t>
            </a:r>
            <a:r>
              <a:rPr kumimoji="0" lang="ko-KR" altLang="ko-KR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.start();</a:t>
            </a:r>
            <a:br>
              <a:rPr kumimoji="0" lang="ko-KR" altLang="ko-KR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/>
            </a:r>
            <a:br>
              <a:rPr kumimoji="0" lang="ko-KR" altLang="ko-KR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}</a:t>
            </a:r>
            <a:endParaRPr kumimoji="0" lang="ko-KR" altLang="ko-KR" sz="3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29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Message </a:t>
            </a:r>
            <a:r>
              <a:rPr lang="en-US" altLang="ko-KR" dirty="0" err="1"/>
              <a:t>Looper</a:t>
            </a:r>
            <a:endParaRPr lang="ko-KR" altLang="en-US" dirty="0"/>
          </a:p>
        </p:txBody>
      </p:sp>
      <p:sp>
        <p:nvSpPr>
          <p:cNvPr id="6" name="가로로 말린 두루마리 모양 5"/>
          <p:cNvSpPr/>
          <p:nvPr/>
        </p:nvSpPr>
        <p:spPr>
          <a:xfrm>
            <a:off x="5078713" y="4211744"/>
            <a:ext cx="3840480" cy="1384564"/>
          </a:xfrm>
          <a:prstGeom prst="horizontalScroll">
            <a:avLst>
              <a:gd name="adj" fmla="val 10673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/>
              <a:t>생성시 작업 </a:t>
            </a:r>
            <a:r>
              <a:rPr lang="ko-KR" altLang="en-US" dirty="0" err="1" smtClean="0"/>
              <a:t>스레드를</a:t>
            </a:r>
            <a:r>
              <a:rPr lang="ko-KR" altLang="en-US" dirty="0" smtClean="0"/>
              <a:t> 실행</a:t>
            </a:r>
            <a:endParaRPr lang="en-US" altLang="ko-KR" dirty="0" smtClean="0"/>
          </a:p>
          <a:p>
            <a:r>
              <a:rPr lang="ko-KR" altLang="en-US" dirty="0" smtClean="0"/>
              <a:t>작업 </a:t>
            </a:r>
            <a:r>
              <a:rPr lang="ko-KR" altLang="en-US" dirty="0" err="1" smtClean="0"/>
              <a:t>스레드는</a:t>
            </a:r>
            <a:r>
              <a:rPr lang="ko-KR" altLang="en-US" dirty="0" smtClean="0"/>
              <a:t> 메시지를 기다리며 대기 상태에 들어감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97230" y="1280160"/>
            <a:ext cx="19868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prstClr val="black"/>
                </a:solidFill>
              </a:rPr>
              <a:t>MsgLoopTest_1</a:t>
            </a:r>
          </a:p>
          <a:p>
            <a:r>
              <a:rPr lang="en-US" altLang="ko-KR" dirty="0" smtClean="0">
                <a:solidFill>
                  <a:prstClr val="black"/>
                </a:solidFill>
              </a:rPr>
              <a:t>MainActivity.java</a:t>
            </a:r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1925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30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Message </a:t>
            </a:r>
            <a:r>
              <a:rPr lang="en-US" altLang="ko-KR" dirty="0" err="1"/>
              <a:t>Looper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893" y="1307686"/>
            <a:ext cx="2921831" cy="540000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1584" y="1307686"/>
            <a:ext cx="2921831" cy="5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497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Message </a:t>
            </a:r>
            <a:r>
              <a:rPr lang="en-US" altLang="ko-KR" dirty="0" err="1"/>
              <a:t>Looper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 err="1"/>
              <a:t>Looper</a:t>
            </a:r>
            <a:r>
              <a:rPr lang="ko-KR" altLang="en-US" dirty="0"/>
              <a:t>는 반드시 하나의 </a:t>
            </a:r>
            <a:r>
              <a:rPr lang="ko-KR" altLang="en-US" dirty="0" err="1"/>
              <a:t>스레드에</a:t>
            </a:r>
            <a:r>
              <a:rPr lang="ko-KR" altLang="en-US" dirty="0"/>
              <a:t> </a:t>
            </a:r>
            <a:r>
              <a:rPr lang="ko-KR" altLang="en-US" dirty="0" smtClean="0"/>
              <a:t>종속</a:t>
            </a:r>
            <a:r>
              <a:rPr lang="en-US" altLang="ko-KR" dirty="0" smtClean="0"/>
              <a:t>.</a:t>
            </a:r>
            <a:endParaRPr lang="en-US" altLang="ko-KR" dirty="0"/>
          </a:p>
          <a:p>
            <a:pPr lvl="1"/>
            <a:r>
              <a:rPr lang="en-US" altLang="ko-KR" dirty="0">
                <a:hlinkClick r:id="rId3"/>
              </a:rPr>
              <a:t>http://developer.android.com/reference/android/os/Looper.html</a:t>
            </a:r>
            <a:endParaRPr lang="en-US" altLang="ko-KR" dirty="0"/>
          </a:p>
          <a:p>
            <a:pPr lvl="1"/>
            <a:r>
              <a:rPr lang="en-US" altLang="ko-KR" dirty="0" err="1" smtClean="0"/>
              <a:t>getThread</a:t>
            </a:r>
            <a:r>
              <a:rPr lang="en-US" altLang="ko-KR" dirty="0"/>
              <a:t>(); // </a:t>
            </a:r>
            <a:r>
              <a:rPr lang="ko-KR" altLang="en-US" dirty="0" err="1"/>
              <a:t>루퍼가</a:t>
            </a:r>
            <a:r>
              <a:rPr lang="ko-KR" altLang="en-US" dirty="0"/>
              <a:t> 연관된 </a:t>
            </a:r>
            <a:r>
              <a:rPr lang="ko-KR" altLang="en-US" dirty="0" err="1"/>
              <a:t>스레드</a:t>
            </a:r>
            <a:r>
              <a:rPr lang="ko-KR" altLang="en-US" dirty="0"/>
              <a:t> 얻기</a:t>
            </a:r>
            <a:endParaRPr lang="en-US" altLang="ko-KR" dirty="0"/>
          </a:p>
          <a:p>
            <a:pPr lvl="1"/>
            <a:r>
              <a:rPr lang="en-US" altLang="ko-KR" dirty="0" err="1" smtClean="0"/>
              <a:t>getMainLooper</a:t>
            </a:r>
            <a:r>
              <a:rPr lang="en-US" altLang="ko-KR" dirty="0"/>
              <a:t>(); // </a:t>
            </a:r>
            <a:r>
              <a:rPr lang="ko-KR" altLang="en-US" dirty="0"/>
              <a:t>주 </a:t>
            </a:r>
            <a:r>
              <a:rPr lang="ko-KR" altLang="en-US" dirty="0" err="1"/>
              <a:t>스레드의</a:t>
            </a:r>
            <a:r>
              <a:rPr lang="ko-KR" altLang="en-US" dirty="0"/>
              <a:t> </a:t>
            </a:r>
            <a:r>
              <a:rPr lang="ko-KR" altLang="en-US" dirty="0" err="1"/>
              <a:t>루퍼</a:t>
            </a:r>
            <a:r>
              <a:rPr lang="ko-KR" altLang="en-US" dirty="0"/>
              <a:t> 얻기</a:t>
            </a:r>
            <a:endParaRPr lang="en-US" altLang="ko-KR" dirty="0"/>
          </a:p>
          <a:p>
            <a:pPr lvl="1"/>
            <a:r>
              <a:rPr lang="en-US" altLang="ko-KR" dirty="0" err="1"/>
              <a:t>myLooper</a:t>
            </a:r>
            <a:r>
              <a:rPr lang="en-US" altLang="ko-KR" dirty="0"/>
              <a:t>(); // </a:t>
            </a:r>
            <a:r>
              <a:rPr lang="ko-KR" altLang="en-US" dirty="0"/>
              <a:t>현재 </a:t>
            </a:r>
            <a:r>
              <a:rPr lang="ko-KR" altLang="en-US" dirty="0" err="1"/>
              <a:t>스레드의</a:t>
            </a:r>
            <a:r>
              <a:rPr lang="ko-KR" altLang="en-US" dirty="0"/>
              <a:t> </a:t>
            </a:r>
            <a:r>
              <a:rPr lang="ko-KR" altLang="en-US" dirty="0" err="1"/>
              <a:t>루퍼</a:t>
            </a:r>
            <a:r>
              <a:rPr lang="ko-KR" altLang="en-US" dirty="0"/>
              <a:t> 얻기</a:t>
            </a:r>
            <a:endParaRPr lang="en-US" altLang="ko-KR" dirty="0"/>
          </a:p>
          <a:p>
            <a:pPr lvl="1"/>
            <a:endParaRPr lang="en-US" altLang="ko-KR" dirty="0" smtClean="0"/>
          </a:p>
          <a:p>
            <a:r>
              <a:rPr lang="en-US" altLang="ko-KR" dirty="0" smtClean="0"/>
              <a:t>Handler</a:t>
            </a:r>
          </a:p>
          <a:p>
            <a:pPr lvl="1"/>
            <a:r>
              <a:rPr lang="en-US" altLang="ko-KR" dirty="0" smtClean="0"/>
              <a:t>Message</a:t>
            </a:r>
            <a:r>
              <a:rPr lang="ko-KR" altLang="en-US" dirty="0" smtClean="0"/>
              <a:t> 대신 </a:t>
            </a:r>
            <a:r>
              <a:rPr lang="en-US" altLang="ko-KR" dirty="0" smtClean="0"/>
              <a:t>Runnable </a:t>
            </a:r>
            <a:r>
              <a:rPr lang="ko-KR" altLang="en-US" dirty="0" smtClean="0"/>
              <a:t>객체 가능</a:t>
            </a:r>
            <a:r>
              <a:rPr lang="en-US" altLang="ko-KR" dirty="0" smtClean="0"/>
              <a:t>.</a:t>
            </a:r>
          </a:p>
          <a:p>
            <a:pPr lvl="2"/>
            <a:r>
              <a:rPr lang="en-US" altLang="ko-KR" dirty="0" err="1" smtClean="0"/>
              <a:t>boolean</a:t>
            </a:r>
            <a:r>
              <a:rPr lang="en-US" altLang="ko-KR" dirty="0" smtClean="0"/>
              <a:t> post(Runnable r);</a:t>
            </a:r>
          </a:p>
          <a:p>
            <a:pPr lvl="1"/>
            <a:endParaRPr lang="en-US" altLang="ko-KR" dirty="0" smtClean="0"/>
          </a:p>
          <a:p>
            <a:pPr lvl="1"/>
            <a:r>
              <a:rPr lang="en-US" altLang="ko-KR" dirty="0" smtClean="0"/>
              <a:t>Delay </a:t>
            </a:r>
            <a:r>
              <a:rPr lang="ko-KR" altLang="en-US" dirty="0" smtClean="0"/>
              <a:t>설정</a:t>
            </a:r>
            <a:r>
              <a:rPr lang="en-US" altLang="ko-KR" dirty="0" smtClean="0"/>
              <a:t> </a:t>
            </a:r>
          </a:p>
          <a:p>
            <a:pPr lvl="2"/>
            <a:r>
              <a:rPr lang="en-US" altLang="ko-KR" dirty="0" err="1" smtClean="0"/>
              <a:t>boolean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sendMessageAtTime</a:t>
            </a:r>
            <a:r>
              <a:rPr lang="en-US" altLang="ko-KR" dirty="0" smtClean="0"/>
              <a:t>(Message </a:t>
            </a:r>
            <a:r>
              <a:rPr lang="en-US" altLang="ko-KR" dirty="0" err="1" smtClean="0"/>
              <a:t>msg</a:t>
            </a:r>
            <a:r>
              <a:rPr lang="en-US" altLang="ko-KR" dirty="0" smtClean="0"/>
              <a:t>, long </a:t>
            </a:r>
            <a:r>
              <a:rPr lang="en-US" altLang="ko-KR" dirty="0" err="1" smtClean="0"/>
              <a:t>uptimeMillis</a:t>
            </a:r>
            <a:r>
              <a:rPr lang="en-US" altLang="ko-KR" dirty="0" smtClean="0"/>
              <a:t>);</a:t>
            </a:r>
          </a:p>
          <a:p>
            <a:pPr lvl="2"/>
            <a:r>
              <a:rPr lang="en-US" altLang="ko-KR" dirty="0" err="1"/>
              <a:t>boolean</a:t>
            </a:r>
            <a:r>
              <a:rPr lang="en-US" altLang="ko-KR" dirty="0"/>
              <a:t> </a:t>
            </a:r>
            <a:r>
              <a:rPr lang="en-US" altLang="ko-KR" dirty="0" err="1" smtClean="0"/>
              <a:t>sendMessageDelayed</a:t>
            </a:r>
            <a:r>
              <a:rPr lang="en-US" altLang="ko-KR" dirty="0" smtClean="0"/>
              <a:t>(Message </a:t>
            </a:r>
            <a:r>
              <a:rPr lang="en-US" altLang="ko-KR" dirty="0" err="1"/>
              <a:t>msg</a:t>
            </a:r>
            <a:r>
              <a:rPr lang="en-US" altLang="ko-KR" dirty="0"/>
              <a:t>, long </a:t>
            </a:r>
            <a:r>
              <a:rPr lang="en-US" altLang="ko-KR" dirty="0" err="1" smtClean="0"/>
              <a:t>delayMillis</a:t>
            </a:r>
            <a:r>
              <a:rPr lang="en-US" altLang="ko-KR" dirty="0" smtClean="0"/>
              <a:t>);</a:t>
            </a:r>
          </a:p>
          <a:p>
            <a:pPr lvl="2"/>
            <a:r>
              <a:rPr lang="en-US" altLang="ko-KR" dirty="0" err="1" smtClean="0"/>
              <a:t>boolean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postAtTime</a:t>
            </a:r>
            <a:r>
              <a:rPr lang="en-US" altLang="ko-KR" dirty="0" smtClean="0"/>
              <a:t>(Runnable r, </a:t>
            </a:r>
            <a:r>
              <a:rPr lang="en-US" altLang="ko-KR" dirty="0"/>
              <a:t>long </a:t>
            </a:r>
            <a:r>
              <a:rPr lang="en-US" altLang="ko-KR" dirty="0" err="1"/>
              <a:t>uptimeMillis</a:t>
            </a:r>
            <a:r>
              <a:rPr lang="en-US" altLang="ko-KR" dirty="0"/>
              <a:t>);</a:t>
            </a:r>
          </a:p>
          <a:p>
            <a:pPr lvl="2"/>
            <a:r>
              <a:rPr lang="en-US" altLang="ko-KR" dirty="0" err="1"/>
              <a:t>boolean</a:t>
            </a:r>
            <a:r>
              <a:rPr lang="en-US" altLang="ko-KR" dirty="0"/>
              <a:t> </a:t>
            </a:r>
            <a:r>
              <a:rPr lang="en-US" altLang="ko-KR" dirty="0" err="1" smtClean="0"/>
              <a:t>postDelayed</a:t>
            </a:r>
            <a:r>
              <a:rPr lang="en-US" altLang="ko-KR" dirty="0" smtClean="0"/>
              <a:t>(Runnable r, </a:t>
            </a:r>
            <a:r>
              <a:rPr lang="en-US" altLang="ko-KR" dirty="0"/>
              <a:t>long </a:t>
            </a:r>
            <a:r>
              <a:rPr lang="en-US" altLang="ko-KR" dirty="0" err="1"/>
              <a:t>delayMillis</a:t>
            </a:r>
            <a:r>
              <a:rPr lang="en-US" altLang="ko-KR" dirty="0"/>
              <a:t>);</a:t>
            </a:r>
          </a:p>
          <a:p>
            <a:pPr lvl="1"/>
            <a:endParaRPr lang="ko-KR" altLang="en-US" dirty="0"/>
          </a:p>
          <a:p>
            <a:pPr lvl="1"/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2971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AsyncTask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손쉽게 백그라운드 작업 사용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따로 </a:t>
            </a:r>
            <a:r>
              <a:rPr lang="en-US" altLang="ko-KR" dirty="0" smtClean="0"/>
              <a:t>Handler</a:t>
            </a:r>
            <a:r>
              <a:rPr lang="ko-KR" altLang="en-US" dirty="0" smtClean="0"/>
              <a:t>를 정의하지 않고 알기 쉬운 구조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excute</a:t>
            </a:r>
            <a:r>
              <a:rPr lang="en-US" altLang="ko-KR" dirty="0" smtClean="0"/>
              <a:t>()</a:t>
            </a:r>
            <a:r>
              <a:rPr lang="ko-KR" altLang="en-US" dirty="0" smtClean="0"/>
              <a:t>와 </a:t>
            </a:r>
            <a:r>
              <a:rPr lang="en-US" altLang="ko-KR" dirty="0" smtClean="0"/>
              <a:t>cancel(), </a:t>
            </a:r>
            <a:r>
              <a:rPr lang="ko-KR" altLang="en-US" dirty="0" smtClean="0"/>
              <a:t>단 두 번의 호출만으로 손쉽게 사용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onInBackground</a:t>
            </a:r>
            <a:r>
              <a:rPr lang="en-US" altLang="ko-KR" dirty="0" smtClean="0"/>
              <a:t>() </a:t>
            </a:r>
            <a:r>
              <a:rPr lang="ko-KR" altLang="en-US" dirty="0" err="1" smtClean="0"/>
              <a:t>메서드를</a:t>
            </a:r>
            <a:r>
              <a:rPr lang="ko-KR" altLang="en-US" dirty="0" smtClean="0"/>
              <a:t> 제외하고 다른 </a:t>
            </a:r>
            <a:r>
              <a:rPr lang="ko-KR" altLang="en-US" dirty="0" err="1" smtClean="0"/>
              <a:t>메서드들은</a:t>
            </a:r>
            <a:r>
              <a:rPr lang="ko-KR" altLang="en-US" dirty="0" smtClean="0"/>
              <a:t> </a:t>
            </a:r>
            <a:r>
              <a:rPr lang="en-US" altLang="ko-KR" dirty="0" smtClean="0"/>
              <a:t>View</a:t>
            </a:r>
            <a:r>
              <a:rPr lang="ko-KR" altLang="en-US" dirty="0" smtClean="0"/>
              <a:t>에 접근 가능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32</a:t>
            </a:fld>
            <a:endParaRPr lang="ko-KR" altLang="en-US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4161342"/>
              </p:ext>
            </p:extLst>
          </p:nvPr>
        </p:nvGraphicFramePr>
        <p:xfrm>
          <a:off x="1234440" y="2905760"/>
          <a:ext cx="6983730" cy="33578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33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3731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5964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구현해야 할 </a:t>
                      </a:r>
                      <a:r>
                        <a:rPr lang="ko-KR" altLang="en-US" dirty="0" err="1" smtClean="0"/>
                        <a:t>메서드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실행 주체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역할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5964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void </a:t>
                      </a:r>
                      <a:r>
                        <a:rPr lang="en-US" altLang="ko-KR" sz="1400" dirty="0" err="1" smtClean="0"/>
                        <a:t>onPreExecute</a:t>
                      </a:r>
                      <a:r>
                        <a:rPr lang="en-US" altLang="ko-KR" sz="1400" dirty="0" smtClean="0"/>
                        <a:t>()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/>
                        <a:t>UI</a:t>
                      </a:r>
                      <a:r>
                        <a:rPr lang="en-US" altLang="ko-KR" sz="1600" baseline="0" dirty="0" smtClean="0"/>
                        <a:t> </a:t>
                      </a:r>
                      <a:r>
                        <a:rPr lang="ko-KR" altLang="en-US" sz="1600" baseline="0" dirty="0" err="1" smtClean="0"/>
                        <a:t>스레드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백그라운드 실행 준비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5964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Result </a:t>
                      </a:r>
                      <a:r>
                        <a:rPr lang="en-US" altLang="ko-KR" sz="1400" dirty="0" err="1" smtClean="0"/>
                        <a:t>doInBackground</a:t>
                      </a:r>
                      <a:r>
                        <a:rPr lang="en-US" altLang="ko-KR" sz="1400" dirty="0" smtClean="0"/>
                        <a:t>(</a:t>
                      </a:r>
                      <a:r>
                        <a:rPr lang="en-US" altLang="ko-KR" sz="1400" dirty="0" err="1" smtClean="0"/>
                        <a:t>Params</a:t>
                      </a:r>
                      <a:r>
                        <a:rPr lang="en-US" altLang="ko-KR" sz="1400" dirty="0" smtClean="0"/>
                        <a:t>… </a:t>
                      </a:r>
                      <a:r>
                        <a:rPr lang="en-US" altLang="ko-KR" sz="1400" dirty="0" err="1" smtClean="0"/>
                        <a:t>params</a:t>
                      </a:r>
                      <a:r>
                        <a:rPr lang="en-US" altLang="ko-KR" sz="1400" dirty="0" smtClean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내부 </a:t>
                      </a:r>
                      <a:r>
                        <a:rPr lang="ko-KR" altLang="en-US" sz="1600" dirty="0" err="1" smtClean="0"/>
                        <a:t>스레드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실제 작업 루프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5964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void </a:t>
                      </a:r>
                      <a:r>
                        <a:rPr lang="en-US" altLang="ko-KR" sz="1400" dirty="0" err="1" smtClean="0"/>
                        <a:t>onProgressUpdate</a:t>
                      </a:r>
                      <a:r>
                        <a:rPr lang="en-US" altLang="ko-KR" sz="1400" dirty="0" smtClean="0"/>
                        <a:t>(Progress… values)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/>
                        <a:t>UI </a:t>
                      </a:r>
                      <a:r>
                        <a:rPr lang="ko-KR" altLang="en-US" sz="1600" dirty="0" err="1" smtClean="0"/>
                        <a:t>스레드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작업 경과 표시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5964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void </a:t>
                      </a:r>
                      <a:r>
                        <a:rPr lang="en-US" altLang="ko-KR" sz="1400" dirty="0" err="1" smtClean="0"/>
                        <a:t>onPostExecute</a:t>
                      </a:r>
                      <a:r>
                        <a:rPr lang="en-US" altLang="ko-KR" sz="1400" dirty="0" smtClean="0"/>
                        <a:t>(Result result)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/>
                        <a:t>UI </a:t>
                      </a:r>
                      <a:r>
                        <a:rPr lang="ko-KR" altLang="en-US" sz="1600" dirty="0" err="1" smtClean="0"/>
                        <a:t>스레드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작업 완료 후 처리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5964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void</a:t>
                      </a:r>
                      <a:r>
                        <a:rPr lang="en-US" altLang="ko-KR" sz="1400" baseline="0" dirty="0" smtClean="0"/>
                        <a:t> </a:t>
                      </a:r>
                      <a:r>
                        <a:rPr lang="en-US" altLang="ko-KR" sz="1400" baseline="0" dirty="0" err="1" smtClean="0"/>
                        <a:t>onCancelled</a:t>
                      </a:r>
                      <a:r>
                        <a:rPr lang="en-US" altLang="ko-KR" sz="1400" baseline="0" dirty="0" smtClean="0"/>
                        <a:t>()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smtClean="0"/>
                        <a:t>UI </a:t>
                      </a:r>
                      <a:r>
                        <a:rPr lang="ko-KR" altLang="en-US" sz="1600" dirty="0" err="1" smtClean="0"/>
                        <a:t>스레드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작업 취소 후 처리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9325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1208690" y="3493861"/>
            <a:ext cx="7157545" cy="15696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public class 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CounterTask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extends 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AsyncTask&lt;Integer, Integer, Integer&gt; {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808000"/>
                </a:solidFill>
                <a:effectLst/>
                <a:latin typeface="+mn-ea"/>
              </a:rPr>
              <a:t>@Override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808000"/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808000"/>
                </a:solidFill>
                <a:effectLst/>
                <a:latin typeface="+mn-ea"/>
              </a:rPr>
              <a:t>   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protected 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Integer doInBackground(Integer... params) {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return null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;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}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}</a:t>
            </a:r>
            <a:endParaRPr kumimoji="0" lang="ko-KR" altLang="ko-KR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AsyncTask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백그라운드 작업 도우미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AsyncTask</a:t>
            </a:r>
            <a:r>
              <a:rPr lang="en-US" altLang="ko-KR" dirty="0" smtClean="0"/>
              <a:t> </a:t>
            </a:r>
            <a:r>
              <a:rPr lang="ko-KR" altLang="en-US" dirty="0" smtClean="0"/>
              <a:t>클래스를 상속하여 내부 </a:t>
            </a:r>
            <a:r>
              <a:rPr lang="ko-KR" altLang="en-US" dirty="0" err="1" smtClean="0"/>
              <a:t>메서드들을</a:t>
            </a:r>
            <a:r>
              <a:rPr lang="ko-KR" altLang="en-US" dirty="0" smtClean="0"/>
              <a:t> 구현한 후 사용</a:t>
            </a:r>
            <a:endParaRPr lang="en-US" altLang="ko-KR" dirty="0"/>
          </a:p>
          <a:p>
            <a:r>
              <a:rPr lang="ko-KR" altLang="en-US" dirty="0" smtClean="0"/>
              <a:t>클래스 추가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CounterTask</a:t>
            </a:r>
            <a:r>
              <a:rPr lang="en-US" altLang="ko-KR" dirty="0" smtClean="0"/>
              <a:t> </a:t>
            </a:r>
            <a:r>
              <a:rPr lang="ko-KR" altLang="en-US" dirty="0" smtClean="0"/>
              <a:t>클래스 생성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AsyncTask</a:t>
            </a:r>
            <a:r>
              <a:rPr lang="en-US" altLang="ko-KR" dirty="0" smtClean="0"/>
              <a:t>&lt;</a:t>
            </a:r>
            <a:r>
              <a:rPr lang="en-US" altLang="ko-KR" dirty="0" err="1" smtClean="0"/>
              <a:t>Interger</a:t>
            </a:r>
            <a:r>
              <a:rPr lang="en-US" altLang="ko-KR" dirty="0"/>
              <a:t>, </a:t>
            </a:r>
            <a:r>
              <a:rPr lang="en-US" altLang="ko-KR" dirty="0" err="1"/>
              <a:t>Interger</a:t>
            </a:r>
            <a:r>
              <a:rPr lang="en-US" altLang="ko-KR" dirty="0"/>
              <a:t>, </a:t>
            </a:r>
            <a:r>
              <a:rPr lang="en-US" altLang="ko-KR" dirty="0" err="1"/>
              <a:t>Interger</a:t>
            </a:r>
            <a:r>
              <a:rPr lang="en-US" altLang="ko-KR" dirty="0"/>
              <a:t>&gt; </a:t>
            </a:r>
            <a:r>
              <a:rPr lang="ko-KR" altLang="en-US" dirty="0" smtClean="0"/>
              <a:t>클래스를</a:t>
            </a:r>
            <a:r>
              <a:rPr lang="en-US" altLang="ko-KR" dirty="0" smtClean="0"/>
              <a:t> </a:t>
            </a:r>
            <a:r>
              <a:rPr lang="ko-KR" altLang="en-US" dirty="0" smtClean="0"/>
              <a:t>상속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33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1538013" y="3815607"/>
            <a:ext cx="5125545" cy="10086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3636579" y="3576332"/>
            <a:ext cx="4225159" cy="2179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0434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AsyncTask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34</a:t>
            </a:fld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697230" y="1280160"/>
            <a:ext cx="3199146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 smtClean="0">
                <a:solidFill>
                  <a:prstClr val="black"/>
                </a:solidFill>
              </a:rPr>
              <a:t>AsyncTaskTest_1</a:t>
            </a:r>
          </a:p>
          <a:p>
            <a:r>
              <a:rPr lang="en-US" altLang="ko-KR" dirty="0" smtClean="0">
                <a:solidFill>
                  <a:prstClr val="black"/>
                </a:solidFill>
              </a:rPr>
              <a:t>/res/layout/activity_main.xml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773430" y="2070853"/>
            <a:ext cx="4696222" cy="37548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&lt;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Button</a:t>
            </a:r>
            <a:b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</a:b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    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android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:id = 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"@+id/button2"</a:t>
            </a:r>
            <a:b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</a:b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    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android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:layout_width = 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"match_parent"</a:t>
            </a:r>
            <a:b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</a:b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    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android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:layout_height = 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"wrap_content"</a:t>
            </a:r>
            <a:b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</a:b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    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android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:onClick = 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"startWork"</a:t>
            </a:r>
            <a:b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</a:b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    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android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:text=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"진행 상황 확인!" 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/&gt;</a:t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&lt;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Button</a:t>
            </a:r>
            <a:b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</a:b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    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android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:id =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"@+id/button1"</a:t>
            </a:r>
            <a:b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</a:b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    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android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:layout_width =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"match_parent"</a:t>
            </a:r>
            <a:b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</a:b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    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android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:layout_height =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"wrap_content"</a:t>
            </a:r>
            <a:b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</a:b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    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android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:onClick =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"cancelWork"</a:t>
            </a:r>
            <a:b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</a:b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    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android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:text =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"작업 취소!" 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/&gt;</a:t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&lt;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TextView</a:t>
            </a:r>
            <a:b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</a:b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    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android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:id=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"@+id/textView1"</a:t>
            </a:r>
            <a:b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</a:b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    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android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:layout_width =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"match_parent"</a:t>
            </a:r>
            <a:b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</a:b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    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android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:layout_height =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"wrap_content"</a:t>
            </a:r>
            <a:b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</a:b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    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android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:text =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"AsyncResult" 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/&gt;</a:t>
            </a:r>
            <a:endParaRPr kumimoji="0" lang="ko-KR" altLang="ko-KR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1447" y="1248290"/>
            <a:ext cx="2921831" cy="5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91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732341" y="2023110"/>
            <a:ext cx="7735243" cy="47089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public class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CounterTask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extends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AsyncTask&lt;Integer, Integer, Integer&gt; {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TextView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mOutput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int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mCount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=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0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/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public void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setOutputView(TextView txt) {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mOutput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= txt;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}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/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808000"/>
                </a:solidFill>
                <a:effectLst/>
                <a:latin typeface="+mn-ea"/>
              </a:rPr>
              <a:t>@Override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808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808000"/>
                </a:solidFill>
                <a:effectLst/>
                <a:latin typeface="+mn-ea"/>
              </a:rPr>
              <a:t>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protected void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onPreExecute() {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mCount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=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0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super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.onPreExecute();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}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/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808000"/>
                </a:solidFill>
                <a:effectLst/>
                <a:latin typeface="+mn-ea"/>
              </a:rPr>
              <a:t>@Override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808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808000"/>
                </a:solidFill>
                <a:effectLst/>
                <a:latin typeface="+mn-ea"/>
              </a:rPr>
              <a:t>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protected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Integer doInBackground(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Integer... params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) {</a:t>
            </a:r>
            <a:r>
              <a:rPr kumimoji="0" lang="en-US" altLang="ko-KR" sz="12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/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for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(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int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i =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0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; i &lt;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params[0]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; i++) {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mCount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++;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    publishProgress(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mCount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);</a:t>
            </a:r>
            <a:r>
              <a:rPr kumimoji="0" lang="en-US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</a:t>
            </a:r>
            <a:r>
              <a:rPr kumimoji="0" lang="en-US" altLang="ko-KR" sz="1200" b="0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// trigger the execution of </a:t>
            </a:r>
            <a:r>
              <a:rPr kumimoji="0" lang="en-US" altLang="ko-KR" sz="1200" b="0" i="0" u="none" strike="noStrike" cap="none" normalizeH="0" baseline="0" dirty="0" err="1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onProgressUpdate</a:t>
            </a:r>
            <a:r>
              <a:rPr kumimoji="0" lang="en-US" altLang="ko-KR" sz="1200" b="0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( )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/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try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{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        Thread.</a:t>
            </a:r>
            <a:r>
              <a:rPr kumimoji="0" lang="ko-KR" altLang="ko-KR" sz="12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sleep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(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1000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);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    }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catch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(InterruptedException e) {;}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}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return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mCount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}</a:t>
            </a:r>
            <a:endParaRPr kumimoji="0" lang="ko-KR" altLang="ko-KR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AsyncTask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199073"/>
            <a:ext cx="8229600" cy="1724749"/>
          </a:xfrm>
        </p:spPr>
        <p:txBody>
          <a:bodyPr>
            <a:normAutofit/>
          </a:bodyPr>
          <a:lstStyle/>
          <a:p>
            <a:r>
              <a:rPr lang="en-US" altLang="ko-KR" dirty="0" smtClean="0">
                <a:solidFill>
                  <a:prstClr val="black"/>
                </a:solidFill>
              </a:rPr>
              <a:t>ConterTask.java</a:t>
            </a:r>
          </a:p>
          <a:p>
            <a:pPr lvl="1"/>
            <a:r>
              <a:rPr lang="ko-KR" altLang="en-US" sz="2000" dirty="0" smtClean="0"/>
              <a:t>주어진 개수만큼 카운트를 증가하는 </a:t>
            </a:r>
            <a:r>
              <a:rPr lang="en-US" altLang="ko-KR" sz="2000" dirty="0" smtClean="0"/>
              <a:t>Task </a:t>
            </a:r>
            <a:r>
              <a:rPr lang="ko-KR" altLang="en-US" sz="2000" dirty="0" smtClean="0"/>
              <a:t>작성</a:t>
            </a:r>
            <a:endParaRPr lang="en-US" altLang="ko-KR" sz="2000" dirty="0" smtClean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35</a:t>
            </a:fld>
            <a:endParaRPr lang="ko-KR" altLang="en-US"/>
          </a:p>
        </p:txBody>
      </p:sp>
      <p:sp>
        <p:nvSpPr>
          <p:cNvPr id="7" name="가로로 말린 두루마리 모양 6"/>
          <p:cNvSpPr/>
          <p:nvPr/>
        </p:nvSpPr>
        <p:spPr>
          <a:xfrm>
            <a:off x="5985815" y="1942847"/>
            <a:ext cx="2731770" cy="692282"/>
          </a:xfrm>
          <a:prstGeom prst="horizontalScroll">
            <a:avLst>
              <a:gd name="adj" fmla="val 18928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/>
              <a:t>빈 몸체에 내용을 채움</a:t>
            </a:r>
            <a:endParaRPr lang="ko-KR" altLang="en-US" dirty="0"/>
          </a:p>
        </p:txBody>
      </p:sp>
      <p:sp>
        <p:nvSpPr>
          <p:cNvPr id="8" name="가로로 말린 두루마리 모양 7"/>
          <p:cNvSpPr/>
          <p:nvPr/>
        </p:nvSpPr>
        <p:spPr>
          <a:xfrm>
            <a:off x="4284498" y="2741859"/>
            <a:ext cx="2945130" cy="692282"/>
          </a:xfrm>
          <a:prstGeom prst="horizontalScroll">
            <a:avLst>
              <a:gd name="adj" fmla="val 18928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smtClean="0"/>
              <a:t>출력을 위한 </a:t>
            </a:r>
            <a:r>
              <a:rPr lang="en-US" altLang="ko-KR" dirty="0" smtClean="0"/>
              <a:t>View</a:t>
            </a:r>
            <a:r>
              <a:rPr lang="ko-KR" altLang="en-US" dirty="0" smtClean="0"/>
              <a:t>를 설정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77409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AsyncTask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36</a:t>
            </a:fld>
            <a:endParaRPr lang="ko-KR" altLang="en-US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187670" y="1930777"/>
            <a:ext cx="4493538" cy="34163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808000"/>
                </a:solidFill>
                <a:effectLst/>
                <a:latin typeface="+mn-ea"/>
              </a:rPr>
              <a:t>@Override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808000"/>
                </a:solidFill>
                <a:effectLst/>
                <a:latin typeface="+mn-ea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protected void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onProgressUpdate(Integer... values) {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mOutput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.setText(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"진행상황: "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+ values[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+mn-ea"/>
              </a:rPr>
              <a:t>0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]);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super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.onProgressUpdate(values);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}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/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808000"/>
                </a:solidFill>
                <a:effectLst/>
                <a:latin typeface="+mn-ea"/>
              </a:rPr>
              <a:t>@Override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808000"/>
                </a:solidFill>
                <a:effectLst/>
                <a:latin typeface="+mn-ea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protected void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onPostExecute(Integer integer) {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mOutput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.setText(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"결과: "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+ integer);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super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.onPostExecute(integer);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}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/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808000"/>
                </a:solidFill>
                <a:effectLst/>
                <a:latin typeface="+mn-ea"/>
              </a:rPr>
              <a:t>@Override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808000"/>
                </a:solidFill>
                <a:effectLst/>
                <a:latin typeface="+mn-ea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protected void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onCancelled(</a:t>
            </a:r>
            <a:r>
              <a:rPr lang="en-US" altLang="ko-KR" sz="1200" dirty="0" smtClean="0">
                <a:solidFill>
                  <a:srgbClr val="000000"/>
                </a:solidFill>
                <a:latin typeface="+mn-ea"/>
              </a:rPr>
              <a:t>Integer </a:t>
            </a:r>
            <a:r>
              <a:rPr lang="en-US" altLang="ko-KR" sz="1200" dirty="0" err="1" smtClean="0">
                <a:solidFill>
                  <a:srgbClr val="000000"/>
                </a:solidFill>
                <a:latin typeface="+mn-ea"/>
              </a:rPr>
              <a:t>integer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) {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mOutput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.setText(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"취소됨"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);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super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.onCancelled();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}</a:t>
            </a:r>
            <a:endParaRPr kumimoji="0" lang="en-US" altLang="ko-KR" sz="12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200" dirty="0">
                <a:solidFill>
                  <a:srgbClr val="000000"/>
                </a:solidFill>
                <a:latin typeface="+mn-ea"/>
              </a:rPr>
              <a:t>}</a:t>
            </a:r>
            <a:endParaRPr kumimoji="0" lang="ko-KR" altLang="ko-KR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58778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969873" y="2185385"/>
            <a:ext cx="7685397" cy="403187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CounterTask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mTask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;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boolean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mBreak 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=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true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;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/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public void 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startWork(View v) {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if 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(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mBreak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) {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mBreak 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=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false 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;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mTask 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=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new 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CounterTask();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/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mTask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.setOutputView((TextView)findViewById(R.id.</a:t>
            </a:r>
            <a:r>
              <a:rPr kumimoji="0" lang="ko-KR" altLang="ko-KR" sz="1600" b="1" i="1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textView1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) );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mTask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.execute(10);</a:t>
            </a:r>
            <a:r>
              <a:rPr kumimoji="0" lang="en-US" altLang="ko-KR" sz="16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  </a:t>
            </a:r>
            <a:r>
              <a:rPr kumimoji="0" lang="en-US" altLang="ko-KR" sz="1400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// 10</a:t>
            </a:r>
            <a:r>
              <a:rPr kumimoji="0" lang="ko-KR" altLang="en-US" sz="1400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>은 </a:t>
            </a:r>
            <a:r>
              <a:rPr lang="ko-KR" altLang="ko-KR" sz="1400" dirty="0" smtClean="0">
                <a:solidFill>
                  <a:srgbClr val="008000"/>
                </a:solidFill>
                <a:latin typeface="+mn-ea"/>
              </a:rPr>
              <a:t>doInBackground(Integer</a:t>
            </a:r>
            <a:r>
              <a:rPr lang="ko-KR" altLang="ko-KR" sz="1400" dirty="0">
                <a:solidFill>
                  <a:srgbClr val="008000"/>
                </a:solidFill>
                <a:latin typeface="+mn-ea"/>
              </a:rPr>
              <a:t>... </a:t>
            </a:r>
            <a:r>
              <a:rPr lang="ko-KR" altLang="ko-KR" sz="1400" dirty="0" smtClean="0">
                <a:solidFill>
                  <a:srgbClr val="008000"/>
                </a:solidFill>
                <a:latin typeface="+mn-ea"/>
              </a:rPr>
              <a:t>params)</a:t>
            </a:r>
            <a:r>
              <a:rPr lang="ko-KR" altLang="en-US" sz="1400" dirty="0" smtClean="0">
                <a:solidFill>
                  <a:srgbClr val="008000"/>
                </a:solidFill>
                <a:latin typeface="+mn-ea"/>
              </a:rPr>
              <a:t>의 </a:t>
            </a:r>
            <a:r>
              <a:rPr lang="en-US" altLang="ko-KR" sz="1400" dirty="0" err="1" smtClean="0">
                <a:solidFill>
                  <a:srgbClr val="008000"/>
                </a:solidFill>
                <a:latin typeface="+mn-ea"/>
              </a:rPr>
              <a:t>parmams</a:t>
            </a:r>
            <a:r>
              <a:rPr lang="en-US" altLang="ko-KR" sz="1400" dirty="0" smtClean="0">
                <a:solidFill>
                  <a:srgbClr val="008000"/>
                </a:solidFill>
                <a:latin typeface="+mn-ea"/>
              </a:rPr>
              <a:t> </a:t>
            </a:r>
            <a:r>
              <a:rPr lang="ko-KR" altLang="en-US" sz="1400" dirty="0" smtClean="0">
                <a:solidFill>
                  <a:srgbClr val="008000"/>
                </a:solidFill>
                <a:latin typeface="+mn-ea"/>
              </a:rPr>
              <a:t>로</a:t>
            </a:r>
            <a:r>
              <a:rPr lang="en-US" altLang="ko-KR" sz="1400" dirty="0" smtClean="0">
                <a:solidFill>
                  <a:srgbClr val="008000"/>
                </a:solidFill>
                <a:latin typeface="+mn-ea"/>
              </a:rPr>
              <a:t> </a:t>
            </a:r>
            <a:r>
              <a:rPr lang="ko-KR" altLang="en-US" sz="1400" dirty="0" smtClean="0">
                <a:solidFill>
                  <a:srgbClr val="008000"/>
                </a:solidFill>
                <a:latin typeface="+mn-ea"/>
              </a:rPr>
              <a:t>전달</a:t>
            </a:r>
            <a:r>
              <a:rPr kumimoji="0" lang="ko-KR" altLang="ko-KR" sz="1600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  <a:t/>
            </a:r>
            <a:br>
              <a:rPr kumimoji="0" lang="ko-KR" altLang="ko-KR" sz="1600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}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else 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{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   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mBreak 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=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true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;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}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}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public void 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cancelWork(View v) {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   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+mn-ea"/>
              </a:rPr>
              <a:t>mTask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.cancel(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+mn-ea"/>
              </a:rPr>
              <a:t>true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);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}</a:t>
            </a:r>
            <a:endParaRPr kumimoji="0" lang="ko-KR" altLang="ko-KR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AsyncTask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484672"/>
            <a:ext cx="8229600" cy="1044039"/>
          </a:xfrm>
        </p:spPr>
        <p:txBody>
          <a:bodyPr/>
          <a:lstStyle/>
          <a:p>
            <a:r>
              <a:rPr lang="en-US" altLang="ko-KR" dirty="0" smtClean="0"/>
              <a:t>MainActivity.java</a:t>
            </a:r>
          </a:p>
          <a:p>
            <a:pPr lvl="1"/>
            <a:r>
              <a:rPr lang="ko-KR" altLang="en-US" dirty="0" smtClean="0"/>
              <a:t>백그라운드 작업 호출 부분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5225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4158" y="1273845"/>
            <a:ext cx="2727042" cy="5040000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0679" y="1273845"/>
            <a:ext cx="2727042" cy="504000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72" y="1307689"/>
            <a:ext cx="2727042" cy="5040000"/>
          </a:xfrm>
          <a:prstGeom prst="rect">
            <a:avLst/>
          </a:prstGeom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38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AsyncTask</a:t>
            </a:r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668792" y="2406725"/>
            <a:ext cx="1946817" cy="1769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420672" y="4182203"/>
            <a:ext cx="2701482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 smtClean="0"/>
              <a:t>[</a:t>
            </a:r>
            <a:r>
              <a:rPr lang="ko-KR" altLang="en-US" sz="1400" b="1" dirty="0" smtClean="0"/>
              <a:t>진행 상황 확인</a:t>
            </a:r>
            <a:r>
              <a:rPr lang="en-US" altLang="ko-KR" sz="1400" b="1" dirty="0" smtClean="0"/>
              <a:t>!] </a:t>
            </a:r>
            <a:r>
              <a:rPr lang="ko-KR" altLang="en-US" sz="1400" b="1" dirty="0" smtClean="0"/>
              <a:t>클릭으로 시작</a:t>
            </a:r>
            <a:endParaRPr lang="ko-KR" altLang="en-US" sz="1400" b="1" dirty="0"/>
          </a:p>
        </p:txBody>
      </p:sp>
      <p:cxnSp>
        <p:nvCxnSpPr>
          <p:cNvPr id="11" name="직선 화살표 연결선 10"/>
          <p:cNvCxnSpPr>
            <a:stCxn id="10" idx="0"/>
            <a:endCxn id="9" idx="2"/>
          </p:cNvCxnSpPr>
          <p:nvPr/>
        </p:nvCxnSpPr>
        <p:spPr>
          <a:xfrm flipH="1" flipV="1">
            <a:off x="1642201" y="2583712"/>
            <a:ext cx="129212" cy="159849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436313" y="3450311"/>
            <a:ext cx="2206404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 smtClean="0"/>
              <a:t>execute(10)</a:t>
            </a:r>
            <a:r>
              <a:rPr lang="ko-KR" altLang="en-US" sz="1600" b="1" dirty="0" smtClean="0"/>
              <a:t>의 </a:t>
            </a:r>
            <a:r>
              <a:rPr lang="en-US" altLang="ko-KR" sz="1600" b="1" dirty="0" smtClean="0"/>
              <a:t>10 </a:t>
            </a:r>
            <a:r>
              <a:rPr lang="ko-KR" altLang="en-US" sz="1600" b="1" dirty="0" smtClean="0"/>
              <a:t>만큼 카운트 후 종료</a:t>
            </a:r>
            <a:endParaRPr lang="ko-KR" altLang="en-US" sz="1600" b="1" dirty="0"/>
          </a:p>
        </p:txBody>
      </p:sp>
      <p:cxnSp>
        <p:nvCxnSpPr>
          <p:cNvPr id="21" name="직선 화살표 연결선 20"/>
          <p:cNvCxnSpPr>
            <a:stCxn id="20" idx="0"/>
          </p:cNvCxnSpPr>
          <p:nvPr/>
        </p:nvCxnSpPr>
        <p:spPr>
          <a:xfrm flipH="1" flipV="1">
            <a:off x="4022453" y="2966799"/>
            <a:ext cx="517062" cy="48351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/>
          <p:cNvSpPr/>
          <p:nvPr/>
        </p:nvSpPr>
        <p:spPr>
          <a:xfrm>
            <a:off x="6458013" y="2606524"/>
            <a:ext cx="1939331" cy="2343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6156808" y="3450311"/>
            <a:ext cx="265944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/>
              <a:t>[</a:t>
            </a:r>
            <a:r>
              <a:rPr lang="ko-KR" altLang="en-US" sz="1400" b="1" dirty="0" smtClean="0"/>
              <a:t>작업 취소</a:t>
            </a:r>
            <a:r>
              <a:rPr lang="en-US" altLang="ko-KR" sz="1400" b="1" dirty="0" smtClean="0"/>
              <a:t>!] </a:t>
            </a:r>
            <a:r>
              <a:rPr lang="ko-KR" altLang="en-US" sz="1400" b="1" dirty="0" smtClean="0"/>
              <a:t>클릭하면 작업이 도중 종료</a:t>
            </a:r>
            <a:endParaRPr lang="ko-KR" altLang="en-US" sz="1400" b="1" dirty="0"/>
          </a:p>
        </p:txBody>
      </p:sp>
      <p:cxnSp>
        <p:nvCxnSpPr>
          <p:cNvPr id="25" name="직선 화살표 연결선 24"/>
          <p:cNvCxnSpPr>
            <a:stCxn id="24" idx="0"/>
            <a:endCxn id="23" idx="2"/>
          </p:cNvCxnSpPr>
          <p:nvPr/>
        </p:nvCxnSpPr>
        <p:spPr>
          <a:xfrm flipH="1" flipV="1">
            <a:off x="7427679" y="2840870"/>
            <a:ext cx="58849" cy="60944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/>
          <p:cNvSpPr/>
          <p:nvPr/>
        </p:nvSpPr>
        <p:spPr>
          <a:xfrm>
            <a:off x="3549120" y="2869206"/>
            <a:ext cx="420137" cy="1547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7071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39</a:t>
            </a:fld>
            <a:endParaRPr lang="ko-KR" altLang="en-US"/>
          </a:p>
        </p:txBody>
      </p:sp>
      <p:pic>
        <p:nvPicPr>
          <p:cNvPr id="6146" name="Picture 2" descr="http://www.smartnbiz.co.kr/biz/userfiles/2011/2011-01-27/1292946066_android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6189" y="651914"/>
            <a:ext cx="6832878" cy="5633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3824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46456</TotalTime>
  <Words>1386</Words>
  <Application>Microsoft Office PowerPoint</Application>
  <PresentationFormat>화면 슬라이드 쇼(4:3)</PresentationFormat>
  <Paragraphs>391</Paragraphs>
  <Slides>39</Slides>
  <Notes>39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39</vt:i4>
      </vt:variant>
    </vt:vector>
  </HeadingPairs>
  <TitlesOfParts>
    <vt:vector size="50" baseType="lpstr">
      <vt:lpstr>HY중고딕</vt:lpstr>
      <vt:lpstr>굴림체</vt:lpstr>
      <vt:lpstr>맑은 고딕</vt:lpstr>
      <vt:lpstr>Arial</vt:lpstr>
      <vt:lpstr>Calibri</vt:lpstr>
      <vt:lpstr>Century Gothic</vt:lpstr>
      <vt:lpstr>Courier New</vt:lpstr>
      <vt:lpstr>Palatino Linotype</vt:lpstr>
      <vt:lpstr>Times New Roman</vt:lpstr>
      <vt:lpstr>Wingdings</vt:lpstr>
      <vt:lpstr>Executive</vt:lpstr>
      <vt:lpstr>백그라운드 - 1</vt:lpstr>
      <vt:lpstr>Multitasking</vt:lpstr>
      <vt:lpstr>Multitasking</vt:lpstr>
      <vt:lpstr>Multitasking</vt:lpstr>
      <vt:lpstr>Multitasking</vt:lpstr>
      <vt:lpstr>ANR</vt:lpstr>
      <vt:lpstr>Thread</vt:lpstr>
      <vt:lpstr>AsyncTask</vt:lpstr>
      <vt:lpstr>Background Working</vt:lpstr>
      <vt:lpstr>Background Working</vt:lpstr>
      <vt:lpstr>ANR</vt:lpstr>
      <vt:lpstr>Daemon Thread</vt:lpstr>
      <vt:lpstr>Daemon Thread</vt:lpstr>
      <vt:lpstr>Daemon Thread</vt:lpstr>
      <vt:lpstr>Daemon Thread</vt:lpstr>
      <vt:lpstr>Daemon Thread</vt:lpstr>
      <vt:lpstr>Handler</vt:lpstr>
      <vt:lpstr>Handler</vt:lpstr>
      <vt:lpstr>Handler</vt:lpstr>
      <vt:lpstr>Handler</vt:lpstr>
      <vt:lpstr>Message 재사용</vt:lpstr>
      <vt:lpstr>Message Looper</vt:lpstr>
      <vt:lpstr>Message Looper</vt:lpstr>
      <vt:lpstr>Message Looper</vt:lpstr>
      <vt:lpstr>Message Looper</vt:lpstr>
      <vt:lpstr>Message Looper</vt:lpstr>
      <vt:lpstr>Message Looper</vt:lpstr>
      <vt:lpstr>Message Looper</vt:lpstr>
      <vt:lpstr>Message Looper</vt:lpstr>
      <vt:lpstr>Message Looper</vt:lpstr>
      <vt:lpstr>Message Looper</vt:lpstr>
      <vt:lpstr>AsyncTask</vt:lpstr>
      <vt:lpstr>AsyncTask</vt:lpstr>
      <vt:lpstr>AsyncTask</vt:lpstr>
      <vt:lpstr>AsyncTask</vt:lpstr>
      <vt:lpstr>AsyncTask</vt:lpstr>
      <vt:lpstr>AsyncTask</vt:lpstr>
      <vt:lpstr>AsyncTask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Sketching and Composing Widget for 3D Manipulation</dc:title>
  <dc:creator>Seonho</dc:creator>
  <cp:lastModifiedBy>정기숙</cp:lastModifiedBy>
  <cp:revision>2080</cp:revision>
  <cp:lastPrinted>2011-03-01T18:43:48Z</cp:lastPrinted>
  <dcterms:created xsi:type="dcterms:W3CDTF">2010-10-12T07:50:15Z</dcterms:created>
  <dcterms:modified xsi:type="dcterms:W3CDTF">2017-11-21T04:13:05Z</dcterms:modified>
</cp:coreProperties>
</file>