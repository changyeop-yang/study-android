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30"/>
  </p:notesMasterIdLst>
  <p:sldIdLst>
    <p:sldId id="256" r:id="rId2"/>
    <p:sldId id="303" r:id="rId3"/>
    <p:sldId id="304" r:id="rId4"/>
    <p:sldId id="305" r:id="rId5"/>
    <p:sldId id="306" r:id="rId6"/>
    <p:sldId id="307" r:id="rId7"/>
    <p:sldId id="314" r:id="rId8"/>
    <p:sldId id="308" r:id="rId9"/>
    <p:sldId id="309" r:id="rId10"/>
    <p:sldId id="310" r:id="rId11"/>
    <p:sldId id="311" r:id="rId12"/>
    <p:sldId id="312" r:id="rId13"/>
    <p:sldId id="313" r:id="rId14"/>
    <p:sldId id="325" r:id="rId15"/>
    <p:sldId id="326" r:id="rId16"/>
    <p:sldId id="327" r:id="rId17"/>
    <p:sldId id="351" r:id="rId18"/>
    <p:sldId id="328" r:id="rId19"/>
    <p:sldId id="329" r:id="rId20"/>
    <p:sldId id="330" r:id="rId21"/>
    <p:sldId id="332" r:id="rId22"/>
    <p:sldId id="356" r:id="rId23"/>
    <p:sldId id="352" r:id="rId24"/>
    <p:sldId id="357" r:id="rId25"/>
    <p:sldId id="353" r:id="rId26"/>
    <p:sldId id="354" r:id="rId27"/>
    <p:sldId id="355" r:id="rId28"/>
    <p:sldId id="344" r:id="rId29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00FF"/>
    <a:srgbClr val="FF9900"/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9" autoAdjust="0"/>
    <p:restoredTop sz="78515" autoAdjust="0"/>
  </p:normalViewPr>
  <p:slideViewPr>
    <p:cSldViewPr snapToGrid="0">
      <p:cViewPr varScale="1">
        <p:scale>
          <a:sx n="116" d="100"/>
          <a:sy n="116" d="100"/>
        </p:scale>
        <p:origin x="-14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54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973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088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290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548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771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812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396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909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25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 smtClean="0"/>
              <a:t>고칠것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맥단축키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42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00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012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409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46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res\raw\RawText.txt: Invalid file name: must contain only [a-z0-9_.]</a:t>
            </a:r>
          </a:p>
          <a:p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파일 이름 대문자 안됨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336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39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83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guide/topics/resources/providing-resource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리소스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개념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FF00FF"/>
                </a:solidFill>
              </a:rPr>
              <a:t>어플리케이션</a:t>
            </a:r>
            <a:r>
              <a:rPr lang="ko-KR" altLang="en-US" dirty="0" smtClean="0"/>
              <a:t>은 </a:t>
            </a:r>
            <a:r>
              <a:rPr lang="ko-KR" altLang="en-US" dirty="0" smtClean="0">
                <a:solidFill>
                  <a:srgbClr val="FF00FF"/>
                </a:solidFill>
              </a:rPr>
              <a:t>기능</a:t>
            </a:r>
            <a:r>
              <a:rPr lang="en-US" altLang="ko-KR" dirty="0" smtClean="0">
                <a:solidFill>
                  <a:srgbClr val="FF00FF"/>
                </a:solidFill>
              </a:rPr>
              <a:t>(function)</a:t>
            </a:r>
            <a:r>
              <a:rPr lang="ko-KR" altLang="en-US" dirty="0" smtClean="0"/>
              <a:t>과 </a:t>
            </a:r>
            <a:r>
              <a:rPr lang="ko-KR" altLang="en-US" dirty="0" smtClean="0">
                <a:solidFill>
                  <a:srgbClr val="FF00FF"/>
                </a:solidFill>
              </a:rPr>
              <a:t>자원</a:t>
            </a:r>
            <a:r>
              <a:rPr lang="en-US" altLang="ko-KR" dirty="0" smtClean="0">
                <a:solidFill>
                  <a:srgbClr val="FF00FF"/>
                </a:solidFill>
              </a:rPr>
              <a:t>(resource)</a:t>
            </a:r>
            <a:r>
              <a:rPr lang="ko-KR" altLang="en-US" dirty="0" smtClean="0"/>
              <a:t>으로 구성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레이아웃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문자열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아이콘 등</a:t>
            </a:r>
            <a:r>
              <a:rPr lang="en-US" altLang="ko-KR" dirty="0"/>
              <a:t> </a:t>
            </a:r>
            <a:r>
              <a:rPr lang="ko-KR" altLang="en-US" dirty="0" smtClean="0">
                <a:solidFill>
                  <a:srgbClr val="00B0F0"/>
                </a:solidFill>
              </a:rPr>
              <a:t>비코드적인 부분 전체</a:t>
            </a:r>
            <a:endParaRPr lang="en-US" altLang="ko-KR" dirty="0" smtClean="0">
              <a:solidFill>
                <a:srgbClr val="00B0F0"/>
              </a:solidFill>
            </a:endParaRPr>
          </a:p>
          <a:p>
            <a:pPr lvl="1"/>
            <a:r>
              <a:rPr lang="ko-KR" altLang="en-US" dirty="0" smtClean="0"/>
              <a:t>개발 도구</a:t>
            </a:r>
            <a:r>
              <a:rPr lang="en-US" altLang="ko-KR" dirty="0" smtClean="0"/>
              <a:t>(Android Studio)</a:t>
            </a:r>
            <a:r>
              <a:rPr lang="ko-KR" altLang="en-US" dirty="0" smtClean="0"/>
              <a:t>에 의해 자동 컴파일되어 </a:t>
            </a:r>
            <a:r>
              <a:rPr lang="en-US" altLang="ko-KR" dirty="0" smtClean="0">
                <a:solidFill>
                  <a:srgbClr val="00B0F0"/>
                </a:solidFill>
              </a:rPr>
              <a:t>R.java </a:t>
            </a:r>
            <a:r>
              <a:rPr lang="ko-KR" altLang="en-US" dirty="0" smtClean="0"/>
              <a:t>파일이 생성되어 관리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모든 리소스는 </a:t>
            </a:r>
            <a:r>
              <a:rPr lang="en-US" altLang="ko-KR" dirty="0" smtClean="0">
                <a:solidFill>
                  <a:srgbClr val="00B0F0"/>
                </a:solidFill>
              </a:rPr>
              <a:t>/res/ </a:t>
            </a:r>
            <a:r>
              <a:rPr lang="ko-KR" altLang="en-US" dirty="0" smtClean="0">
                <a:solidFill>
                  <a:srgbClr val="00B0F0"/>
                </a:solidFill>
              </a:rPr>
              <a:t>하위 폴더</a:t>
            </a:r>
            <a:r>
              <a:rPr lang="ko-KR" altLang="en-US" dirty="0" smtClean="0"/>
              <a:t>에 위치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형식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XML </a:t>
            </a:r>
            <a:r>
              <a:rPr lang="ko-KR" altLang="en-US" dirty="0" smtClean="0"/>
              <a:t>파일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레이아웃</a:t>
            </a:r>
            <a:r>
              <a:rPr lang="en-US" altLang="ko-KR" dirty="0" smtClean="0"/>
              <a:t>, </a:t>
            </a:r>
            <a:r>
              <a:rPr lang="ko-KR" altLang="en-US" dirty="0" smtClean="0"/>
              <a:t>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문자열 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Bitmap </a:t>
            </a:r>
            <a:r>
              <a:rPr lang="ko-KR" altLang="en-US" dirty="0" smtClean="0"/>
              <a:t>파일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png</a:t>
            </a:r>
            <a:r>
              <a:rPr lang="en-US" altLang="ko-KR" dirty="0" smtClean="0"/>
              <a:t>, jpeg </a:t>
            </a:r>
            <a:r>
              <a:rPr lang="ko-KR" altLang="en-US" dirty="0" smtClean="0"/>
              <a:t>등의 아이콘과 이미지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Raw </a:t>
            </a:r>
            <a:r>
              <a:rPr lang="ko-KR" altLang="en-US" dirty="0" smtClean="0"/>
              <a:t>파일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그 외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62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Resources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형식에 따른 배치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193949"/>
              </p:ext>
            </p:extLst>
          </p:nvPr>
        </p:nvGraphicFramePr>
        <p:xfrm>
          <a:off x="861234" y="2066851"/>
          <a:ext cx="7421528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36"/>
                <a:gridCol w="1488558"/>
                <a:gridCol w="1722474"/>
                <a:gridCol w="237106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형식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하위 폴더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파일 이름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핵심 </a:t>
                      </a:r>
                      <a:r>
                        <a:rPr lang="en-US" altLang="ko-KR" dirty="0" smtClean="0"/>
                        <a:t>XML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문자열</a:t>
                      </a:r>
                      <a:endParaRPr lang="ko-KR" altLang="en-US" dirty="0"/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values/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strings.xml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&lt;string&gt;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문자열 배열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arrays.xml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&lt;string-array&gt;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색상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colors.xml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&lt;color&gt;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크기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dimens.xml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&lt;</a:t>
                      </a:r>
                      <a:r>
                        <a:rPr lang="en-US" altLang="ko-KR" dirty="0" err="1" smtClean="0"/>
                        <a:t>dimen</a:t>
                      </a:r>
                      <a:r>
                        <a:rPr lang="en-US" altLang="ko-KR" dirty="0" smtClean="0"/>
                        <a:t>&gt;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스타일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styles.xml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&lt;style&gt;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테마</a:t>
                      </a:r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themes.xml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이미지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 smtClean="0"/>
                        <a:t>drawable</a:t>
                      </a:r>
                      <a:r>
                        <a:rPr lang="en-US" altLang="ko-KR" dirty="0" smtClean="0"/>
                        <a:t>/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애니메이션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 smtClean="0"/>
                        <a:t>anim</a:t>
                      </a:r>
                      <a:r>
                        <a:rPr lang="en-US" altLang="ko-KR" dirty="0" smtClean="0"/>
                        <a:t>/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&lt;alpha&gt; , &lt;scale&gt;,…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메뉴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menu/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&lt;menu&gt;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원시 파일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raw/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레이아웃</a:t>
                      </a:r>
                      <a:endParaRPr lang="ko-KR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layout/, layout-land/, layout-port/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36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</a:t>
            </a:r>
            <a:r>
              <a:rPr lang="en-US" altLang="ko-KR" dirty="0" smtClean="0"/>
              <a:t>alues/</a:t>
            </a:r>
          </a:p>
          <a:p>
            <a:pPr lvl="1"/>
            <a:r>
              <a:rPr lang="ko-KR" altLang="en-US" dirty="0" smtClean="0"/>
              <a:t>문자열</a:t>
            </a:r>
            <a:r>
              <a:rPr lang="en-US" altLang="ko-KR" dirty="0" smtClean="0"/>
              <a:t>, </a:t>
            </a:r>
            <a:r>
              <a:rPr lang="ko-KR" altLang="en-US" dirty="0" smtClean="0"/>
              <a:t>크기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색상 등 매우 다양한 자원을 관리</a:t>
            </a:r>
            <a:endParaRPr lang="en-US" altLang="ko-KR" dirty="0"/>
          </a:p>
          <a:p>
            <a:pPr lvl="1"/>
            <a:r>
              <a:rPr lang="ko-KR" altLang="en-US" dirty="0" smtClean="0"/>
              <a:t>파일 이름이 정해져있지는 않으나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일반적으로 사용되는 파일 이름이 존재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en-US" altLang="ko-KR" dirty="0" err="1" smtClean="0"/>
              <a:t>drawable</a:t>
            </a:r>
            <a:r>
              <a:rPr lang="en-US" altLang="ko-KR" dirty="0" smtClean="0"/>
              <a:t>/</a:t>
            </a:r>
          </a:p>
          <a:p>
            <a:pPr lvl="1"/>
            <a:r>
              <a:rPr lang="en-US" altLang="ko-KR" dirty="0" err="1" smtClean="0"/>
              <a:t>png</a:t>
            </a:r>
            <a:r>
              <a:rPr lang="en-US" altLang="ko-KR" dirty="0" smtClean="0"/>
              <a:t> (preferred),</a:t>
            </a:r>
            <a:r>
              <a:rPr lang="ko-KR" altLang="en-US" dirty="0" smtClean="0"/>
              <a:t> </a:t>
            </a:r>
            <a:r>
              <a:rPr lang="en-US" altLang="ko-KR" dirty="0" smtClean="0"/>
              <a:t>jpg  (acceptable), gif (discouraged)</a:t>
            </a:r>
            <a:r>
              <a:rPr lang="ko-KR" altLang="en-US" dirty="0" smtClean="0"/>
              <a:t>를 지원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더 적은 메모리를 사용하도록 컴파일을 수행할 때 이미지 자동 압축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압축과 조정 과정 중 이미지의 내용이 변경될 수 있음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raw/</a:t>
            </a:r>
          </a:p>
          <a:p>
            <a:pPr lvl="1"/>
            <a:r>
              <a:rPr lang="ko-KR" altLang="en-US" dirty="0" smtClean="0"/>
              <a:t>압축이나 후처리 없이 그대로 추가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만약 이미지를 이곳에 넣게되면 최적화되지 않은 상태로 사용됨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968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컴파일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압축되고 정리되어 빠르게 적재할 수 있는 </a:t>
            </a:r>
            <a:r>
              <a:rPr lang="ko-KR" altLang="en-US" dirty="0" smtClean="0">
                <a:solidFill>
                  <a:srgbClr val="00B0F0"/>
                </a:solidFill>
              </a:rPr>
              <a:t>이진 파일</a:t>
            </a:r>
            <a:r>
              <a:rPr lang="ko-KR" altLang="en-US" dirty="0" smtClean="0"/>
              <a:t>로 리소스 컴파일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최종적으로 생성된 리소스는 </a:t>
            </a:r>
            <a:r>
              <a:rPr lang="en-US" altLang="ko-KR" dirty="0" smtClean="0">
                <a:solidFill>
                  <a:srgbClr val="00B0F0"/>
                </a:solidFill>
              </a:rPr>
              <a:t>APK </a:t>
            </a:r>
            <a:r>
              <a:rPr lang="ko-KR" altLang="en-US" dirty="0" smtClean="0">
                <a:solidFill>
                  <a:srgbClr val="00B0F0"/>
                </a:solidFill>
              </a:rPr>
              <a:t>파일 내로 통합</a:t>
            </a:r>
            <a:endParaRPr lang="en-US" altLang="ko-KR" dirty="0" smtClean="0">
              <a:solidFill>
                <a:srgbClr val="00B0F0"/>
              </a:solidFill>
            </a:endParaRPr>
          </a:p>
          <a:p>
            <a:pPr lvl="1"/>
            <a:endParaRPr lang="en-US" altLang="ko-KR" dirty="0"/>
          </a:p>
          <a:p>
            <a:r>
              <a:rPr lang="en-US" altLang="ko-KR" dirty="0" smtClean="0"/>
              <a:t>R.java</a:t>
            </a:r>
          </a:p>
          <a:p>
            <a:pPr lvl="1"/>
            <a:r>
              <a:rPr lang="ko-KR" altLang="en-US" dirty="0" smtClean="0"/>
              <a:t>리소스에 접근할 수 있는 </a:t>
            </a:r>
            <a:r>
              <a:rPr lang="en-US" altLang="ko-KR" dirty="0" smtClean="0"/>
              <a:t>id</a:t>
            </a:r>
            <a:r>
              <a:rPr lang="ko-KR" altLang="en-US" dirty="0" smtClean="0"/>
              <a:t>를 자동으로 관리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코드상에서 리소스에 접근하기 위해서 필수적인 </a:t>
            </a:r>
            <a:r>
              <a:rPr lang="en-US" altLang="ko-KR" dirty="0" smtClean="0"/>
              <a:t>Wrapper class </a:t>
            </a:r>
            <a:r>
              <a:rPr lang="ko-KR" altLang="en-US" dirty="0" smtClean="0"/>
              <a:t>제공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이름 규칙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영문 </a:t>
            </a:r>
            <a:r>
              <a:rPr lang="ko-KR" altLang="en-US" dirty="0" smtClean="0">
                <a:solidFill>
                  <a:srgbClr val="008000"/>
                </a:solidFill>
              </a:rPr>
              <a:t>소문자</a:t>
            </a:r>
            <a:r>
              <a:rPr lang="ko-KR" altLang="en-US" dirty="0" smtClean="0"/>
              <a:t>와</a:t>
            </a:r>
            <a:r>
              <a:rPr lang="ko-KR" altLang="en-US" dirty="0" smtClean="0">
                <a:solidFill>
                  <a:srgbClr val="008000"/>
                </a:solidFill>
              </a:rPr>
              <a:t> 숫자 </a:t>
            </a:r>
            <a:r>
              <a:rPr lang="ko-KR" altLang="en-US" dirty="0" smtClean="0"/>
              <a:t>그리고 </a:t>
            </a:r>
            <a:r>
              <a:rPr lang="ko-KR" altLang="en-US" dirty="0" smtClean="0">
                <a:solidFill>
                  <a:srgbClr val="008000"/>
                </a:solidFill>
              </a:rPr>
              <a:t>밑줄</a:t>
            </a:r>
            <a:r>
              <a:rPr lang="ko-KR" altLang="en-US" dirty="0" smtClean="0"/>
              <a:t> 문자만 허용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리소스를 참고할 때 확장자는 생략</a:t>
            </a:r>
            <a:endParaRPr lang="en-US" altLang="ko-KR" dirty="0" smtClean="0">
              <a:solidFill>
                <a:srgbClr val="00B0F0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85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접근 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코드에서 리소스 접근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R class</a:t>
            </a:r>
            <a:r>
              <a:rPr lang="ko-KR" altLang="en-US" dirty="0" smtClean="0"/>
              <a:t>를 사용</a:t>
            </a:r>
            <a:endParaRPr lang="en-US" altLang="ko-KR" dirty="0" smtClean="0"/>
          </a:p>
          <a:p>
            <a:pPr lvl="2"/>
            <a:r>
              <a:rPr lang="en-US" altLang="ko-KR" dirty="0" smtClean="0">
                <a:solidFill>
                  <a:srgbClr val="00B0F0"/>
                </a:solidFill>
              </a:rPr>
              <a:t>[&lt;</a:t>
            </a:r>
            <a:r>
              <a:rPr lang="ko-KR" altLang="en-US" dirty="0" smtClean="0">
                <a:solidFill>
                  <a:srgbClr val="00B0F0"/>
                </a:solidFill>
              </a:rPr>
              <a:t>패키지 이름</a:t>
            </a:r>
            <a:r>
              <a:rPr lang="en-US" altLang="ko-KR" dirty="0" smtClean="0">
                <a:solidFill>
                  <a:srgbClr val="00B0F0"/>
                </a:solidFill>
              </a:rPr>
              <a:t>&gt;.]R.&lt;</a:t>
            </a:r>
            <a:r>
              <a:rPr lang="ko-KR" altLang="en-US" dirty="0" smtClean="0">
                <a:solidFill>
                  <a:srgbClr val="00B0F0"/>
                </a:solidFill>
              </a:rPr>
              <a:t>리소스 종류</a:t>
            </a:r>
            <a:r>
              <a:rPr lang="en-US" altLang="ko-KR" dirty="0" smtClean="0">
                <a:solidFill>
                  <a:srgbClr val="00B0F0"/>
                </a:solidFill>
              </a:rPr>
              <a:t>&gt;.&lt;</a:t>
            </a:r>
            <a:r>
              <a:rPr lang="ko-KR" altLang="en-US" dirty="0" smtClean="0">
                <a:solidFill>
                  <a:srgbClr val="00B0F0"/>
                </a:solidFill>
              </a:rPr>
              <a:t>리소스 이름</a:t>
            </a:r>
            <a:r>
              <a:rPr lang="en-US" altLang="ko-KR" dirty="0" smtClean="0">
                <a:solidFill>
                  <a:srgbClr val="00B0F0"/>
                </a:solidFill>
              </a:rPr>
              <a:t>&gt;</a:t>
            </a:r>
          </a:p>
          <a:p>
            <a:pPr lvl="1"/>
            <a:r>
              <a:rPr lang="en-US" altLang="ko-KR" dirty="0" smtClean="0"/>
              <a:t>xml</a:t>
            </a:r>
            <a:r>
              <a:rPr lang="ko-KR" altLang="en-US" dirty="0" smtClean="0"/>
              <a:t>에서 리소스 참조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@string/hello</a:t>
            </a:r>
          </a:p>
          <a:p>
            <a:pPr lvl="2"/>
            <a:r>
              <a:rPr lang="en-US" altLang="ko-KR" dirty="0" smtClean="0">
                <a:solidFill>
                  <a:srgbClr val="00B0F0"/>
                </a:solidFill>
              </a:rPr>
              <a:t>@&lt;</a:t>
            </a:r>
            <a:r>
              <a:rPr lang="ko-KR" altLang="en-US" dirty="0" smtClean="0">
                <a:solidFill>
                  <a:srgbClr val="00B0F0"/>
                </a:solidFill>
              </a:rPr>
              <a:t>리소스타입</a:t>
            </a:r>
            <a:r>
              <a:rPr lang="en-US" altLang="ko-KR" dirty="0" smtClean="0">
                <a:solidFill>
                  <a:srgbClr val="00B0F0"/>
                </a:solidFill>
              </a:rPr>
              <a:t>&gt;/&lt;</a:t>
            </a:r>
            <a:r>
              <a:rPr lang="ko-KR" altLang="en-US" dirty="0" smtClean="0">
                <a:solidFill>
                  <a:srgbClr val="00B0F0"/>
                </a:solidFill>
              </a:rPr>
              <a:t>리소스이름</a:t>
            </a:r>
            <a:r>
              <a:rPr lang="en-US" altLang="ko-KR" dirty="0" smtClean="0">
                <a:solidFill>
                  <a:srgbClr val="00B0F0"/>
                </a:solidFill>
              </a:rPr>
              <a:t>&gt;</a:t>
            </a:r>
          </a:p>
          <a:p>
            <a:pPr lvl="2"/>
            <a:endParaRPr lang="en-US" altLang="ko-KR" dirty="0"/>
          </a:p>
          <a:p>
            <a:r>
              <a:rPr lang="ko-KR" altLang="en-US" dirty="0" smtClean="0"/>
              <a:t>선택적 리소스 수식어</a:t>
            </a:r>
            <a:endParaRPr lang="en-US" altLang="ko-KR" dirty="0" smtClean="0"/>
          </a:p>
          <a:p>
            <a:pPr lvl="1"/>
            <a:r>
              <a:rPr lang="en-US" altLang="ko-KR" dirty="0" smtClean="0">
                <a:solidFill>
                  <a:srgbClr val="00B0F0"/>
                </a:solidFill>
              </a:rPr>
              <a:t>&lt;</a:t>
            </a:r>
            <a:r>
              <a:rPr lang="ko-KR" altLang="en-US" dirty="0" smtClean="0">
                <a:solidFill>
                  <a:srgbClr val="00B0F0"/>
                </a:solidFill>
              </a:rPr>
              <a:t>리소스 이름</a:t>
            </a:r>
            <a:r>
              <a:rPr lang="en-US" altLang="ko-KR" dirty="0" smtClean="0">
                <a:solidFill>
                  <a:srgbClr val="00B0F0"/>
                </a:solidFill>
              </a:rPr>
              <a:t>&gt;</a:t>
            </a:r>
            <a:r>
              <a:rPr lang="en-US" altLang="ko-KR" dirty="0" smtClean="0"/>
              <a:t>-</a:t>
            </a:r>
            <a:r>
              <a:rPr lang="en-US" altLang="ko-KR" dirty="0" smtClean="0">
                <a:solidFill>
                  <a:srgbClr val="008000"/>
                </a:solidFill>
              </a:rPr>
              <a:t>&lt;</a:t>
            </a:r>
            <a:r>
              <a:rPr lang="ko-KR" altLang="en-US" dirty="0" smtClean="0">
                <a:solidFill>
                  <a:srgbClr val="008000"/>
                </a:solidFill>
              </a:rPr>
              <a:t>수식어</a:t>
            </a:r>
            <a:r>
              <a:rPr lang="en-US" altLang="ko-KR" dirty="0" smtClean="0">
                <a:solidFill>
                  <a:srgbClr val="008000"/>
                </a:solidFill>
              </a:rPr>
              <a:t>&gt;</a:t>
            </a:r>
            <a:r>
              <a:rPr lang="en-US" altLang="ko-KR" dirty="0" smtClean="0"/>
              <a:t>-</a:t>
            </a:r>
            <a:r>
              <a:rPr lang="en-US" altLang="ko-KR" dirty="0" smtClean="0">
                <a:solidFill>
                  <a:srgbClr val="008000"/>
                </a:solidFill>
              </a:rPr>
              <a:t>&lt;</a:t>
            </a:r>
            <a:r>
              <a:rPr lang="ko-KR" altLang="en-US" dirty="0" smtClean="0">
                <a:solidFill>
                  <a:srgbClr val="008000"/>
                </a:solidFill>
              </a:rPr>
              <a:t>수식어</a:t>
            </a:r>
            <a:r>
              <a:rPr lang="en-US" altLang="ko-KR" dirty="0" smtClean="0">
                <a:solidFill>
                  <a:srgbClr val="008000"/>
                </a:solidFill>
              </a:rPr>
              <a:t>&gt;</a:t>
            </a:r>
            <a:r>
              <a:rPr lang="en-US" altLang="ko-KR" dirty="0" smtClean="0"/>
              <a:t>-…</a:t>
            </a:r>
          </a:p>
          <a:p>
            <a:pPr marL="457200" lvl="1" indent="0">
              <a:buNone/>
            </a:pPr>
            <a:r>
              <a:rPr lang="en-US" altLang="ko-KR" dirty="0" smtClean="0"/>
              <a:t>	ex. values-en, values-</a:t>
            </a:r>
            <a:r>
              <a:rPr lang="en-US" altLang="ko-KR" dirty="0" err="1" smtClean="0"/>
              <a:t>ko</a:t>
            </a:r>
            <a:r>
              <a:rPr lang="en-US" altLang="ko-KR" dirty="0" smtClean="0"/>
              <a:t>-land, </a:t>
            </a:r>
            <a:r>
              <a:rPr lang="en-US" altLang="ko-KR" dirty="0" err="1" smtClean="0"/>
              <a:t>drawable</a:t>
            </a:r>
            <a:r>
              <a:rPr lang="en-US" altLang="ko-KR" dirty="0" smtClean="0"/>
              <a:t>-small-port, </a:t>
            </a:r>
            <a:r>
              <a:rPr lang="en-US" altLang="ko-KR" dirty="0" smtClean="0"/>
              <a:t>…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안드로이드가</a:t>
            </a:r>
            <a:r>
              <a:rPr lang="ko-KR" altLang="en-US" dirty="0" smtClean="0"/>
              <a:t> 상황에 따라 </a:t>
            </a:r>
            <a:r>
              <a:rPr lang="ko-KR" altLang="en-US" dirty="0" smtClean="0">
                <a:solidFill>
                  <a:srgbClr val="008000"/>
                </a:solidFill>
              </a:rPr>
              <a:t>리소스를 자동으로 선택</a:t>
            </a:r>
            <a:endParaRPr lang="en-US" altLang="ko-KR" dirty="0" smtClean="0">
              <a:solidFill>
                <a:srgbClr val="008000"/>
              </a:solidFill>
            </a:endParaRPr>
          </a:p>
          <a:p>
            <a:pPr lvl="1"/>
            <a:r>
              <a:rPr lang="ko-KR" altLang="en-US" dirty="0" smtClean="0"/>
              <a:t>수식어가 없는 기본 리소스를 항상 제공할 것을 권장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drawble</a:t>
            </a:r>
            <a:r>
              <a:rPr lang="en-US" altLang="ko-KR" dirty="0" smtClean="0"/>
              <a:t>/ 	&lt;- </a:t>
            </a:r>
            <a:r>
              <a:rPr lang="ko-KR" altLang="en-US" dirty="0" smtClean="0"/>
              <a:t>우선적용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drawable-hdpi</a:t>
            </a:r>
            <a:r>
              <a:rPr lang="en-US" altLang="ko-KR" dirty="0" smtClean="0"/>
              <a:t>/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58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선택적 리소스 수식어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1"/>
            <a:r>
              <a:rPr lang="ko-KR" altLang="en-US" dirty="0" smtClean="0"/>
              <a:t>우선 순위에 따라 어미에 수식어 부착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더 많은 수식어 정보</a:t>
            </a:r>
            <a:endParaRPr lang="en-US" altLang="ko-KR" dirty="0" smtClean="0"/>
          </a:p>
          <a:p>
            <a:pPr marL="914400" lvl="2" indent="0">
              <a:buNone/>
            </a:pPr>
            <a:r>
              <a:rPr lang="en-US" altLang="ko-KR" dirty="0">
                <a:hlinkClick r:id="rId3"/>
              </a:rPr>
              <a:t>http://</a:t>
            </a:r>
            <a:r>
              <a:rPr lang="en-US" altLang="ko-KR" dirty="0" smtClean="0">
                <a:hlinkClick r:id="rId3"/>
              </a:rPr>
              <a:t>developer.android.com/guide/topics/resources/providing-resources.html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694597"/>
              </p:ext>
            </p:extLst>
          </p:nvPr>
        </p:nvGraphicFramePr>
        <p:xfrm>
          <a:off x="962069" y="2033095"/>
          <a:ext cx="7386084" cy="2388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661"/>
                <a:gridCol w="5794423"/>
              </a:tblGrid>
              <a:tr h="477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수식어 종류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내용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77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언어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 smtClean="0"/>
                        <a:t>ko</a:t>
                      </a:r>
                      <a:r>
                        <a:rPr lang="en-US" altLang="ko-KR" dirty="0" smtClean="0"/>
                        <a:t>, en, </a:t>
                      </a:r>
                      <a:r>
                        <a:rPr lang="en-US" altLang="ko-KR" dirty="0" err="1" smtClean="0"/>
                        <a:t>fr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등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77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화면 크기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small, normal, large,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baseline="0" dirty="0" err="1" smtClean="0"/>
                        <a:t>xlarge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77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화면 방향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/>
                        <a:t>port, land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477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화면 밀도</a:t>
                      </a:r>
                      <a:endParaRPr lang="en-US" altLang="ko-K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err="1" smtClean="0"/>
                        <a:t>ldpi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en-US" altLang="ko-KR" dirty="0" err="1" smtClean="0"/>
                        <a:t>mdpi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en-US" altLang="ko-KR" dirty="0" err="1" smtClean="0"/>
                        <a:t>hdpi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en-US" altLang="ko-KR" dirty="0" err="1" smtClean="0"/>
                        <a:t>xhdpi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en-US" altLang="ko-KR" dirty="0" err="1" smtClean="0"/>
                        <a:t>xxhdpi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en-US" altLang="ko-KR" dirty="0" err="1" smtClean="0"/>
                        <a:t>xxxhdpi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en-US" altLang="ko-KR" dirty="0" err="1" smtClean="0"/>
                        <a:t>nodpi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en-US" altLang="ko-KR" dirty="0" err="1" smtClean="0"/>
                        <a:t>tvdpi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22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String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문자열 리소스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res/values/strings.xml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75906" y="2658139"/>
            <a:ext cx="6545125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&lt;?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xml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version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"1.0" </a:t>
            </a:r>
            <a:r>
              <a:rPr lang="en-US" altLang="ko-KR" i="1" dirty="0">
                <a:solidFill>
                  <a:srgbClr val="7F007F"/>
                </a:solidFill>
                <a:latin typeface="맑은 고딕"/>
              </a:rPr>
              <a:t>encoding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"utf-8"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?&gt;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string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 err="1" smtClean="0">
                <a:solidFill>
                  <a:srgbClr val="2A00FF"/>
                </a:solidFill>
                <a:latin typeface="맑은 고딕"/>
              </a:rPr>
              <a:t>hello_world</a:t>
            </a:r>
            <a:r>
              <a:rPr lang="en-US" altLang="ko-KR" i="1" dirty="0" smtClean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 smtClean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Hello World, Act1!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string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string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 err="1">
                <a:solidFill>
                  <a:srgbClr val="2A00FF"/>
                </a:solidFill>
                <a:latin typeface="맑은 고딕"/>
              </a:rPr>
              <a:t>app_name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Diary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string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5906" y="4727575"/>
            <a:ext cx="722505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String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str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getResources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getString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R.string.</a:t>
            </a:r>
            <a:r>
              <a:rPr lang="en-US" altLang="ko-KR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hello_world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363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String Array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문자열 목록 리소스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res/values/arrays.xml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97173" y="2250281"/>
            <a:ext cx="3511089" cy="289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&lt;?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xml </a:t>
            </a:r>
            <a:r>
              <a:rPr lang="en-US" altLang="ko-KR" sz="1400" dirty="0">
                <a:solidFill>
                  <a:srgbClr val="7F007F"/>
                </a:solidFill>
                <a:latin typeface="맑은 고딕"/>
              </a:rPr>
              <a:t>version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"1.0" </a:t>
            </a:r>
            <a:r>
              <a:rPr lang="en-US" altLang="ko-KR" sz="1400" i="1" dirty="0">
                <a:solidFill>
                  <a:srgbClr val="7F007F"/>
                </a:solidFill>
                <a:latin typeface="맑은 고딕"/>
              </a:rPr>
              <a:t>encoding</a:t>
            </a:r>
            <a:r>
              <a:rPr lang="en-US" altLang="ko-KR" sz="1400" i="1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"utf-8"</a:t>
            </a:r>
            <a:r>
              <a:rPr lang="en-US" altLang="ko-KR" sz="1400" i="1" dirty="0">
                <a:solidFill>
                  <a:srgbClr val="008080"/>
                </a:solidFill>
                <a:latin typeface="맑은 고딕"/>
              </a:rPr>
              <a:t>?&gt;</a:t>
            </a:r>
          </a:p>
          <a:p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string-array </a:t>
            </a:r>
            <a:r>
              <a:rPr lang="en-US" altLang="ko-KR" sz="1400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"zoo"</a:t>
            </a:r>
            <a:r>
              <a:rPr lang="en-US" altLang="ko-KR" sz="1400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tiger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bear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penguin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&lt;/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string-array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string-array </a:t>
            </a:r>
            <a:r>
              <a:rPr lang="en-US" altLang="ko-KR" sz="1400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"pot"</a:t>
            </a:r>
            <a:r>
              <a:rPr lang="en-US" altLang="ko-KR" sz="1400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lily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rose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tulip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item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&lt;/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string-array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173" y="5556915"/>
            <a:ext cx="722505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String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[] zoo =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getResources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getStringArray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R.array.</a:t>
            </a:r>
            <a:r>
              <a:rPr lang="en-US" altLang="ko-KR" i="1" dirty="0" err="1">
                <a:solidFill>
                  <a:srgbClr val="0000C0"/>
                </a:solidFill>
                <a:latin typeface="돋움체"/>
                <a:ea typeface="돋움체"/>
              </a:rPr>
              <a:t>zoo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331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Color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색</a:t>
            </a:r>
            <a:r>
              <a:rPr lang="ko-KR" altLang="en-US" dirty="0"/>
              <a:t>상</a:t>
            </a:r>
            <a:r>
              <a:rPr lang="ko-KR" altLang="en-US" dirty="0" smtClean="0"/>
              <a:t> 리소스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res/values/colors.xml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97172" y="2345974"/>
            <a:ext cx="4862165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&lt;?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xml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version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"1.0" </a:t>
            </a:r>
            <a:r>
              <a:rPr lang="en-US" altLang="ko-KR" i="1" dirty="0">
                <a:solidFill>
                  <a:srgbClr val="7F007F"/>
                </a:solidFill>
                <a:latin typeface="맑은 고딕"/>
              </a:rPr>
              <a:t>encoding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"utf-8"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?&gt;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color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 err="1">
                <a:solidFill>
                  <a:srgbClr val="2A00FF"/>
                </a:solidFill>
                <a:latin typeface="맑은 고딕"/>
              </a:rPr>
              <a:t>backColor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#060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color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color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 err="1">
                <a:solidFill>
                  <a:srgbClr val="2A00FF"/>
                </a:solidFill>
                <a:latin typeface="맑은 고딕"/>
              </a:rPr>
              <a:t>textColor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#</a:t>
            </a:r>
            <a:r>
              <a:rPr lang="en-US" altLang="ko-KR" i="1" dirty="0" err="1">
                <a:solidFill>
                  <a:srgbClr val="000000"/>
                </a:solidFill>
                <a:latin typeface="맑은 고딕"/>
              </a:rPr>
              <a:t>fec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color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172" y="4217213"/>
            <a:ext cx="6647974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int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txtcol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getResources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getColor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R.color.</a:t>
            </a:r>
            <a:r>
              <a:rPr lang="en-US" altLang="ko-KR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backColor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ko-KR" altLang="en-US" dirty="0" smtClean="0"/>
          </a:p>
          <a:p>
            <a:pPr algn="ctr"/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or</a:t>
            </a:r>
          </a:p>
          <a:p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int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txtcol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getResources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getColor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R.color.</a:t>
            </a:r>
            <a:r>
              <a:rPr lang="en-US" altLang="ko-KR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textColor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53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Dimension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크기 리소스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res/values/dimens.xml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97172" y="2345974"/>
            <a:ext cx="4544962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&lt;?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xml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version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"1.0" </a:t>
            </a:r>
            <a:r>
              <a:rPr lang="en-US" altLang="ko-KR" i="1" dirty="0">
                <a:solidFill>
                  <a:srgbClr val="7F007F"/>
                </a:solidFill>
                <a:latin typeface="맑은 고딕"/>
              </a:rPr>
              <a:t>encoding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"utf-8"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?&gt;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dirty="0" err="1">
                <a:solidFill>
                  <a:srgbClr val="3F7F7F"/>
                </a:solidFill>
                <a:latin typeface="맑은 고딕"/>
              </a:rPr>
              <a:t>dimen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"small"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6pt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 err="1">
                <a:solidFill>
                  <a:srgbClr val="3F7F7F"/>
                </a:solidFill>
                <a:latin typeface="맑은 고딕"/>
              </a:rPr>
              <a:t>dimen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dirty="0" err="1">
                <a:solidFill>
                  <a:srgbClr val="3F7F7F"/>
                </a:solidFill>
                <a:latin typeface="맑은 고딕"/>
              </a:rPr>
              <a:t>dimen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"large"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20pt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 err="1">
                <a:solidFill>
                  <a:srgbClr val="3F7F7F"/>
                </a:solidFill>
                <a:latin typeface="맑은 고딕"/>
              </a:rPr>
              <a:t>dimen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dirty="0" smtClean="0">
                <a:solidFill>
                  <a:srgbClr val="008080"/>
                </a:solidFill>
                <a:latin typeface="맑은 고딕"/>
              </a:rPr>
              <a:t>&gt;</a:t>
            </a:r>
            <a:endParaRPr lang="en-US" altLang="ko-KR" dirty="0">
              <a:solidFill>
                <a:srgbClr val="008080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97172" y="4217213"/>
            <a:ext cx="699422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float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txtsize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getResources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getDimension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R.dimen.</a:t>
            </a:r>
            <a:r>
              <a:rPr lang="en-US" altLang="ko-KR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large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109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 Alias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리소스 내에서 다른 리소스 참조하기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문자열이 문자열 참조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ko-KR" altLang="en-US" dirty="0" smtClean="0"/>
              <a:t>시스템 리소스를 참조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86539" y="2328530"/>
            <a:ext cx="5845255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&lt;?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xml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version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"1.0" </a:t>
            </a:r>
            <a:r>
              <a:rPr lang="en-US" altLang="ko-KR" i="1" dirty="0">
                <a:solidFill>
                  <a:srgbClr val="7F007F"/>
                </a:solidFill>
                <a:latin typeface="맑은 고딕"/>
              </a:rPr>
              <a:t>encoding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"utf-8"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?&gt;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string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"hello"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Hello World, Act1!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string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string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 err="1">
                <a:solidFill>
                  <a:srgbClr val="2A00FF"/>
                </a:solidFill>
                <a:latin typeface="맑은 고딕"/>
              </a:rPr>
              <a:t>app_name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Diary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string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string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"hi"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b="1" i="1" dirty="0">
                <a:solidFill>
                  <a:srgbClr val="000000"/>
                </a:solidFill>
                <a:latin typeface="맑은 고딕"/>
              </a:rPr>
              <a:t>@string/hello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string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6539" y="4657061"/>
            <a:ext cx="7323928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&lt;?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xml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version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"1.0" </a:t>
            </a:r>
            <a:r>
              <a:rPr lang="en-US" altLang="ko-KR" i="1" dirty="0">
                <a:solidFill>
                  <a:srgbClr val="7F007F"/>
                </a:solidFill>
                <a:latin typeface="맑은 고딕"/>
              </a:rPr>
              <a:t>encoding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"utf-8"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?&gt;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color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 err="1">
                <a:solidFill>
                  <a:srgbClr val="2A00FF"/>
                </a:solidFill>
                <a:latin typeface="맑은 고딕"/>
              </a:rPr>
              <a:t>backColor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#060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color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color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 err="1">
                <a:solidFill>
                  <a:srgbClr val="2A00FF"/>
                </a:solidFill>
                <a:latin typeface="맑은 고딕"/>
              </a:rPr>
              <a:t>textColor</a:t>
            </a:r>
            <a:r>
              <a:rPr lang="en-US" altLang="ko-KR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b="1" i="1" dirty="0">
                <a:solidFill>
                  <a:srgbClr val="000000"/>
                </a:solidFill>
                <a:latin typeface="맑은 고딕"/>
              </a:rPr>
              <a:t>@</a:t>
            </a:r>
            <a:r>
              <a:rPr lang="en-US" altLang="ko-KR" b="1" i="1" dirty="0" err="1">
                <a:solidFill>
                  <a:srgbClr val="000000"/>
                </a:solidFill>
                <a:latin typeface="맑은 고딕"/>
              </a:rPr>
              <a:t>android:color</a:t>
            </a:r>
            <a:r>
              <a:rPr lang="en-US" altLang="ko-KR" b="1" i="1" dirty="0">
                <a:solidFill>
                  <a:srgbClr val="000000"/>
                </a:solidFill>
                <a:latin typeface="맑은 고딕"/>
              </a:rPr>
              <a:t>/</a:t>
            </a:r>
            <a:r>
              <a:rPr lang="en-US" altLang="ko-KR" b="1" i="1" dirty="0" err="1">
                <a:solidFill>
                  <a:srgbClr val="000000"/>
                </a:solidFill>
                <a:latin typeface="맑은 고딕"/>
              </a:rPr>
              <a:t>opaque_red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color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resources</a:t>
            </a:r>
            <a:r>
              <a:rPr lang="en-US" altLang="ko-KR" dirty="0" smtClean="0">
                <a:solidFill>
                  <a:srgbClr val="008080"/>
                </a:solidFill>
                <a:latin typeface="맑은 고딕"/>
              </a:rPr>
              <a:t>&gt;</a:t>
            </a:r>
            <a:endParaRPr lang="en-US" altLang="ko-KR" dirty="0">
              <a:solidFill>
                <a:srgbClr val="00808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7499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Localization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선택적 리소스 분류를 활용하여 자연스럽게 적용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영어 리소스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res/values-en</a:t>
            </a:r>
          </a:p>
          <a:p>
            <a:pPr lvl="1"/>
            <a:r>
              <a:rPr lang="ko-KR" altLang="en-US" dirty="0" smtClean="0"/>
              <a:t>한글 리소스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res/values-</a:t>
            </a:r>
            <a:r>
              <a:rPr lang="en-US" altLang="ko-KR" dirty="0" err="1" smtClean="0"/>
              <a:t>ko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다국어 지원을 위한 추가적인 설정 및 작업이 전혀 없음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00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#6.1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Resources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22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</a:p>
          <a:p>
            <a:pPr lvl="1"/>
            <a:r>
              <a:rPr lang="en-US" altLang="ko-KR" dirty="0" smtClean="0"/>
              <a:t>Application Name: Ex6_Resource</a:t>
            </a:r>
          </a:p>
          <a:p>
            <a:pPr lvl="1"/>
            <a:r>
              <a:rPr lang="en-US" altLang="ko-KR" dirty="0" smtClean="0"/>
              <a:t>Empty Activity</a:t>
            </a:r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335" y="1374940"/>
            <a:ext cx="4125418" cy="523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536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 by Language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프로젝트 탐색기 모드 변경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왼쪽 상단의 버튼 클릭 후 </a:t>
            </a:r>
            <a:r>
              <a:rPr lang="en-US" altLang="ko-KR" dirty="0" smtClean="0"/>
              <a:t>Project Files </a:t>
            </a:r>
            <a:r>
              <a:rPr lang="ko-KR" altLang="en-US" dirty="0" smtClean="0"/>
              <a:t>모드로 변경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각종 </a:t>
            </a:r>
            <a:r>
              <a:rPr lang="en-US" altLang="ko-KR" dirty="0" smtClean="0"/>
              <a:t>Resource </a:t>
            </a:r>
            <a:r>
              <a:rPr lang="ko-KR" altLang="en-US" dirty="0" smtClean="0"/>
              <a:t>관리는 </a:t>
            </a:r>
            <a:r>
              <a:rPr lang="en-US" altLang="ko-KR" dirty="0" smtClean="0"/>
              <a:t>Project Files </a:t>
            </a:r>
            <a:r>
              <a:rPr lang="ko-KR" altLang="en-US" dirty="0" smtClean="0"/>
              <a:t>상태에서만 확인 및 변경 가능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622" y="2592705"/>
            <a:ext cx="3452423" cy="4265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2721685" y="2786231"/>
            <a:ext cx="1678193" cy="1936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560781" y="4937760"/>
            <a:ext cx="1366221" cy="19202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68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 by Language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언어별 문자열 리소스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res/values/ </a:t>
            </a:r>
            <a:r>
              <a:rPr lang="ko-KR" altLang="en-US" dirty="0" smtClean="0"/>
              <a:t>폴더를 오른쪽 클릭하여 복사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2" y="2601838"/>
            <a:ext cx="5403920" cy="373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868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 by Language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언어별 문자열 리소스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 </a:t>
            </a:r>
            <a:r>
              <a:rPr lang="ko-KR" altLang="en-US" dirty="0" smtClean="0"/>
              <a:t>폴더에서 오른쪽 클릭하여 붙여넣기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517" y="2731321"/>
            <a:ext cx="6511128" cy="2701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404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 by Language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언어별 문자열 리소스 추가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이름은 </a:t>
            </a:r>
            <a:r>
              <a:rPr lang="en-US" altLang="ko-KR" dirty="0" smtClean="0"/>
              <a:t>“values-</a:t>
            </a:r>
            <a:r>
              <a:rPr lang="en-US" altLang="ko-KR" dirty="0" err="1" smtClean="0"/>
              <a:t>ko</a:t>
            </a:r>
            <a:r>
              <a:rPr lang="en-US" altLang="ko-KR" dirty="0" smtClean="0"/>
              <a:t>”</a:t>
            </a:r>
            <a:r>
              <a:rPr lang="ko-KR" altLang="en-US" dirty="0" smtClean="0"/>
              <a:t>로 입력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기존의 </a:t>
            </a:r>
            <a:r>
              <a:rPr lang="en-US" altLang="ko-KR" dirty="0" smtClean="0"/>
              <a:t>values </a:t>
            </a:r>
            <a:r>
              <a:rPr lang="ko-KR" altLang="en-US" dirty="0" smtClean="0"/>
              <a:t>폴더 선택</a:t>
            </a:r>
            <a:r>
              <a:rPr lang="en-US" altLang="ko-KR" dirty="0" smtClean="0"/>
              <a:t>  </a:t>
            </a:r>
            <a:r>
              <a:rPr lang="ko-KR" altLang="en-US" dirty="0" smtClean="0"/>
              <a:t>후  </a:t>
            </a:r>
            <a:r>
              <a:rPr lang="en-US" altLang="ko-KR" dirty="0" smtClean="0"/>
              <a:t>“values-en”</a:t>
            </a:r>
            <a:r>
              <a:rPr lang="ko-KR" altLang="en-US" dirty="0" smtClean="0"/>
              <a:t>으로 이름을 변경 </a:t>
            </a:r>
            <a:r>
              <a:rPr lang="en-US" altLang="ko-KR" dirty="0" smtClean="0"/>
              <a:t>(</a:t>
            </a:r>
            <a:r>
              <a:rPr lang="en-US" altLang="ko-KR" dirty="0" smtClean="0">
                <a:solidFill>
                  <a:srgbClr val="FF0000"/>
                </a:solidFill>
              </a:rPr>
              <a:t>Shift-[F6]</a:t>
            </a:r>
            <a:r>
              <a:rPr lang="ko-KR" altLang="en-US" dirty="0" smtClean="0"/>
              <a:t>키 활용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(for Mac, Fn +F2 </a:t>
            </a:r>
            <a:r>
              <a:rPr lang="ko-KR" altLang="en-US" dirty="0" smtClean="0"/>
              <a:t>키 활용</a:t>
            </a:r>
            <a:r>
              <a:rPr lang="en-US" altLang="ko-KR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077" y="2247564"/>
            <a:ext cx="5187038" cy="216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34" y="5167760"/>
            <a:ext cx="8172450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901" y="4922380"/>
            <a:ext cx="340042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2987824" y="6021288"/>
            <a:ext cx="1138772" cy="2641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174970" y="6289589"/>
            <a:ext cx="682133" cy="2641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9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 by Language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언어별 문자열 리소스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res/values-</a:t>
            </a:r>
            <a:r>
              <a:rPr lang="en-US" altLang="ko-KR" dirty="0" err="1" smtClean="0"/>
              <a:t>ko</a:t>
            </a:r>
            <a:r>
              <a:rPr lang="en-US" altLang="ko-KR" dirty="0" smtClean="0"/>
              <a:t>/strings.xml</a:t>
            </a:r>
            <a:r>
              <a:rPr lang="ko-KR" altLang="en-US" dirty="0" smtClean="0"/>
              <a:t>의 문자열을 한글로 변경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302000" y="2451100"/>
            <a:ext cx="5435600" cy="1651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 smtClean="0"/>
              <a:t>&lt;</a:t>
            </a:r>
            <a:r>
              <a:rPr lang="en-US" altLang="ko-KR" sz="1400" b="1" dirty="0" smtClean="0"/>
              <a:t>resources</a:t>
            </a:r>
            <a:r>
              <a:rPr lang="en-US" altLang="ko-KR" sz="1400" dirty="0" smtClean="0"/>
              <a:t>&gt;</a:t>
            </a:r>
            <a:br>
              <a:rPr lang="en-US" altLang="ko-KR" sz="1400" dirty="0" smtClean="0"/>
            </a:br>
            <a:r>
              <a:rPr lang="en-US" altLang="ko-KR" sz="1400" dirty="0" smtClean="0"/>
              <a:t>    &lt;</a:t>
            </a:r>
            <a:r>
              <a:rPr lang="en-US" altLang="ko-KR" sz="1400" b="1" dirty="0" smtClean="0"/>
              <a:t>string name="</a:t>
            </a:r>
            <a:r>
              <a:rPr lang="en-US" altLang="ko-KR" sz="1400" b="1" dirty="0" err="1" smtClean="0"/>
              <a:t>app_name</a:t>
            </a:r>
            <a:r>
              <a:rPr lang="en-US" altLang="ko-KR" sz="1400" b="1" dirty="0" smtClean="0"/>
              <a:t>"</a:t>
            </a:r>
            <a:r>
              <a:rPr lang="en-US" altLang="ko-KR" sz="1400" dirty="0" smtClean="0"/>
              <a:t>&gt;Ex6_Resource&lt;/</a:t>
            </a:r>
            <a:r>
              <a:rPr lang="en-US" altLang="ko-KR" sz="1400" b="1" dirty="0" smtClean="0"/>
              <a:t>string</a:t>
            </a:r>
            <a:r>
              <a:rPr lang="en-US" altLang="ko-KR" sz="1400" dirty="0" smtClean="0"/>
              <a:t>&gt;</a:t>
            </a:r>
            <a:br>
              <a:rPr lang="en-US" altLang="ko-KR" sz="1400" dirty="0" smtClean="0"/>
            </a:br>
            <a:r>
              <a:rPr lang="en-US" altLang="ko-KR" sz="1400" dirty="0" smtClean="0"/>
              <a:t>    &lt;</a:t>
            </a:r>
            <a:r>
              <a:rPr lang="en-US" altLang="ko-KR" sz="1400" b="1" dirty="0" smtClean="0"/>
              <a:t>string name="</a:t>
            </a:r>
            <a:r>
              <a:rPr lang="en-US" altLang="ko-KR" sz="1400" b="1" dirty="0" err="1" smtClean="0"/>
              <a:t>hello_world</a:t>
            </a:r>
            <a:r>
              <a:rPr lang="en-US" altLang="ko-KR" sz="1400" b="1" dirty="0" smtClean="0"/>
              <a:t>"</a:t>
            </a:r>
            <a:r>
              <a:rPr lang="en-US" altLang="ko-KR" sz="1400" dirty="0" smtClean="0"/>
              <a:t>&gt;Hello, World!&lt;/</a:t>
            </a:r>
            <a:r>
              <a:rPr lang="en-US" altLang="ko-KR" sz="1400" b="1" dirty="0" smtClean="0"/>
              <a:t>string</a:t>
            </a:r>
            <a:r>
              <a:rPr lang="en-US" altLang="ko-KR" sz="1400" dirty="0" smtClean="0"/>
              <a:t>&gt;</a:t>
            </a:r>
            <a:br>
              <a:rPr lang="en-US" altLang="ko-KR" sz="1400" dirty="0" smtClean="0"/>
            </a:br>
            <a:r>
              <a:rPr lang="en-US" altLang="ko-KR" sz="1400" dirty="0" smtClean="0"/>
              <a:t>    &lt;</a:t>
            </a:r>
            <a:r>
              <a:rPr lang="en-US" altLang="ko-KR" sz="1400" b="1" dirty="0" smtClean="0"/>
              <a:t>string name="</a:t>
            </a:r>
            <a:r>
              <a:rPr lang="en-US" altLang="ko-KR" sz="1400" b="1" dirty="0" err="1" smtClean="0"/>
              <a:t>action_settings</a:t>
            </a:r>
            <a:r>
              <a:rPr lang="en-US" altLang="ko-KR" sz="1400" b="1" dirty="0" smtClean="0"/>
              <a:t>"</a:t>
            </a:r>
            <a:r>
              <a:rPr lang="en-US" altLang="ko-KR" sz="1400" dirty="0" smtClean="0"/>
              <a:t>&gt;Settings&lt;/</a:t>
            </a:r>
            <a:r>
              <a:rPr lang="en-US" altLang="ko-KR" sz="1400" b="1" dirty="0" smtClean="0"/>
              <a:t>string</a:t>
            </a:r>
            <a:r>
              <a:rPr lang="en-US" altLang="ko-KR" sz="1400" dirty="0" smtClean="0"/>
              <a:t>&gt;</a:t>
            </a:r>
            <a:br>
              <a:rPr lang="en-US" altLang="ko-KR" sz="1400" dirty="0" smtClean="0"/>
            </a:br>
            <a:r>
              <a:rPr lang="en-US" altLang="ko-KR" sz="1400" dirty="0" smtClean="0"/>
              <a:t>&lt;/</a:t>
            </a:r>
            <a:r>
              <a:rPr lang="en-US" altLang="ko-KR" sz="1400" b="1" dirty="0" smtClean="0"/>
              <a:t>resources</a:t>
            </a:r>
            <a:r>
              <a:rPr lang="en-US" altLang="ko-KR" sz="1400" dirty="0" smtClean="0"/>
              <a:t>&gt;</a:t>
            </a:r>
            <a:endParaRPr lang="ko-KR" altLang="en-US" sz="1400" dirty="0"/>
          </a:p>
        </p:txBody>
      </p:sp>
      <p:sp>
        <p:nvSpPr>
          <p:cNvPr id="10" name="직사각형 9"/>
          <p:cNvSpPr/>
          <p:nvPr/>
        </p:nvSpPr>
        <p:spPr>
          <a:xfrm>
            <a:off x="3302000" y="4432300"/>
            <a:ext cx="5435600" cy="1651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 smtClean="0"/>
              <a:t>&lt;</a:t>
            </a:r>
            <a:r>
              <a:rPr lang="en-US" altLang="ko-KR" sz="1400" b="1" dirty="0" smtClean="0"/>
              <a:t>resources</a:t>
            </a:r>
            <a:r>
              <a:rPr lang="en-US" altLang="ko-KR" sz="1400" dirty="0" smtClean="0"/>
              <a:t>&gt;</a:t>
            </a:r>
            <a:br>
              <a:rPr lang="en-US" altLang="ko-KR" sz="1400" dirty="0" smtClean="0"/>
            </a:br>
            <a:r>
              <a:rPr lang="en-US" altLang="ko-KR" sz="1400" dirty="0" smtClean="0"/>
              <a:t>    &lt;</a:t>
            </a:r>
            <a:r>
              <a:rPr lang="en-US" altLang="ko-KR" sz="1400" b="1" dirty="0" smtClean="0"/>
              <a:t>string name="</a:t>
            </a:r>
            <a:r>
              <a:rPr lang="en-US" altLang="ko-KR" sz="1400" b="1" dirty="0" err="1" smtClean="0"/>
              <a:t>app_name</a:t>
            </a:r>
            <a:r>
              <a:rPr lang="en-US" altLang="ko-KR" sz="1400" b="1" dirty="0" smtClean="0"/>
              <a:t>"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예제</a:t>
            </a:r>
            <a:r>
              <a:rPr lang="en-US" altLang="ko-KR" sz="1400" dirty="0" smtClean="0"/>
              <a:t>6_</a:t>
            </a:r>
            <a:r>
              <a:rPr lang="ko-KR" altLang="en-US" sz="1400" dirty="0" smtClean="0"/>
              <a:t>자원</a:t>
            </a:r>
            <a:r>
              <a:rPr lang="en-US" altLang="ko-KR" sz="1400" dirty="0" smtClean="0"/>
              <a:t>&lt;/</a:t>
            </a:r>
            <a:r>
              <a:rPr lang="en-US" altLang="ko-KR" sz="1400" b="1" dirty="0" smtClean="0"/>
              <a:t>string</a:t>
            </a:r>
            <a:r>
              <a:rPr lang="en-US" altLang="ko-KR" sz="1400" dirty="0" smtClean="0"/>
              <a:t>&gt;</a:t>
            </a:r>
            <a:br>
              <a:rPr lang="en-US" altLang="ko-KR" sz="1400" dirty="0" smtClean="0"/>
            </a:br>
            <a:r>
              <a:rPr lang="en-US" altLang="ko-KR" sz="1400" dirty="0" smtClean="0"/>
              <a:t>    &lt;</a:t>
            </a:r>
            <a:r>
              <a:rPr lang="en-US" altLang="ko-KR" sz="1400" b="1" dirty="0" smtClean="0"/>
              <a:t>string name="</a:t>
            </a:r>
            <a:r>
              <a:rPr lang="en-US" altLang="ko-KR" sz="1400" b="1" dirty="0" err="1" smtClean="0"/>
              <a:t>hello_world</a:t>
            </a:r>
            <a:r>
              <a:rPr lang="en-US" altLang="ko-KR" sz="1400" b="1" dirty="0" smtClean="0"/>
              <a:t>"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세상아 안녕</a:t>
            </a:r>
            <a:r>
              <a:rPr lang="en-US" altLang="ko-KR" sz="1400" dirty="0" smtClean="0"/>
              <a:t>!&lt;/</a:t>
            </a:r>
            <a:r>
              <a:rPr lang="en-US" altLang="ko-KR" sz="1400" b="1" dirty="0" smtClean="0"/>
              <a:t>string</a:t>
            </a:r>
            <a:r>
              <a:rPr lang="en-US" altLang="ko-KR" sz="1400" dirty="0" smtClean="0"/>
              <a:t>&gt;</a:t>
            </a:r>
            <a:br>
              <a:rPr lang="en-US" altLang="ko-KR" sz="1400" dirty="0" smtClean="0"/>
            </a:br>
            <a:r>
              <a:rPr lang="en-US" altLang="ko-KR" sz="1400" dirty="0" smtClean="0"/>
              <a:t>    &lt;</a:t>
            </a:r>
            <a:r>
              <a:rPr lang="en-US" altLang="ko-KR" sz="1400" b="1" dirty="0" smtClean="0"/>
              <a:t>string name="</a:t>
            </a:r>
            <a:r>
              <a:rPr lang="en-US" altLang="ko-KR" sz="1400" b="1" dirty="0" err="1" smtClean="0"/>
              <a:t>action_settings</a:t>
            </a:r>
            <a:r>
              <a:rPr lang="en-US" altLang="ko-KR" sz="1400" b="1" dirty="0" smtClean="0"/>
              <a:t>"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설정</a:t>
            </a:r>
            <a:r>
              <a:rPr lang="en-US" altLang="ko-KR" sz="1400" dirty="0" smtClean="0"/>
              <a:t>&lt;/</a:t>
            </a:r>
            <a:r>
              <a:rPr lang="en-US" altLang="ko-KR" sz="1400" b="1" dirty="0" smtClean="0"/>
              <a:t>string</a:t>
            </a:r>
            <a:r>
              <a:rPr lang="en-US" altLang="ko-KR" sz="1400" dirty="0" smtClean="0"/>
              <a:t>&gt;</a:t>
            </a:r>
            <a:br>
              <a:rPr lang="en-US" altLang="ko-KR" sz="1400" dirty="0" smtClean="0"/>
            </a:br>
            <a:r>
              <a:rPr lang="en-US" altLang="ko-KR" sz="1400" dirty="0" smtClean="0"/>
              <a:t>&lt;/</a:t>
            </a:r>
            <a:r>
              <a:rPr lang="en-US" altLang="ko-KR" sz="1400" b="1" dirty="0" smtClean="0"/>
              <a:t>resources</a:t>
            </a:r>
            <a:r>
              <a:rPr lang="en-US" altLang="ko-KR" sz="1400" dirty="0" smtClean="0"/>
              <a:t>&gt;</a:t>
            </a:r>
            <a:endParaRPr lang="ko-KR" altLang="en-US" sz="1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74" y="2239593"/>
            <a:ext cx="2049051" cy="419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1420637" y="4697458"/>
            <a:ext cx="991124" cy="2437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420637" y="5665646"/>
            <a:ext cx="991124" cy="2437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03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Resource by Language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언어별 문자열 리소스 추가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에뮬레이터의 언어설정을 바꾼 후 실행하여 화면에 어떠한 변화가 생기는지 확인</a:t>
            </a:r>
            <a:endParaRPr lang="en-US" altLang="ko-KR" dirty="0" smtClean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28" y="2199504"/>
            <a:ext cx="2010251" cy="3651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94"/>
          <a:stretch/>
        </p:blipFill>
        <p:spPr bwMode="auto">
          <a:xfrm>
            <a:off x="786566" y="3374657"/>
            <a:ext cx="2010251" cy="27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9869"/>
          <a:stretch/>
        </p:blipFill>
        <p:spPr bwMode="auto">
          <a:xfrm>
            <a:off x="1451434" y="4378425"/>
            <a:ext cx="2010251" cy="21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/>
          <p:cNvSpPr/>
          <p:nvPr/>
        </p:nvSpPr>
        <p:spPr>
          <a:xfrm>
            <a:off x="1577156" y="3016939"/>
            <a:ext cx="399925" cy="3577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998385" y="4136605"/>
            <a:ext cx="991124" cy="2437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577156" y="6283347"/>
            <a:ext cx="991124" cy="2437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083" y="2273644"/>
            <a:ext cx="2460253" cy="4469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754" y="2263906"/>
            <a:ext cx="2465614" cy="4479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689242" y="5183548"/>
            <a:ext cx="1738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rgbClr val="FF0000"/>
                </a:solidFill>
              </a:rPr>
              <a:t>필요한 추가작업은 </a:t>
            </a:r>
            <a:r>
              <a:rPr lang="en-US" altLang="ko-KR" sz="1400" dirty="0" smtClean="0">
                <a:solidFill>
                  <a:srgbClr val="FF0000"/>
                </a:solidFill>
              </a:rPr>
              <a:t>?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H="1" flipV="1">
            <a:off x="7397578" y="4662616"/>
            <a:ext cx="91983" cy="5209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 flipV="1">
            <a:off x="5107460" y="4760658"/>
            <a:ext cx="2290118" cy="42289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4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#6.2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Resources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85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Raw Resource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New Project</a:t>
            </a:r>
          </a:p>
          <a:p>
            <a:pPr lvl="1"/>
            <a:r>
              <a:rPr lang="en-US" altLang="ko-KR" dirty="0"/>
              <a:t>Application Name: </a:t>
            </a:r>
            <a:r>
              <a:rPr lang="en-US" altLang="ko-KR" dirty="0" smtClean="0"/>
              <a:t>Ex6_RawResourceDataSave</a:t>
            </a:r>
            <a:endParaRPr lang="en-US" altLang="ko-KR" dirty="0"/>
          </a:p>
          <a:p>
            <a:pPr lvl="1"/>
            <a:r>
              <a:rPr lang="en-US" altLang="ko-KR" dirty="0"/>
              <a:t>Empty </a:t>
            </a:r>
            <a:r>
              <a:rPr lang="en-US" altLang="ko-KR" dirty="0" smtClean="0"/>
              <a:t>Activity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프로젝트 내에 </a:t>
            </a:r>
            <a:r>
              <a:rPr lang="en-US" altLang="ko-KR" dirty="0" smtClean="0"/>
              <a:t>raw </a:t>
            </a:r>
            <a:r>
              <a:rPr lang="ko-KR" altLang="en-US" dirty="0" smtClean="0"/>
              <a:t>폴더 생성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32" y="3315019"/>
            <a:ext cx="5007517" cy="1871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539" y="3533774"/>
            <a:ext cx="4914900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724849" y="3739805"/>
            <a:ext cx="3262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리소스타입을 </a:t>
            </a:r>
            <a:r>
              <a:rPr lang="en-US" altLang="ko-KR" sz="1200" dirty="0" smtClean="0">
                <a:solidFill>
                  <a:srgbClr val="FF0000"/>
                </a:solidFill>
              </a:rPr>
              <a:t>raw</a:t>
            </a:r>
            <a:r>
              <a:rPr lang="ko-KR" altLang="en-US" sz="1200" dirty="0" smtClean="0">
                <a:solidFill>
                  <a:srgbClr val="FF0000"/>
                </a:solidFill>
              </a:rPr>
              <a:t>를 선택하면 </a:t>
            </a:r>
            <a:endParaRPr lang="en-US" altLang="ko-KR" sz="1200" dirty="0" smtClean="0">
              <a:solidFill>
                <a:srgbClr val="FF0000"/>
              </a:solidFill>
            </a:endParaRPr>
          </a:p>
          <a:p>
            <a:r>
              <a:rPr lang="ko-KR" altLang="en-US" sz="1200" dirty="0" smtClean="0">
                <a:solidFill>
                  <a:srgbClr val="FF0000"/>
                </a:solidFill>
              </a:rPr>
              <a:t>자동으로 </a:t>
            </a:r>
            <a:r>
              <a:rPr lang="ko-KR" altLang="en-US" sz="1200" dirty="0" err="1" smtClean="0">
                <a:solidFill>
                  <a:srgbClr val="FF0000"/>
                </a:solidFill>
              </a:rPr>
              <a:t>디렉토리명이</a:t>
            </a:r>
            <a:r>
              <a:rPr lang="ko-KR" altLang="en-US" sz="1200" dirty="0" smtClean="0">
                <a:solidFill>
                  <a:srgbClr val="FF0000"/>
                </a:solidFill>
              </a:rPr>
              <a:t> </a:t>
            </a:r>
            <a:r>
              <a:rPr lang="en-US" altLang="ko-KR" sz="1200" dirty="0" smtClean="0">
                <a:solidFill>
                  <a:srgbClr val="FF0000"/>
                </a:solidFill>
              </a:rPr>
              <a:t>raw</a:t>
            </a:r>
            <a:r>
              <a:rPr lang="ko-KR" altLang="en-US" sz="1200" dirty="0" smtClean="0">
                <a:solidFill>
                  <a:srgbClr val="FF0000"/>
                </a:solidFill>
              </a:rPr>
              <a:t>로 주어짐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 flipH="1">
            <a:off x="4852088" y="3970638"/>
            <a:ext cx="1029279" cy="28008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50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Raw Resource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raw </a:t>
            </a:r>
            <a:r>
              <a:rPr lang="ko-KR" altLang="en-US" dirty="0" smtClean="0"/>
              <a:t>폴더에 </a:t>
            </a:r>
            <a:r>
              <a:rPr lang="en-US" altLang="ko-KR" dirty="0" smtClean="0"/>
              <a:t>text </a:t>
            </a:r>
            <a:r>
              <a:rPr lang="ko-KR" altLang="en-US" dirty="0" smtClean="0"/>
              <a:t>파일 추가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방법 </a:t>
            </a:r>
            <a:r>
              <a:rPr lang="en-US" altLang="ko-KR" dirty="0" smtClean="0"/>
              <a:t>1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70" y="1983006"/>
            <a:ext cx="562927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11" y="4615504"/>
            <a:ext cx="35242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174" y="4529010"/>
            <a:ext cx="3457575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9623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Raw Resource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4641492"/>
          </a:xfrm>
        </p:spPr>
        <p:txBody>
          <a:bodyPr/>
          <a:lstStyle/>
          <a:p>
            <a:r>
              <a:rPr lang="en-US" altLang="ko-KR" dirty="0"/>
              <a:t>raw </a:t>
            </a:r>
            <a:r>
              <a:rPr lang="ko-KR" altLang="en-US" dirty="0" smtClean="0"/>
              <a:t>폴더에 </a:t>
            </a:r>
            <a:r>
              <a:rPr lang="en-US" altLang="ko-KR" dirty="0"/>
              <a:t>text </a:t>
            </a:r>
            <a:r>
              <a:rPr lang="ko-KR" altLang="en-US" dirty="0"/>
              <a:t>파일 추가 </a:t>
            </a:r>
            <a:r>
              <a:rPr lang="en-US" altLang="ko-KR" dirty="0"/>
              <a:t>– </a:t>
            </a:r>
            <a:r>
              <a:rPr lang="ko-KR" altLang="en-US" dirty="0"/>
              <a:t>방법 </a:t>
            </a:r>
            <a:r>
              <a:rPr lang="en-US" altLang="ko-KR" dirty="0" smtClean="0"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667" y="1947562"/>
            <a:ext cx="289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① raw </a:t>
            </a:r>
            <a:r>
              <a:rPr lang="ko-KR" altLang="en-US" dirty="0" err="1" smtClean="0"/>
              <a:t>디렉토리</a:t>
            </a:r>
            <a:r>
              <a:rPr lang="ko-KR" altLang="en-US" dirty="0" smtClean="0"/>
              <a:t> 경로 확인</a:t>
            </a:r>
            <a:endParaRPr lang="ko-KR" altLang="en-US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41" y="2374559"/>
            <a:ext cx="2685773" cy="418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625936" y="1947562"/>
            <a:ext cx="495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② </a:t>
            </a:r>
            <a:r>
              <a:rPr lang="ko-KR" altLang="en-US" dirty="0" smtClean="0"/>
              <a:t>메모장에서 작성 </a:t>
            </a:r>
            <a:r>
              <a:rPr lang="en-US" altLang="ko-KR" dirty="0" smtClean="0"/>
              <a:t>…raw </a:t>
            </a:r>
            <a:r>
              <a:rPr lang="ko-KR" altLang="en-US" dirty="0" smtClean="0"/>
              <a:t>경로에 저장</a:t>
            </a:r>
            <a:endParaRPr lang="ko-KR" altLang="en-US" dirty="0"/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936" y="2316894"/>
            <a:ext cx="4235802" cy="1707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936" y="3311082"/>
            <a:ext cx="5518064" cy="252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직사각형 18"/>
          <p:cNvSpPr/>
          <p:nvPr/>
        </p:nvSpPr>
        <p:spPr>
          <a:xfrm>
            <a:off x="4355976" y="3573016"/>
            <a:ext cx="1942071" cy="1936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6474941" y="5550097"/>
            <a:ext cx="1852098" cy="1936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3625936" y="6199657"/>
            <a:ext cx="495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③ </a:t>
            </a:r>
            <a:r>
              <a:rPr lang="ko-KR" altLang="en-US" dirty="0" smtClean="0"/>
              <a:t>자동으로 프로젝트에 반영됨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7356003" y="3573016"/>
            <a:ext cx="148667" cy="1936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43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Raw Resource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리소스의 파일을 열기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/MainActivity.java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57300" y="2242424"/>
            <a:ext cx="6875600" cy="43704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</a:t>
            </a:r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MainActivity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extends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Activity 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/** Called when the activity is first created. */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@Override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main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try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InputStream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is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getResources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openRawResource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R.raw.</a:t>
            </a:r>
            <a:r>
              <a:rPr lang="en-US" altLang="ko-KR" sz="1400" i="1" dirty="0" err="1" smtClean="0">
                <a:solidFill>
                  <a:srgbClr val="000000"/>
                </a:solidFill>
                <a:latin typeface="돋움체"/>
                <a:ea typeface="돋움체"/>
              </a:rPr>
              <a:t>rawtext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byte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data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byte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is.available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()];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while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is.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read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(data) != -1) {;}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is.close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TextView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txt = 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TextView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R.id.</a:t>
            </a:r>
            <a:r>
              <a:rPr lang="en-US" altLang="ko-KR" sz="1400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textView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i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String(data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));</a:t>
            </a:r>
          </a:p>
          <a:p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catch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IOException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e)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e.printStackTrace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40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Raw Resource</a:t>
            </a:r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리소스의 </a:t>
            </a:r>
            <a:r>
              <a:rPr lang="en-US" altLang="ko-KR" dirty="0" smtClean="0"/>
              <a:t>RAW </a:t>
            </a:r>
            <a:r>
              <a:rPr lang="ko-KR" altLang="en-US" dirty="0" smtClean="0"/>
              <a:t>파일을 활용한 출력 </a:t>
            </a:r>
            <a:endParaRPr lang="en-US" altLang="ko-KR" dirty="0" smtClean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283" y="2144033"/>
            <a:ext cx="4545247" cy="3537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362951" y="5864554"/>
            <a:ext cx="2858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rgbClr val="FF0000"/>
                </a:solidFill>
              </a:rPr>
              <a:t>실행화면 가운데  텍스트가 보이지 않도록 하려면 필요한 추가작업은 </a:t>
            </a:r>
            <a:r>
              <a:rPr lang="en-US" altLang="ko-KR" sz="1400" dirty="0" smtClean="0">
                <a:solidFill>
                  <a:srgbClr val="FF0000"/>
                </a:solidFill>
              </a:rPr>
              <a:t>?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13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91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36088</TotalTime>
  <Words>1117</Words>
  <Application>Microsoft Office PowerPoint</Application>
  <PresentationFormat>화면 슬라이드 쇼(4:3)</PresentationFormat>
  <Paragraphs>320</Paragraphs>
  <Slides>28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29" baseType="lpstr">
      <vt:lpstr>Executive</vt:lpstr>
      <vt:lpstr>리소스</vt:lpstr>
      <vt:lpstr>Resources</vt:lpstr>
      <vt:lpstr>Resources</vt:lpstr>
      <vt:lpstr>Resources</vt:lpstr>
      <vt:lpstr>Resources</vt:lpstr>
      <vt:lpstr>Resources</vt:lpstr>
      <vt:lpstr>Resources</vt:lpstr>
      <vt:lpstr>String</vt:lpstr>
      <vt:lpstr>String Array</vt:lpstr>
      <vt:lpstr>Color</vt:lpstr>
      <vt:lpstr>Dimension</vt:lpstr>
      <vt:lpstr>Resource Alias</vt:lpstr>
      <vt:lpstr>Localization</vt:lpstr>
      <vt:lpstr>Example #6.1</vt:lpstr>
      <vt:lpstr>New Project</vt:lpstr>
      <vt:lpstr>Resource by Language</vt:lpstr>
      <vt:lpstr>Resource by Language</vt:lpstr>
      <vt:lpstr>Resource by Language</vt:lpstr>
      <vt:lpstr>Resource by Language</vt:lpstr>
      <vt:lpstr>Resource by Language</vt:lpstr>
      <vt:lpstr>Resource by Language</vt:lpstr>
      <vt:lpstr>Example #6.2</vt:lpstr>
      <vt:lpstr>Raw Resource</vt:lpstr>
      <vt:lpstr>Raw Resource</vt:lpstr>
      <vt:lpstr>Raw Resource</vt:lpstr>
      <vt:lpstr>Raw Resource</vt:lpstr>
      <vt:lpstr>Raw Resource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1835</cp:revision>
  <cp:lastPrinted>2011-03-01T18:43:48Z</cp:lastPrinted>
  <dcterms:created xsi:type="dcterms:W3CDTF">2010-10-12T07:50:15Z</dcterms:created>
  <dcterms:modified xsi:type="dcterms:W3CDTF">2017-10-10T04:06:00Z</dcterms:modified>
</cp:coreProperties>
</file>