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9"/>
  </p:notesMasterIdLst>
  <p:sldIdLst>
    <p:sldId id="256" r:id="rId2"/>
    <p:sldId id="303" r:id="rId3"/>
    <p:sldId id="315" r:id="rId4"/>
    <p:sldId id="304" r:id="rId5"/>
    <p:sldId id="305" r:id="rId6"/>
    <p:sldId id="307" r:id="rId7"/>
    <p:sldId id="308" r:id="rId8"/>
    <p:sldId id="306" r:id="rId9"/>
    <p:sldId id="309" r:id="rId10"/>
    <p:sldId id="310" r:id="rId11"/>
    <p:sldId id="311" r:id="rId12"/>
    <p:sldId id="313" r:id="rId13"/>
    <p:sldId id="314" r:id="rId14"/>
    <p:sldId id="330" r:id="rId15"/>
    <p:sldId id="316" r:id="rId16"/>
    <p:sldId id="335" r:id="rId17"/>
    <p:sldId id="334" r:id="rId18"/>
    <p:sldId id="336" r:id="rId19"/>
    <p:sldId id="337" r:id="rId20"/>
    <p:sldId id="338" r:id="rId21"/>
    <p:sldId id="339" r:id="rId22"/>
    <p:sldId id="349" r:id="rId23"/>
    <p:sldId id="350" r:id="rId24"/>
    <p:sldId id="351" r:id="rId25"/>
    <p:sldId id="340" r:id="rId26"/>
    <p:sldId id="341" r:id="rId27"/>
    <p:sldId id="342" r:id="rId28"/>
    <p:sldId id="324" r:id="rId29"/>
    <p:sldId id="352" r:id="rId30"/>
    <p:sldId id="343" r:id="rId31"/>
    <p:sldId id="344" r:id="rId32"/>
    <p:sldId id="353" r:id="rId33"/>
    <p:sldId id="345" r:id="rId34"/>
    <p:sldId id="346" r:id="rId35"/>
    <p:sldId id="328" r:id="rId36"/>
    <p:sldId id="348" r:id="rId37"/>
    <p:sldId id="294" r:id="rId38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76" autoAdjust="0"/>
    <p:restoredTop sz="84314" autoAdjust="0"/>
  </p:normalViewPr>
  <p:slideViewPr>
    <p:cSldViewPr snapToGrid="0">
      <p:cViewPr>
        <p:scale>
          <a:sx n="100" d="100"/>
          <a:sy n="100" d="100"/>
        </p:scale>
        <p:origin x="-2406" y="-4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582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Intent ( Context </a:t>
            </a:r>
            <a:r>
              <a:rPr lang="en-US" altLang="ko-KR" dirty="0" err="1" smtClean="0"/>
              <a:t>packageContext</a:t>
            </a:r>
            <a:r>
              <a:rPr lang="en-US" altLang="ko-KR" dirty="0" smtClean="0"/>
              <a:t>, Class&lt;?&gt; </a:t>
            </a:r>
            <a:r>
              <a:rPr lang="en-US" altLang="ko-KR" dirty="0" err="1" smtClean="0"/>
              <a:t>cls</a:t>
            </a:r>
            <a:r>
              <a:rPr lang="en-US" altLang="ko-KR" dirty="0" smtClean="0"/>
              <a:t>)</a:t>
            </a:r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내부의 다른 액티비티</a:t>
            </a:r>
            <a:r>
              <a:rPr lang="en-US" altLang="ko-KR" dirty="0" smtClean="0"/>
              <a:t>(</a:t>
            </a:r>
            <a:r>
              <a:rPr lang="ko-KR" altLang="en-US" dirty="0" smtClean="0"/>
              <a:t>서브 액티비티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호출하기 위해 주로 사용됨</a:t>
            </a:r>
            <a:r>
              <a:rPr lang="en-US" altLang="ko-KR" dirty="0" smtClean="0"/>
              <a:t>.</a:t>
            </a:r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컨텍스트는 </a:t>
            </a:r>
            <a:r>
              <a:rPr lang="ko-KR" altLang="en-US" u="sng" dirty="0" smtClean="0"/>
              <a:t>호출자의 정보 </a:t>
            </a:r>
            <a:r>
              <a:rPr lang="en-US" altLang="ko-KR" u="sng" dirty="0" smtClean="0"/>
              <a:t>(</a:t>
            </a:r>
            <a:r>
              <a:rPr lang="ko-KR" altLang="en-US" u="sng" dirty="0" smtClean="0"/>
              <a:t>주로 </a:t>
            </a:r>
            <a:r>
              <a:rPr lang="en-US" altLang="ko-KR" u="sng" dirty="0" smtClean="0"/>
              <a:t>this)</a:t>
            </a:r>
            <a:r>
              <a:rPr lang="en-US" altLang="ko-KR" dirty="0" smtClean="0"/>
              <a:t>, </a:t>
            </a:r>
            <a:r>
              <a:rPr lang="en-US" altLang="ko-KR" u="sng" dirty="0" err="1" smtClean="0"/>
              <a:t>cls</a:t>
            </a:r>
            <a:r>
              <a:rPr lang="ko-KR" altLang="en-US" u="sng" dirty="0" smtClean="0"/>
              <a:t>는 호출되는 액티비티 클래스의 정보</a:t>
            </a:r>
            <a:endParaRPr lang="en-US" altLang="ko-KR" u="sng" dirty="0" smtClean="0"/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실행 중에 액티비티를 생성해야 하므로 클래스 정보가 필요함</a:t>
            </a:r>
            <a:r>
              <a:rPr lang="en-US" altLang="ko-KR" dirty="0" smtClean="0"/>
              <a:t>.</a:t>
            </a:r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100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815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261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0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https://www.youtube.com/watch?v=3LkNlTNHZzE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778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31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EDIT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의 형식에 따라 처리 방식이 결정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04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04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기본적으로 생성되는 액티비티는 </a:t>
            </a:r>
            <a:r>
              <a:rPr lang="en-US" altLang="ko-KR" dirty="0" smtClean="0"/>
              <a:t>MAIN </a:t>
            </a:r>
            <a:r>
              <a:rPr lang="ko-KR" altLang="en-US" dirty="0" smtClean="0"/>
              <a:t>액션과 </a:t>
            </a:r>
            <a:r>
              <a:rPr lang="en-US" altLang="ko-KR" dirty="0" smtClean="0"/>
              <a:t>LAUNCHER </a:t>
            </a:r>
            <a:r>
              <a:rPr lang="ko-KR" altLang="en-US" dirty="0" smtClean="0"/>
              <a:t>카테고리를 가진다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그래서 어플리케이션 실행시 태스크의 루트 액티비티로 활성화되며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런처에 아이콘이 추가되어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04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EDIT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의 형식에 따라 처리 방식이 결정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04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프로젝트 생성 시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를 일치시켜야 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-&gt; </a:t>
            </a:r>
            <a:r>
              <a:rPr lang="ko-KR" altLang="en-US" dirty="0" smtClean="0"/>
              <a:t>그래야만 결과창 처럼 나온다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(</a:t>
            </a:r>
            <a:r>
              <a:rPr lang="ko-KR" altLang="en-US" baseline="0" dirty="0" smtClean="0"/>
              <a:t>위 프로젝트는 </a:t>
            </a:r>
            <a:r>
              <a:rPr lang="en-US" altLang="ko-KR" baseline="0" dirty="0" smtClean="0"/>
              <a:t>Empty Activity</a:t>
            </a:r>
            <a:r>
              <a:rPr lang="ko-KR" altLang="en-US" baseline="0" dirty="0" smtClean="0"/>
              <a:t>로 생성되었다</a:t>
            </a:r>
            <a:r>
              <a:rPr lang="en-US" altLang="ko-KR" baseline="0" dirty="0" smtClean="0"/>
              <a:t>)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Ex : </a:t>
            </a:r>
            <a:r>
              <a:rPr lang="ko-KR" altLang="en-US" dirty="0" smtClean="0"/>
              <a:t>프로젝트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empty activity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로 생성 하였을 시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추가할 </a:t>
            </a:r>
            <a:r>
              <a:rPr lang="en-US" altLang="ko-KR" baseline="0" dirty="0" smtClean="0"/>
              <a:t>Activity</a:t>
            </a:r>
            <a:r>
              <a:rPr lang="ko-KR" altLang="en-US" baseline="0" dirty="0" smtClean="0"/>
              <a:t>의 </a:t>
            </a:r>
            <a:r>
              <a:rPr lang="en-US" altLang="ko-KR" baseline="0" dirty="0" smtClean="0"/>
              <a:t>Type</a:t>
            </a:r>
            <a:r>
              <a:rPr lang="ko-KR" altLang="en-US" baseline="0" dirty="0" smtClean="0"/>
              <a:t>도 </a:t>
            </a:r>
            <a:r>
              <a:rPr lang="en-US" altLang="ko-KR" baseline="0" dirty="0" smtClean="0"/>
              <a:t>empty activity </a:t>
            </a:r>
            <a:r>
              <a:rPr lang="ko-KR" altLang="en-US" baseline="0" dirty="0" smtClean="0"/>
              <a:t>여야 한다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(</a:t>
            </a:r>
            <a:r>
              <a:rPr lang="ko-KR" altLang="en-US" baseline="0" dirty="0" smtClean="0"/>
              <a:t>번외 </a:t>
            </a:r>
            <a:r>
              <a:rPr lang="en-US" altLang="ko-KR" baseline="0" dirty="0" smtClean="0"/>
              <a:t>: </a:t>
            </a:r>
            <a:r>
              <a:rPr lang="ko-KR" altLang="en-US" baseline="0" dirty="0" smtClean="0"/>
              <a:t>프로젝트가 </a:t>
            </a:r>
            <a:r>
              <a:rPr lang="en-US" altLang="ko-KR" baseline="0" dirty="0" smtClean="0"/>
              <a:t>basic activity </a:t>
            </a:r>
            <a:r>
              <a:rPr lang="ko-KR" altLang="en-US" baseline="0" dirty="0" smtClean="0"/>
              <a:t>로 생성되면 추가할 </a:t>
            </a:r>
            <a:r>
              <a:rPr lang="en-US" altLang="ko-KR" baseline="0" dirty="0" smtClean="0"/>
              <a:t>Activity Type</a:t>
            </a:r>
            <a:r>
              <a:rPr lang="ko-KR" altLang="en-US" baseline="0" dirty="0" smtClean="0"/>
              <a:t>도 </a:t>
            </a:r>
            <a:r>
              <a:rPr lang="en-US" altLang="ko-KR" baseline="0" dirty="0" smtClean="0"/>
              <a:t>basic activity)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479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849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374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108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void finish ()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Call this when your activity is done and should be closed. The </a:t>
            </a:r>
            <a:r>
              <a:rPr lang="en-US" altLang="ko-KR" dirty="0" err="1" smtClean="0"/>
              <a:t>ActivityResult</a:t>
            </a:r>
            <a:r>
              <a:rPr lang="en-US" altLang="ko-KR" dirty="0" smtClean="0"/>
              <a:t> is propagated back to whoever launched you via </a:t>
            </a:r>
            <a:r>
              <a:rPr lang="en-US" altLang="ko-KR" dirty="0" err="1" smtClean="0"/>
              <a:t>onActivityResult</a:t>
            </a:r>
            <a:r>
              <a:rPr lang="en-US" altLang="ko-KR" dirty="0" smtClean="0"/>
              <a:t>().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024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305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303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97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97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849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374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ExplicitIntentTest2 –</a:t>
            </a:r>
            <a:r>
              <a:rPr lang="en-US" altLang="ko-KR" baseline="0" dirty="0" smtClean="0"/>
              <a:t> Project  </a:t>
            </a:r>
            <a:r>
              <a:rPr lang="ko-KR" altLang="en-US" baseline="0" dirty="0" smtClean="0"/>
              <a:t>생성 후 작성함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 (TextView) 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</a:t>
            </a:r>
            <a:r>
              <a:rPr lang="en-US" altLang="ko-KR" sz="1200" b="1" i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dit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Slide no.25 </a:t>
            </a:r>
            <a:r>
              <a:rPr kumimoji="0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반환된 문자열 아래에 표시 될 부분 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</a:t>
            </a:r>
            <a:r>
              <a:rPr kumimoji="0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즉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</a:t>
            </a:r>
            <a:r>
              <a:rPr kumimoji="0" lang="en-US" altLang="ko-K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SubActivity</a:t>
            </a:r>
            <a:r>
              <a:rPr kumimoji="0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에서 입력된 문자열을 반환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</a:t>
            </a:r>
          </a:p>
          <a:p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</a:endParaRPr>
          </a:p>
          <a:p>
            <a:r>
              <a:rPr lang="en-US" altLang="ko-KR" dirty="0" smtClean="0"/>
              <a:t>Activity </a:t>
            </a:r>
            <a:r>
              <a:rPr lang="ko-KR" altLang="en-US" dirty="0" smtClean="0"/>
              <a:t>클래스 </a:t>
            </a:r>
            <a:r>
              <a:rPr lang="en-US" altLang="ko-KR" dirty="0" smtClean="0"/>
              <a:t>:  https://developer.android.com/training/basics/intents/result.html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0727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4567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3856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1172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프로젝트 생성 시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를 일치시켜야 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-&gt; </a:t>
            </a:r>
            <a:r>
              <a:rPr lang="ko-KR" altLang="en-US" dirty="0" smtClean="0"/>
              <a:t>그래야만 결과창 처럼 나온다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(</a:t>
            </a:r>
            <a:r>
              <a:rPr lang="ko-KR" altLang="en-US" baseline="0" dirty="0" smtClean="0"/>
              <a:t>위 프로젝트는 </a:t>
            </a:r>
            <a:r>
              <a:rPr lang="en-US" altLang="ko-KR" baseline="0" dirty="0" smtClean="0"/>
              <a:t>Empty Activity</a:t>
            </a:r>
            <a:r>
              <a:rPr lang="ko-KR" altLang="en-US" baseline="0" dirty="0" smtClean="0"/>
              <a:t>로 생성되었다</a:t>
            </a:r>
            <a:r>
              <a:rPr lang="en-US" altLang="ko-KR" baseline="0" dirty="0" smtClean="0"/>
              <a:t>)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Ex : </a:t>
            </a:r>
            <a:r>
              <a:rPr lang="ko-KR" altLang="en-US" dirty="0" smtClean="0"/>
              <a:t>프로젝트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empty activity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로 생성 하였을 시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추가할 </a:t>
            </a:r>
            <a:r>
              <a:rPr lang="en-US" altLang="ko-KR" baseline="0" dirty="0" smtClean="0"/>
              <a:t>Activity</a:t>
            </a:r>
            <a:r>
              <a:rPr lang="ko-KR" altLang="en-US" baseline="0" dirty="0" smtClean="0"/>
              <a:t>의 </a:t>
            </a:r>
            <a:r>
              <a:rPr lang="en-US" altLang="ko-KR" baseline="0" dirty="0" smtClean="0"/>
              <a:t>Type</a:t>
            </a:r>
            <a:r>
              <a:rPr lang="ko-KR" altLang="en-US" baseline="0" dirty="0" smtClean="0"/>
              <a:t>도 </a:t>
            </a:r>
            <a:r>
              <a:rPr lang="en-US" altLang="ko-KR" baseline="0" dirty="0" smtClean="0"/>
              <a:t>empty activity </a:t>
            </a:r>
            <a:r>
              <a:rPr lang="ko-KR" altLang="en-US" baseline="0" dirty="0" smtClean="0"/>
              <a:t>여야 한다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(</a:t>
            </a:r>
            <a:r>
              <a:rPr lang="ko-KR" altLang="en-US" baseline="0" dirty="0" smtClean="0"/>
              <a:t>번외 </a:t>
            </a:r>
            <a:r>
              <a:rPr lang="en-US" altLang="ko-KR" baseline="0" dirty="0" smtClean="0"/>
              <a:t>: </a:t>
            </a:r>
            <a:r>
              <a:rPr lang="ko-KR" altLang="en-US" baseline="0" dirty="0" smtClean="0"/>
              <a:t>프로젝트가 </a:t>
            </a:r>
            <a:r>
              <a:rPr lang="en-US" altLang="ko-KR" baseline="0" dirty="0" smtClean="0"/>
              <a:t>basic activity </a:t>
            </a:r>
            <a:r>
              <a:rPr lang="ko-KR" altLang="en-US" baseline="0" dirty="0" smtClean="0"/>
              <a:t>로 생성되면 추가할 </a:t>
            </a:r>
            <a:r>
              <a:rPr lang="en-US" altLang="ko-KR" baseline="0" dirty="0" smtClean="0"/>
              <a:t>Activity Type</a:t>
            </a:r>
            <a:r>
              <a:rPr lang="ko-KR" altLang="en-US" baseline="0" dirty="0" smtClean="0"/>
              <a:t>도 </a:t>
            </a:r>
            <a:r>
              <a:rPr lang="en-US" altLang="ko-KR" baseline="0" dirty="0" smtClean="0"/>
              <a:t>basic activity)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479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6337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1535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4791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IntentFilterTest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라는 프로젝트를 새로 생성하여 작업함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4419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0853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맨 왼쪽부터 </a:t>
            </a:r>
            <a:r>
              <a:rPr lang="en-US" altLang="ko-KR" dirty="0" smtClean="0"/>
              <a:t>1, 2, 3</a:t>
            </a:r>
            <a:r>
              <a:rPr lang="ko-KR" altLang="en-US" dirty="0" smtClean="0"/>
              <a:t>번이라고 하였을 시</a:t>
            </a:r>
            <a:r>
              <a:rPr lang="en-US" altLang="ko-KR" dirty="0" smtClean="0"/>
              <a:t>, 1, 2</a:t>
            </a:r>
            <a:r>
              <a:rPr lang="ko-KR" altLang="en-US" dirty="0" smtClean="0"/>
              <a:t>번의 결과는 </a:t>
            </a:r>
            <a:r>
              <a:rPr lang="en-US" altLang="ko-KR" dirty="0" err="1" smtClean="0"/>
              <a:t>ImplicitIntentTest</a:t>
            </a:r>
            <a:r>
              <a:rPr lang="ko-KR" altLang="en-US" dirty="0" smtClean="0"/>
              <a:t>에서 추가작업 해주어야 한다</a:t>
            </a:r>
            <a:r>
              <a:rPr lang="en-US" altLang="ko-KR" dirty="0" smtClean="0"/>
              <a:t>. (</a:t>
            </a:r>
            <a:r>
              <a:rPr lang="en-US" altLang="ko-KR" dirty="0" err="1" smtClean="0"/>
              <a:t>IntentFilterTest</a:t>
            </a:r>
            <a:r>
              <a:rPr lang="ko-KR" altLang="en-US" dirty="0" smtClean="0"/>
              <a:t>가 아니다</a:t>
            </a:r>
            <a:r>
              <a:rPr lang="en-US" altLang="ko-KR" dirty="0" smtClean="0"/>
              <a:t>!)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997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실행 시 </a:t>
            </a:r>
            <a:r>
              <a:rPr lang="en-US" altLang="ko-KR" dirty="0" smtClean="0"/>
              <a:t>2</a:t>
            </a:r>
            <a:r>
              <a:rPr lang="ko-KR" altLang="en-US" dirty="0" smtClean="0"/>
              <a:t>번 화면이 뜨질 않고 바로 </a:t>
            </a:r>
            <a:r>
              <a:rPr lang="en-US" altLang="ko-KR" dirty="0" smtClean="0"/>
              <a:t>3</a:t>
            </a:r>
            <a:r>
              <a:rPr lang="ko-KR" altLang="en-US" dirty="0" smtClean="0"/>
              <a:t>번 화면으로 넘어가는 일이 발생하여 기존 이미지를 기반으로 약간의 편집을 가함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32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LkNlTNHZz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content/Intent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Intent.html" TargetMode="External"/><Relationship Id="rId2" Type="http://schemas.openxmlformats.org/officeDocument/2006/relationships/hyperlink" Target="http://developer.android.com/guide/components/intents-filters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인텐</a:t>
            </a:r>
            <a:r>
              <a:rPr lang="ko-KR" altLang="en-US" sz="4800" b="1" dirty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트</a:t>
            </a: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“</a:t>
            </a:r>
            <a:r>
              <a:rPr lang="ko-KR" altLang="en-US" dirty="0" smtClean="0"/>
              <a:t>의도</a:t>
            </a:r>
            <a:r>
              <a:rPr lang="en-US" altLang="ko-KR" dirty="0" smtClean="0"/>
              <a:t>”, “</a:t>
            </a:r>
            <a:r>
              <a:rPr lang="ko-KR" altLang="en-US" dirty="0" smtClean="0"/>
              <a:t>의</a:t>
            </a:r>
            <a:r>
              <a:rPr lang="ko-KR" altLang="en-US" dirty="0"/>
              <a:t>향</a:t>
            </a:r>
            <a:r>
              <a:rPr lang="en-US" altLang="ko-KR" dirty="0" smtClean="0"/>
              <a:t>”</a:t>
            </a:r>
          </a:p>
          <a:p>
            <a:pPr lvl="1"/>
            <a:r>
              <a:rPr lang="ko-KR" altLang="en-US" dirty="0" smtClean="0"/>
              <a:t>다른 누군가에게 자신의 의도를 알리고 요청하는 것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>
                <a:solidFill>
                  <a:srgbClr val="00B0F0"/>
                </a:solidFill>
              </a:rPr>
              <a:t>인텐트 객체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r>
              <a:rPr lang="ko-KR" altLang="en-US" dirty="0"/>
              <a:t>의도를 담은 꾸러미</a:t>
            </a:r>
            <a:endParaRPr lang="en-US" altLang="ko-KR" dirty="0"/>
          </a:p>
          <a:p>
            <a:pPr lvl="2"/>
            <a:r>
              <a:rPr lang="en-US" altLang="ko-KR" dirty="0"/>
              <a:t>‘</a:t>
            </a:r>
            <a:r>
              <a:rPr lang="ko-KR" altLang="en-US" dirty="0"/>
              <a:t>전화를 걸어줘</a:t>
            </a:r>
            <a:r>
              <a:rPr lang="en-US" altLang="ko-KR" dirty="0"/>
              <a:t>~’</a:t>
            </a:r>
          </a:p>
          <a:p>
            <a:pPr lvl="2"/>
            <a:r>
              <a:rPr lang="en-US" altLang="ko-KR" dirty="0"/>
              <a:t>‘</a:t>
            </a:r>
            <a:r>
              <a:rPr lang="ko-KR" altLang="en-US" dirty="0"/>
              <a:t>피자를 주문해줘</a:t>
            </a:r>
            <a:r>
              <a:rPr lang="en-US" altLang="ko-KR" dirty="0"/>
              <a:t>~’</a:t>
            </a:r>
          </a:p>
          <a:p>
            <a:pPr lvl="2"/>
            <a:r>
              <a:rPr lang="en-US" altLang="ko-KR" dirty="0" smtClean="0"/>
              <a:t>‘</a:t>
            </a:r>
            <a:r>
              <a:rPr lang="ko-KR" altLang="en-US" dirty="0" smtClean="0"/>
              <a:t>다음 </a:t>
            </a:r>
            <a:r>
              <a:rPr lang="ko-KR" altLang="en-US" dirty="0"/>
              <a:t>화면을 불러줘</a:t>
            </a:r>
            <a:r>
              <a:rPr lang="en-US" altLang="ko-KR" dirty="0"/>
              <a:t>~’</a:t>
            </a:r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의도를 가진 메세지를 표현하기 위한 관련된 정보의 모음</a:t>
            </a:r>
            <a:endParaRPr lang="en-US" altLang="ko-KR" dirty="0">
              <a:solidFill>
                <a:srgbClr val="00B0F0"/>
              </a:solidFill>
            </a:endParaRPr>
          </a:p>
          <a:p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2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생성</a:t>
            </a:r>
            <a:r>
              <a:rPr lang="ko-KR" altLang="en-US" dirty="0"/>
              <a:t>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Intent () </a:t>
            </a:r>
          </a:p>
          <a:p>
            <a:pPr lvl="1"/>
            <a:r>
              <a:rPr lang="en-US" altLang="ko-KR" dirty="0" smtClean="0"/>
              <a:t>Intent ( Intent  o) 	// copy constructor</a:t>
            </a:r>
          </a:p>
          <a:p>
            <a:pPr lvl="1"/>
            <a:r>
              <a:rPr lang="en-US" altLang="ko-KR" dirty="0" smtClean="0"/>
              <a:t>Intent ( String action [, Uri </a:t>
            </a:r>
            <a:r>
              <a:rPr lang="en-US" altLang="ko-KR" dirty="0" err="1" smtClean="0"/>
              <a:t>uri</a:t>
            </a:r>
            <a:r>
              <a:rPr lang="en-US" altLang="ko-KR" dirty="0" smtClean="0"/>
              <a:t>])</a:t>
            </a:r>
          </a:p>
          <a:p>
            <a:pPr lvl="1"/>
            <a:r>
              <a:rPr lang="en-US" altLang="ko-KR" dirty="0" smtClean="0"/>
              <a:t>Intent ( Context </a:t>
            </a:r>
            <a:r>
              <a:rPr lang="en-US" altLang="ko-KR" dirty="0" err="1" smtClean="0"/>
              <a:t>packageContext</a:t>
            </a:r>
            <a:r>
              <a:rPr lang="en-US" altLang="ko-KR" dirty="0" smtClean="0"/>
              <a:t>, Class&lt;?&gt; </a:t>
            </a:r>
            <a:r>
              <a:rPr lang="en-US" altLang="ko-KR" dirty="0" err="1" smtClean="0"/>
              <a:t>cls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Intent ( String action, Uri </a:t>
            </a:r>
            <a:r>
              <a:rPr lang="en-US" altLang="ko-KR" dirty="0" err="1" smtClean="0"/>
              <a:t>uri</a:t>
            </a:r>
            <a:r>
              <a:rPr lang="en-US" altLang="ko-KR" dirty="0" smtClean="0"/>
              <a:t>, Context </a:t>
            </a:r>
            <a:r>
              <a:rPr lang="en-US" altLang="ko-KR" dirty="0" err="1" smtClean="0"/>
              <a:t>packageContext</a:t>
            </a:r>
            <a:r>
              <a:rPr lang="en-US" altLang="ko-KR" dirty="0" smtClean="0"/>
              <a:t>, Class&lt;?&gt; </a:t>
            </a:r>
            <a:r>
              <a:rPr lang="en-US" altLang="ko-KR" dirty="0" err="1" smtClean="0"/>
              <a:t>cls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/>
              <a:t>Ex) </a:t>
            </a:r>
            <a:r>
              <a:rPr lang="ko-KR" altLang="en-US" dirty="0" smtClean="0"/>
              <a:t>액티비티 호출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/>
              <a:t>Intent </a:t>
            </a:r>
            <a:r>
              <a:rPr lang="en-US" altLang="ko-KR" dirty="0" err="1" smtClean="0"/>
              <a:t>intent</a:t>
            </a:r>
            <a:r>
              <a:rPr lang="en-US" altLang="ko-KR" dirty="0" smtClean="0"/>
              <a:t> = new Intent(this, </a:t>
            </a:r>
            <a:r>
              <a:rPr lang="en-US" altLang="ko-KR" dirty="0" err="1" smtClean="0"/>
              <a:t>SubActivity.class</a:t>
            </a:r>
            <a:r>
              <a:rPr lang="en-US" altLang="ko-KR" dirty="0" smtClean="0"/>
              <a:t>);</a:t>
            </a:r>
          </a:p>
          <a:p>
            <a:pPr marL="457200" lvl="1" indent="0">
              <a:buNone/>
            </a:pPr>
            <a:r>
              <a:rPr lang="en-US" altLang="ko-KR" dirty="0" err="1" smtClean="0"/>
              <a:t>startActivity</a:t>
            </a:r>
            <a:r>
              <a:rPr lang="en-US" altLang="ko-KR" dirty="0" smtClean="0"/>
              <a:t>(intent);</a:t>
            </a:r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1194099" y="2807746"/>
            <a:ext cx="3991087" cy="2904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Elbow Connector 6"/>
          <p:cNvCxnSpPr>
            <a:stCxn id="5" idx="1"/>
            <a:endCxn id="10" idx="1"/>
          </p:cNvCxnSpPr>
          <p:nvPr/>
        </p:nvCxnSpPr>
        <p:spPr>
          <a:xfrm rot="10800000" flipV="1">
            <a:off x="871369" y="2952974"/>
            <a:ext cx="322730" cy="1484556"/>
          </a:xfrm>
          <a:prstGeom prst="bentConnector3">
            <a:avLst>
              <a:gd name="adj1" fmla="val 17083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1369" y="3861995"/>
            <a:ext cx="4561243" cy="11510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14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 Object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구성 요소</a:t>
            </a:r>
            <a:endParaRPr lang="en-US" altLang="ko-KR" dirty="0" smtClean="0"/>
          </a:p>
          <a:p>
            <a:pPr lvl="1"/>
            <a:r>
              <a:rPr lang="en-US" altLang="ko-KR" dirty="0"/>
              <a:t>Component: </a:t>
            </a:r>
            <a:r>
              <a:rPr lang="ko-KR" altLang="en-US" dirty="0"/>
              <a:t>행동을 수행할 대상</a:t>
            </a:r>
            <a:endParaRPr lang="en-US" altLang="ko-KR" dirty="0"/>
          </a:p>
          <a:p>
            <a:pPr lvl="1"/>
            <a:r>
              <a:rPr lang="en-US" altLang="ko-KR" dirty="0" smtClean="0"/>
              <a:t>Action: </a:t>
            </a:r>
            <a:r>
              <a:rPr lang="ko-KR" altLang="en-US" dirty="0" smtClean="0"/>
              <a:t>요구한 행동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Data</a:t>
            </a:r>
            <a:r>
              <a:rPr lang="en-US" altLang="ko-KR" dirty="0"/>
              <a:t>: </a:t>
            </a:r>
            <a:r>
              <a:rPr lang="ko-KR" altLang="en-US" dirty="0"/>
              <a:t>행동을 위한 정보</a:t>
            </a:r>
            <a:endParaRPr lang="en-US" altLang="ko-KR" dirty="0"/>
          </a:p>
          <a:p>
            <a:pPr lvl="1"/>
            <a:r>
              <a:rPr lang="en-US" altLang="ko-KR" dirty="0"/>
              <a:t>Category: </a:t>
            </a:r>
            <a:r>
              <a:rPr lang="ko-KR" altLang="en-US" dirty="0"/>
              <a:t>행동의 범주</a:t>
            </a:r>
            <a:endParaRPr lang="en-US" altLang="ko-KR" dirty="0"/>
          </a:p>
          <a:p>
            <a:pPr lvl="1"/>
            <a:r>
              <a:rPr lang="en-US" altLang="ko-KR" dirty="0" smtClean="0"/>
              <a:t>Extra: </a:t>
            </a:r>
            <a:r>
              <a:rPr lang="ko-KR" altLang="en-US" dirty="0" smtClean="0"/>
              <a:t>추가적인 정보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1185705" y="4210259"/>
            <a:ext cx="2220686" cy="17383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Component A</a:t>
            </a:r>
            <a:endParaRPr lang="ko-KR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5377543" y="4210258"/>
            <a:ext cx="2220686" cy="17383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Component B</a:t>
            </a:r>
            <a:endParaRPr lang="ko-KR" altLang="en-US" dirty="0"/>
          </a:p>
        </p:txBody>
      </p:sp>
      <p:sp>
        <p:nvSpPr>
          <p:cNvPr id="7" name="Curved Down Arrow 6"/>
          <p:cNvSpPr/>
          <p:nvPr/>
        </p:nvSpPr>
        <p:spPr>
          <a:xfrm>
            <a:off x="3195375" y="4205220"/>
            <a:ext cx="2371412" cy="693338"/>
          </a:xfrm>
          <a:prstGeom prst="curved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Curved Up Arrow 7"/>
          <p:cNvSpPr/>
          <p:nvPr/>
        </p:nvSpPr>
        <p:spPr>
          <a:xfrm flipH="1">
            <a:off x="3195376" y="5310541"/>
            <a:ext cx="2371411" cy="693338"/>
          </a:xfrm>
          <a:prstGeom prst="curved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38952" y="3913823"/>
            <a:ext cx="884255" cy="67322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Intent</a:t>
            </a:r>
          </a:p>
          <a:p>
            <a:pPr algn="ctr"/>
            <a:r>
              <a:rPr lang="en-US" altLang="ko-KR" sz="1600" dirty="0" smtClean="0"/>
              <a:t>Object</a:t>
            </a:r>
            <a:endParaRPr lang="ko-KR" altLang="en-US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6045758" y="5275399"/>
            <a:ext cx="884255" cy="67322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Intent</a:t>
            </a:r>
          </a:p>
          <a:p>
            <a:pPr algn="ctr"/>
            <a:r>
              <a:rPr lang="en-US" altLang="ko-KR" sz="1600" dirty="0" smtClean="0"/>
              <a:t>Object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3682813" y="3563368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행동을 요청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682813" y="622785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결과를 반환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789617" y="4561938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행동을 수행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481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43 0.04672 L -0.06041 0.0067 C -0.04635 -0.00232 -0.02534 -0.00718 -0.00347 -0.00718 C 0.02153 -0.00718 0.0415 -0.00232 0.05556 0.0067 L 0.12257 0.04672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27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226 0.00278 L -0.16841 0.04279 C -0.1823 0.05182 -0.20313 0.05667 -0.22466 0.05667 C -0.24931 0.05667 -0.2691 0.05182 -0.28299 0.04279 L -0.34896 0.00278 " pathEditMode="relative" rAng="0" ptsTypes="FffFF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44" y="26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2" animBg="1"/>
      <p:bldP spid="11" grpId="0" animBg="1"/>
      <p:bldP spid="11" grpId="1" animBg="1"/>
      <p:bldP spid="13" grpId="0"/>
      <p:bldP spid="13" grpId="1"/>
      <p:bldP spid="14" grpId="0"/>
      <p:bldP spid="15" grpId="0"/>
      <p:bldP spid="1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 Type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명시적 인텐트 </a:t>
            </a:r>
            <a:r>
              <a:rPr lang="en-US" altLang="ko-KR" dirty="0" smtClean="0"/>
              <a:t>(Explicit Intent)</a:t>
            </a:r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누가 행동을 수행할지 정확하게 지정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r>
              <a:rPr lang="ko-KR" altLang="en-US" dirty="0" smtClean="0"/>
              <a:t>손쉽게 호출이 가능하며 즉각 실행됨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호출하는 대상의 이름을 정확하게 알 수 있어야 사용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대부분 </a:t>
            </a:r>
            <a:r>
              <a:rPr lang="en-US" altLang="ko-KR" dirty="0" smtClean="0"/>
              <a:t>App </a:t>
            </a:r>
            <a:r>
              <a:rPr lang="ko-KR" altLang="en-US" dirty="0" smtClean="0"/>
              <a:t>자신의 내부 컴포넌트들을 호출하기 위해 사용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암시적 인텐트 </a:t>
            </a:r>
            <a:r>
              <a:rPr lang="en-US" altLang="ko-KR" dirty="0" smtClean="0"/>
              <a:t>(Implicit Intent)</a:t>
            </a:r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수행 주체를 정확하게 지정하지 않고 시스템에게 대신 선정하도록 위임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r>
              <a:rPr lang="ko-KR" altLang="en-US" dirty="0" smtClean="0"/>
              <a:t>요청된 행동이 어떤 컴포넌트에게 적합한지는 전적으로 시스템이 결정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필요하다면 시스템이 대상을 직접 생성하여 전달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인텐트를 전달 받을 수 있는 컴포넌트들은 자신이 어떠한 인텐트를 처리할 수 있는지를 미리 </a:t>
            </a:r>
            <a:r>
              <a:rPr lang="en-US" altLang="ko-KR" dirty="0" err="1" smtClean="0">
                <a:solidFill>
                  <a:srgbClr val="00B0F0"/>
                </a:solidFill>
              </a:rPr>
              <a:t>AndroidManifest</a:t>
            </a:r>
            <a:r>
              <a:rPr lang="ko-KR" altLang="en-US" dirty="0" smtClean="0">
                <a:solidFill>
                  <a:srgbClr val="00B0F0"/>
                </a:solidFill>
              </a:rPr>
              <a:t>에 기술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95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Implicit Intent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사용 효과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어플리케이션간의 경계 파괴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서로 다른 어플리케이션이 협력하여 작동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r>
              <a:rPr lang="ko-KR" altLang="en-US" dirty="0" smtClean="0"/>
              <a:t>사용자는 마치 하나의 어플리케이션을 사용하는듯한 경험을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중복 기능 개발 방지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개발 기간 단축과 높은 완성도 달성</a:t>
            </a:r>
            <a:endParaRPr lang="en-US" altLang="ko-KR" dirty="0" smtClean="0"/>
          </a:p>
          <a:p>
            <a:pPr lvl="1"/>
            <a:r>
              <a:rPr lang="en-US" altLang="ko-KR" dirty="0"/>
              <a:t>Native App</a:t>
            </a:r>
            <a:r>
              <a:rPr lang="ko-KR" altLang="en-US" dirty="0"/>
              <a:t>이 처리하는 암시적 인텐트를 대신 처리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→ </a:t>
            </a:r>
            <a:r>
              <a:rPr lang="en-US" altLang="ko-KR" dirty="0"/>
              <a:t>Native App</a:t>
            </a:r>
            <a:r>
              <a:rPr lang="ko-KR" altLang="en-US" dirty="0"/>
              <a:t>을 대체하는 </a:t>
            </a:r>
            <a:r>
              <a:rPr lang="ko-KR" altLang="en-US" dirty="0" smtClean="0"/>
              <a:t>효과</a:t>
            </a:r>
            <a:endParaRPr lang="en-US" altLang="ko-KR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2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Implicit Intent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5644" y="5430987"/>
            <a:ext cx="6107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ko-KR" altLang="en-US" dirty="0" smtClean="0"/>
              <a:t>바코드 리더가 </a:t>
            </a:r>
            <a:r>
              <a:rPr lang="ko-KR" altLang="en-US" dirty="0" err="1" smtClean="0"/>
              <a:t>구글</a:t>
            </a:r>
            <a:r>
              <a:rPr lang="ko-KR" altLang="en-US" dirty="0" smtClean="0"/>
              <a:t> 검색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연락처</a:t>
            </a:r>
            <a:r>
              <a:rPr lang="en-US" altLang="ko-KR" dirty="0" smtClean="0"/>
              <a:t>,</a:t>
            </a:r>
            <a:r>
              <a:rPr lang="ko-KR" altLang="en-US" dirty="0" smtClean="0"/>
              <a:t> 통화</a:t>
            </a:r>
            <a:r>
              <a:rPr lang="en-US" altLang="ko-KR" dirty="0" smtClean="0"/>
              <a:t>, E-mail</a:t>
            </a:r>
            <a:r>
              <a:rPr lang="ko-KR" altLang="en-US" dirty="0" smtClean="0"/>
              <a:t> 기능을 호출</a:t>
            </a:r>
            <a:endParaRPr lang="en-US" altLang="ko-KR" dirty="0" smtClean="0"/>
          </a:p>
          <a:p>
            <a:pPr marL="0" lvl="1"/>
            <a:r>
              <a:rPr lang="ko-KR" altLang="en-US" dirty="0" smtClean="0"/>
              <a:t>서적 </a:t>
            </a:r>
            <a:r>
              <a:rPr lang="ko-KR" altLang="en-US" dirty="0"/>
              <a:t>관리 </a:t>
            </a:r>
            <a:r>
              <a:rPr lang="en-US" altLang="ko-KR" dirty="0"/>
              <a:t>App</a:t>
            </a:r>
            <a:r>
              <a:rPr lang="ko-KR" altLang="en-US" dirty="0"/>
              <a:t>이 바코드 스캐너 </a:t>
            </a:r>
            <a:r>
              <a:rPr lang="en-US" altLang="ko-KR" dirty="0"/>
              <a:t>App</a:t>
            </a:r>
            <a:r>
              <a:rPr lang="ko-KR" altLang="en-US" dirty="0"/>
              <a:t>을 </a:t>
            </a:r>
            <a:r>
              <a:rPr lang="ko-KR" altLang="en-US" dirty="0" smtClean="0"/>
              <a:t>호출</a:t>
            </a:r>
            <a:endParaRPr lang="en-US" altLang="ko-KR" dirty="0"/>
          </a:p>
        </p:txBody>
      </p:sp>
      <p:pic>
        <p:nvPicPr>
          <p:cNvPr id="1026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1728788"/>
            <a:ext cx="453390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013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 Filter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처리 가능한 인텐트를 정의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Intent Resolving: </a:t>
            </a:r>
            <a:r>
              <a:rPr lang="ko-KR" altLang="en-US" dirty="0" smtClean="0"/>
              <a:t>시스템이 가장 적합한 컴포넌트를 찾는 과정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 가능한 모든 컴포넌트에 대해 시스템이 처리 가능 여부를 점검</a:t>
            </a:r>
            <a:endParaRPr lang="en-US" altLang="ko-KR" dirty="0"/>
          </a:p>
          <a:p>
            <a:pPr lvl="1"/>
            <a:r>
              <a:rPr lang="ko-KR" altLang="en-US" dirty="0" smtClean="0"/>
              <a:t>각 컴포넌트들은 자신이 처리할 수 있는 인텐트의 종류를 미리 정의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r>
              <a:rPr lang="ko-KR" altLang="en-US" dirty="0" smtClean="0"/>
              <a:t>암시적 인텐트에서만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명시적 인텐트가 들어올 경우 필터와 관계없이 처리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6169688" y="3064749"/>
            <a:ext cx="2220686" cy="17383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Component</a:t>
            </a:r>
            <a:endParaRPr lang="ko-KR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3441561" y="2934120"/>
            <a:ext cx="1034980" cy="20900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Intent</a:t>
            </a:r>
          </a:p>
          <a:p>
            <a:pPr algn="ctr"/>
            <a:r>
              <a:rPr lang="en-US" altLang="ko-KR" dirty="0" smtClean="0"/>
              <a:t>Filter</a:t>
            </a:r>
            <a:endParaRPr lang="ko-KR" altLang="en-US" dirty="0"/>
          </a:p>
        </p:txBody>
      </p:sp>
      <p:sp>
        <p:nvSpPr>
          <p:cNvPr id="7" name="Right Arrow 6"/>
          <p:cNvSpPr/>
          <p:nvPr/>
        </p:nvSpPr>
        <p:spPr>
          <a:xfrm>
            <a:off x="1215850" y="3019532"/>
            <a:ext cx="1899139" cy="29140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ight Arrow 7"/>
          <p:cNvSpPr/>
          <p:nvPr/>
        </p:nvSpPr>
        <p:spPr>
          <a:xfrm>
            <a:off x="1215849" y="3573866"/>
            <a:ext cx="1899139" cy="29140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ight Arrow 8"/>
          <p:cNvSpPr/>
          <p:nvPr/>
        </p:nvSpPr>
        <p:spPr>
          <a:xfrm>
            <a:off x="1210820" y="4109775"/>
            <a:ext cx="1899139" cy="29140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ight Arrow 9"/>
          <p:cNvSpPr/>
          <p:nvPr/>
        </p:nvSpPr>
        <p:spPr>
          <a:xfrm>
            <a:off x="1215846" y="4657413"/>
            <a:ext cx="1899139" cy="29140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ight Arrow 10"/>
          <p:cNvSpPr/>
          <p:nvPr/>
        </p:nvSpPr>
        <p:spPr>
          <a:xfrm>
            <a:off x="4652388" y="3531997"/>
            <a:ext cx="1323026" cy="29140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ight Arrow 11"/>
          <p:cNvSpPr/>
          <p:nvPr/>
        </p:nvSpPr>
        <p:spPr>
          <a:xfrm>
            <a:off x="4652388" y="4109775"/>
            <a:ext cx="1323026" cy="29140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631412" y="4500958"/>
            <a:ext cx="1312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필터를 통과한 인텐트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620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Intent: Action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무엇을 해야할까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대상이 수행해 주길 바라는 행동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27131"/>
              </p:ext>
            </p:extLst>
          </p:nvPr>
        </p:nvGraphicFramePr>
        <p:xfrm>
          <a:off x="1242647" y="2311399"/>
          <a:ext cx="7067340" cy="3988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435"/>
                <a:gridCol w="1434927"/>
                <a:gridCol w="2493978"/>
              </a:tblGrid>
              <a:tr h="443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행동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대상의 종류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ACTION_CALL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Activity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통화 기능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ACTION_EDIT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Activity</a:t>
                      </a:r>
                      <a:endParaRPr lang="ko-KR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데이터 편집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ACTION_MAIN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Activity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대상을 </a:t>
                      </a:r>
                      <a:r>
                        <a:rPr lang="en-US" altLang="ko-KR" dirty="0" smtClean="0"/>
                        <a:t>Task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Root</a:t>
                      </a:r>
                      <a:r>
                        <a:rPr lang="ko-KR" altLang="en-US" dirty="0" smtClean="0"/>
                        <a:t>로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ACTION_VIEW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Activity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데이터 출력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ACTION_DIAL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Activity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전화 다이얼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ACTION_BATTERY_LOW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Broadcast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배터리 부족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ACTION_HEADSET_PLUG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Broadcast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헤드셋 연결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해제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ACTION_SCREEN_ON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Broadcast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화면 켜짐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280160" y="6326309"/>
            <a:ext cx="66476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hlinkClick r:id="rId3"/>
              </a:rPr>
              <a:t>https://</a:t>
            </a:r>
            <a:r>
              <a:rPr lang="en-US" altLang="ko-KR" sz="1600" dirty="0" smtClean="0">
                <a:hlinkClick r:id="rId3"/>
              </a:rPr>
              <a:t>developer.android.com/reference/android/content/Intent.html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54109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Intent: Data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어떤 것을 다뤄야 할까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동작</a:t>
            </a:r>
            <a:r>
              <a:rPr lang="en-US" altLang="ko-KR" dirty="0" smtClean="0"/>
              <a:t>(action)</a:t>
            </a:r>
            <a:r>
              <a:rPr lang="ko-KR" altLang="en-US" dirty="0" smtClean="0"/>
              <a:t>에 필요한 상세 데이터를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처리할 내용이 있는 위치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URI(Uniform Resource Identifier)</a:t>
            </a:r>
            <a:r>
              <a:rPr lang="ko-KR" altLang="en-US" dirty="0" smtClean="0"/>
              <a:t>로 표현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URL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URI</a:t>
            </a:r>
            <a:r>
              <a:rPr lang="ko-KR" altLang="en-US" dirty="0" smtClean="0"/>
              <a:t>의 한 종류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err="1" smtClean="0"/>
              <a:t>mimeType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URI</a:t>
            </a:r>
            <a:r>
              <a:rPr lang="ko-KR" altLang="en-US" dirty="0" smtClean="0"/>
              <a:t>가 가르키는 데이터가 어떤 형식인지 정의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음악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메모</a:t>
            </a:r>
            <a:r>
              <a:rPr lang="en-US" altLang="ko-KR" dirty="0"/>
              <a:t> </a:t>
            </a:r>
            <a:r>
              <a:rPr lang="ko-KR" altLang="en-US" dirty="0" smtClean="0"/>
              <a:t>등등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74612"/>
              </p:ext>
            </p:extLst>
          </p:nvPr>
        </p:nvGraphicFramePr>
        <p:xfrm>
          <a:off x="1242646" y="3014027"/>
          <a:ext cx="7103912" cy="1772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935"/>
                <a:gridCol w="4890977"/>
              </a:tblGrid>
              <a:tr h="443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URI </a:t>
                      </a:r>
                      <a:r>
                        <a:rPr lang="ko-KR" altLang="en-US" dirty="0" smtClean="0"/>
                        <a:t>종류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예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전화번호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mtClean="0"/>
                        <a:t>tel:0539408695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웹 주소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http://vr.knu.ac.kr/</a:t>
                      </a:r>
                      <a:endParaRPr lang="ko-KR" altLang="en-US" dirty="0" smtClean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컨텐트 프로바이더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content://com.android.provider/contacts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98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Intent: Category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어떤 종류의 행동인가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내가 수행하는 행동이 속하는 범주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664569"/>
              </p:ext>
            </p:extLst>
          </p:nvPr>
        </p:nvGraphicFramePr>
        <p:xfrm>
          <a:off x="1242646" y="2385828"/>
          <a:ext cx="7103912" cy="2216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805"/>
                <a:gridCol w="4019107"/>
              </a:tblGrid>
              <a:tr h="4432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종류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DEFAULT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기본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LAUNCHER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런처에 표시</a:t>
                      </a:r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ALTERNATIVE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현재 데이터의 또 다른 표현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432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SELECTED_ALTERNATIVE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현재 선택의 또 다른 결과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708" y="4837814"/>
            <a:ext cx="764068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&lt;activity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android:name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".Act1"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      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android:label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"@string/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app_name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intent-filter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    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b="1" dirty="0">
                <a:solidFill>
                  <a:srgbClr val="3F7F7F"/>
                </a:solidFill>
                <a:latin typeface="맑은 고딕"/>
              </a:rPr>
              <a:t>action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android:name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android.intent.</a:t>
            </a:r>
            <a:r>
              <a:rPr lang="en-US" altLang="ko-KR" sz="1600" b="1" i="1" dirty="0" err="1">
                <a:solidFill>
                  <a:srgbClr val="2A00FF"/>
                </a:solidFill>
                <a:latin typeface="맑은 고딕"/>
              </a:rPr>
              <a:t>action.MAIN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 </a:t>
            </a:r>
            <a:r>
              <a:rPr lang="en-US" altLang="ko-KR" sz="1600" i="1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    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b="1" dirty="0">
                <a:solidFill>
                  <a:srgbClr val="3F7F7F"/>
                </a:solidFill>
                <a:latin typeface="맑은 고딕"/>
              </a:rPr>
              <a:t>category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android:name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android.intent.</a:t>
            </a:r>
            <a:r>
              <a:rPr lang="en-US" altLang="ko-KR" sz="1600" b="1" i="1" dirty="0" err="1">
                <a:solidFill>
                  <a:srgbClr val="2A00FF"/>
                </a:solidFill>
                <a:latin typeface="맑은 고딕"/>
              </a:rPr>
              <a:t>category.LAUNCHER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 </a:t>
            </a:r>
            <a:r>
              <a:rPr lang="en-US" altLang="ko-KR" sz="1600" i="1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    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intent-filter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&lt;/activity&gt;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76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Intent: Extra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참고할만한 값이 있는가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실제 값을 전달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값 보관</a:t>
            </a:r>
            <a:r>
              <a:rPr lang="en-US" altLang="ko-KR" dirty="0" smtClean="0"/>
              <a:t>: </a:t>
            </a:r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Intent </a:t>
            </a:r>
            <a:r>
              <a:rPr lang="en-US" altLang="ko-KR" dirty="0" err="1" smtClean="0"/>
              <a:t>putExtra</a:t>
            </a:r>
            <a:r>
              <a:rPr lang="en-US" altLang="ko-KR" dirty="0" smtClean="0"/>
              <a:t>(String name,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value)</a:t>
            </a:r>
          </a:p>
          <a:p>
            <a:pPr marL="457200" lvl="1" indent="0">
              <a:buNone/>
            </a:pPr>
            <a:r>
              <a:rPr lang="en-US" altLang="ko-KR" dirty="0"/>
              <a:t>	Intent </a:t>
            </a:r>
            <a:r>
              <a:rPr lang="en-US" altLang="ko-KR" dirty="0" err="1"/>
              <a:t>putExtra</a:t>
            </a:r>
            <a:r>
              <a:rPr lang="en-US" altLang="ko-KR" dirty="0"/>
              <a:t>(String name, </a:t>
            </a:r>
            <a:r>
              <a:rPr lang="en-US" altLang="ko-KR" dirty="0" smtClean="0"/>
              <a:t>String </a:t>
            </a:r>
            <a:r>
              <a:rPr lang="en-US" altLang="ko-KR" dirty="0"/>
              <a:t>value)</a:t>
            </a:r>
          </a:p>
          <a:p>
            <a:pPr marL="457200" lvl="1" indent="0">
              <a:buNone/>
            </a:pPr>
            <a:r>
              <a:rPr lang="en-US" altLang="ko-KR" dirty="0"/>
              <a:t>	Intent </a:t>
            </a:r>
            <a:r>
              <a:rPr lang="en-US" altLang="ko-KR" dirty="0" err="1"/>
              <a:t>putExtra</a:t>
            </a:r>
            <a:r>
              <a:rPr lang="en-US" altLang="ko-KR" dirty="0"/>
              <a:t>(String name, </a:t>
            </a:r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/>
              <a:t>value</a:t>
            </a:r>
            <a:r>
              <a:rPr lang="en-US" altLang="ko-KR" dirty="0" smtClean="0"/>
              <a:t>)</a:t>
            </a:r>
          </a:p>
          <a:p>
            <a:pPr marL="457200" lvl="1" indent="0">
              <a:buNone/>
            </a:pPr>
            <a:endParaRPr lang="en-US" altLang="ko-KR" dirty="0" smtClean="0"/>
          </a:p>
          <a:p>
            <a:pPr lvl="1"/>
            <a:r>
              <a:rPr lang="ko-KR" altLang="en-US" dirty="0" smtClean="0"/>
              <a:t>값 확인</a:t>
            </a:r>
            <a:r>
              <a:rPr lang="en-US" altLang="ko-KR" dirty="0" smtClean="0"/>
              <a:t>:</a:t>
            </a:r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getIntExtra</a:t>
            </a:r>
            <a:r>
              <a:rPr lang="en-US" altLang="ko-KR" dirty="0" smtClean="0"/>
              <a:t>(String name,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defaultValue</a:t>
            </a:r>
            <a:r>
              <a:rPr lang="en-US" altLang="ko-KR" dirty="0" smtClean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String </a:t>
            </a:r>
            <a:r>
              <a:rPr lang="en-US" altLang="ko-KR" dirty="0" err="1" smtClean="0"/>
              <a:t>getString</a:t>
            </a:r>
            <a:r>
              <a:rPr lang="en-US" altLang="ko-KR" dirty="0" smtClean="0"/>
              <a:t> Extra(String name)</a:t>
            </a:r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getBooleanExtra</a:t>
            </a:r>
            <a:r>
              <a:rPr lang="en-US" altLang="ko-KR" dirty="0" smtClean="0"/>
              <a:t>(String name, </a:t>
            </a:r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defaultValue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21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Intent Resolving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암시적 인텐트를 처리할 컴포넌트를 찾는 과정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어플리케이션의 </a:t>
            </a:r>
            <a:r>
              <a:rPr lang="en-US" altLang="ko-KR" dirty="0" smtClean="0"/>
              <a:t>Intent Filter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AndroidManifest.xml</a:t>
            </a:r>
            <a:r>
              <a:rPr lang="ko-KR" altLang="en-US" dirty="0" smtClean="0"/>
              <a:t>에 선언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시스템이 어플리케이션들의 </a:t>
            </a:r>
            <a:r>
              <a:rPr lang="en-US" altLang="ko-KR" dirty="0" smtClean="0"/>
              <a:t>Intent Filter</a:t>
            </a:r>
            <a:r>
              <a:rPr lang="ko-KR" altLang="en-US" dirty="0" smtClean="0"/>
              <a:t>를 전부 탐색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(1) Action, (2) </a:t>
            </a:r>
            <a:r>
              <a:rPr lang="en-US" altLang="ko-KR" dirty="0"/>
              <a:t>Category</a:t>
            </a:r>
            <a:r>
              <a:rPr lang="en-US" altLang="ko-KR" dirty="0" smtClean="0"/>
              <a:t>, (3) Data </a:t>
            </a:r>
            <a:r>
              <a:rPr lang="ko-KR" altLang="en-US" dirty="0" smtClean="0"/>
              <a:t>순서로 호출된 </a:t>
            </a:r>
            <a:r>
              <a:rPr lang="en-US" altLang="ko-KR" dirty="0" smtClean="0"/>
              <a:t>Intent</a:t>
            </a:r>
            <a:r>
              <a:rPr lang="ko-KR" altLang="en-US" dirty="0" smtClean="0"/>
              <a:t>와 일치하는지 검사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일치하는 컴포넌트에게 인텐트를 전달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더 </a:t>
            </a:r>
            <a:r>
              <a:rPr lang="ko-KR" altLang="en-US" dirty="0"/>
              <a:t>자세한 내용</a:t>
            </a:r>
            <a:endParaRPr lang="en-US" altLang="ko-KR" dirty="0"/>
          </a:p>
          <a:p>
            <a:pPr lvl="1"/>
            <a:r>
              <a:rPr lang="en-US" altLang="ko-KR" dirty="0" smtClean="0">
                <a:hlinkClick r:id="rId2"/>
              </a:rPr>
              <a:t>http</a:t>
            </a:r>
            <a:r>
              <a:rPr lang="en-US" altLang="ko-KR" dirty="0">
                <a:hlinkClick r:id="rId2"/>
              </a:rPr>
              <a:t>://</a:t>
            </a:r>
            <a:r>
              <a:rPr lang="en-US" altLang="ko-KR" dirty="0" smtClean="0">
                <a:hlinkClick r:id="rId2"/>
              </a:rPr>
              <a:t>developer.android.com/guide/components/intents-filters.html</a:t>
            </a:r>
            <a:endParaRPr lang="en-US" altLang="ko-KR" dirty="0" smtClean="0"/>
          </a:p>
          <a:p>
            <a:pPr lvl="1"/>
            <a:r>
              <a:rPr lang="en-US" altLang="ko-KR" dirty="0" smtClean="0">
                <a:hlinkClick r:id="rId3"/>
              </a:rPr>
              <a:t>http</a:t>
            </a:r>
            <a:r>
              <a:rPr lang="en-US" altLang="ko-KR" dirty="0">
                <a:hlinkClick r:id="rId3"/>
              </a:rPr>
              <a:t>://developer.android.com/reference/android/content/Intent.html</a:t>
            </a:r>
            <a:endParaRPr lang="ko-KR" altLang="en-US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42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Explicit Intent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243914"/>
            <a:ext cx="8229600" cy="488225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New</a:t>
            </a:r>
            <a:r>
              <a:rPr lang="ko-KR" altLang="en-US" dirty="0"/>
              <a:t> </a:t>
            </a:r>
            <a:r>
              <a:rPr lang="en-US" altLang="ko-KR" dirty="0" smtClean="0"/>
              <a:t>Project : </a:t>
            </a:r>
            <a:r>
              <a:rPr lang="en-US" altLang="ko-KR" dirty="0" err="1" smtClean="0"/>
              <a:t>ExplicitIntentTest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/>
              <a:t>Empty Activity</a:t>
            </a:r>
          </a:p>
          <a:p>
            <a:pPr lvl="2"/>
            <a:r>
              <a:rPr lang="en-US" altLang="ko-KR" dirty="0" smtClean="0"/>
              <a:t>Activity Name : </a:t>
            </a:r>
            <a:r>
              <a:rPr lang="en-US" altLang="ko-KR" dirty="0" err="1" smtClean="0"/>
              <a:t>MainActivity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Layout Name : </a:t>
            </a:r>
            <a:r>
              <a:rPr lang="en-US" altLang="ko-KR" dirty="0" err="1" smtClean="0"/>
              <a:t>activity_main</a:t>
            </a:r>
            <a:endParaRPr lang="en-US" altLang="ko-KR" dirty="0" smtClean="0"/>
          </a:p>
          <a:p>
            <a:r>
              <a:rPr lang="en-US" altLang="ko-KR" dirty="0" smtClean="0"/>
              <a:t>java</a:t>
            </a:r>
            <a:r>
              <a:rPr lang="ko-KR" altLang="en-US" dirty="0" smtClean="0"/>
              <a:t>폴더 아래에 새로운 </a:t>
            </a:r>
            <a:r>
              <a:rPr lang="en-US" altLang="ko-KR" dirty="0" smtClean="0"/>
              <a:t>Empty Activity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23286"/>
            <a:ext cx="4655826" cy="3212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그룹 6"/>
          <p:cNvGrpSpPr/>
          <p:nvPr/>
        </p:nvGrpSpPr>
        <p:grpSpPr>
          <a:xfrm>
            <a:off x="4497798" y="2963032"/>
            <a:ext cx="4580299" cy="3894968"/>
            <a:chOff x="4497798" y="2963032"/>
            <a:chExt cx="4580299" cy="3894968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7798" y="2963032"/>
              <a:ext cx="4580299" cy="3894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6756765" y="4135395"/>
              <a:ext cx="1179165" cy="1577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756765" y="4550813"/>
              <a:ext cx="1179165" cy="174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555524" y="6310184"/>
              <a:ext cx="1079156" cy="1812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656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Explicit Intent</a:t>
            </a:r>
            <a:endParaRPr lang="ko-KR" altLang="en-US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259162" y="2356276"/>
            <a:ext cx="6460920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&lt;?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 version=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"1.0"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encoding=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"utf-8"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?&gt;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"http://schemas.android.com/apk/res/android"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:orientation=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"vertical"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TextView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"@+id/textView1"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"Activity 1"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:textSize=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"40sp"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:gravity=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"center"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"@+id/button1"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"Act2 호출"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:onClick=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"onClickButto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n”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MainActivity</a:t>
            </a:r>
            <a:r>
              <a:rPr lang="ko-KR" altLang="en-US" dirty="0" smtClean="0"/>
              <a:t>의 레이아웃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/res/layout/activity_main.xml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88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Explicit Intent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Activity2</a:t>
            </a:r>
            <a:r>
              <a:rPr lang="ko-KR" altLang="en-US" dirty="0" smtClean="0"/>
              <a:t>의 레이아웃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/res/layout/activity_2.xml</a:t>
            </a:r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45476" y="2300457"/>
            <a:ext cx="6653048" cy="4339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&lt;?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 version=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"1.0"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encoding=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"utf-8"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?&gt;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"http://schemas.android.com/apk/res/android"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 </a:t>
            </a:r>
            <a:endParaRPr kumimoji="0" lang="en-US" altLang="ko-KR" sz="1200" b="1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:orientation=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"vertical"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TextView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"@+id/textView2"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"Activity 2"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:textSize=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"40sp"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:gravity=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"center"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"@+id/button2"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"Act2 마침"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:onClick=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"onClickButton"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2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Explicit Intent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MainActivity</a:t>
            </a:r>
            <a:r>
              <a:rPr lang="ko-KR" altLang="en-US" dirty="0" smtClean="0"/>
              <a:t>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MainActivity.java</a:t>
            </a:r>
            <a:endParaRPr lang="ko-KR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237593" y="2558922"/>
            <a:ext cx="6521669" cy="2492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MainActivity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activity_main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onClickButton(View v)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Intent intent1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Intent(MainActivity.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this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Activity2.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startActivity(intent1);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1912951" y="4257366"/>
            <a:ext cx="5559904" cy="351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59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Explicit Intent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Activity2</a:t>
            </a:r>
            <a:r>
              <a:rPr lang="ko-KR" altLang="en-US" dirty="0" smtClean="0"/>
              <a:t>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Activity2.java</a:t>
            </a:r>
            <a:endParaRPr lang="ko-KR" alt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64277" y="2240314"/>
            <a:ext cx="6615445" cy="2492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Activity2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activity_2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onClickButton(View v)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finish();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200" dirty="0" smtClean="0">
              <a:solidFill>
                <a:srgbClr val="000000"/>
              </a:solidFill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1912951" y="3921139"/>
            <a:ext cx="939977" cy="248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367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msKim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630" y="2006984"/>
            <a:ext cx="26955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:\Users\msKim\Desktop\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655" y="1997189"/>
            <a:ext cx="2638426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Explicit Intent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실행결과</a:t>
            </a:r>
            <a:endParaRPr lang="en-US" altLang="ko-KR" dirty="0" smtClean="0"/>
          </a:p>
        </p:txBody>
      </p:sp>
      <p:sp>
        <p:nvSpPr>
          <p:cNvPr id="8" name="Rectangle 4"/>
          <p:cNvSpPr/>
          <p:nvPr/>
        </p:nvSpPr>
        <p:spPr>
          <a:xfrm>
            <a:off x="1614791" y="3679825"/>
            <a:ext cx="1566154" cy="2358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/>
          <p:cNvCxnSpPr>
            <a:stCxn id="8" idx="3"/>
          </p:cNvCxnSpPr>
          <p:nvPr/>
        </p:nvCxnSpPr>
        <p:spPr>
          <a:xfrm flipV="1">
            <a:off x="3180945" y="2908572"/>
            <a:ext cx="3132306" cy="88919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/>
          <p:nvPr/>
        </p:nvSpPr>
        <p:spPr>
          <a:xfrm>
            <a:off x="6120521" y="3521075"/>
            <a:ext cx="1721795" cy="217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자유형 16"/>
          <p:cNvSpPr/>
          <p:nvPr/>
        </p:nvSpPr>
        <p:spPr>
          <a:xfrm>
            <a:off x="3037826" y="3738672"/>
            <a:ext cx="3082696" cy="640419"/>
          </a:xfrm>
          <a:custGeom>
            <a:avLst/>
            <a:gdLst>
              <a:gd name="connsiteX0" fmla="*/ 3457903 w 3457903"/>
              <a:gd name="connsiteY0" fmla="*/ 0 h 1183720"/>
              <a:gd name="connsiteX1" fmla="*/ 1671144 w 3457903"/>
              <a:gd name="connsiteY1" fmla="*/ 1145628 h 1183720"/>
              <a:gd name="connsiteX2" fmla="*/ 0 w 3457903"/>
              <a:gd name="connsiteY2" fmla="*/ 798786 h 118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7903" h="1183720">
                <a:moveTo>
                  <a:pt x="3457903" y="0"/>
                </a:moveTo>
                <a:cubicBezTo>
                  <a:pt x="2852682" y="506248"/>
                  <a:pt x="2247461" y="1012497"/>
                  <a:pt x="1671144" y="1145628"/>
                </a:cubicBezTo>
                <a:cubicBezTo>
                  <a:pt x="1094827" y="1278759"/>
                  <a:pt x="547413" y="1038772"/>
                  <a:pt x="0" y="798786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968574" y="4869271"/>
            <a:ext cx="3397529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[ACT2 </a:t>
            </a:r>
            <a:r>
              <a:rPr lang="ko-KR" altLang="en-US" sz="1400" b="1" dirty="0" smtClean="0"/>
              <a:t>마침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버튼을 누르면 </a:t>
            </a:r>
            <a:r>
              <a:rPr lang="ko-KR" altLang="en-US" sz="1400" b="1" dirty="0" err="1" smtClean="0"/>
              <a:t>액티비티</a:t>
            </a:r>
            <a:r>
              <a:rPr lang="en-US" altLang="ko-KR" sz="1400" b="1" dirty="0" smtClean="0"/>
              <a:t>2</a:t>
            </a:r>
            <a:r>
              <a:rPr lang="ko-KR" altLang="en-US" sz="1400" b="1" dirty="0" smtClean="0"/>
              <a:t>가 종료된다</a:t>
            </a:r>
            <a:r>
              <a:rPr lang="en-US" altLang="ko-KR" sz="1400" b="1" dirty="0" smtClean="0"/>
              <a:t>. </a:t>
            </a:r>
            <a:r>
              <a:rPr lang="ko-KR" altLang="en-US" sz="1400" b="1" dirty="0" smtClean="0"/>
              <a:t>따라서 </a:t>
            </a:r>
            <a:r>
              <a:rPr lang="ko-KR" altLang="en-US" sz="1400" b="1" dirty="0" err="1" smtClean="0"/>
              <a:t>스택에</a:t>
            </a:r>
            <a:r>
              <a:rPr lang="ko-KR" altLang="en-US" sz="1400" b="1" dirty="0" smtClean="0"/>
              <a:t> 있는 </a:t>
            </a:r>
            <a:r>
              <a:rPr lang="ko-KR" altLang="en-US" sz="1400" b="1" dirty="0" err="1" smtClean="0"/>
              <a:t>액티비티</a:t>
            </a:r>
            <a:r>
              <a:rPr lang="en-US" altLang="ko-KR" sz="1400" b="1" dirty="0" smtClean="0"/>
              <a:t>1</a:t>
            </a:r>
            <a:r>
              <a:rPr lang="ko-KR" altLang="en-US" sz="1400" b="1" dirty="0" smtClean="0"/>
              <a:t>이 다시 실행된다</a:t>
            </a:r>
            <a:r>
              <a:rPr lang="en-US" altLang="ko-KR" sz="1400" b="1" dirty="0" smtClean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6174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err="1" smtClean="0"/>
              <a:t>액티비티로부터</a:t>
            </a:r>
            <a:r>
              <a:rPr lang="ko-KR" altLang="en-US" sz="4400" dirty="0" smtClean="0"/>
              <a:t> 결과 받기</a:t>
            </a:r>
            <a:endParaRPr lang="ko-KR" altLang="en-US" sz="4400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서브 </a:t>
            </a:r>
            <a:r>
              <a:rPr lang="ko-KR" altLang="en-US" dirty="0" err="1" smtClean="0"/>
              <a:t>액티비티로부터</a:t>
            </a:r>
            <a:r>
              <a:rPr lang="ko-KR" altLang="en-US" dirty="0" smtClean="0"/>
              <a:t> 결과를 받아야 하는 경우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startActivity</a:t>
            </a:r>
            <a:r>
              <a:rPr lang="en-US" altLang="ko-KR" dirty="0" smtClean="0"/>
              <a:t>()</a:t>
            </a:r>
            <a:r>
              <a:rPr lang="ko-KR" altLang="en-US" dirty="0" smtClean="0"/>
              <a:t>가 아닌 </a:t>
            </a:r>
            <a:r>
              <a:rPr lang="en-US" altLang="ko-KR" dirty="0" err="1" smtClean="0">
                <a:solidFill>
                  <a:srgbClr val="00B0F0"/>
                </a:solidFill>
              </a:rPr>
              <a:t>startActivityForResult</a:t>
            </a:r>
            <a:r>
              <a:rPr lang="en-US" altLang="ko-KR" dirty="0" smtClean="0">
                <a:solidFill>
                  <a:srgbClr val="00B0F0"/>
                </a:solidFill>
              </a:rPr>
              <a:t>()</a:t>
            </a:r>
            <a:r>
              <a:rPr lang="ko-KR" altLang="en-US" dirty="0" smtClean="0"/>
              <a:t>를 호출하여 서브 </a:t>
            </a:r>
            <a:r>
              <a:rPr lang="ko-KR" altLang="en-US" dirty="0" err="1" smtClean="0"/>
              <a:t>액티비티를</a:t>
            </a:r>
            <a:r>
              <a:rPr lang="ko-KR" altLang="en-US" dirty="0" smtClean="0"/>
              <a:t> 시작하여야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서브 </a:t>
            </a:r>
            <a:r>
              <a:rPr lang="ko-KR" altLang="en-US" dirty="0" err="1" smtClean="0"/>
              <a:t>액티비티가</a:t>
            </a:r>
            <a:r>
              <a:rPr lang="ko-KR" altLang="en-US" dirty="0" smtClean="0"/>
              <a:t> 결과를 보내면 메인 </a:t>
            </a:r>
            <a:r>
              <a:rPr lang="ko-KR" altLang="en-US" dirty="0" err="1" smtClean="0"/>
              <a:t>액티비티의</a:t>
            </a:r>
            <a:r>
              <a:rPr lang="ko-KR" altLang="en-US" dirty="0" smtClean="0"/>
              <a:t> </a:t>
            </a:r>
            <a:r>
              <a:rPr lang="en-US" altLang="ko-KR" dirty="0" err="1" smtClean="0">
                <a:solidFill>
                  <a:srgbClr val="00B0F0"/>
                </a:solidFill>
              </a:rPr>
              <a:t>onActivityResult</a:t>
            </a:r>
            <a:r>
              <a:rPr lang="en-US" altLang="ko-KR" dirty="0" smtClean="0">
                <a:solidFill>
                  <a:srgbClr val="00B0F0"/>
                </a:solidFill>
              </a:rPr>
              <a:t>() </a:t>
            </a:r>
            <a:r>
              <a:rPr lang="ko-KR" altLang="en-US" dirty="0" err="1" smtClean="0"/>
              <a:t>콜백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메소드가</a:t>
            </a:r>
            <a:r>
              <a:rPr lang="ko-KR" altLang="en-US" dirty="0" smtClean="0"/>
              <a:t> 호출됨</a:t>
            </a:r>
            <a:endParaRPr lang="ko-KR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94946" y="3391629"/>
            <a:ext cx="7475483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MainActivity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. . 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2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kumimoji="0" lang="en-US" altLang="ko-KR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kumimoji="0" lang="en-US" altLang="ko-KR" sz="1200" b="1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  <a:cs typeface="Consolas" panose="020B0609020204030204" pitchFamily="49" charset="0"/>
              </a:rPr>
              <a:t>//</a:t>
            </a:r>
            <a:r>
              <a:rPr kumimoji="0" lang="ko-KR" altLang="en-US" sz="1200" b="1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  <a:cs typeface="Consolas" panose="020B0609020204030204" pitchFamily="49" charset="0"/>
              </a:rPr>
              <a:t>서브 </a:t>
            </a:r>
            <a:r>
              <a:rPr kumimoji="0" lang="ko-KR" altLang="en-US" sz="1200" b="1" i="0" u="none" strike="noStrike" cap="none" normalizeH="0" dirty="0" err="1" smtClean="0">
                <a:ln>
                  <a:noFill/>
                </a:ln>
                <a:solidFill>
                  <a:srgbClr val="00B05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  <a:cs typeface="Consolas" panose="020B0609020204030204" pitchFamily="49" charset="0"/>
              </a:rPr>
              <a:t>액티비티를</a:t>
            </a:r>
            <a:r>
              <a:rPr kumimoji="0" lang="ko-KR" altLang="en-US" sz="1200" b="1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  <a:cs typeface="Consolas" panose="020B0609020204030204" pitchFamily="49" charset="0"/>
              </a:rPr>
              <a:t> 시작한다</a:t>
            </a:r>
            <a:r>
              <a:rPr kumimoji="0" lang="en-US" altLang="ko-KR" sz="1200" b="1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  <a:cs typeface="Consolas" panose="020B0609020204030204" pitchFamily="49" charset="0"/>
              </a:rPr>
              <a:t>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 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Intent(MainActivity.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this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Sub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Activity.</a:t>
            </a:r>
            <a:r>
              <a:rPr lang="ko-KR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class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startActivity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ForResult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(in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COMMAND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</a:t>
            </a:r>
            <a:r>
              <a:rPr kumimoji="0" lang="en-US" altLang="ko-K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ActivityResult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requestCode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resultCode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Intent data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 . . 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//</a:t>
            </a:r>
            <a:r>
              <a:rPr kumimoji="0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여기서 값을</a:t>
            </a:r>
            <a:r>
              <a:rPr kumimoji="0" lang="ko-KR" altLang="en-US" sz="1200" b="1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전달 받는다</a:t>
            </a:r>
            <a:r>
              <a:rPr kumimoji="0" lang="en-US" altLang="ko-KR" sz="1200" b="1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</a:t>
            </a:r>
            <a:endParaRPr kumimoji="0" lang="en-US" altLang="ko-KR" sz="1200" b="1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1976013" y="3988076"/>
            <a:ext cx="5234083" cy="405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/>
          <p:cNvCxnSpPr>
            <a:stCxn id="7" idx="1"/>
          </p:cNvCxnSpPr>
          <p:nvPr/>
        </p:nvCxnSpPr>
        <p:spPr>
          <a:xfrm flipH="1">
            <a:off x="1305873" y="4190700"/>
            <a:ext cx="67014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242" y="3391630"/>
            <a:ext cx="1187631" cy="21236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400" b="1" dirty="0" err="1" smtClean="0"/>
              <a:t>SubActivity</a:t>
            </a:r>
            <a:endParaRPr lang="ko-KR" altLang="en-US" sz="1400" b="1" dirty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1305873" y="4818874"/>
            <a:ext cx="67014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/>
          <p:nvPr/>
        </p:nvSpPr>
        <p:spPr>
          <a:xfrm>
            <a:off x="1976013" y="4549058"/>
            <a:ext cx="6710787" cy="83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225297" y="4878828"/>
            <a:ext cx="71739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결과값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96462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err="1" smtClean="0"/>
              <a:t>액티비티로부터</a:t>
            </a:r>
            <a:r>
              <a:rPr lang="ko-KR" altLang="en-US" sz="4400" dirty="0" smtClean="0"/>
              <a:t> 결과 받기</a:t>
            </a:r>
            <a:endParaRPr lang="ko-KR" altLang="en-US" sz="4400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서브 </a:t>
            </a:r>
            <a:r>
              <a:rPr lang="ko-KR" altLang="en-US" dirty="0" err="1" smtClean="0"/>
              <a:t>액티비티로부터</a:t>
            </a:r>
            <a:r>
              <a:rPr lang="ko-KR" altLang="en-US" dirty="0" smtClean="0"/>
              <a:t> 결과를 받아야 하는 경우</a:t>
            </a:r>
            <a:endParaRPr lang="en-US" altLang="ko-KR" dirty="0" smtClean="0"/>
          </a:p>
          <a:p>
            <a:pPr lvl="1"/>
            <a:r>
              <a:rPr lang="ko-KR" altLang="en-US" dirty="0" err="1" smtClean="0">
                <a:solidFill>
                  <a:srgbClr val="00B0F0"/>
                </a:solidFill>
              </a:rPr>
              <a:t>인텐트</a:t>
            </a:r>
            <a:r>
              <a:rPr lang="ko-KR" altLang="en-US" dirty="0" smtClean="0">
                <a:solidFill>
                  <a:srgbClr val="00B0F0"/>
                </a:solidFill>
              </a:rPr>
              <a:t> 객체</a:t>
            </a:r>
            <a:r>
              <a:rPr lang="ko-KR" altLang="en-US" dirty="0" smtClean="0"/>
              <a:t> 안에 있는 </a:t>
            </a:r>
            <a:r>
              <a:rPr lang="ko-KR" altLang="en-US" dirty="0" smtClean="0">
                <a:solidFill>
                  <a:srgbClr val="00B0F0"/>
                </a:solidFill>
              </a:rPr>
              <a:t>엑스트라</a:t>
            </a:r>
            <a:r>
              <a:rPr lang="en-US" altLang="ko-KR" dirty="0" smtClean="0">
                <a:solidFill>
                  <a:srgbClr val="00B0F0"/>
                </a:solidFill>
              </a:rPr>
              <a:t>(extras) </a:t>
            </a:r>
            <a:r>
              <a:rPr lang="ko-KR" altLang="en-US" dirty="0" smtClean="0">
                <a:solidFill>
                  <a:srgbClr val="00B0F0"/>
                </a:solidFill>
              </a:rPr>
              <a:t>필드</a:t>
            </a:r>
            <a:r>
              <a:rPr lang="ko-KR" altLang="en-US" dirty="0" smtClean="0"/>
              <a:t>를 이용하여 결과값 전달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엑스트라 필드는 데이터를 </a:t>
            </a:r>
            <a:r>
              <a:rPr lang="en-US" altLang="ko-KR" dirty="0" smtClean="0">
                <a:solidFill>
                  <a:srgbClr val="00B0F0"/>
                </a:solidFill>
              </a:rPr>
              <a:t>“</a:t>
            </a:r>
            <a:r>
              <a:rPr lang="ko-KR" altLang="en-US" dirty="0" smtClean="0">
                <a:solidFill>
                  <a:srgbClr val="00B0F0"/>
                </a:solidFill>
              </a:rPr>
              <a:t>이름과 값</a:t>
            </a:r>
            <a:r>
              <a:rPr lang="en-US" altLang="ko-KR" dirty="0" smtClean="0">
                <a:solidFill>
                  <a:srgbClr val="00B0F0"/>
                </a:solidFill>
              </a:rPr>
              <a:t>”</a:t>
            </a:r>
            <a:r>
              <a:rPr lang="ko-KR" altLang="en-US" dirty="0" smtClean="0">
                <a:solidFill>
                  <a:srgbClr val="00B0F0"/>
                </a:solidFill>
              </a:rPr>
              <a:t>의 쌍</a:t>
            </a:r>
            <a:r>
              <a:rPr lang="ko-KR" altLang="en-US" dirty="0" smtClean="0"/>
              <a:t>으로 저장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엑스트라 필드에 값을 저장할 때는 </a:t>
            </a:r>
            <a:r>
              <a:rPr lang="en-US" altLang="ko-KR" dirty="0" err="1" smtClean="0"/>
              <a:t>putExtra</a:t>
            </a:r>
            <a:r>
              <a:rPr lang="en-US" altLang="ko-KR" dirty="0" smtClean="0"/>
              <a:t>()</a:t>
            </a:r>
            <a:r>
              <a:rPr lang="ko-KR" altLang="en-US" dirty="0" smtClean="0"/>
              <a:t>를 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추출할 때는 </a:t>
            </a:r>
            <a:r>
              <a:rPr lang="en-US" altLang="ko-KR" dirty="0" err="1" smtClean="0"/>
              <a:t>getIntExtra</a:t>
            </a:r>
            <a:r>
              <a:rPr lang="en-US" altLang="ko-KR" dirty="0" smtClean="0"/>
              <a:t>()</a:t>
            </a:r>
            <a:r>
              <a:rPr lang="ko-KR" altLang="en-US" dirty="0" smtClean="0"/>
              <a:t>와 같은 </a:t>
            </a:r>
            <a:r>
              <a:rPr lang="ko-KR" altLang="en-US" dirty="0" err="1" smtClean="0"/>
              <a:t>메소드를</a:t>
            </a:r>
            <a:r>
              <a:rPr lang="ko-KR" altLang="en-US" dirty="0" smtClean="0"/>
              <a:t> 사용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971089" y="3769571"/>
            <a:ext cx="1579246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 smtClean="0"/>
              <a:t>SubActivity</a:t>
            </a:r>
            <a:endParaRPr lang="ko-KR" alt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2040" y="4288933"/>
            <a:ext cx="4282966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 err="1" smtClean="0"/>
              <a:t>int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getIntExtra</a:t>
            </a:r>
            <a:r>
              <a:rPr lang="en-US" altLang="ko-KR" sz="1400" b="1" dirty="0" smtClean="0"/>
              <a:t>(String name, </a:t>
            </a:r>
            <a:r>
              <a:rPr lang="en-US" altLang="ko-KR" sz="1400" b="1" dirty="0" err="1" smtClean="0"/>
              <a:t>int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defaultValue</a:t>
            </a:r>
            <a:r>
              <a:rPr lang="en-US" altLang="ko-KR" sz="1400" b="1" dirty="0" smtClean="0"/>
              <a:t>)</a:t>
            </a:r>
          </a:p>
          <a:p>
            <a:r>
              <a:rPr lang="en-US" altLang="ko-KR" sz="1400" b="1" dirty="0" smtClean="0"/>
              <a:t>float </a:t>
            </a:r>
            <a:r>
              <a:rPr lang="en-US" altLang="ko-KR" sz="1400" b="1" dirty="0" err="1" smtClean="0"/>
              <a:t>getFloatExtra</a:t>
            </a:r>
            <a:r>
              <a:rPr lang="en-US" altLang="ko-KR" sz="1400" b="1" dirty="0" smtClean="0"/>
              <a:t>(String </a:t>
            </a:r>
            <a:r>
              <a:rPr lang="en-US" altLang="ko-KR" sz="1400" b="1" dirty="0"/>
              <a:t>name, </a:t>
            </a:r>
            <a:r>
              <a:rPr lang="en-US" altLang="ko-KR" sz="1400" b="1" dirty="0" smtClean="0"/>
              <a:t>float </a:t>
            </a:r>
            <a:r>
              <a:rPr lang="en-US" altLang="ko-KR" sz="1400" b="1" dirty="0" err="1"/>
              <a:t>defaultValue</a:t>
            </a:r>
            <a:r>
              <a:rPr lang="en-US" altLang="ko-KR" sz="1400" b="1" dirty="0"/>
              <a:t>)</a:t>
            </a:r>
            <a:endParaRPr lang="ko-KR" altLang="en-US" sz="1400" b="1" dirty="0"/>
          </a:p>
          <a:p>
            <a:r>
              <a:rPr lang="en-US" altLang="ko-KR" sz="1400" b="1" dirty="0" err="1"/>
              <a:t>i</a:t>
            </a:r>
            <a:r>
              <a:rPr lang="en-US" altLang="ko-KR" sz="1400" b="1" dirty="0" err="1" smtClean="0"/>
              <a:t>nt</a:t>
            </a:r>
            <a:r>
              <a:rPr lang="en-US" altLang="ko-KR" sz="1400" b="1" dirty="0" smtClean="0"/>
              <a:t>[] </a:t>
            </a:r>
            <a:r>
              <a:rPr lang="en-US" altLang="ko-KR" sz="1400" b="1" dirty="0" err="1" smtClean="0"/>
              <a:t>getIntArrayExtra</a:t>
            </a:r>
            <a:r>
              <a:rPr lang="en-US" altLang="ko-KR" sz="1400" b="1" dirty="0" smtClean="0"/>
              <a:t>(String name)</a:t>
            </a:r>
            <a:endParaRPr lang="ko-KR" altLang="en-US" sz="1400" b="1" dirty="0"/>
          </a:p>
          <a:p>
            <a:r>
              <a:rPr lang="en-US" altLang="ko-KR" sz="1400" b="1" dirty="0" smtClean="0"/>
              <a:t>String </a:t>
            </a:r>
            <a:r>
              <a:rPr lang="en-US" altLang="ko-KR" sz="1400" b="1" dirty="0" err="1" smtClean="0"/>
              <a:t>getStringExtra</a:t>
            </a:r>
            <a:r>
              <a:rPr lang="en-US" altLang="ko-KR" sz="1400" b="1" dirty="0" smtClean="0"/>
              <a:t>(String name)</a:t>
            </a:r>
            <a:endParaRPr lang="ko-KR" altLang="en-US" sz="1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345323" y="3747093"/>
            <a:ext cx="180777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 smtClean="0"/>
              <a:t>MainActivity</a:t>
            </a:r>
            <a:endParaRPr lang="ko-KR" alt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115709" y="3405308"/>
            <a:ext cx="892773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Intent</a:t>
            </a:r>
            <a:endParaRPr lang="ko-KR" altLang="en-US" sz="2000" b="1" dirty="0"/>
          </a:p>
        </p:txBody>
      </p:sp>
      <p:cxnSp>
        <p:nvCxnSpPr>
          <p:cNvPr id="20" name="직선 화살표 연결선 19"/>
          <p:cNvCxnSpPr>
            <a:stCxn id="12" idx="1"/>
            <a:endCxn id="18" idx="3"/>
          </p:cNvCxnSpPr>
          <p:nvPr/>
        </p:nvCxnSpPr>
        <p:spPr>
          <a:xfrm flipH="1" flipV="1">
            <a:off x="5008482" y="3605363"/>
            <a:ext cx="962607" cy="3642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8" idx="1"/>
            <a:endCxn id="16" idx="3"/>
          </p:cNvCxnSpPr>
          <p:nvPr/>
        </p:nvCxnSpPr>
        <p:spPr>
          <a:xfrm flipH="1">
            <a:off x="3153102" y="3605363"/>
            <a:ext cx="962607" cy="3417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97298" y="4288933"/>
            <a:ext cx="3126828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 err="1" smtClean="0"/>
              <a:t>putExtra</a:t>
            </a:r>
            <a:r>
              <a:rPr lang="en-US" altLang="ko-KR" sz="1400" b="1" dirty="0" smtClean="0"/>
              <a:t>(String name, </a:t>
            </a:r>
            <a:r>
              <a:rPr lang="en-US" altLang="ko-KR" sz="1400" b="1" dirty="0" err="1" smtClean="0"/>
              <a:t>int</a:t>
            </a:r>
            <a:r>
              <a:rPr lang="en-US" altLang="ko-KR" sz="1400" b="1" dirty="0" smtClean="0"/>
              <a:t> value)</a:t>
            </a:r>
          </a:p>
          <a:p>
            <a:r>
              <a:rPr lang="en-US" altLang="ko-KR" sz="1400" b="1" dirty="0" err="1"/>
              <a:t>putExtra</a:t>
            </a:r>
            <a:r>
              <a:rPr lang="en-US" altLang="ko-KR" sz="1400" b="1" dirty="0"/>
              <a:t>(String name, </a:t>
            </a:r>
            <a:r>
              <a:rPr lang="en-US" altLang="ko-KR" sz="1400" b="1" dirty="0" smtClean="0"/>
              <a:t>float </a:t>
            </a:r>
            <a:r>
              <a:rPr lang="en-US" altLang="ko-KR" sz="1400" b="1" dirty="0"/>
              <a:t>value</a:t>
            </a:r>
            <a:r>
              <a:rPr lang="en-US" altLang="ko-KR" sz="1400" b="1" dirty="0" smtClean="0"/>
              <a:t>)</a:t>
            </a:r>
            <a:endParaRPr lang="ko-KR" altLang="en-US" sz="1400" b="1" dirty="0"/>
          </a:p>
          <a:p>
            <a:r>
              <a:rPr lang="en-US" altLang="ko-KR" sz="1400" b="1" dirty="0" err="1"/>
              <a:t>putExtra</a:t>
            </a:r>
            <a:r>
              <a:rPr lang="en-US" altLang="ko-KR" sz="1400" b="1" dirty="0"/>
              <a:t>(String name, </a:t>
            </a:r>
            <a:r>
              <a:rPr lang="en-US" altLang="ko-KR" sz="1400" b="1" dirty="0" err="1" smtClean="0"/>
              <a:t>int</a:t>
            </a:r>
            <a:r>
              <a:rPr lang="en-US" altLang="ko-KR" sz="1400" b="1" dirty="0" smtClean="0"/>
              <a:t>[] </a:t>
            </a:r>
            <a:r>
              <a:rPr lang="en-US" altLang="ko-KR" sz="1400" b="1" dirty="0"/>
              <a:t>value</a:t>
            </a:r>
            <a:r>
              <a:rPr lang="en-US" altLang="ko-KR" sz="1400" b="1" dirty="0" smtClean="0"/>
              <a:t>)</a:t>
            </a:r>
            <a:endParaRPr lang="ko-KR" altLang="en-US" sz="1400" b="1" dirty="0"/>
          </a:p>
          <a:p>
            <a:r>
              <a:rPr lang="en-US" altLang="ko-KR" sz="1400" b="1" dirty="0" err="1"/>
              <a:t>putExtra</a:t>
            </a:r>
            <a:r>
              <a:rPr lang="en-US" altLang="ko-KR" sz="1400" b="1" dirty="0"/>
              <a:t>(String name, </a:t>
            </a:r>
            <a:r>
              <a:rPr lang="en-US" altLang="ko-KR" sz="1400" b="1" dirty="0" smtClean="0"/>
              <a:t>String </a:t>
            </a:r>
            <a:r>
              <a:rPr lang="en-US" altLang="ko-KR" sz="1400" b="1" dirty="0"/>
              <a:t>value)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7403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err="1" smtClean="0"/>
              <a:t>액티비티로부터</a:t>
            </a:r>
            <a:r>
              <a:rPr lang="ko-KR" altLang="en-US" sz="4400" dirty="0" smtClean="0"/>
              <a:t> 결과 받기</a:t>
            </a:r>
            <a:endParaRPr lang="ko-KR" altLang="en-US" sz="4400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307690"/>
            <a:ext cx="8229600" cy="481847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New</a:t>
            </a:r>
            <a:r>
              <a:rPr lang="ko-KR" altLang="en-US" dirty="0"/>
              <a:t> </a:t>
            </a:r>
            <a:r>
              <a:rPr lang="en-US" altLang="ko-KR" dirty="0"/>
              <a:t>Project : </a:t>
            </a:r>
            <a:r>
              <a:rPr lang="en-US" altLang="ko-KR" dirty="0" smtClean="0"/>
              <a:t>ExplicitIntentTest2 </a:t>
            </a:r>
            <a:endParaRPr lang="en-US" altLang="ko-KR" dirty="0"/>
          </a:p>
          <a:p>
            <a:pPr lvl="1"/>
            <a:r>
              <a:rPr lang="en-US" altLang="ko-KR" dirty="0"/>
              <a:t>Empty Activity</a:t>
            </a:r>
          </a:p>
          <a:p>
            <a:pPr lvl="2"/>
            <a:r>
              <a:rPr lang="en-US" altLang="ko-KR" dirty="0"/>
              <a:t>Activity Name : </a:t>
            </a:r>
            <a:r>
              <a:rPr lang="en-US" altLang="ko-KR" dirty="0" err="1"/>
              <a:t>MainActivity</a:t>
            </a:r>
            <a:endParaRPr lang="en-US" altLang="ko-KR" dirty="0"/>
          </a:p>
          <a:p>
            <a:pPr lvl="2"/>
            <a:r>
              <a:rPr lang="en-US" altLang="ko-KR" dirty="0"/>
              <a:t>Layout Name : </a:t>
            </a:r>
            <a:r>
              <a:rPr lang="en-US" altLang="ko-KR" dirty="0" err="1" smtClean="0"/>
              <a:t>activity_main</a:t>
            </a:r>
            <a:endParaRPr lang="en-US" altLang="ko-KR" dirty="0" smtClean="0"/>
          </a:p>
          <a:p>
            <a:r>
              <a:rPr lang="en-US" altLang="ko-KR" dirty="0"/>
              <a:t>java</a:t>
            </a:r>
            <a:r>
              <a:rPr lang="ko-KR" altLang="en-US" dirty="0"/>
              <a:t>폴더 아래에 새로운 </a:t>
            </a:r>
            <a:r>
              <a:rPr lang="en-US" altLang="ko-KR" dirty="0"/>
              <a:t>Empty Activity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46" y="3100349"/>
            <a:ext cx="4904393" cy="3522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4572000" y="3001495"/>
            <a:ext cx="4535065" cy="3856503"/>
            <a:chOff x="4572000" y="3001495"/>
            <a:chExt cx="4535065" cy="3856503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3001495"/>
              <a:ext cx="4535065" cy="3856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6814431" y="4135395"/>
              <a:ext cx="1179165" cy="1577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814431" y="4550813"/>
              <a:ext cx="1179165" cy="174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158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err="1"/>
              <a:t>액티비티로부터</a:t>
            </a:r>
            <a:r>
              <a:rPr lang="ko-KR" altLang="en-US" sz="4400" dirty="0"/>
              <a:t> 결과 받기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259162" y="2082343"/>
            <a:ext cx="6460920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&lt;?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 version=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"1.0"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encoding=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"utf-8"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?&gt;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"http://schemas.android.com/apk/res/android"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:orientation=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"vertical"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TextView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Main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:textSize=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"40sp"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:gravity=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"center"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en-US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＂</a:t>
            </a:r>
            <a:r>
              <a:rPr kumimoji="0" lang="ko-KR" altLang="en-US" sz="12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서브액티비티로</a:t>
            </a:r>
            <a:r>
              <a:rPr lang="ko-KR" altLang="en-US" sz="1200" b="1" dirty="0" err="1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부터</a:t>
            </a:r>
            <a:r>
              <a:rPr lang="ko-KR" altLang="en-US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문자열 받기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:onClick=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</a:t>
            </a:r>
            <a:r>
              <a:rPr lang="en-US" altLang="ko-KR" sz="1200" b="1" dirty="0" smtClean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”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TextView</a:t>
            </a:r>
            <a:b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</a:t>
            </a:r>
            <a:r>
              <a:rPr lang="ko-KR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＂</a:t>
            </a:r>
            <a:r>
              <a:rPr lang="ko-KR" altLang="en-US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반환된 문자열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lang="en-US" altLang="ko-KR" sz="1200" dirty="0" smtClean="0">
              <a:solidFill>
                <a:srgbClr val="000000"/>
              </a:solidFill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lang="ko-KR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TextView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:id=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"@+id/</a:t>
            </a:r>
            <a:r>
              <a:rPr lang="en-US" altLang="ko-KR" sz="1200" b="1" dirty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b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en-US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</a:t>
            </a:r>
            <a:r>
              <a:rPr lang="ko-KR" altLang="ko-KR" sz="1200" b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352550"/>
            <a:ext cx="8229600" cy="477361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MainActivity</a:t>
            </a:r>
            <a:r>
              <a:rPr lang="ko-KR" altLang="en-US" dirty="0" smtClean="0"/>
              <a:t>의 레이아웃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/res/layout/activity_main.xml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52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err="1"/>
              <a:t>액티비티로부터</a:t>
            </a:r>
            <a:r>
              <a:rPr lang="ko-KR" altLang="en-US" sz="4400" dirty="0"/>
              <a:t> 결과 받기</a:t>
            </a:r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304925"/>
            <a:ext cx="8229600" cy="482123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SubActivity</a:t>
            </a:r>
            <a:r>
              <a:rPr lang="ko-KR" altLang="en-US" dirty="0" smtClean="0"/>
              <a:t>의 레이아웃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/res/layout/activity_sub.xml</a:t>
            </a:r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35976" y="2074060"/>
            <a:ext cx="6653048" cy="4339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&lt;?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 version=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"1.0"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encoding=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"utf-8"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?&gt;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"http://schemas.android.com/apk/res/android"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 </a:t>
            </a:r>
            <a:endParaRPr kumimoji="0" lang="en-US" altLang="ko-KR" sz="1200" b="1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:orientation=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"vertical"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TextView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Sub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:textSize=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"40sp"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:gravity=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"center"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lang="en-US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EditText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:id=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"@+id/</a:t>
            </a:r>
            <a:r>
              <a:rPr lang="en-US" altLang="ko-KR" sz="1200" b="1" dirty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b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01012345678 Hong Gil Dong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b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lang="ko-KR" altLang="ko-KR" sz="1200" b="1" dirty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lang="en-US" altLang="ko-KR" sz="1200" dirty="0" smtClean="0">
              <a:solidFill>
                <a:srgbClr val="000000"/>
              </a:solidFill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＂</a:t>
            </a:r>
            <a:r>
              <a:rPr kumimoji="0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입력완료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:onClick=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onClickButton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23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err="1" smtClean="0"/>
              <a:t>액티비티로부터</a:t>
            </a:r>
            <a:r>
              <a:rPr lang="ko-KR" altLang="en-US" sz="4400" dirty="0" smtClean="0"/>
              <a:t> 결과 받기</a:t>
            </a:r>
            <a:endParaRPr lang="ko-KR" altLang="en-US" sz="4400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MainActivity</a:t>
            </a:r>
            <a:r>
              <a:rPr lang="en-US" altLang="ko-KR" dirty="0" smtClean="0"/>
              <a:t> </a:t>
            </a:r>
            <a:r>
              <a:rPr lang="ko-KR" altLang="en-US" dirty="0" smtClean="0"/>
              <a:t>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MainActivity.java</a:t>
            </a:r>
            <a:endParaRPr lang="ko-KR" alt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67710" y="2241124"/>
            <a:ext cx="8219090" cy="449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MainActivity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static final int </a:t>
            </a:r>
            <a:r>
              <a:rPr kumimoji="0" lang="ko-KR" altLang="ko-KR" sz="11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GET_STRING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1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TextView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super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0" lang="ko-KR" altLang="ko-KR" sz="11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activity_main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 (TextView) findViewById(R.id.</a:t>
            </a:r>
            <a:r>
              <a:rPr kumimoji="0" lang="ko-KR" altLang="ko-KR" sz="11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</a:t>
            </a:r>
            <a:r>
              <a:rPr lang="en-US" altLang="ko-KR" sz="1100" b="1" i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dit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void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onClickButton(View v) {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Intent intent1 =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Intent(MainActivity.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this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SubActivity.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startActivityForResult(intent1, </a:t>
            </a:r>
            <a:r>
              <a:rPr kumimoji="0" lang="ko-KR" altLang="ko-KR" sz="11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GET_STRING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onActivityResult(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 </a:t>
            </a:r>
            <a:r>
              <a:rPr kumimoji="0" lang="ko-KR" altLang="ko-KR" sz="11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requestCode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 </a:t>
            </a:r>
            <a:r>
              <a:rPr kumimoji="0" lang="ko-KR" altLang="ko-KR" sz="11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resultCode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Intent data) {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if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(requestCode == </a:t>
            </a:r>
            <a:r>
              <a:rPr kumimoji="0" lang="ko-KR" altLang="ko-KR" sz="11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GET_STRING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if 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(resultCode == </a:t>
            </a:r>
            <a:r>
              <a:rPr kumimoji="0" lang="ko-KR" altLang="ko-KR" sz="11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RESULT_OK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.setText(data.getStringExtra(</a:t>
            </a:r>
            <a:r>
              <a:rPr kumimoji="0" lang="ko-KR" altLang="ko-KR" sz="11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"INPUT_TEXT"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));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}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}</a:t>
            </a:r>
            <a:b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endParaRPr kumimoji="0" lang="en-US" altLang="ko-KR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1044902" y="4579226"/>
            <a:ext cx="3611181" cy="2102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Rectangle 4"/>
          <p:cNvSpPr/>
          <p:nvPr/>
        </p:nvSpPr>
        <p:spPr>
          <a:xfrm>
            <a:off x="1722820" y="5740619"/>
            <a:ext cx="3753070" cy="2259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65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67559" y="2451448"/>
            <a:ext cx="8177048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SubActivity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EditText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activity_sub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 (EditText) 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onClickButton(View v)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Intent intent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intent.putExtra(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"INPUT_TEXT"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.getText().toString());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setResult(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RESULT_OK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intent);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finish();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800" dirty="0" err="1" smtClean="0"/>
              <a:t>액티비티로부터</a:t>
            </a:r>
            <a:r>
              <a:rPr lang="ko-KR" altLang="en-US" sz="4800" dirty="0" smtClean="0"/>
              <a:t> 결과 받기</a:t>
            </a:r>
            <a:endParaRPr lang="ko-KR" altLang="en-US" sz="4800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SubActivity</a:t>
            </a:r>
            <a:r>
              <a:rPr lang="en-US" altLang="ko-KR" dirty="0" smtClean="0"/>
              <a:t> </a:t>
            </a:r>
            <a:r>
              <a:rPr lang="ko-KR" altLang="en-US" dirty="0" smtClean="0"/>
              <a:t>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SubActivity.java</a:t>
            </a:r>
            <a:endParaRPr lang="ko-KR" altLang="en-US" dirty="0"/>
          </a:p>
        </p:txBody>
      </p:sp>
      <p:sp>
        <p:nvSpPr>
          <p:cNvPr id="13" name="Rectangle 4"/>
          <p:cNvSpPr/>
          <p:nvPr/>
        </p:nvSpPr>
        <p:spPr>
          <a:xfrm>
            <a:off x="1286640" y="4698781"/>
            <a:ext cx="4893443" cy="788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533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83" y="4387950"/>
            <a:ext cx="2579563" cy="190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800" dirty="0" err="1" smtClean="0"/>
              <a:t>액티비티로부터</a:t>
            </a:r>
            <a:r>
              <a:rPr lang="ko-KR" altLang="en-US" sz="4800" dirty="0" smtClean="0"/>
              <a:t> 결과 받기</a:t>
            </a:r>
            <a:endParaRPr lang="ko-KR" altLang="en-US" sz="4800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실행결과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111" y="2133429"/>
            <a:ext cx="2588245" cy="1989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4"/>
          <p:cNvSpPr/>
          <p:nvPr/>
        </p:nvSpPr>
        <p:spPr>
          <a:xfrm>
            <a:off x="1668856" y="3484216"/>
            <a:ext cx="2066925" cy="189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3" y="3213370"/>
            <a:ext cx="2598673" cy="197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4"/>
          <p:cNvSpPr/>
          <p:nvPr/>
        </p:nvSpPr>
        <p:spPr>
          <a:xfrm>
            <a:off x="5685727" y="4780360"/>
            <a:ext cx="2060079" cy="252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화살표 연결선 13"/>
          <p:cNvCxnSpPr>
            <a:stCxn id="10" idx="1"/>
          </p:cNvCxnSpPr>
          <p:nvPr/>
        </p:nvCxnSpPr>
        <p:spPr>
          <a:xfrm flipH="1">
            <a:off x="3059506" y="4906813"/>
            <a:ext cx="2626221" cy="126231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13" idx="3"/>
          </p:cNvCxnSpPr>
          <p:nvPr/>
        </p:nvCxnSpPr>
        <p:spPr>
          <a:xfrm>
            <a:off x="3735781" y="3578839"/>
            <a:ext cx="1949946" cy="10091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87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Native Components</a:t>
            </a:r>
            <a:endParaRPr lang="ko-KR" altLang="en-US" dirty="0"/>
          </a:p>
        </p:txBody>
      </p:sp>
      <p:pic>
        <p:nvPicPr>
          <p:cNvPr id="5122" name="Picture 2" descr="C:\Users\msKim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927" y="1533525"/>
            <a:ext cx="2486025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msKim\Desktop\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933" y="1568990"/>
            <a:ext cx="2486025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96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Implicit Intent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243914"/>
            <a:ext cx="8229600" cy="488225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New</a:t>
            </a:r>
            <a:r>
              <a:rPr lang="ko-KR" altLang="en-US" dirty="0"/>
              <a:t> </a:t>
            </a:r>
            <a:r>
              <a:rPr lang="en-US" altLang="ko-KR" dirty="0" smtClean="0"/>
              <a:t>Project : </a:t>
            </a:r>
            <a:r>
              <a:rPr lang="en-US" altLang="ko-KR" dirty="0" err="1" smtClean="0"/>
              <a:t>ImplicitIntentTest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/>
              <a:t>Empty Activity</a:t>
            </a:r>
          </a:p>
          <a:p>
            <a:pPr lvl="2"/>
            <a:r>
              <a:rPr lang="en-US" altLang="ko-KR" dirty="0" smtClean="0"/>
              <a:t>Activity Name : </a:t>
            </a:r>
            <a:r>
              <a:rPr lang="en-US" altLang="ko-KR" dirty="0" err="1" smtClean="0"/>
              <a:t>MainActivity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Layout Name : </a:t>
            </a:r>
            <a:r>
              <a:rPr lang="en-US" altLang="ko-KR" dirty="0" err="1" smtClean="0"/>
              <a:t>activity_main</a:t>
            </a:r>
            <a:endParaRPr lang="en-US" altLang="ko-KR" dirty="0" smtClean="0"/>
          </a:p>
          <a:p>
            <a:r>
              <a:rPr lang="en-US" altLang="ko-KR" dirty="0" err="1" smtClean="0"/>
              <a:t>MainActivity</a:t>
            </a:r>
            <a:r>
              <a:rPr lang="ko-KR" altLang="en-US" dirty="0"/>
              <a:t>의 레이아웃 작성</a:t>
            </a:r>
            <a:endParaRPr lang="en-US" altLang="ko-KR" dirty="0"/>
          </a:p>
          <a:p>
            <a:pPr lvl="1"/>
            <a:r>
              <a:rPr lang="en-US" altLang="ko-KR" dirty="0"/>
              <a:t>/res/layout/activity_main.xml</a:t>
            </a:r>
            <a:endParaRPr lang="ko-KR" altLang="en-US" dirty="0"/>
          </a:p>
          <a:p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325837" y="3415841"/>
            <a:ext cx="646092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&lt;?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 version=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"1.0"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encoding=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"utf-8"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?&gt;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"http://schemas.android.com/apk/res/android"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:orientation=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"vertical"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r>
              <a:rPr lang="en-US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id</a:t>
            </a:r>
            <a:r>
              <a:rPr lang="ko-KR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@+id/</a:t>
            </a:r>
            <a:r>
              <a:rPr lang="en-US" altLang="ko-KR" sz="1200" b="1" dirty="0" smtClean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call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endParaRPr kumimoji="0" lang="en-US" altLang="ko-KR" sz="1200" b="1" i="0" u="none" strike="noStrike" cap="none" normalizeH="0" baseline="0" dirty="0" smtClean="0">
              <a:ln>
                <a:noFill/>
              </a:ln>
              <a:solidFill>
                <a:srgbClr val="00008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ko-KR" altLang="en-US" sz="1200" b="1" dirty="0" err="1" smtClean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전화걸</a:t>
            </a:r>
            <a:r>
              <a:rPr lang="ko-KR" altLang="en-US" sz="1200" b="1" dirty="0" err="1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기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:onClick=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</a:t>
            </a:r>
            <a:r>
              <a:rPr lang="en-US" altLang="ko-KR" sz="1200" b="1" dirty="0" smtClean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”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…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12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Implicit Intent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44906" y="1260981"/>
            <a:ext cx="7998372" cy="55861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MainActivity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super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activity_main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void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onClickButton(View v) {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id = v.getId();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Intent intent1;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switch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(id) {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case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R.id.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call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intent1 =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Intent(Intent.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ACTION_DIAL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Uri.</a:t>
            </a:r>
            <a:r>
              <a:rPr kumimoji="0" lang="ko-KR" altLang="ko-KR" sz="105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parse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"tel:0539</a:t>
            </a:r>
            <a:r>
              <a:rPr kumimoji="0" lang="en-US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5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0</a:t>
            </a:r>
            <a:r>
              <a:rPr kumimoji="0" lang="en-US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7678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startActivity(intent1);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break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case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R.id.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contact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intent1 =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Intent(Intent.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ACTION_VIEW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Uri.</a:t>
            </a:r>
            <a:r>
              <a:rPr kumimoji="0" lang="ko-KR" altLang="ko-KR" sz="105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parse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"content://contacts/people"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startActivity(intent1);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break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case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R.id.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map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intent1 =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Intent(Intent.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ACTION_VIEW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Uri.</a:t>
            </a:r>
            <a:r>
              <a:rPr kumimoji="0" lang="ko-KR" altLang="ko-KR" sz="105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parse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"geo:37.58,126.98"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startActivity(intent1);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break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case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R.id.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web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intent1 =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Intent(Intent.</a:t>
            </a:r>
            <a:r>
              <a:rPr kumimoji="0" lang="ko-KR" altLang="ko-KR" sz="105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ACTION_VIEW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Uri.</a:t>
            </a:r>
            <a:r>
              <a:rPr kumimoji="0" lang="ko-KR" altLang="ko-KR" sz="105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parse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"http://www.google.com/"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startActivity(intent1);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break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}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endParaRPr kumimoji="0" lang="en-US" altLang="ko-KR" sz="105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1484101" y="3216166"/>
            <a:ext cx="6262023" cy="6831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Rectangle 4"/>
          <p:cNvSpPr/>
          <p:nvPr/>
        </p:nvSpPr>
        <p:spPr>
          <a:xfrm>
            <a:off x="1484101" y="4043903"/>
            <a:ext cx="6262023" cy="6831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Rectangle 4"/>
          <p:cNvSpPr/>
          <p:nvPr/>
        </p:nvSpPr>
        <p:spPr>
          <a:xfrm>
            <a:off x="1484101" y="4871640"/>
            <a:ext cx="6262023" cy="6831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Rectangle 4"/>
          <p:cNvSpPr/>
          <p:nvPr/>
        </p:nvSpPr>
        <p:spPr>
          <a:xfrm>
            <a:off x="1484101" y="5673178"/>
            <a:ext cx="6262023" cy="6831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96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36" y="1339015"/>
            <a:ext cx="2680335" cy="486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Implicit Intent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454" y="1339015"/>
            <a:ext cx="2680335" cy="486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380" y="1339015"/>
            <a:ext cx="2680335" cy="486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4"/>
          <p:cNvSpPr/>
          <p:nvPr/>
        </p:nvSpPr>
        <p:spPr>
          <a:xfrm>
            <a:off x="859243" y="2400300"/>
            <a:ext cx="2016919" cy="256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화살표 연결선 12"/>
          <p:cNvCxnSpPr>
            <a:stCxn id="12" idx="3"/>
          </p:cNvCxnSpPr>
          <p:nvPr/>
        </p:nvCxnSpPr>
        <p:spPr>
          <a:xfrm>
            <a:off x="2876162" y="2528492"/>
            <a:ext cx="1295400" cy="41473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/>
          <p:nvPr/>
        </p:nvSpPr>
        <p:spPr>
          <a:xfrm>
            <a:off x="859242" y="2943225"/>
            <a:ext cx="2016919" cy="233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화살표 연결선 16"/>
          <p:cNvCxnSpPr>
            <a:stCxn id="20" idx="3"/>
          </p:cNvCxnSpPr>
          <p:nvPr/>
        </p:nvCxnSpPr>
        <p:spPr>
          <a:xfrm>
            <a:off x="2876161" y="3059907"/>
            <a:ext cx="3848489" cy="14644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16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Intent Filter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243914"/>
            <a:ext cx="8229600" cy="488225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MainActivity</a:t>
            </a:r>
            <a:r>
              <a:rPr lang="ko-KR" altLang="en-US" dirty="0"/>
              <a:t>의 레이아웃 작성</a:t>
            </a:r>
            <a:endParaRPr lang="en-US" altLang="ko-KR" dirty="0"/>
          </a:p>
          <a:p>
            <a:pPr lvl="1"/>
            <a:r>
              <a:rPr lang="en-US" altLang="ko-KR" dirty="0"/>
              <a:t>/res/layout/activity_main.xml</a:t>
            </a:r>
            <a:endParaRPr lang="ko-KR" altLang="en-US" dirty="0"/>
          </a:p>
          <a:p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325837" y="2152888"/>
            <a:ext cx="6460920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&lt;?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 version=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"1.0"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encoding=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"utf-8"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?&gt;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"http://schemas.android.com/apk/res/android"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:orientation=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"vertical"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match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_parent"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r>
              <a:rPr lang="en-US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…  /&gt;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r>
              <a:rPr lang="en-US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…  </a:t>
            </a: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r>
              <a:rPr lang="en-US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…  /&gt;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r>
              <a:rPr lang="en-US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…  </a:t>
            </a: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</a:t>
            </a: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lang="ko-KR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r>
              <a:rPr lang="en-US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id</a:t>
            </a:r>
            <a:r>
              <a:rPr lang="ko-KR" altLang="ko-KR" sz="1200" b="1" dirty="0" smtClean="0">
                <a:solidFill>
                  <a:srgbClr val="0000FF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=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@+id/</a:t>
            </a:r>
            <a:r>
              <a:rPr lang="en-US" altLang="ko-KR" sz="1200" b="1" dirty="0" smtClean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button1</a:t>
            </a:r>
            <a:r>
              <a:rPr lang="ko-KR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endParaRPr kumimoji="0" lang="en-US" altLang="ko-KR" sz="1200" b="1" i="0" u="none" strike="noStrike" cap="none" normalizeH="0" baseline="0" dirty="0" smtClean="0">
              <a:ln>
                <a:noFill/>
              </a:ln>
              <a:solidFill>
                <a:srgbClr val="00008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“</a:t>
            </a:r>
            <a:r>
              <a:rPr lang="en-US" altLang="ko-KR" sz="1200" b="1" dirty="0" smtClean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BUTTON1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:onClick=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</a:t>
            </a:r>
            <a:r>
              <a:rPr lang="en-US" altLang="ko-KR" sz="1200" b="1" dirty="0" smtClean="0">
                <a:solidFill>
                  <a:srgbClr val="00B0F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</a:t>
            </a:r>
            <a:r>
              <a:rPr lang="en-US" altLang="ko-KR" sz="1200" b="1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”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LinearLayout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5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 Filter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AndroidManifest.xml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72358" y="2174867"/>
            <a:ext cx="7399283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:name=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".MainActivity"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:label=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"@string/app_name"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intent-filter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:name=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"android.intent.action.VIEW"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:name=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"android.intent.action.EDIT"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category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:name=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"android.intent.category.DEFAULT"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intent-filter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22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 Filter</a:t>
            </a:r>
            <a:endParaRPr lang="ko-KR" altLang="en-US" dirty="0"/>
          </a:p>
        </p:txBody>
      </p:sp>
      <p:sp>
        <p:nvSpPr>
          <p:cNvPr id="9" name="내용 개체 틀 3"/>
          <p:cNvSpPr txBox="1">
            <a:spLocks/>
          </p:cNvSpPr>
          <p:nvPr/>
        </p:nvSpPr>
        <p:spPr>
          <a:xfrm>
            <a:off x="457200" y="1113197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MainActivitiy.java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80561" y="1485507"/>
            <a:ext cx="8182878" cy="58169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MainActivity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activity_main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String act = getIntent().getAction();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EditText txt = (EditText)findViewById(R.id.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edit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 act.compareTo(Intent.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ACTION_VIEW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==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0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txt.setText(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"VIEW"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else if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 act.compareTo(Intent.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ACTION_EDIT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==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0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txt.setText(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"EDIT"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else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txt.setText(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"Unknown: 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+ act);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lang="ko-KR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void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onClickButton(View v) {</a:t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id = v.getId();</a:t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Intent intent1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lang="ko-KR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switch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(id) {</a:t>
            </a:r>
            <a:endParaRPr lang="en-US" altLang="ko-KR" sz="1200" dirty="0" smtClean="0">
              <a:solidFill>
                <a:srgbClr val="000000"/>
              </a:solidFill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…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	</a:t>
            </a:r>
            <a:r>
              <a:rPr lang="ko-KR" altLang="ko-KR" sz="1200" b="1" dirty="0" smtClean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case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R.id.</a:t>
            </a:r>
            <a:r>
              <a:rPr lang="ko-KR" altLang="ko-KR" sz="1200" b="1" i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</a:t>
            </a:r>
            <a:r>
              <a:rPr lang="en-US" altLang="ko-KR" sz="1200" b="1" i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utton1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intent1 = 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Intent(Intent.</a:t>
            </a:r>
            <a:r>
              <a:rPr lang="ko-KR" altLang="ko-KR" sz="1200" b="1" i="1" dirty="0" smtClean="0">
                <a:solidFill>
                  <a:srgbClr val="660E7A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ACTION_VIEW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r>
              <a:rPr lang="en-US" altLang="ko-KR" sz="1200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// ACTION_EDIT</a:t>
            </a:r>
            <a:r>
              <a:rPr lang="ko-KR" altLang="en-US" sz="1200" dirty="0" smtClean="0">
                <a:solidFill>
                  <a:srgbClr val="008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로 테스트 해 보기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startActivity(intent1);</a:t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</a:t>
            </a:r>
            <a:r>
              <a:rPr lang="ko-KR" altLang="ko-KR" sz="1200" b="1" dirty="0">
                <a:solidFill>
                  <a:srgbClr val="00008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break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}</a:t>
            </a:r>
            <a:b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lang="ko-KR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59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C:\Users\msKim\Desktop\2016-2 모바일앱프로그래밍 (교재)\31_L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409" y="2026352"/>
            <a:ext cx="2672786" cy="43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msKim\Desktop\2016-2 모바일앱프로그래밍 (교재)\31_32_L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96" y="2026814"/>
            <a:ext cx="2631057" cy="43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 Filter</a:t>
            </a:r>
            <a:endParaRPr lang="ko-KR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ACTION_VIEW</a:t>
            </a:r>
            <a:endParaRPr lang="ko-KR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9" name="Rectangle 4"/>
          <p:cNvSpPr/>
          <p:nvPr/>
        </p:nvSpPr>
        <p:spPr>
          <a:xfrm>
            <a:off x="793750" y="4291184"/>
            <a:ext cx="1774825" cy="2268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18" y="4839947"/>
            <a:ext cx="2323812" cy="6673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3" name="직선 화살표 연결선 12"/>
          <p:cNvCxnSpPr/>
          <p:nvPr/>
        </p:nvCxnSpPr>
        <p:spPr>
          <a:xfrm flipV="1">
            <a:off x="1681161" y="4534619"/>
            <a:ext cx="1" cy="3053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/>
          <p:nvPr/>
        </p:nvSpPr>
        <p:spPr>
          <a:xfrm>
            <a:off x="3601954" y="4291184"/>
            <a:ext cx="1786021" cy="320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148" name="Picture 4" descr="C:\Users\msKim\Desktop\2016-2 모바일앱프로그래밍 (교재)\31_L3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083" y="2026814"/>
            <a:ext cx="2723180" cy="43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38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msKim\Desktop\2016-2 모바일앱프로그래밍 (교재)\32_L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415" y="2026813"/>
            <a:ext cx="2675190" cy="43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msKim\Desktop\2016-2 모바일앱프로그래밍 (교재)\32_L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984" y="2042673"/>
            <a:ext cx="2631057" cy="43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msKim\Desktop\2016-2 모바일앱프로그래밍 (교재)\31_32_L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96" y="2042673"/>
            <a:ext cx="2631057" cy="43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65" y="4883502"/>
            <a:ext cx="2466717" cy="65722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Intent Filter</a:t>
            </a:r>
            <a:endParaRPr lang="ko-KR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ACTION_EDIT</a:t>
            </a:r>
            <a:endParaRPr lang="ko-KR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9" name="Rectangle 4"/>
          <p:cNvSpPr/>
          <p:nvPr/>
        </p:nvSpPr>
        <p:spPr>
          <a:xfrm>
            <a:off x="919163" y="4314825"/>
            <a:ext cx="1762126" cy="204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1761784" y="4519613"/>
            <a:ext cx="0" cy="35309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/>
          <p:nvPr/>
        </p:nvSpPr>
        <p:spPr>
          <a:xfrm>
            <a:off x="3738705" y="5143500"/>
            <a:ext cx="1762936" cy="228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713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35976</TotalTime>
  <Words>1368</Words>
  <Application>Microsoft Office PowerPoint</Application>
  <PresentationFormat>화면 슬라이드 쇼(4:3)</PresentationFormat>
  <Paragraphs>421</Paragraphs>
  <Slides>37</Slides>
  <Notes>35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38" baseType="lpstr">
      <vt:lpstr>Executive</vt:lpstr>
      <vt:lpstr>인텐트</vt:lpstr>
      <vt:lpstr>Intent</vt:lpstr>
      <vt:lpstr>Intent</vt:lpstr>
      <vt:lpstr>Intent Object</vt:lpstr>
      <vt:lpstr>Intent Type</vt:lpstr>
      <vt:lpstr>Implicit Intent</vt:lpstr>
      <vt:lpstr>Implicit Intent</vt:lpstr>
      <vt:lpstr>Intent Filter</vt:lpstr>
      <vt:lpstr>Intent: Action</vt:lpstr>
      <vt:lpstr>Intent: Data</vt:lpstr>
      <vt:lpstr>Intent: Category</vt:lpstr>
      <vt:lpstr>Intent: Extra</vt:lpstr>
      <vt:lpstr>Intent Resolving</vt:lpstr>
      <vt:lpstr>Explicit Intent</vt:lpstr>
      <vt:lpstr>Explicit Intent</vt:lpstr>
      <vt:lpstr>Explicit Intent</vt:lpstr>
      <vt:lpstr>Explicit Intent</vt:lpstr>
      <vt:lpstr>Explicit Intent</vt:lpstr>
      <vt:lpstr>Explicit Intent</vt:lpstr>
      <vt:lpstr>액티비티로부터 결과 받기</vt:lpstr>
      <vt:lpstr>액티비티로부터 결과 받기</vt:lpstr>
      <vt:lpstr>액티비티로부터 결과 받기</vt:lpstr>
      <vt:lpstr>액티비티로부터 결과 받기</vt:lpstr>
      <vt:lpstr>액티비티로부터 결과 받기</vt:lpstr>
      <vt:lpstr>액티비티로부터 결과 받기</vt:lpstr>
      <vt:lpstr>액티비티로부터 결과 받기</vt:lpstr>
      <vt:lpstr>액티비티로부터 결과 받기</vt:lpstr>
      <vt:lpstr>Native Components</vt:lpstr>
      <vt:lpstr>Implicit Intent</vt:lpstr>
      <vt:lpstr>Implicit Intent</vt:lpstr>
      <vt:lpstr>Implicit Intent</vt:lpstr>
      <vt:lpstr>Intent Filter</vt:lpstr>
      <vt:lpstr>Intent Filter</vt:lpstr>
      <vt:lpstr>Intent Filter</vt:lpstr>
      <vt:lpstr>Intent Filter</vt:lpstr>
      <vt:lpstr>Intent Filter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1877</cp:revision>
  <cp:lastPrinted>2011-03-01T18:43:48Z</cp:lastPrinted>
  <dcterms:created xsi:type="dcterms:W3CDTF">2010-10-12T07:50:15Z</dcterms:created>
  <dcterms:modified xsi:type="dcterms:W3CDTF">2017-09-26T04:39:55Z</dcterms:modified>
</cp:coreProperties>
</file>