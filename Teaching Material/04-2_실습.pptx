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26"/>
  </p:notesMasterIdLst>
  <p:sldIdLst>
    <p:sldId id="256" r:id="rId2"/>
    <p:sldId id="338" r:id="rId3"/>
    <p:sldId id="340" r:id="rId4"/>
    <p:sldId id="341" r:id="rId5"/>
    <p:sldId id="342" r:id="rId6"/>
    <p:sldId id="359" r:id="rId7"/>
    <p:sldId id="360" r:id="rId8"/>
    <p:sldId id="343" r:id="rId9"/>
    <p:sldId id="349" r:id="rId10"/>
    <p:sldId id="350" r:id="rId11"/>
    <p:sldId id="351" r:id="rId12"/>
    <p:sldId id="361" r:id="rId13"/>
    <p:sldId id="352" r:id="rId14"/>
    <p:sldId id="353" r:id="rId15"/>
    <p:sldId id="354" r:id="rId16"/>
    <p:sldId id="355" r:id="rId17"/>
    <p:sldId id="363" r:id="rId18"/>
    <p:sldId id="356" r:id="rId19"/>
    <p:sldId id="357" r:id="rId20"/>
    <p:sldId id="358" r:id="rId21"/>
    <p:sldId id="296" r:id="rId22"/>
    <p:sldId id="337" r:id="rId23"/>
    <p:sldId id="334" r:id="rId24"/>
    <p:sldId id="294" r:id="rId25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2" autoAdjust="0"/>
    <p:restoredTop sz="74224" autoAdjust="0"/>
  </p:normalViewPr>
  <p:slideViewPr>
    <p:cSldViewPr snapToGrid="0">
      <p:cViewPr varScale="1">
        <p:scale>
          <a:sx n="116" d="100"/>
          <a:sy n="116" d="100"/>
        </p:scale>
        <p:origin x="-184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087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365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365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 smtClean="0"/>
              <a:t>밑줄 부분</a:t>
            </a:r>
            <a:r>
              <a:rPr lang="en-US" altLang="ko-KR" baseline="0" dirty="0" smtClean="0"/>
              <a:t>(public) </a:t>
            </a:r>
            <a:r>
              <a:rPr lang="ko-KR" altLang="en-US" baseline="0" dirty="0" smtClean="0"/>
              <a:t>회색 표시 </a:t>
            </a:r>
            <a:endParaRPr lang="en-US" altLang="ko-KR" baseline="0" dirty="0" smtClean="0"/>
          </a:p>
          <a:p>
            <a:r>
              <a:rPr lang="ko-KR" altLang="en-US" baseline="0" dirty="0" smtClean="0"/>
              <a:t>메시지 </a:t>
            </a:r>
            <a:r>
              <a:rPr lang="en-US" altLang="ko-KR" baseline="0" dirty="0" smtClean="0"/>
              <a:t>: </a:t>
            </a:r>
            <a:r>
              <a:rPr lang="en-US" altLang="ko-KR" dirty="0" smtClean="0"/>
              <a:t>Reports</a:t>
            </a:r>
            <a:r>
              <a:rPr lang="en-US" altLang="ko-KR" baseline="0" dirty="0" smtClean="0"/>
              <a:t> any redundant modifiers on interfaces or interface components</a:t>
            </a:r>
          </a:p>
          <a:p>
            <a:r>
              <a:rPr lang="ko-KR" altLang="en-US" baseline="0" dirty="0" smtClean="0"/>
              <a:t>실행에는 문제 없음 </a:t>
            </a:r>
            <a:r>
              <a:rPr lang="en-US" altLang="ko-KR" baseline="0" dirty="0" smtClean="0"/>
              <a:t>(</a:t>
            </a:r>
            <a:r>
              <a:rPr lang="ko-KR" altLang="en-US" baseline="0" dirty="0" smtClean="0"/>
              <a:t>구동 완료</a:t>
            </a:r>
            <a:r>
              <a:rPr lang="en-US" altLang="ko-KR" baseline="0" dirty="0" smtClean="0"/>
              <a:t>)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914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붉은색 부분 정보</a:t>
            </a:r>
            <a:endParaRPr lang="en-US" altLang="ko-KR" dirty="0" smtClean="0"/>
          </a:p>
          <a:p>
            <a:r>
              <a:rPr lang="en-US" altLang="ko-KR" dirty="0" smtClean="0"/>
              <a:t> - Typing </a:t>
            </a:r>
            <a:r>
              <a:rPr lang="ko-KR" altLang="en-US" dirty="0" smtClean="0"/>
              <a:t>시 회색 표시 </a:t>
            </a:r>
            <a:r>
              <a:rPr lang="en-US" altLang="ko-KR" dirty="0" smtClean="0"/>
              <a:t>(</a:t>
            </a:r>
            <a:r>
              <a:rPr lang="ko-KR" altLang="en-US" dirty="0" smtClean="0"/>
              <a:t>메시지 표시 됨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 - (</a:t>
            </a:r>
            <a:r>
              <a:rPr lang="ko-KR" altLang="en-US" dirty="0" smtClean="0"/>
              <a:t>메시지 내용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     -&gt; Explicit type argument String can be replaced</a:t>
            </a:r>
            <a:r>
              <a:rPr lang="en-US" altLang="ko-KR" baseline="0" dirty="0" smtClean="0"/>
              <a:t> with &lt;&gt; </a:t>
            </a:r>
          </a:p>
          <a:p>
            <a:r>
              <a:rPr lang="en-US" altLang="ko-KR" baseline="0" dirty="0" smtClean="0"/>
              <a:t>         </a:t>
            </a:r>
            <a:r>
              <a:rPr lang="en-US" altLang="ko-KR" dirty="0" smtClean="0"/>
              <a:t> This</a:t>
            </a:r>
            <a:r>
              <a:rPr lang="en-US" altLang="ko-KR" baseline="0" dirty="0" smtClean="0"/>
              <a:t> inspection reports all new expressions with type arguments which can be replaced with diamond type &lt;&gt;</a:t>
            </a:r>
          </a:p>
          <a:p>
            <a:r>
              <a:rPr lang="en-US" altLang="ko-KR" baseline="0" dirty="0" smtClean="0"/>
              <a:t>          Such &lt;&gt; syntax is no supported under Java 1.6 or earlier JVMs.</a:t>
            </a:r>
          </a:p>
          <a:p>
            <a:r>
              <a:rPr lang="en-US" altLang="ko-KR" baseline="0" dirty="0" smtClean="0"/>
              <a:t> - &lt;String&gt; </a:t>
            </a:r>
            <a:r>
              <a:rPr lang="ko-KR" altLang="en-US" baseline="0" dirty="0" smtClean="0"/>
              <a:t>부분 없애도 실행에 문제 없음</a:t>
            </a:r>
            <a:r>
              <a:rPr lang="en-US" altLang="ko-KR" baseline="0" dirty="0" smtClean="0"/>
              <a:t>. (</a:t>
            </a:r>
            <a:r>
              <a:rPr lang="ko-KR" altLang="en-US" baseline="0" dirty="0" smtClean="0"/>
              <a:t>확인 완료</a:t>
            </a:r>
            <a:r>
              <a:rPr lang="en-US" altLang="ko-KR" baseline="0" dirty="0" smtClean="0"/>
              <a:t>)</a:t>
            </a:r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en-US" altLang="ko-KR" dirty="0" smtClean="0">
                <a:effectLst/>
              </a:rPr>
              <a:t>@</a:t>
            </a:r>
            <a:r>
              <a:rPr lang="en-US" altLang="ko-KR" dirty="0" err="1" smtClean="0">
                <a:effectLst/>
              </a:rPr>
              <a:t>nullable</a:t>
            </a:r>
            <a:r>
              <a:rPr lang="ko-KR" altLang="en-US" dirty="0" smtClean="0">
                <a:effectLst/>
              </a:rPr>
              <a:t> </a:t>
            </a:r>
            <a:r>
              <a:rPr lang="en-US" altLang="ko-KR" dirty="0" smtClean="0">
                <a:effectLst/>
              </a:rPr>
              <a:t>: Denotes that a parameter, field or method return value can be null. 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13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붉은 색 부분 작성시 </a:t>
            </a:r>
            <a:r>
              <a:rPr lang="en-US" altLang="ko-KR" sz="1200" strike="sng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onAttach</a:t>
            </a:r>
            <a:r>
              <a:rPr lang="en-US" altLang="ko-KR" sz="1200" strike="sng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dirty="0" smtClean="0"/>
              <a:t>로 표시 됨</a:t>
            </a:r>
            <a:r>
              <a:rPr lang="en-US" altLang="ko-KR" dirty="0" smtClean="0"/>
              <a:t>. (Activity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때문</a:t>
            </a:r>
            <a:r>
              <a:rPr lang="en-US" altLang="ko-KR" baseline="0" dirty="0" smtClean="0"/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</a:t>
            </a:r>
            <a:endParaRPr lang="en-US" altLang="ko-KR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Overrides deprecated method in ‘android.support.v4.app.Fragment’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This inspection reports where deprecated code is used in the specified inspection scope.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실행에는 문제 없음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 완료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193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해당 </a:t>
            </a:r>
            <a:r>
              <a:rPr lang="en-US" altLang="ko-KR" dirty="0" smtClean="0"/>
              <a:t>.xml </a:t>
            </a:r>
            <a:r>
              <a:rPr lang="ko-KR" altLang="en-US" dirty="0" smtClean="0"/>
              <a:t>파일의 </a:t>
            </a:r>
            <a:r>
              <a:rPr lang="en-US" altLang="ko-KR" dirty="0" smtClean="0"/>
              <a:t>&lt;</a:t>
            </a:r>
            <a:r>
              <a:rPr lang="en-US" altLang="ko-KR" dirty="0" err="1" smtClean="0"/>
              <a:t>TextView</a:t>
            </a:r>
            <a:r>
              <a:rPr lang="en-US" altLang="ko-KR" baseline="0" dirty="0" smtClean="0"/>
              <a:t> ~/&gt; </a:t>
            </a:r>
            <a:r>
              <a:rPr lang="ko-KR" altLang="en-US" baseline="0" dirty="0" smtClean="0"/>
              <a:t>부분만 작성해주면 된다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542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846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가로모드일 경우 </a:t>
            </a:r>
            <a:r>
              <a:rPr lang="en-US" altLang="ko-KR" dirty="0" err="1" smtClean="0"/>
              <a:t>definition_fragment</a:t>
            </a:r>
            <a:r>
              <a:rPr lang="ko-KR" altLang="en-US" dirty="0" smtClean="0"/>
              <a:t>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존재하기 때문에 </a:t>
            </a:r>
            <a:r>
              <a:rPr lang="en-US" altLang="ko-KR" dirty="0" err="1" smtClean="0"/>
              <a:t>defFrag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null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 아니고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세로모드일 경우 </a:t>
            </a:r>
            <a:r>
              <a:rPr lang="en-US" altLang="ko-KR" baseline="0" dirty="0" err="1" smtClean="0"/>
              <a:t>definition_fragment</a:t>
            </a:r>
            <a:r>
              <a:rPr lang="ko-KR" altLang="en-US" baseline="0" dirty="0" smtClean="0"/>
              <a:t>가 존재하지 않기 때문에 </a:t>
            </a:r>
            <a:r>
              <a:rPr lang="en-US" altLang="ko-KR" baseline="0" dirty="0" err="1" smtClean="0"/>
              <a:t>defFrag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null </a:t>
            </a:r>
            <a:r>
              <a:rPr lang="ko-KR" altLang="en-US" baseline="0" dirty="0" smtClean="0"/>
              <a:t>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731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가로모드일 경우 </a:t>
            </a:r>
            <a:r>
              <a:rPr lang="en-US" altLang="ko-KR" dirty="0" err="1" smtClean="0"/>
              <a:t>definition_fragment</a:t>
            </a:r>
            <a:r>
              <a:rPr lang="ko-KR" altLang="en-US" dirty="0" smtClean="0"/>
              <a:t>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존재하기 때문에 </a:t>
            </a:r>
            <a:r>
              <a:rPr lang="en-US" altLang="ko-KR" dirty="0" err="1" smtClean="0"/>
              <a:t>defFrag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null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 아니고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세로모드일 경우 </a:t>
            </a:r>
            <a:r>
              <a:rPr lang="en-US" altLang="ko-KR" baseline="0" dirty="0" err="1" smtClean="0"/>
              <a:t>definition_fragment</a:t>
            </a:r>
            <a:r>
              <a:rPr lang="ko-KR" altLang="en-US" baseline="0" dirty="0" smtClean="0"/>
              <a:t>가 존재하지 않기 때문에 </a:t>
            </a:r>
            <a:r>
              <a:rPr lang="en-US" altLang="ko-KR" baseline="0" dirty="0" err="1" smtClean="0"/>
              <a:t>defFrag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null </a:t>
            </a:r>
            <a:r>
              <a:rPr lang="ko-KR" altLang="en-US" baseline="0" dirty="0" smtClean="0"/>
              <a:t>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731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743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800" dirty="0" smtClean="0"/>
              <a:t>다른 </a:t>
            </a:r>
            <a:r>
              <a:rPr lang="ko-KR" altLang="en-US" sz="4800" dirty="0" err="1" smtClean="0"/>
              <a:t>프래그먼트와의</a:t>
            </a:r>
            <a:r>
              <a:rPr lang="ko-KR" altLang="en-US" sz="4800" dirty="0" smtClean="0"/>
              <a:t> 통신</a:t>
            </a:r>
            <a:endParaRPr lang="ko-KR" altLang="en-US" sz="4800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 err="1" smtClean="0">
                <a:solidFill>
                  <a:srgbClr val="00B0F0"/>
                </a:solidFill>
              </a:rPr>
              <a:t>프래그먼트를</a:t>
            </a:r>
            <a:r>
              <a:rPr lang="ko-KR" altLang="en-US" sz="2000" dirty="0" smtClean="0">
                <a:solidFill>
                  <a:srgbClr val="00B0F0"/>
                </a:solidFill>
              </a:rPr>
              <a:t> 재사용</a:t>
            </a:r>
            <a:r>
              <a:rPr lang="ko-KR" altLang="en-US" sz="2000" dirty="0" smtClean="0"/>
              <a:t>하기 위해서는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>
                <a:solidFill>
                  <a:srgbClr val="00B0F0"/>
                </a:solidFill>
              </a:rPr>
              <a:t>프래그먼트</a:t>
            </a:r>
            <a:r>
              <a:rPr lang="ko-KR" altLang="en-US" sz="2000" dirty="0" smtClean="0">
                <a:solidFill>
                  <a:srgbClr val="00B0F0"/>
                </a:solidFill>
              </a:rPr>
              <a:t> 자신의 레이아웃과 동작</a:t>
            </a:r>
            <a:r>
              <a:rPr lang="ko-KR" altLang="en-US" sz="2000" dirty="0" smtClean="0"/>
              <a:t>을 정의한 </a:t>
            </a:r>
            <a:r>
              <a:rPr lang="ko-KR" altLang="en-US" sz="2000" dirty="0"/>
              <a:t>완</a:t>
            </a:r>
            <a:r>
              <a:rPr lang="ko-KR" altLang="en-US" sz="2000" dirty="0" smtClean="0"/>
              <a:t>전히 독립적인</a:t>
            </a:r>
            <a:r>
              <a:rPr lang="ko-KR" altLang="en-US" sz="2000" dirty="0" smtClean="0">
                <a:solidFill>
                  <a:srgbClr val="00B0F0"/>
                </a:solidFill>
              </a:rPr>
              <a:t> 모듈</a:t>
            </a:r>
            <a:r>
              <a:rPr lang="ko-KR" altLang="en-US" sz="2000" dirty="0" smtClean="0"/>
              <a:t>로서 구성요소를 만들어야 함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sz="2000" dirty="0" smtClean="0"/>
              <a:t>이렇게 </a:t>
            </a:r>
            <a:r>
              <a:rPr lang="ko-KR" altLang="en-US" sz="2000" dirty="0" err="1" smtClean="0"/>
              <a:t>프래그먼트를</a:t>
            </a:r>
            <a:r>
              <a:rPr lang="ko-KR" altLang="en-US" sz="2000" dirty="0" smtClean="0"/>
              <a:t> 재사용하도록 정의하면</a:t>
            </a:r>
            <a:r>
              <a:rPr lang="en-US" altLang="ko-KR" sz="2000" dirty="0" smtClean="0"/>
              <a:t> </a:t>
            </a:r>
            <a:r>
              <a:rPr lang="ko-KR" altLang="en-US" sz="2000" dirty="0" err="1" smtClean="0"/>
              <a:t>액티비티와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프래그먼트들을</a:t>
            </a:r>
            <a:r>
              <a:rPr lang="ko-KR" altLang="en-US" sz="2000" dirty="0" smtClean="0"/>
              <a:t> 조합할 수 있으며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 복잡한 </a:t>
            </a:r>
            <a:r>
              <a:rPr lang="en-US" altLang="ko-KR" sz="2000" dirty="0" smtClean="0"/>
              <a:t>UI</a:t>
            </a:r>
            <a:r>
              <a:rPr lang="ko-KR" altLang="en-US" sz="2000" dirty="0" smtClean="0"/>
              <a:t>를 실현하기 위하여 코드로 이들을 연결할 수 있음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sz="2000" dirty="0" smtClean="0"/>
              <a:t>사용자 이벤트에 기초하여 </a:t>
            </a:r>
            <a:r>
              <a:rPr lang="ko-KR" altLang="en-US" sz="2000" dirty="0" err="1" smtClean="0"/>
              <a:t>콘텐츠를</a:t>
            </a:r>
            <a:r>
              <a:rPr lang="ko-KR" altLang="en-US" sz="2000" dirty="0" smtClean="0"/>
              <a:t> 변경할 수 있음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sz="2000" dirty="0" smtClean="0"/>
              <a:t>모든 </a:t>
            </a:r>
            <a:r>
              <a:rPr lang="ko-KR" altLang="en-US" sz="2000" dirty="0" err="1" smtClean="0">
                <a:solidFill>
                  <a:srgbClr val="00B0F0"/>
                </a:solidFill>
              </a:rPr>
              <a:t>프래그먼트와</a:t>
            </a:r>
            <a:r>
              <a:rPr lang="ko-KR" altLang="en-US" sz="2000" dirty="0" smtClean="0">
                <a:solidFill>
                  <a:srgbClr val="00B0F0"/>
                </a:solidFill>
              </a:rPr>
              <a:t> </a:t>
            </a:r>
            <a:r>
              <a:rPr lang="ko-KR" altLang="en-US" sz="2000" dirty="0" err="1" smtClean="0">
                <a:solidFill>
                  <a:srgbClr val="00B0F0"/>
                </a:solidFill>
              </a:rPr>
              <a:t>프래그먼트</a:t>
            </a:r>
            <a:r>
              <a:rPr lang="ko-KR" altLang="en-US" sz="2000" dirty="0" smtClean="0">
                <a:solidFill>
                  <a:srgbClr val="00B0F0"/>
                </a:solidFill>
              </a:rPr>
              <a:t> 사이의 통신</a:t>
            </a:r>
            <a:r>
              <a:rPr lang="ko-KR" altLang="en-US" sz="2000" dirty="0" smtClean="0"/>
              <a:t>은 관련된 </a:t>
            </a:r>
            <a:r>
              <a:rPr lang="ko-KR" altLang="en-US" sz="2000" dirty="0" err="1" smtClean="0">
                <a:solidFill>
                  <a:srgbClr val="00B0F0"/>
                </a:solidFill>
              </a:rPr>
              <a:t>액티비티를</a:t>
            </a:r>
            <a:r>
              <a:rPr lang="ko-KR" altLang="en-US" sz="2000" dirty="0" smtClean="0">
                <a:solidFill>
                  <a:srgbClr val="00B0F0"/>
                </a:solidFill>
              </a:rPr>
              <a:t> 통해 이루어짐</a:t>
            </a:r>
            <a:endParaRPr lang="en-US" altLang="ko-KR" sz="2000" dirty="0" smtClean="0">
              <a:solidFill>
                <a:srgbClr val="00B0F0"/>
              </a:solidFill>
            </a:endParaRPr>
          </a:p>
          <a:p>
            <a:endParaRPr lang="en-US" altLang="ko-KR" sz="2000" dirty="0"/>
          </a:p>
          <a:p>
            <a:r>
              <a:rPr lang="ko-KR" altLang="en-US" sz="2000" dirty="0" smtClean="0"/>
              <a:t>두 </a:t>
            </a:r>
            <a:r>
              <a:rPr lang="ko-KR" altLang="en-US" sz="2000" dirty="0" err="1" smtClean="0"/>
              <a:t>프래그먼트</a:t>
            </a:r>
            <a:r>
              <a:rPr lang="ko-KR" altLang="en-US" sz="2000" dirty="0" smtClean="0"/>
              <a:t> 사이의 직접 통신은 안됨</a:t>
            </a:r>
            <a:endParaRPr lang="en-US" altLang="ko-KR" sz="2000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63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왼쪽에 단어들의 리스트를 두고 오른쪽에는 선택된 단어의 설명이 나오는 어플리케이션 작성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화면의 왼쪽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오른쪽 모두 </a:t>
            </a:r>
            <a:r>
              <a:rPr lang="ko-KR" altLang="en-US" dirty="0" err="1" smtClean="0"/>
              <a:t>프래그먼트로</a:t>
            </a:r>
            <a:r>
              <a:rPr lang="ko-KR" altLang="en-US" dirty="0" smtClean="0"/>
              <a:t> 구현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왼쪽 리스트의 단어가 클릭되면 </a:t>
            </a:r>
            <a:r>
              <a:rPr lang="ko-KR" altLang="en-US" dirty="0" err="1" smtClean="0"/>
              <a:t>액티비티를</a:t>
            </a:r>
            <a:r>
              <a:rPr lang="ko-KR" altLang="en-US" dirty="0" smtClean="0"/>
              <a:t> 통하여 오른쪽 </a:t>
            </a:r>
            <a:r>
              <a:rPr lang="ko-KR" altLang="en-US" dirty="0" err="1" smtClean="0"/>
              <a:t>프래그먼트로</a:t>
            </a:r>
            <a:r>
              <a:rPr lang="ko-KR" altLang="en-US" dirty="0" smtClean="0"/>
              <a:t> 단어의 번호를 전달</a:t>
            </a:r>
            <a:endParaRPr lang="en-US" altLang="ko-KR" dirty="0" smtClean="0"/>
          </a:p>
          <a:p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82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C:\Users\msKim\Desktop\새 폴더\스크린샷 2016-09-17 오후 6.10.5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600" y="2776635"/>
            <a:ext cx="2201556" cy="360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C:\Users\msKim\Desktop\새 폴더\스크린샷 2016-09-17 오후 6.09.5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600" y="2776635"/>
            <a:ext cx="2199972" cy="360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Kim\Desktop\새 폴더\스크린샷 2016-09-17 오후 6.09.3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00" y="2944800"/>
            <a:ext cx="3110400" cy="20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 smtClean="0"/>
              <a:t>장치가 가로모드일 때는 다음과 같이 화면에 </a:t>
            </a:r>
            <a:r>
              <a:rPr lang="en-US" altLang="ko-KR" sz="1800" dirty="0" smtClean="0"/>
              <a:t>2</a:t>
            </a:r>
            <a:r>
              <a:rPr lang="ko-KR" altLang="en-US" sz="1800" dirty="0" smtClean="0"/>
              <a:t>개의 </a:t>
            </a:r>
            <a:r>
              <a:rPr lang="ko-KR" altLang="en-US" sz="1800" dirty="0" err="1" smtClean="0"/>
              <a:t>프래그먼트를</a:t>
            </a:r>
            <a:r>
              <a:rPr lang="ko-KR" altLang="en-US" sz="1800" dirty="0" smtClean="0"/>
              <a:t> 표시</a:t>
            </a:r>
            <a:endParaRPr lang="en-US" altLang="ko-KR" sz="1800" dirty="0" smtClean="0"/>
          </a:p>
          <a:p>
            <a:endParaRPr lang="en-US" altLang="ko-KR" sz="1800" dirty="0"/>
          </a:p>
          <a:p>
            <a:r>
              <a:rPr lang="ko-KR" altLang="en-US" sz="1800" dirty="0" smtClean="0"/>
              <a:t>세로모드일 때는 화면에 하나의 프래그먼트만 표시한 후에 사용자가 단어를 선택하면 단어의 설</a:t>
            </a:r>
            <a:r>
              <a:rPr lang="ko-KR" altLang="en-US" sz="1800" dirty="0"/>
              <a:t>명</a:t>
            </a:r>
            <a:r>
              <a:rPr lang="ko-KR" altLang="en-US" sz="1800" dirty="0" smtClean="0"/>
              <a:t> 화면이 나오도록 함</a:t>
            </a:r>
            <a:endParaRPr lang="en-US" altLang="ko-KR" sz="1800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8" name="Rectangle 4"/>
          <p:cNvSpPr/>
          <p:nvPr/>
        </p:nvSpPr>
        <p:spPr>
          <a:xfrm>
            <a:off x="875087" y="3671604"/>
            <a:ext cx="712977" cy="2003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Rectangle 4"/>
          <p:cNvSpPr/>
          <p:nvPr/>
        </p:nvSpPr>
        <p:spPr>
          <a:xfrm>
            <a:off x="4816518" y="3915689"/>
            <a:ext cx="1466136" cy="2467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1582921" y="3871913"/>
            <a:ext cx="88717" cy="33813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9" idx="3"/>
          </p:cNvCxnSpPr>
          <p:nvPr/>
        </p:nvCxnSpPr>
        <p:spPr>
          <a:xfrm flipV="1">
            <a:off x="6282654" y="3871913"/>
            <a:ext cx="682026" cy="16714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27247" y="5334070"/>
            <a:ext cx="102129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/>
              <a:t>가로모드</a:t>
            </a:r>
            <a:endParaRPr lang="ko-KR" altLang="en-US" sz="1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047776" y="5806284"/>
            <a:ext cx="102129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세로모드</a:t>
            </a:r>
            <a:endParaRPr lang="ko-KR" altLang="en-US" sz="1400" b="1" dirty="0"/>
          </a:p>
        </p:txBody>
      </p:sp>
      <p:cxnSp>
        <p:nvCxnSpPr>
          <p:cNvPr id="20" name="직선 화살표 연결선 19"/>
          <p:cNvCxnSpPr>
            <a:stCxn id="18" idx="0"/>
          </p:cNvCxnSpPr>
          <p:nvPr/>
        </p:nvCxnSpPr>
        <p:spPr>
          <a:xfrm flipV="1">
            <a:off x="1437895" y="5018035"/>
            <a:ext cx="0" cy="3160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V="1">
            <a:off x="3914487" y="5960172"/>
            <a:ext cx="38211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05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258529"/>
            <a:ext cx="8229600" cy="4867635"/>
          </a:xfrm>
        </p:spPr>
        <p:txBody>
          <a:bodyPr>
            <a:normAutofit/>
          </a:bodyPr>
          <a:lstStyle/>
          <a:p>
            <a:r>
              <a:rPr lang="en-US" altLang="ko-KR" dirty="0"/>
              <a:t>New Project</a:t>
            </a:r>
          </a:p>
          <a:p>
            <a:pPr lvl="1"/>
            <a:r>
              <a:rPr lang="en-US" altLang="ko-KR" dirty="0"/>
              <a:t>Application Name 	: </a:t>
            </a:r>
            <a:r>
              <a:rPr lang="en-US" altLang="ko-KR" dirty="0" smtClean="0"/>
              <a:t>FragmentTest3 </a:t>
            </a:r>
          </a:p>
          <a:p>
            <a:pPr lvl="1"/>
            <a:r>
              <a:rPr lang="en-US" altLang="ko-KR" dirty="0" smtClean="0"/>
              <a:t>Activity </a:t>
            </a:r>
            <a:r>
              <a:rPr lang="en-US" altLang="ko-KR" dirty="0"/>
              <a:t>Name	: </a:t>
            </a:r>
            <a:r>
              <a:rPr lang="en-US" altLang="ko-KR" dirty="0" err="1"/>
              <a:t>MainActivity</a:t>
            </a:r>
            <a:endParaRPr lang="en-US" altLang="ko-KR" dirty="0"/>
          </a:p>
          <a:p>
            <a:pPr lvl="1"/>
            <a:r>
              <a:rPr lang="en-US" altLang="ko-KR" dirty="0"/>
              <a:t>Layout Name	: activity_main.xml</a:t>
            </a:r>
          </a:p>
          <a:p>
            <a:r>
              <a:rPr lang="ko-KR" altLang="en-US" dirty="0" smtClean="0"/>
              <a:t>데이터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프로그램에 </a:t>
            </a:r>
            <a:r>
              <a:rPr lang="ko-KR" altLang="en-US" dirty="0" smtClean="0"/>
              <a:t>사용되는 단어를 자바 소스 파일 </a:t>
            </a:r>
            <a:r>
              <a:rPr lang="en-US" altLang="ko-KR" dirty="0" smtClean="0"/>
              <a:t>Data.java </a:t>
            </a:r>
            <a:r>
              <a:rPr lang="ko-KR" altLang="en-US" dirty="0" smtClean="0"/>
              <a:t>안에 작성하여 추가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357" y="3296877"/>
            <a:ext cx="673417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355" y="5041491"/>
            <a:ext cx="5057775" cy="415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434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</a:t>
            </a:r>
            <a:endParaRPr lang="ko-KR" alt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16424" y="1908627"/>
            <a:ext cx="8750595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class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Data {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static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String[] 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words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= {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"</a:t>
            </a:r>
            <a:r>
              <a:rPr kumimoji="1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프래그먼트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"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,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"</a:t>
            </a:r>
            <a:r>
              <a:rPr kumimoji="1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액티비티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"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static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String[] 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definitions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= {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"</a:t>
            </a:r>
            <a:r>
              <a:rPr kumimoji="1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프래그먼트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(fragment)는 </a:t>
            </a:r>
            <a:r>
              <a:rPr kumimoji="1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하니콤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버전(API 버전 11)부터 추가된 기능이다. </a:t>
            </a:r>
            <a:r>
              <a:rPr kumimoji="1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프래그먼트는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</a:t>
            </a:r>
            <a:r>
              <a:rPr kumimoji="1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태블릿과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같은 넓은 화면을 가지는 </a:t>
            </a:r>
            <a:r>
              <a:rPr kumimoji="1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모바일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장치를 위한 </a:t>
            </a:r>
            <a:r>
              <a:rPr kumimoji="1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매카니즘이다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."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,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"</a:t>
            </a:r>
            <a:r>
              <a:rPr kumimoji="1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액티비티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(activity)는 사용자 인터페이스 화면을 가지는 하나의 작업을 담당하는       컴포넌트이다."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endParaRPr kumimoji="1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굴림" pitchFamily="50" charset="-12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81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57200" y="1484672"/>
            <a:ext cx="8527904" cy="4641492"/>
          </a:xfrm>
        </p:spPr>
        <p:txBody>
          <a:bodyPr/>
          <a:lstStyle/>
          <a:p>
            <a:r>
              <a:rPr lang="ko-KR" altLang="en-US" sz="1800" dirty="0"/>
              <a:t>단어 표시 </a:t>
            </a:r>
            <a:r>
              <a:rPr lang="ko-KR" altLang="en-US" sz="1800" dirty="0" err="1" smtClean="0"/>
              <a:t>프래그먼트</a:t>
            </a:r>
            <a:r>
              <a:rPr lang="ko-KR" altLang="en-US" sz="1800" dirty="0" smtClean="0"/>
              <a:t> 작성</a:t>
            </a:r>
            <a:endParaRPr lang="en-US" altLang="ko-KR" sz="1800" dirty="0" smtClean="0"/>
          </a:p>
          <a:p>
            <a:pPr lvl="1"/>
            <a:r>
              <a:rPr lang="ko-KR" altLang="en-US" sz="1400" dirty="0" err="1" smtClean="0"/>
              <a:t>프래그먼트가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액티비티와</a:t>
            </a:r>
            <a:r>
              <a:rPr lang="ko-KR" altLang="en-US" sz="1400" dirty="0" smtClean="0"/>
              <a:t> 통신하려면 </a:t>
            </a:r>
            <a:r>
              <a:rPr lang="ko-KR" altLang="en-US" sz="1400" dirty="0" err="1" smtClean="0"/>
              <a:t>프래그먼트</a:t>
            </a:r>
            <a:r>
              <a:rPr lang="ko-KR" altLang="en-US" sz="1400" dirty="0" smtClean="0"/>
              <a:t> 클래스에 통신에 사용되는 인터페이스를 정의하고 </a:t>
            </a:r>
            <a:r>
              <a:rPr lang="ko-KR" altLang="en-US" sz="1400" dirty="0" err="1" smtClean="0"/>
              <a:t>액티비티가</a:t>
            </a:r>
            <a:r>
              <a:rPr lang="ko-KR" altLang="en-US" sz="1400" dirty="0" smtClean="0"/>
              <a:t> 이것을 구현하여야 함</a:t>
            </a:r>
            <a:endParaRPr lang="en-US" altLang="ko-KR" sz="1400" dirty="0" smtClean="0"/>
          </a:p>
          <a:p>
            <a:pPr lvl="1"/>
            <a:r>
              <a:rPr lang="ko-KR" altLang="en-US" sz="1400" dirty="0" err="1" smtClean="0"/>
              <a:t>프래그먼트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클래스는 </a:t>
            </a:r>
            <a:r>
              <a:rPr lang="en-US" altLang="ko-KR" sz="1400" dirty="0" err="1"/>
              <a:t>onAttach</a:t>
            </a:r>
            <a:r>
              <a:rPr lang="en-US" altLang="ko-KR" sz="1400" dirty="0"/>
              <a:t>() </a:t>
            </a:r>
            <a:r>
              <a:rPr lang="ko-KR" altLang="en-US" sz="1400" dirty="0"/>
              <a:t>호출 중에 </a:t>
            </a:r>
            <a:r>
              <a:rPr lang="ko-KR" altLang="en-US" sz="1400" dirty="0" err="1"/>
              <a:t>액티비티가</a:t>
            </a:r>
            <a:r>
              <a:rPr lang="ko-KR" altLang="en-US" sz="1400" dirty="0"/>
              <a:t> 인터페이스를 구현하였는지 검사</a:t>
            </a:r>
            <a:endParaRPr lang="en-US" altLang="ko-KR" sz="1400" dirty="0"/>
          </a:p>
          <a:p>
            <a:pPr lvl="1"/>
            <a:r>
              <a:rPr lang="ko-KR" altLang="en-US" sz="1400" dirty="0" err="1"/>
              <a:t>액티비티가</a:t>
            </a:r>
            <a:r>
              <a:rPr lang="ko-KR" altLang="en-US" sz="1400" dirty="0"/>
              <a:t> 인터페이스를 구현하였으면 인터페이스 </a:t>
            </a:r>
            <a:r>
              <a:rPr lang="ko-KR" altLang="en-US" sz="1400" dirty="0" err="1"/>
              <a:t>메소드를</a:t>
            </a:r>
            <a:r>
              <a:rPr lang="ko-KR" altLang="en-US" sz="1400" dirty="0"/>
              <a:t> 호출하여 </a:t>
            </a:r>
            <a:r>
              <a:rPr lang="ko-KR" altLang="en-US" sz="1400" dirty="0" err="1"/>
              <a:t>액티비티와</a:t>
            </a:r>
            <a:r>
              <a:rPr lang="ko-KR" altLang="en-US" sz="1400" dirty="0"/>
              <a:t> 통신하게 됨</a:t>
            </a:r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26715"/>
            <a:ext cx="4696489" cy="3397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303" y="3126715"/>
            <a:ext cx="4206627" cy="357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59560" y="4046150"/>
            <a:ext cx="2084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>
                <a:solidFill>
                  <a:srgbClr val="FF0000"/>
                </a:solidFill>
              </a:rPr>
              <a:t>WordsFragment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57884" y="4748981"/>
            <a:ext cx="1317522" cy="36379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7098887" y="5117866"/>
            <a:ext cx="1297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</a:rPr>
              <a:t>체크해</a:t>
            </a:r>
            <a:r>
              <a:rPr lang="ko-KR" altLang="en-US" sz="1600" dirty="0">
                <a:solidFill>
                  <a:srgbClr val="FF0000"/>
                </a:solidFill>
              </a:rPr>
              <a:t>제</a:t>
            </a:r>
          </a:p>
        </p:txBody>
      </p:sp>
    </p:spTree>
    <p:extLst>
      <p:ext uri="{BB962C8B-B14F-4D97-AF65-F5344CB8AC3E}">
        <p14:creationId xmlns:p14="http://schemas.microsoft.com/office/powerpoint/2010/main" val="119063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/>
              <a:t>단어 표시 </a:t>
            </a:r>
            <a:r>
              <a:rPr lang="ko-KR" altLang="en-US" sz="1800" dirty="0" err="1" smtClean="0"/>
              <a:t>프래그먼트</a:t>
            </a:r>
            <a:r>
              <a:rPr lang="ko-KR" altLang="en-US" sz="1800" dirty="0" smtClean="0"/>
              <a:t> 작성</a:t>
            </a:r>
            <a:endParaRPr lang="en-US" altLang="ko-KR" sz="1800" dirty="0" smtClean="0"/>
          </a:p>
          <a:p>
            <a:pPr lvl="1"/>
            <a:r>
              <a:rPr lang="en-US" altLang="ko-KR" sz="1400" dirty="0" smtClean="0"/>
              <a:t>WordsFragment.java</a:t>
            </a:r>
            <a:endParaRPr lang="ko-KR" altLang="en-US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29340" y="2260123"/>
            <a:ext cx="7591645" cy="26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android.app.Activity;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android.os.Build;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android.os.Bundle;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android.support.v4.app.ListFragment;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android.view.View;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android.widget.ArrayAdapter;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android.widget.ListView;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class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WordsFragment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extends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ListFragment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OnWordSelectedListener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mCallback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interface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OnWordSelectedListener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ko-KR" altLang="ko-KR" sz="1200" b="1" i="0" u="sng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void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onWordSelected(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int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position);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}</a:t>
            </a:r>
            <a:endParaRPr kumimoji="1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굴림" pitchFamily="50" charset="-127"/>
              <a:cs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3013" y="5201508"/>
            <a:ext cx="47807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err="1" smtClean="0"/>
              <a:t>액티비티와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프래그먼트가</a:t>
            </a:r>
            <a:r>
              <a:rPr lang="ko-KR" altLang="en-US" sz="1400" b="1" dirty="0" smtClean="0"/>
              <a:t> 데이터를 주고 받는 인터페이스</a:t>
            </a:r>
            <a:endParaRPr lang="ko-KR" altLang="en-US" sz="1400" b="1" dirty="0"/>
          </a:p>
        </p:txBody>
      </p:sp>
      <p:cxnSp>
        <p:nvCxnSpPr>
          <p:cNvPr id="9" name="직선 화살표 연결선 8"/>
          <p:cNvCxnSpPr>
            <a:stCxn id="8" idx="0"/>
          </p:cNvCxnSpPr>
          <p:nvPr/>
        </p:nvCxnSpPr>
        <p:spPr>
          <a:xfrm flipV="1">
            <a:off x="3503393" y="4937779"/>
            <a:ext cx="0" cy="2637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"/>
          <p:cNvSpPr/>
          <p:nvPr/>
        </p:nvSpPr>
        <p:spPr>
          <a:xfrm>
            <a:off x="1113013" y="4239985"/>
            <a:ext cx="3894921" cy="697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>
            <a:off x="3795823" y="3968544"/>
            <a:ext cx="1212111" cy="0"/>
          </a:xfrm>
          <a:prstGeom prst="line">
            <a:avLst/>
          </a:prstGeom>
          <a:ln w="222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84652" y="2853087"/>
            <a:ext cx="363633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리스트 </a:t>
            </a:r>
            <a:r>
              <a:rPr lang="ko-KR" altLang="en-US" sz="1400" b="1" dirty="0" err="1" smtClean="0"/>
              <a:t>뷰가</a:t>
            </a:r>
            <a:r>
              <a:rPr lang="ko-KR" altLang="en-US" sz="1400" b="1" dirty="0" smtClean="0"/>
              <a:t> 붙어 있는 </a:t>
            </a:r>
            <a:r>
              <a:rPr lang="ko-KR" altLang="en-US" sz="1400" b="1" dirty="0" err="1" smtClean="0"/>
              <a:t>프래그먼트</a:t>
            </a:r>
            <a:r>
              <a:rPr lang="en-US" altLang="ko-KR" sz="1400" b="1" dirty="0"/>
              <a:t>.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레이아웃 파일이 </a:t>
            </a:r>
            <a:r>
              <a:rPr lang="ko-KR" altLang="en-US" sz="1400" b="1" dirty="0" smtClean="0"/>
              <a:t>필요 없음</a:t>
            </a:r>
            <a:r>
              <a:rPr lang="en-US" altLang="ko-KR" sz="1400" b="1" dirty="0" smtClean="0"/>
              <a:t>. </a:t>
            </a:r>
            <a:r>
              <a:rPr lang="ko-KR" altLang="en-US" sz="1400" b="1" dirty="0" smtClean="0"/>
              <a:t>데이터만 제공하면 됨</a:t>
            </a:r>
            <a:endParaRPr lang="ko-KR" altLang="en-US" sz="1400" b="1" dirty="0"/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4880344" y="3377009"/>
            <a:ext cx="567559" cy="3687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907311" y="3036423"/>
            <a:ext cx="3600894" cy="0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55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>
                <a:solidFill>
                  <a:schemeClr val="bg1">
                    <a:lumMod val="50000"/>
                  </a:schemeClr>
                </a:solidFill>
              </a:rPr>
              <a:t>단어 표시 </a:t>
            </a:r>
            <a:r>
              <a:rPr lang="ko-KR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프래그먼트</a:t>
            </a:r>
            <a:r>
              <a:rPr lang="ko-KR" altLang="en-US" sz="1800" dirty="0" smtClean="0">
                <a:solidFill>
                  <a:schemeClr val="bg1">
                    <a:lumMod val="50000"/>
                  </a:schemeClr>
                </a:solidFill>
              </a:rPr>
              <a:t> 작성</a:t>
            </a:r>
            <a:endParaRPr lang="en-US" altLang="ko-KR" sz="1800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WordsFragment.java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8223" y="2223843"/>
            <a:ext cx="8739963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@Override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void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onCreate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@</a:t>
            </a:r>
            <a:r>
              <a:rPr kumimoji="1" lang="en-US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Nullable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Bundle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savedInstanceState)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super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.onCreate(savedInstanceState);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int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layout = Build.VERSION.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SDK_INT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&gt;= Build.VERSION_CODES.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HONEYCOMB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?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			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android.R.layout.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simple_list_item_activated_1</a:t>
            </a:r>
            <a:b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: android.R.layout.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simple_list_item_1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setListAdapter(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new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ArrayAdapter&lt;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String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&gt;(getActivity(), layout,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Data.</a:t>
            </a:r>
            <a:r>
              <a:rPr kumimoji="1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words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@Override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void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onStart()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super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.onStart();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if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(getFragmentManager().findFragmentById(R.id.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definition_fragment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 !=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null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getListView().setChoiceMode(ListView.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CHOICE_MODE_SINGLE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</a:t>
            </a:r>
            <a:endParaRPr kumimoji="1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굴림" pitchFamily="50" charset="-127"/>
              <a:cs typeface="Consolas" panose="020B0609020204030204" pitchFamily="49" charset="0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1244009" y="5412400"/>
            <a:ext cx="5241851" cy="0"/>
          </a:xfrm>
          <a:prstGeom prst="line">
            <a:avLst/>
          </a:prstGeom>
          <a:ln w="222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38085" y="4294270"/>
            <a:ext cx="363633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err="1" smtClean="0"/>
              <a:t>프래그먼트</a:t>
            </a:r>
            <a:r>
              <a:rPr lang="ko-KR" altLang="en-US" sz="1400" b="1" dirty="0" smtClean="0"/>
              <a:t> 매니저를 통하여 </a:t>
            </a:r>
            <a:r>
              <a:rPr lang="en-US" altLang="ko-KR" sz="1400" b="1" dirty="0" smtClean="0"/>
              <a:t>id</a:t>
            </a:r>
            <a:r>
              <a:rPr lang="ko-KR" altLang="en-US" sz="1400" b="1" dirty="0" smtClean="0"/>
              <a:t>를 이용하여 </a:t>
            </a:r>
            <a:r>
              <a:rPr lang="ko-KR" altLang="en-US" sz="1400" b="1" dirty="0" err="1" smtClean="0"/>
              <a:t>프래그먼트를</a:t>
            </a:r>
            <a:r>
              <a:rPr lang="ko-KR" altLang="en-US" sz="1400" b="1" dirty="0" smtClean="0"/>
              <a:t> 찾음</a:t>
            </a:r>
            <a:endParaRPr lang="ko-KR" altLang="en-US" sz="1400" b="1" dirty="0"/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4433777" y="4818192"/>
            <a:ext cx="567559" cy="3687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93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65816" y="2241878"/>
            <a:ext cx="860174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dirty="0">
                <a:solidFill>
                  <a:srgbClr val="808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</a:t>
            </a:r>
            <a:r>
              <a:rPr kumimoji="1" lang="en-US" altLang="ko-KR" sz="1200" dirty="0" smtClean="0">
                <a:solidFill>
                  <a:srgbClr val="808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@Override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void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onAttach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(Activity activity)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super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onAttach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(activity);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try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mCallback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= (OnWordSelectedListener) activity;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}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catch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(ClassCastException e)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throw new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ClassCastException(activity.toString()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      +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" must implement OnWordSelectedListener"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@Override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void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onListItemClick(ListView l, View v,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int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position,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long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id)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mCallback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.onWordSelected(position);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getListView().setItemChecked(position,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true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</a:t>
            </a:r>
            <a:endParaRPr kumimoji="1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굴림" pitchFamily="50" charset="-127"/>
              <a:cs typeface="Consolas" panose="020B0609020204030204" pitchFamily="49" charset="0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>
                <a:solidFill>
                  <a:schemeClr val="bg1">
                    <a:lumMod val="50000"/>
                  </a:schemeClr>
                </a:solidFill>
              </a:rPr>
              <a:t>단어 표시 </a:t>
            </a:r>
            <a:r>
              <a:rPr lang="ko-KR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프래그먼트</a:t>
            </a:r>
            <a:r>
              <a:rPr lang="ko-KR" altLang="en-US" sz="1800" dirty="0" smtClean="0">
                <a:solidFill>
                  <a:schemeClr val="bg1">
                    <a:lumMod val="50000"/>
                  </a:schemeClr>
                </a:solidFill>
              </a:rPr>
              <a:t> 작성</a:t>
            </a:r>
            <a:endParaRPr lang="en-US" altLang="ko-KR" sz="1800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WordsFragment.java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1084520" y="3434744"/>
            <a:ext cx="3916816" cy="0"/>
          </a:xfrm>
          <a:prstGeom prst="line">
            <a:avLst/>
          </a:prstGeom>
          <a:ln w="222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17556" y="2545858"/>
            <a:ext cx="390544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err="1" smtClean="0"/>
              <a:t>액티비티가</a:t>
            </a:r>
            <a:r>
              <a:rPr lang="ko-KR" altLang="en-US" sz="1400" b="1" dirty="0" smtClean="0"/>
              <a:t> 인터페이스를 구현하였는지 검사함</a:t>
            </a:r>
            <a:endParaRPr lang="ko-KR" altLang="en-US" sz="1400" b="1" dirty="0"/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4813248" y="2872434"/>
            <a:ext cx="567559" cy="3687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98253" y="5715290"/>
            <a:ext cx="41152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사용자가 리스트의 단어를 클릭하면 </a:t>
            </a:r>
            <a:r>
              <a:rPr lang="ko-KR" altLang="en-US" sz="1400" b="1" dirty="0" err="1" smtClean="0"/>
              <a:t>액티비티의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콜백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메소드를</a:t>
            </a:r>
            <a:r>
              <a:rPr lang="ko-KR" altLang="en-US" sz="1400" b="1" dirty="0" smtClean="0"/>
              <a:t> 호출함</a:t>
            </a:r>
            <a:endParaRPr lang="ko-KR" altLang="en-US" sz="1400" b="1" dirty="0"/>
          </a:p>
        </p:txBody>
      </p:sp>
      <p:cxnSp>
        <p:nvCxnSpPr>
          <p:cNvPr id="12" name="직선 화살표 연결선 11"/>
          <p:cNvCxnSpPr>
            <a:stCxn id="11" idx="0"/>
            <a:endCxn id="13" idx="2"/>
          </p:cNvCxnSpPr>
          <p:nvPr/>
        </p:nvCxnSpPr>
        <p:spPr>
          <a:xfrm flipV="1">
            <a:off x="3655898" y="5465135"/>
            <a:ext cx="0" cy="2501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4"/>
          <p:cNvSpPr/>
          <p:nvPr/>
        </p:nvSpPr>
        <p:spPr>
          <a:xfrm>
            <a:off x="538855" y="4613907"/>
            <a:ext cx="6234085" cy="8512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20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/>
              <a:t>단어 정의 표시 </a:t>
            </a:r>
            <a:r>
              <a:rPr lang="ko-KR" altLang="en-US" sz="1800" dirty="0" err="1" smtClean="0"/>
              <a:t>프래그먼트</a:t>
            </a:r>
            <a:r>
              <a:rPr lang="ko-KR" altLang="en-US" sz="1800" dirty="0" smtClean="0"/>
              <a:t> 작성</a:t>
            </a:r>
            <a:endParaRPr lang="en-US" altLang="ko-KR" sz="1800" dirty="0" smtClean="0"/>
          </a:p>
          <a:p>
            <a:pPr lvl="1"/>
            <a:r>
              <a:rPr lang="ko-KR" altLang="en-US" sz="1400" dirty="0" smtClean="0"/>
              <a:t>단어 번호를 받아서 단어의 설명을 화면에 표시하면 됨</a:t>
            </a:r>
            <a:endParaRPr lang="en-US" altLang="ko-KR" sz="1400" dirty="0"/>
          </a:p>
          <a:p>
            <a:pPr lvl="1"/>
            <a:r>
              <a:rPr lang="ko-KR" altLang="en-US" sz="1400" dirty="0" err="1" smtClean="0"/>
              <a:t>액티비티는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프래그먼트의</a:t>
            </a:r>
            <a:r>
              <a:rPr lang="ko-KR" altLang="en-US" sz="1400" dirty="0" smtClean="0"/>
              <a:t> 인수를 통하여 단어의 번호를 전달함</a:t>
            </a:r>
            <a:endParaRPr lang="en-US" altLang="ko-KR" sz="1400" dirty="0" smtClean="0"/>
          </a:p>
          <a:p>
            <a:pPr lvl="1"/>
            <a:r>
              <a:rPr lang="en-US" altLang="ko-KR" sz="1400" dirty="0" err="1" smtClean="0"/>
              <a:t>getArgument</a:t>
            </a:r>
            <a:r>
              <a:rPr lang="en-US" altLang="ko-KR" sz="1400" dirty="0" smtClean="0"/>
              <a:t>() </a:t>
            </a:r>
            <a:r>
              <a:rPr lang="ko-KR" altLang="en-US" sz="1400" dirty="0" err="1" smtClean="0"/>
              <a:t>메소드를</a:t>
            </a:r>
            <a:r>
              <a:rPr lang="ko-KR" altLang="en-US" sz="1400" dirty="0" smtClean="0"/>
              <a:t> 호출하여 단어 번호를 얻어야 </a:t>
            </a:r>
            <a:r>
              <a:rPr lang="ko-KR" altLang="en-US" sz="1400" dirty="0" smtClean="0"/>
              <a:t>함</a:t>
            </a:r>
            <a:endParaRPr lang="en-US" altLang="ko-KR" sz="1400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" r="-1079"/>
          <a:stretch/>
        </p:blipFill>
        <p:spPr bwMode="auto">
          <a:xfrm>
            <a:off x="332899" y="2724847"/>
            <a:ext cx="4534976" cy="339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701" y="2693780"/>
            <a:ext cx="4059813" cy="3452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966607" y="3603933"/>
            <a:ext cx="2069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>
                <a:solidFill>
                  <a:srgbClr val="FF0000"/>
                </a:solidFill>
              </a:rPr>
              <a:t>DefinitionFragment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7157884" y="4257727"/>
            <a:ext cx="1317522" cy="36379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098887" y="4626612"/>
            <a:ext cx="1297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</a:rPr>
              <a:t>체크해</a:t>
            </a:r>
            <a:r>
              <a:rPr lang="ko-KR" altLang="en-US" sz="1600" dirty="0">
                <a:solidFill>
                  <a:srgbClr val="FF0000"/>
                </a:solidFill>
              </a:rPr>
              <a:t>제</a:t>
            </a:r>
          </a:p>
        </p:txBody>
      </p:sp>
    </p:spTree>
    <p:extLst>
      <p:ext uri="{BB962C8B-B14F-4D97-AF65-F5344CB8AC3E}">
        <p14:creationId xmlns:p14="http://schemas.microsoft.com/office/powerpoint/2010/main" val="998713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/>
              <a:t>단어 정의 표시 </a:t>
            </a:r>
            <a:r>
              <a:rPr lang="ko-KR" altLang="en-US" sz="1800" dirty="0" err="1" smtClean="0"/>
              <a:t>프래그먼트</a:t>
            </a:r>
            <a:r>
              <a:rPr lang="ko-KR" altLang="en-US" sz="1800" dirty="0" smtClean="0"/>
              <a:t> 작성</a:t>
            </a:r>
            <a:endParaRPr lang="en-US" altLang="ko-KR" sz="1800" dirty="0" smtClean="0"/>
          </a:p>
          <a:p>
            <a:pPr lvl="1"/>
            <a:r>
              <a:rPr lang="en-US" altLang="ko-KR" sz="1400" dirty="0" smtClean="0"/>
              <a:t>DefinitionFragment.java</a:t>
            </a:r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61504" y="2236185"/>
            <a:ext cx="8516679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android.support.v4.app.Fragment;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android.os.Bundle;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android.view.LayoutInflater;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android.view.View;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android.view.ViewGroup;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android.widget.TextView;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class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DefinitionFragment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extends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Fragment {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final static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String </a:t>
            </a:r>
            <a:r>
              <a:rPr kumimoji="1" lang="ko-KR" altLang="ko-KR" sz="10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ARG_POSITION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=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"position"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int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mCurrentPosition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= -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1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TextView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def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@Override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View onCreateView(LayoutInflater inflater, ViewGroup container,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Bundle savedInstanceState) {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if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(savedInstanceState !=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null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 {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mCurrentPosition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= savedInstanceState.getInt(</a:t>
            </a:r>
            <a:r>
              <a:rPr kumimoji="1" lang="ko-KR" altLang="ko-KR" sz="10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ARG_POSITION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}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View fragmentView =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inflater.inflate(R.layout.</a:t>
            </a:r>
            <a:r>
              <a:rPr kumimoji="1" lang="en-US" altLang="ko-KR" sz="10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fragment_d</a:t>
            </a:r>
            <a:r>
              <a:rPr kumimoji="1" lang="ko-KR" altLang="ko-KR" sz="10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efinition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, container,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false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def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= (TextView) fragmentView.findViewById(R.id.</a:t>
            </a:r>
            <a:r>
              <a:rPr kumimoji="1" lang="ko-KR" altLang="ko-KR" sz="10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definition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ko-KR" altLang="ko-KR" sz="10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return </a:t>
            </a: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fragmentView;</a:t>
            </a:r>
            <a:b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}</a:t>
            </a:r>
            <a:endParaRPr kumimoji="1" lang="ko-KR" altLang="ko-K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굴림" pitchFamily="50" charset="-127"/>
              <a:cs typeface="Consolas" panose="020B0609020204030204" pitchFamily="49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439479" y="2459710"/>
            <a:ext cx="2750288" cy="0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62762" y="3990799"/>
            <a:ext cx="910857" cy="0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4"/>
          <p:cNvSpPr/>
          <p:nvPr/>
        </p:nvSpPr>
        <p:spPr>
          <a:xfrm>
            <a:off x="815301" y="5324497"/>
            <a:ext cx="5819415" cy="650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813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>
                <a:solidFill>
                  <a:schemeClr val="bg1">
                    <a:lumMod val="50000"/>
                  </a:schemeClr>
                </a:solidFill>
              </a:rPr>
              <a:t>단어 정의 표시 </a:t>
            </a:r>
            <a:r>
              <a:rPr lang="ko-KR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프래그먼트</a:t>
            </a:r>
            <a:r>
              <a:rPr lang="ko-KR" altLang="en-US" sz="1800" dirty="0" smtClean="0">
                <a:solidFill>
                  <a:schemeClr val="bg1">
                    <a:lumMod val="50000"/>
                  </a:schemeClr>
                </a:solidFill>
              </a:rPr>
              <a:t> 작성</a:t>
            </a:r>
            <a:endParaRPr lang="en-US" altLang="ko-KR" sz="1800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DefinitionFragment.java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44548" y="2070609"/>
            <a:ext cx="8718698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@Override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void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onStart()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super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.onStart();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Bundle args = getArguments();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if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(args !=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null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updateDefinitionView(args.getInt(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ARG_POSITION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else if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mCurrentPosition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!= -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1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updateDefinitionView(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mCurrentPosition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void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updateDefinitionView(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int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position)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def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.setText(Data.</a:t>
            </a:r>
            <a:r>
              <a:rPr kumimoji="1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definitions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[position]);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mCurrentPosition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= position;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@Override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void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onSaveInstanceState(Bundle out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tate)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super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.onSaveInstanceState(out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tate);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out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tate.putInt(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ARG_POSITION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,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mCurrentPosition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</a:t>
            </a:r>
            <a:endParaRPr kumimoji="1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굴림" pitchFamily="50" charset="-127"/>
              <a:cs typeface="Consolas" panose="020B0609020204030204" pitchFamily="49" charset="0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800740" y="3056816"/>
            <a:ext cx="2548516" cy="0"/>
          </a:xfrm>
          <a:prstGeom prst="line">
            <a:avLst/>
          </a:prstGeom>
          <a:ln w="222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44304" y="2186729"/>
            <a:ext cx="307574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시작할 때 단어 번호를 </a:t>
            </a:r>
            <a:r>
              <a:rPr lang="ko-KR" altLang="en-US" sz="1400" b="1" smtClean="0"/>
              <a:t>인수로 가져옴</a:t>
            </a:r>
            <a:endParaRPr lang="ko-KR" altLang="en-US" sz="1400" b="1" dirty="0"/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3239995" y="2513305"/>
            <a:ext cx="567560" cy="3687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34319" y="5613824"/>
            <a:ext cx="254844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smtClean="0"/>
              <a:t>실행이 중지되는 경우에 현재 단어의 번호를 저장함</a:t>
            </a:r>
            <a:endParaRPr lang="ko-KR" altLang="en-US" sz="1400" b="1" dirty="0"/>
          </a:p>
        </p:txBody>
      </p:sp>
      <p:cxnSp>
        <p:nvCxnSpPr>
          <p:cNvPr id="18" name="직선 화살표 연결선 17"/>
          <p:cNvCxnSpPr>
            <a:stCxn id="17" idx="1"/>
            <a:endCxn id="20" idx="3"/>
          </p:cNvCxnSpPr>
          <p:nvPr/>
        </p:nvCxnSpPr>
        <p:spPr>
          <a:xfrm flipH="1">
            <a:off x="4933507" y="5875434"/>
            <a:ext cx="8008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/>
          <p:nvPr/>
        </p:nvSpPr>
        <p:spPr>
          <a:xfrm>
            <a:off x="538854" y="5387281"/>
            <a:ext cx="4394653" cy="976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907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/>
              <a:t>단어 정의 표시 </a:t>
            </a:r>
            <a:r>
              <a:rPr lang="ko-KR" altLang="en-US" sz="1800" dirty="0" err="1" smtClean="0"/>
              <a:t>프래그먼트의</a:t>
            </a:r>
            <a:r>
              <a:rPr lang="ko-KR" altLang="en-US" sz="1800" dirty="0" smtClean="0"/>
              <a:t> 레이아웃 작성</a:t>
            </a:r>
            <a:endParaRPr lang="en-US" altLang="ko-KR" sz="1800" dirty="0" smtClean="0"/>
          </a:p>
          <a:p>
            <a:pPr lvl="1"/>
            <a:r>
              <a:rPr lang="en-US" altLang="ko-KR" sz="1400" dirty="0" smtClean="0"/>
              <a:t>/res/layout/fragment_definition.xml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054442" y="2340583"/>
            <a:ext cx="6796217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&lt;?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 version=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"1.0"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encoding=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"utf-8"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?&gt;</a:t>
            </a:r>
            <a:b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TextView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"http://schemas.android.com/apk/res/android"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:id=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"@+id/definition"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:background=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"#ffff00"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:padding=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"16dp"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:textSize=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"18sp"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/&gt;</a:t>
            </a:r>
            <a:endParaRPr kumimoji="1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158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 smtClean="0"/>
              <a:t>액티비티의</a:t>
            </a:r>
            <a:r>
              <a:rPr lang="ko-KR" altLang="en-US" sz="1800" dirty="0" smtClean="0"/>
              <a:t> 레이아웃 작성</a:t>
            </a:r>
            <a:endParaRPr lang="en-US" altLang="ko-KR" sz="1800" dirty="0" smtClean="0"/>
          </a:p>
          <a:p>
            <a:pPr lvl="1"/>
            <a:r>
              <a:rPr lang="ko-KR" altLang="en-US" sz="1400" dirty="0" err="1" smtClean="0"/>
              <a:t>프래그먼트의</a:t>
            </a:r>
            <a:r>
              <a:rPr lang="ko-KR" altLang="en-US" sz="1400" dirty="0" smtClean="0"/>
              <a:t> 컨테이너 역할을 하는 </a:t>
            </a:r>
            <a:r>
              <a:rPr lang="en-US" altLang="ko-KR" sz="1400" dirty="0" err="1" smtClean="0"/>
              <a:t>FrameLayout</a:t>
            </a:r>
            <a:r>
              <a:rPr lang="ko-KR" altLang="en-US" sz="1400" dirty="0" smtClean="0"/>
              <a:t>만 정의되어 있음</a:t>
            </a:r>
            <a:endParaRPr lang="en-US" altLang="ko-KR" sz="1400" dirty="0" smtClean="0"/>
          </a:p>
          <a:p>
            <a:pPr lvl="1"/>
            <a:r>
              <a:rPr lang="en-US" altLang="ko-KR" sz="1400" dirty="0" err="1" smtClean="0"/>
              <a:t>onCreate</a:t>
            </a:r>
            <a:r>
              <a:rPr lang="en-US" altLang="ko-KR" sz="1400" dirty="0" smtClean="0"/>
              <a:t>()</a:t>
            </a:r>
            <a:r>
              <a:rPr lang="ko-KR" altLang="en-US" sz="1400" dirty="0" smtClean="0"/>
              <a:t>에서 </a:t>
            </a:r>
            <a:r>
              <a:rPr lang="ko-KR" altLang="en-US" sz="1400" dirty="0" err="1" smtClean="0"/>
              <a:t>프래그먼트를</a:t>
            </a:r>
            <a:r>
              <a:rPr lang="ko-KR" altLang="en-US" sz="1400" dirty="0" smtClean="0"/>
              <a:t> 생성하여 교체</a:t>
            </a:r>
            <a:endParaRPr lang="en-US" altLang="ko-KR" sz="1400" dirty="0" smtClean="0"/>
          </a:p>
          <a:p>
            <a:pPr lvl="1"/>
            <a:r>
              <a:rPr lang="en-US" altLang="ko-KR" sz="1400" dirty="0" smtClean="0"/>
              <a:t>/res/layout/activity_main.xml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75070" y="2731993"/>
            <a:ext cx="7118555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&lt;?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 version=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"1.0"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encoding=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"utf-8"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?&gt;</a:t>
            </a:r>
            <a:b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FrameLayout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"http://schemas.android.com/apk/res/android"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tools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"http://schemas.android.com/tools"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:id=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"@+id/fragment_container"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tools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:context=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"com.example.owner.fragmenttest3.MainActivity"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/&gt;</a:t>
            </a:r>
            <a:endParaRPr kumimoji="1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444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199" y="1484672"/>
            <a:ext cx="8612659" cy="4641492"/>
          </a:xfrm>
        </p:spPr>
        <p:txBody>
          <a:bodyPr>
            <a:normAutofit/>
          </a:bodyPr>
          <a:lstStyle/>
          <a:p>
            <a:r>
              <a:rPr lang="ko-KR" altLang="en-US" sz="1800" dirty="0" err="1" smtClean="0"/>
              <a:t>액티비티의</a:t>
            </a:r>
            <a:r>
              <a:rPr lang="ko-KR" altLang="en-US" sz="1800" dirty="0" smtClean="0"/>
              <a:t> 레이아웃 작성</a:t>
            </a:r>
            <a:endParaRPr lang="en-US" altLang="ko-KR" sz="1800" dirty="0" smtClean="0"/>
          </a:p>
          <a:p>
            <a:pPr lvl="1"/>
            <a:r>
              <a:rPr lang="ko-KR" altLang="en-US" sz="1400" dirty="0" smtClean="0"/>
              <a:t>만약 장치가 가로 모드이면 다른 레이아웃을 사용</a:t>
            </a:r>
            <a:endParaRPr lang="en-US" altLang="ko-KR" sz="1400" dirty="0" smtClean="0"/>
          </a:p>
          <a:p>
            <a:pPr lvl="1"/>
            <a:r>
              <a:rPr lang="en-US" altLang="ko-KR" sz="1400" dirty="0" smtClean="0"/>
              <a:t>/res </a:t>
            </a:r>
            <a:r>
              <a:rPr lang="ko-KR" altLang="en-US" sz="1400" dirty="0" smtClean="0"/>
              <a:t>폴더에 </a:t>
            </a:r>
            <a:r>
              <a:rPr lang="en-US" altLang="ko-KR" sz="1400" dirty="0" smtClean="0"/>
              <a:t>layout-land </a:t>
            </a:r>
            <a:r>
              <a:rPr lang="ko-KR" altLang="en-US" sz="1400" dirty="0" smtClean="0"/>
              <a:t>폴더 생성 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layout </a:t>
            </a:r>
            <a:r>
              <a:rPr lang="ko-KR" altLang="en-US" sz="1400" dirty="0" smtClean="0"/>
              <a:t>폴더의 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activity_main.xml </a:t>
            </a:r>
            <a:r>
              <a:rPr lang="ko-KR" altLang="en-US" sz="1400" dirty="0" smtClean="0"/>
              <a:t>파일을  여기에  </a:t>
            </a:r>
            <a:r>
              <a:rPr lang="ko-KR" altLang="en-US" sz="1400" dirty="0" smtClean="0"/>
              <a:t>복사 후 수정</a:t>
            </a:r>
            <a:endParaRPr lang="en-US" altLang="ko-KR" sz="1400" dirty="0" smtClean="0"/>
          </a:p>
          <a:p>
            <a:pPr marL="457200" lvl="1" indent="0">
              <a:buNone/>
            </a:pPr>
            <a:r>
              <a:rPr lang="en-US" altLang="ko-KR" sz="1400" dirty="0" smtClean="0">
                <a:latin typeface="굴림"/>
                <a:ea typeface="굴림"/>
              </a:rPr>
              <a:t>※ </a:t>
            </a:r>
            <a:r>
              <a:rPr lang="ko-KR" altLang="en-US" sz="1400" dirty="0" smtClean="0"/>
              <a:t>만약 </a:t>
            </a:r>
            <a:r>
              <a:rPr lang="ko-KR" altLang="en-US" sz="1400" dirty="0" smtClean="0"/>
              <a:t>큰 화면을 가진 </a:t>
            </a:r>
            <a:r>
              <a:rPr lang="ko-KR" altLang="en-US" sz="1400" dirty="0" err="1" smtClean="0"/>
              <a:t>태블릿에서도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개의 </a:t>
            </a:r>
            <a:r>
              <a:rPr lang="ko-KR" altLang="en-US" sz="1400" dirty="0" err="1" smtClean="0"/>
              <a:t>프래그먼트가</a:t>
            </a:r>
            <a:r>
              <a:rPr lang="ko-KR" altLang="en-US" sz="1400" dirty="0" smtClean="0"/>
              <a:t> 나오게 하려면 </a:t>
            </a:r>
            <a:r>
              <a:rPr lang="en-US" altLang="ko-KR" sz="1400" dirty="0" smtClean="0"/>
              <a:t>/res </a:t>
            </a:r>
            <a:r>
              <a:rPr lang="ko-KR" altLang="en-US" sz="1400" dirty="0" smtClean="0"/>
              <a:t>폴더에 </a:t>
            </a:r>
            <a:r>
              <a:rPr lang="en-US" altLang="ko-KR" sz="1400" dirty="0" smtClean="0"/>
              <a:t>layout-large </a:t>
            </a:r>
            <a:r>
              <a:rPr lang="ko-KR" altLang="en-US" sz="1400" dirty="0" smtClean="0"/>
              <a:t>폴더를 생성하고 똑같은 파일을 복사</a:t>
            </a:r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87" y="2869003"/>
            <a:ext cx="4135678" cy="2425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265" y="2847677"/>
            <a:ext cx="2991245" cy="1032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265" y="3880625"/>
            <a:ext cx="2555210" cy="297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972" y="4298144"/>
            <a:ext cx="3352028" cy="140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4"/>
          <p:cNvSpPr/>
          <p:nvPr/>
        </p:nvSpPr>
        <p:spPr>
          <a:xfrm>
            <a:off x="365859" y="3003176"/>
            <a:ext cx="1256995" cy="201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Rectangle 4"/>
          <p:cNvSpPr/>
          <p:nvPr/>
        </p:nvSpPr>
        <p:spPr>
          <a:xfrm>
            <a:off x="4814293" y="3278659"/>
            <a:ext cx="840578" cy="186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Rectangle 4"/>
          <p:cNvSpPr/>
          <p:nvPr/>
        </p:nvSpPr>
        <p:spPr>
          <a:xfrm>
            <a:off x="5452598" y="6079525"/>
            <a:ext cx="847594" cy="157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Rectangle 4"/>
          <p:cNvSpPr/>
          <p:nvPr/>
        </p:nvSpPr>
        <p:spPr>
          <a:xfrm>
            <a:off x="5452598" y="6700212"/>
            <a:ext cx="847594" cy="157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화살표 연결선 6"/>
          <p:cNvCxnSpPr>
            <a:stCxn id="15" idx="2"/>
            <a:endCxn id="20" idx="0"/>
          </p:cNvCxnSpPr>
          <p:nvPr/>
        </p:nvCxnSpPr>
        <p:spPr>
          <a:xfrm>
            <a:off x="5876395" y="6237313"/>
            <a:ext cx="0" cy="46289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12476" y="6365891"/>
            <a:ext cx="144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File Copy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65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 smtClean="0"/>
              <a:t>액티비티의</a:t>
            </a:r>
            <a:r>
              <a:rPr lang="ko-KR" altLang="en-US" sz="1800" dirty="0" smtClean="0"/>
              <a:t> 레이아웃 작성</a:t>
            </a:r>
            <a:endParaRPr lang="en-US" altLang="ko-KR" sz="1800" dirty="0" smtClean="0"/>
          </a:p>
          <a:p>
            <a:pPr lvl="1"/>
            <a:r>
              <a:rPr lang="en-US" altLang="ko-KR" sz="1400" dirty="0" smtClean="0"/>
              <a:t>/</a:t>
            </a:r>
            <a:r>
              <a:rPr lang="en-US" altLang="ko-KR" sz="1400" dirty="0" smtClean="0"/>
              <a:t>res/layout-land/activity_main.xml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03868" y="2145022"/>
            <a:ext cx="6952737" cy="4185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&lt;?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 version=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"1.0"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encoding=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"utf-8"</a:t>
            </a:r>
            <a: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?&gt;</a:t>
            </a:r>
            <a:br>
              <a:rPr kumimoji="1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LinearLayout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xmlns: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"http://schemas.android.com/apk/res/android"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:orientation=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"horizontal"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fragment 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:id=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"@+id/words_fragment"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:name=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"com.example.owner.fragmenttest3.WordsFragment"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"0dp"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"1"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/&gt;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&lt;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fragment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:id=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"@+id/definition_fragment"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:name=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"com.example.owner.fragmenttest3.DefinitionFragment"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:layout_width=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"0dp"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:layout_height=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"match_parent"</a:t>
            </a:r>
            <a:b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       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android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:layout_weight=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"2"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/&gt;</a:t>
            </a:r>
            <a:b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</a:b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&lt;/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LinearLayout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</a:t>
            </a:r>
            <a:endParaRPr kumimoji="1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252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 smtClean="0"/>
              <a:t>액티비티</a:t>
            </a:r>
            <a:r>
              <a:rPr lang="ko-KR" altLang="en-US" sz="1800" dirty="0" smtClean="0"/>
              <a:t> 작성</a:t>
            </a:r>
            <a:endParaRPr lang="en-US" altLang="ko-KR" sz="1800" dirty="0" smtClean="0"/>
          </a:p>
          <a:p>
            <a:pPr lvl="1"/>
            <a:r>
              <a:rPr lang="ko-KR" altLang="en-US" sz="1400" dirty="0" err="1" smtClean="0"/>
              <a:t>프래그먼트로부터의</a:t>
            </a:r>
            <a:r>
              <a:rPr lang="ko-KR" altLang="en-US" sz="1400" dirty="0" smtClean="0"/>
              <a:t> 이벤트 </a:t>
            </a:r>
            <a:r>
              <a:rPr lang="ko-KR" altLang="en-US" sz="1400" dirty="0" err="1" smtClean="0"/>
              <a:t>콜백을</a:t>
            </a:r>
            <a:r>
              <a:rPr lang="ko-KR" altLang="en-US" sz="1400" dirty="0" smtClean="0"/>
              <a:t> 받기 위하여 </a:t>
            </a:r>
            <a:r>
              <a:rPr lang="ko-KR" altLang="en-US" sz="1400" dirty="0" err="1" smtClean="0"/>
              <a:t>액티비티는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프래그먼트</a:t>
            </a:r>
            <a:r>
              <a:rPr lang="ko-KR" altLang="en-US" sz="1400" dirty="0" smtClean="0"/>
              <a:t> 클래스에 정의된 인터페이스를 구현하여야 함</a:t>
            </a:r>
            <a:endParaRPr lang="en-US" altLang="ko-KR" sz="1400" dirty="0" smtClean="0"/>
          </a:p>
          <a:p>
            <a:pPr lvl="1"/>
            <a:r>
              <a:rPr lang="en-US" altLang="ko-KR" sz="1400" dirty="0" smtClean="0"/>
              <a:t>MainActivity.java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0754" y="2616783"/>
            <a:ext cx="8814391" cy="4154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android.support.v4.app.FragmentTransaction;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android.support.v7.app.AppCompatActivity;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android.os.Bundle;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android.view.Menu;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import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android.view.MenuItem;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class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MainActivity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extends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AppCompatActivity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implements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WordsFragment.OnWordSelectedListener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@Override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protected void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onCreate(Bundle savedInstanceState)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super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.onCreate(savedInstanceState);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setContentView(R.layout.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activity_main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if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(findViewById(R.id.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fragment_container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 !=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null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if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(savedInstanceState !=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null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   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return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   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   WordsFragment firstFragment =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new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WordsFragment();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   first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f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ragment.setArguments(getIntent().getExtras());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    getSupportFragmentManager().beginTransaction().add(R.id.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fragment_container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, </a:t>
            </a:r>
            <a:r>
              <a:rPr kumimoji="1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			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firstFragment).commit();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}</a:t>
            </a:r>
            <a:endParaRPr kumimoji="1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굴림" pitchFamily="50" charset="-127"/>
              <a:cs typeface="Consolas" panose="020B0609020204030204" pitchFamily="49" charset="0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4671237" y="3980548"/>
            <a:ext cx="3983665" cy="0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07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 smtClean="0"/>
              <a:t>액티비티</a:t>
            </a:r>
            <a:r>
              <a:rPr lang="ko-KR" altLang="en-US" sz="1800" dirty="0" smtClean="0"/>
              <a:t> 작성</a:t>
            </a:r>
            <a:endParaRPr lang="en-US" altLang="ko-KR" sz="1800" dirty="0" smtClean="0"/>
          </a:p>
          <a:p>
            <a:pPr lvl="1"/>
            <a:r>
              <a:rPr lang="en-US" altLang="ko-KR" sz="1400" dirty="0" err="1" smtClean="0"/>
              <a:t>onCreate</a:t>
            </a:r>
            <a:r>
              <a:rPr lang="en-US" altLang="ko-KR" sz="1400" dirty="0" smtClean="0"/>
              <a:t>(), </a:t>
            </a:r>
            <a:r>
              <a:rPr lang="en-US" altLang="ko-KR" sz="1400" dirty="0" err="1" smtClean="0"/>
              <a:t>onWordSelected</a:t>
            </a:r>
            <a:r>
              <a:rPr lang="en-US" altLang="ko-KR" sz="1400" dirty="0" smtClean="0"/>
              <a:t>() </a:t>
            </a:r>
            <a:r>
              <a:rPr lang="ko-KR" altLang="en-US" sz="1400" dirty="0" err="1" smtClean="0"/>
              <a:t>메소드만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변경하면 됨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다른 </a:t>
            </a:r>
            <a:r>
              <a:rPr lang="ko-KR" altLang="en-US" sz="1400" dirty="0" err="1" smtClean="0"/>
              <a:t>메소드는</a:t>
            </a:r>
            <a:r>
              <a:rPr lang="ko-KR" altLang="en-US" sz="1400" dirty="0" smtClean="0"/>
              <a:t> 수정 할 필요 없음 </a:t>
            </a:r>
            <a:endParaRPr lang="en-US" altLang="ko-KR" sz="1400" dirty="0" smtClean="0"/>
          </a:p>
          <a:p>
            <a:pPr lvl="1"/>
            <a:r>
              <a:rPr lang="en-US" altLang="ko-KR" sz="1400" dirty="0" smtClean="0"/>
              <a:t>MainActivity.java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99729" y="2554168"/>
            <a:ext cx="8250867" cy="4154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public void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onWordSelected(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int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position) {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DefinitionFragment defFrag = (DefinitionFragment) getSupportFragmentManager()</a:t>
            </a:r>
            <a:endParaRPr kumimoji="1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	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.findFragmentById(R.id.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definition_fragment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endParaRPr kumimoji="1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if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(defFrag !=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null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 {</a:t>
            </a:r>
            <a:endParaRPr kumimoji="1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//</a:t>
            </a:r>
            <a:r>
              <a:rPr kumimoji="1" lang="ko-KR" altLang="en-US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이미 생성되어 있으면 </a:t>
            </a:r>
            <a:r>
              <a:rPr kumimoji="1" lang="ko-KR" alt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메소드를</a:t>
            </a:r>
            <a:r>
              <a:rPr kumimoji="1" lang="ko-KR" altLang="en-US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직접 호출한다</a:t>
            </a:r>
            <a:r>
              <a:rPr kumimoji="1"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defFrag.updateDefinitionView(position);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else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{</a:t>
            </a:r>
            <a:endParaRPr kumimoji="1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굴림체" pitchFamily="49" charset="-127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//</a:t>
            </a:r>
            <a:r>
              <a:rPr kumimoji="1" lang="ko-KR" alt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인스턴스를</a:t>
            </a:r>
            <a:r>
              <a:rPr kumimoji="1" lang="ko-KR" altLang="en-US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생성한 후에 현재 화면에 있는 </a:t>
            </a:r>
            <a:r>
              <a:rPr kumimoji="1" lang="ko-KR" alt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프래그먼트를</a:t>
            </a:r>
            <a:r>
              <a:rPr kumimoji="1" lang="ko-KR" altLang="en-US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교체한다</a:t>
            </a:r>
            <a:r>
              <a:rPr kumimoji="1"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.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DefinitionFragment newFragment =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new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DefinitionFragment();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Bundle args = 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new 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Bundle();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args.putInt(DefinitionFragment.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ARG_POSITION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, position);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newFragment.setArguments(args);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FragmentTransaction transaction = getSupportFragmentManager().beginTransaction();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transaction.replace(R.id.</a:t>
            </a:r>
            <a:r>
              <a:rPr kumimoji="1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fragment_container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, newFragment);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transaction.addToBackStack(</a:t>
            </a:r>
            <a:r>
              <a:rPr kumimoji="1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null</a:t>
            </a: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/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    transaction.commit();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    }</a:t>
            </a:r>
            <a:b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</a:br>
            <a:r>
              <a:rPr kumimoji="1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굴림체" pitchFamily="49" charset="-127"/>
                <a:cs typeface="Consolas" panose="020B0609020204030204" pitchFamily="49" charset="0"/>
              </a:rPr>
              <a:t>}</a:t>
            </a:r>
            <a:endParaRPr kumimoji="1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굴림" pitchFamily="50" charset="-127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4952" y="2136029"/>
            <a:ext cx="455799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이벤트 </a:t>
            </a:r>
            <a:r>
              <a:rPr lang="ko-KR" altLang="en-US" sz="1400" b="1" dirty="0" err="1" smtClean="0"/>
              <a:t>콜백을</a:t>
            </a:r>
            <a:r>
              <a:rPr lang="ko-KR" altLang="en-US" sz="1400" b="1" dirty="0" smtClean="0"/>
              <a:t> 받기 위하여 </a:t>
            </a:r>
            <a:r>
              <a:rPr lang="ko-KR" altLang="en-US" sz="1400" b="1" dirty="0" err="1" smtClean="0"/>
              <a:t>프래그먼트</a:t>
            </a:r>
            <a:r>
              <a:rPr lang="ko-KR" altLang="en-US" sz="1400" b="1" dirty="0" smtClean="0"/>
              <a:t> 클래스에 정의된 인터페이스 구현</a:t>
            </a:r>
            <a:endParaRPr lang="ko-KR" altLang="en-US" sz="1400" b="1" dirty="0"/>
          </a:p>
        </p:txBody>
      </p:sp>
      <p:cxnSp>
        <p:nvCxnSpPr>
          <p:cNvPr id="8" name="직선 화살표 연결선 7"/>
          <p:cNvCxnSpPr>
            <a:stCxn id="7" idx="1"/>
          </p:cNvCxnSpPr>
          <p:nvPr/>
        </p:nvCxnSpPr>
        <p:spPr>
          <a:xfrm flipH="1">
            <a:off x="2828260" y="2397639"/>
            <a:ext cx="616692" cy="14980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/>
          <p:cNvSpPr/>
          <p:nvPr/>
        </p:nvSpPr>
        <p:spPr>
          <a:xfrm>
            <a:off x="1616149" y="2589973"/>
            <a:ext cx="1190845" cy="227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964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sKim\Desktop\새 폴더\스크린샷 2016-09-17 오후 6.09.3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800" y="2530800"/>
            <a:ext cx="4654800" cy="31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/>
              <a:t>실행결과</a:t>
            </a:r>
            <a:endParaRPr lang="en-US" altLang="ko-KR" sz="1800" dirty="0" smtClean="0"/>
          </a:p>
          <a:p>
            <a:pPr lvl="1"/>
            <a:r>
              <a:rPr lang="ko-KR" altLang="en-US" sz="1400" dirty="0" smtClean="0"/>
              <a:t>애플리케이션을 실행할 때</a:t>
            </a:r>
            <a:r>
              <a:rPr lang="en-US" altLang="ko-KR" sz="1400" dirty="0" smtClean="0"/>
              <a:t>, ‘Command + </a:t>
            </a:r>
            <a:r>
              <a:rPr lang="ko-KR" altLang="en-US" sz="1400" dirty="0" smtClean="0"/>
              <a:t>→</a:t>
            </a:r>
            <a:r>
              <a:rPr lang="en-US" altLang="ko-KR" sz="1400" dirty="0" smtClean="0"/>
              <a:t>’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또는 </a:t>
            </a:r>
            <a:r>
              <a:rPr lang="en-US" altLang="ko-KR" sz="1400" dirty="0" smtClean="0"/>
              <a:t>‘Command + </a:t>
            </a:r>
            <a:r>
              <a:rPr lang="ko-KR" altLang="en-US" sz="1400" dirty="0" smtClean="0"/>
              <a:t>←</a:t>
            </a:r>
            <a:r>
              <a:rPr lang="en-US" altLang="ko-KR" sz="1400" dirty="0" smtClean="0"/>
              <a:t>’)</a:t>
            </a:r>
            <a:r>
              <a:rPr lang="ko-KR" altLang="en-US" sz="1400" dirty="0" smtClean="0"/>
              <a:t>를 눌러서 가로모드로 변경하고 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세로모드와 어떤 차이가 있는지 살펴본다</a:t>
            </a:r>
            <a:r>
              <a:rPr lang="en-US" altLang="ko-KR" sz="1400" dirty="0" smtClean="0"/>
              <a:t>.</a:t>
            </a:r>
            <a:r>
              <a:rPr lang="ko-KR" altLang="en-US" sz="1400" dirty="0" smtClean="0"/>
              <a:t> </a:t>
            </a:r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11" name="Rectangle 4"/>
          <p:cNvSpPr/>
          <p:nvPr/>
        </p:nvSpPr>
        <p:spPr>
          <a:xfrm>
            <a:off x="2708274" y="3609975"/>
            <a:ext cx="1089547" cy="3121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3253047" y="3922119"/>
            <a:ext cx="693478" cy="659406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52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04-1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왼쪽 단어 리스트에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단어 추가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“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단어 </a:t>
            </a:r>
            <a:r>
              <a:rPr lang="ko-KR" altLang="en-US" dirty="0" err="1" smtClean="0"/>
              <a:t>선택시</a:t>
            </a:r>
            <a:r>
              <a:rPr lang="ko-KR" altLang="en-US" dirty="0" smtClean="0"/>
              <a:t> 오른쪽에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학번 이름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이 나오도록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 smtClean="0"/>
              <a:t>태블릿용</a:t>
            </a:r>
            <a:r>
              <a:rPr lang="ko-KR" altLang="en-US" dirty="0" smtClean="0"/>
              <a:t> 레이아웃을 추가하고 </a:t>
            </a:r>
            <a:r>
              <a:rPr lang="ko-KR" altLang="en-US" dirty="0" err="1" smtClean="0"/>
              <a:t>태블릿</a:t>
            </a:r>
            <a:r>
              <a:rPr lang="ko-KR" altLang="en-US" dirty="0" smtClean="0"/>
              <a:t> 에뮬레이터에서 애플리케이션 실행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smtClean="0"/>
              <a:t>세로모드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가로모드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태블릿에서</a:t>
            </a:r>
            <a:r>
              <a:rPr lang="ko-KR" altLang="en-US" dirty="0" smtClean="0"/>
              <a:t> 실행화면 </a:t>
            </a:r>
            <a:r>
              <a:rPr lang="ko-KR" altLang="en-US" dirty="0" err="1" smtClean="0"/>
              <a:t>캡쳐하여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en-US" altLang="ko-KR" dirty="0" smtClean="0"/>
              <a:t> </a:t>
            </a:r>
            <a:r>
              <a:rPr lang="ko-KR" altLang="en-US" dirty="0" smtClean="0"/>
              <a:t>저장소 이름은 </a:t>
            </a:r>
            <a:r>
              <a:rPr lang="en-US" altLang="ko-KR" dirty="0" smtClean="0"/>
              <a:t>[Practice 04-1]</a:t>
            </a:r>
            <a:r>
              <a:rPr lang="ko-KR" altLang="en-US" dirty="0" smtClean="0"/>
              <a:t>로 생성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61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후 주의사항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3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제출형식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주어진 보고서 형식에 맞춰서 보고서 작성 후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주의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FF0000"/>
                </a:solidFill>
              </a:rPr>
              <a:t>마감 </a:t>
            </a:r>
            <a:r>
              <a:rPr lang="en-US" altLang="ko-KR" dirty="0" smtClean="0">
                <a:solidFill>
                  <a:srgbClr val="FF0000"/>
                </a:solidFill>
              </a:rPr>
              <a:t>: </a:t>
            </a:r>
            <a:r>
              <a:rPr lang="ko-KR" altLang="en-US" dirty="0" smtClean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만점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 smtClean="0"/>
              <a:t>이후 </a:t>
            </a:r>
            <a:r>
              <a:rPr lang="ko-KR" altLang="en-US" dirty="0" smtClean="0"/>
              <a:t>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12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34928</TotalTime>
  <Words>848</Words>
  <Application>Microsoft Office PowerPoint</Application>
  <PresentationFormat>화면 슬라이드 쇼(4:3)</PresentationFormat>
  <Paragraphs>233</Paragraphs>
  <Slides>24</Slides>
  <Notes>12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5" baseType="lpstr">
      <vt:lpstr>Executive</vt:lpstr>
      <vt:lpstr>실습</vt:lpstr>
      <vt:lpstr>다른 프래그먼트와의 통신</vt:lpstr>
      <vt:lpstr>Example</vt:lpstr>
      <vt:lpstr>Example</vt:lpstr>
      <vt:lpstr>Example</vt:lpstr>
      <vt:lpstr>Example</vt:lpstr>
      <vt:lpstr>PowerPoint 프레젠테이션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Practice 04-1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1835</cp:revision>
  <cp:lastPrinted>2011-03-01T18:43:48Z</cp:lastPrinted>
  <dcterms:created xsi:type="dcterms:W3CDTF">2010-10-12T07:50:15Z</dcterms:created>
  <dcterms:modified xsi:type="dcterms:W3CDTF">2017-09-19T03:54:33Z</dcterms:modified>
</cp:coreProperties>
</file>