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68"/>
  </p:notesMasterIdLst>
  <p:sldIdLst>
    <p:sldId id="256" r:id="rId2"/>
    <p:sldId id="368" r:id="rId3"/>
    <p:sldId id="418" r:id="rId4"/>
    <p:sldId id="434" r:id="rId5"/>
    <p:sldId id="369" r:id="rId6"/>
    <p:sldId id="370" r:id="rId7"/>
    <p:sldId id="372" r:id="rId8"/>
    <p:sldId id="373" r:id="rId9"/>
    <p:sldId id="374" r:id="rId10"/>
    <p:sldId id="435" r:id="rId11"/>
    <p:sldId id="436" r:id="rId12"/>
    <p:sldId id="437" r:id="rId13"/>
    <p:sldId id="438" r:id="rId14"/>
    <p:sldId id="375" r:id="rId15"/>
    <p:sldId id="376" r:id="rId16"/>
    <p:sldId id="378" r:id="rId17"/>
    <p:sldId id="377" r:id="rId18"/>
    <p:sldId id="379" r:id="rId19"/>
    <p:sldId id="380" r:id="rId20"/>
    <p:sldId id="439" r:id="rId21"/>
    <p:sldId id="440" r:id="rId22"/>
    <p:sldId id="384" r:id="rId23"/>
    <p:sldId id="385" r:id="rId24"/>
    <p:sldId id="386" r:id="rId25"/>
    <p:sldId id="420" r:id="rId26"/>
    <p:sldId id="387" r:id="rId27"/>
    <p:sldId id="388" r:id="rId28"/>
    <p:sldId id="389" r:id="rId29"/>
    <p:sldId id="417" r:id="rId30"/>
    <p:sldId id="390" r:id="rId31"/>
    <p:sldId id="391" r:id="rId32"/>
    <p:sldId id="392" r:id="rId33"/>
    <p:sldId id="393" r:id="rId34"/>
    <p:sldId id="394" r:id="rId35"/>
    <p:sldId id="395" r:id="rId36"/>
    <p:sldId id="396" r:id="rId37"/>
    <p:sldId id="397" r:id="rId38"/>
    <p:sldId id="398" r:id="rId39"/>
    <p:sldId id="399" r:id="rId40"/>
    <p:sldId id="400" r:id="rId41"/>
    <p:sldId id="401" r:id="rId42"/>
    <p:sldId id="404" r:id="rId43"/>
    <p:sldId id="405" r:id="rId44"/>
    <p:sldId id="426" r:id="rId45"/>
    <p:sldId id="427" r:id="rId46"/>
    <p:sldId id="441" r:id="rId47"/>
    <p:sldId id="428" r:id="rId48"/>
    <p:sldId id="429" r:id="rId49"/>
    <p:sldId id="430" r:id="rId50"/>
    <p:sldId id="431" r:id="rId51"/>
    <p:sldId id="432" r:id="rId52"/>
    <p:sldId id="406" r:id="rId53"/>
    <p:sldId id="425" r:id="rId54"/>
    <p:sldId id="424" r:id="rId55"/>
    <p:sldId id="407" r:id="rId56"/>
    <p:sldId id="408" r:id="rId57"/>
    <p:sldId id="433" r:id="rId58"/>
    <p:sldId id="409" r:id="rId59"/>
    <p:sldId id="410" r:id="rId60"/>
    <p:sldId id="442" r:id="rId61"/>
    <p:sldId id="415" r:id="rId62"/>
    <p:sldId id="416" r:id="rId63"/>
    <p:sldId id="330" r:id="rId64"/>
    <p:sldId id="329" r:id="rId65"/>
    <p:sldId id="326" r:id="rId66"/>
    <p:sldId id="294" r:id="rId67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BC"/>
    <a:srgbClr val="005BE2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27" autoAdjust="0"/>
    <p:restoredTop sz="96429" autoAdjust="0"/>
  </p:normalViewPr>
  <p:slideViewPr>
    <p:cSldViewPr snapToGrid="0">
      <p:cViewPr>
        <p:scale>
          <a:sx n="119" d="100"/>
          <a:sy n="119" d="100"/>
        </p:scale>
        <p:origin x="-1404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67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058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35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716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399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764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265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679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3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782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528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840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576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4869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4744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899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9231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8025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02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1333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8983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1307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6151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2149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2149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3.0</a:t>
            </a:r>
            <a:r>
              <a:rPr lang="en-US" altLang="ko-KR" baseline="0" dirty="0" smtClean="0"/>
              <a:t> honeycomb </a:t>
            </a:r>
            <a:r>
              <a:rPr lang="ko-KR" altLang="en-US" baseline="0" dirty="0" smtClean="0"/>
              <a:t>부터 기존의 </a:t>
            </a:r>
            <a:r>
              <a:rPr lang="en-US" altLang="ko-KR" baseline="0" dirty="0" err="1" smtClean="0"/>
              <a:t>titlebar</a:t>
            </a:r>
            <a:r>
              <a:rPr lang="ko-KR" altLang="en-US" baseline="0" dirty="0" smtClean="0"/>
              <a:t>를 대체한 </a:t>
            </a:r>
            <a:r>
              <a:rPr lang="en-US" altLang="ko-KR" baseline="0" dirty="0" err="1" smtClean="0"/>
              <a:t>actionbar</a:t>
            </a:r>
            <a:r>
              <a:rPr lang="ko-KR" altLang="en-US" baseline="0" dirty="0" smtClean="0"/>
              <a:t>가 등장했다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8059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TabActivity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Deprecated </a:t>
            </a:r>
            <a:r>
              <a:rPr lang="ko-KR" altLang="en-US" baseline="0" dirty="0" smtClean="0"/>
              <a:t>된지 오래 됬으며</a:t>
            </a:r>
            <a:endParaRPr lang="en-US" altLang="ko-KR" dirty="0" smtClean="0"/>
          </a:p>
          <a:p>
            <a:r>
              <a:rPr lang="en-US" altLang="ko-KR" dirty="0" err="1" smtClean="0"/>
              <a:t>TabLayout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5.0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버전 이상의 점유율이 그다지 높지 않고</a:t>
            </a:r>
            <a:endParaRPr lang="en-US" altLang="ko-KR" baseline="0" dirty="0" smtClean="0"/>
          </a:p>
          <a:p>
            <a:r>
              <a:rPr lang="en-US" altLang="ko-KR" baseline="0" dirty="0" smtClean="0"/>
              <a:t>Deprecated </a:t>
            </a:r>
            <a:r>
              <a:rPr lang="ko-KR" altLang="en-US" baseline="0" dirty="0" smtClean="0"/>
              <a:t>되었다고 해서 동작하지 않는것이 아니기 때문에</a:t>
            </a:r>
            <a:endParaRPr lang="en-US" altLang="ko-KR" baseline="0" dirty="0" smtClean="0"/>
          </a:p>
          <a:p>
            <a:r>
              <a:rPr lang="ko-KR" altLang="en-US" baseline="0" dirty="0" smtClean="0"/>
              <a:t>기존의 </a:t>
            </a:r>
            <a:r>
              <a:rPr lang="en-US" altLang="ko-KR" baseline="0" dirty="0" err="1" smtClean="0"/>
              <a:t>ActionBar.TabListener</a:t>
            </a:r>
            <a:r>
              <a:rPr lang="ko-KR" altLang="en-US" baseline="0" dirty="0" smtClean="0"/>
              <a:t>와 </a:t>
            </a:r>
            <a:r>
              <a:rPr lang="en-US" altLang="ko-KR" baseline="0" dirty="0" smtClean="0"/>
              <a:t>Fragment</a:t>
            </a:r>
            <a:r>
              <a:rPr lang="ko-KR" altLang="en-US" baseline="0" dirty="0" smtClean="0"/>
              <a:t>를 조합하는 방식을 배우도록 하겠다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1334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2170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Args</a:t>
            </a:r>
            <a:r>
              <a:rPr lang="ko-KR" altLang="en-US" dirty="0" smtClean="0"/>
              <a:t>는 말그대로 각 프래그먼트로 넘어갈때 넣어주는 </a:t>
            </a:r>
            <a:r>
              <a:rPr lang="en-US" altLang="ko-KR" dirty="0" smtClean="0"/>
              <a:t>arguments</a:t>
            </a:r>
            <a:r>
              <a:rPr lang="ko-KR" altLang="en-US" dirty="0" smtClean="0"/>
              <a:t>이며</a:t>
            </a:r>
            <a:endParaRPr lang="en-US" altLang="ko-KR" dirty="0" smtClean="0"/>
          </a:p>
          <a:p>
            <a:r>
              <a:rPr lang="ko-KR" altLang="en-US" dirty="0" smtClean="0"/>
              <a:t>정보들을 넘겨줄때 사용됩니다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454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eveloper.android.com/guide/topics/ui/layout/listview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://schemas.android.com/tools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://schemas.android.com/apk/res/android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사용자 인터페이스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-2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50956"/>
            <a:ext cx="8229600" cy="1042219"/>
          </a:xfrm>
        </p:spPr>
        <p:txBody>
          <a:bodyPr/>
          <a:lstStyle/>
          <a:p>
            <a:r>
              <a:rPr lang="en-US" altLang="ko-KR" dirty="0" err="1" smtClean="0"/>
              <a:t>ListView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855" y="2463375"/>
            <a:ext cx="4790946" cy="3578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내용 개체 틀 5"/>
          <p:cNvSpPr txBox="1">
            <a:spLocks/>
          </p:cNvSpPr>
          <p:nvPr/>
        </p:nvSpPr>
        <p:spPr>
          <a:xfrm>
            <a:off x="2024746" y="6085696"/>
            <a:ext cx="5943601" cy="433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 smtClean="0"/>
              <a:t> </a:t>
            </a:r>
            <a:r>
              <a:rPr lang="en-US" altLang="ko-KR" sz="1600" dirty="0" smtClean="0">
                <a:hlinkClick r:id="rId4"/>
              </a:rPr>
              <a:t>http</a:t>
            </a:r>
            <a:r>
              <a:rPr lang="en-US" altLang="ko-KR" sz="1600" dirty="0">
                <a:hlinkClick r:id="rId4"/>
              </a:rPr>
              <a:t>://</a:t>
            </a:r>
            <a:r>
              <a:rPr lang="en-US" altLang="ko-KR" sz="1600" dirty="0" smtClean="0">
                <a:hlinkClick r:id="rId4"/>
              </a:rPr>
              <a:t>developer.android.com/guide/topics/ui/layout/listview.html</a:t>
            </a:r>
            <a:r>
              <a:rPr lang="en-US" altLang="ko-KR" sz="1600" dirty="0" smtClean="0"/>
              <a:t> </a:t>
            </a:r>
            <a:endParaRPr lang="ko-KR" altLang="en-US" sz="1600" dirty="0"/>
          </a:p>
        </p:txBody>
      </p:sp>
      <p:sp>
        <p:nvSpPr>
          <p:cNvPr id="14" name="내용 개체 틀 5"/>
          <p:cNvSpPr txBox="1">
            <a:spLocks/>
          </p:cNvSpPr>
          <p:nvPr/>
        </p:nvSpPr>
        <p:spPr>
          <a:xfrm>
            <a:off x="957945" y="1462897"/>
            <a:ext cx="8229600" cy="9319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sz="2000" dirty="0" smtClean="0"/>
              <a:t>Item </a:t>
            </a:r>
            <a:r>
              <a:rPr lang="ko-KR" altLang="en-US" sz="2000" dirty="0" smtClean="0"/>
              <a:t>리스트를 스크롤 할 수 있게 표시하는 </a:t>
            </a:r>
            <a:r>
              <a:rPr lang="ko-KR" altLang="en-US" sz="2000" dirty="0" err="1" smtClean="0">
                <a:solidFill>
                  <a:srgbClr val="FF0000"/>
                </a:solidFill>
              </a:rPr>
              <a:t>뷰</a:t>
            </a:r>
            <a:r>
              <a:rPr lang="ko-KR" altLang="en-US" sz="2000" dirty="0" smtClean="0">
                <a:solidFill>
                  <a:srgbClr val="FF0000"/>
                </a:solidFill>
              </a:rPr>
              <a:t> 그룹</a:t>
            </a:r>
            <a:endParaRPr lang="en-US" altLang="ko-KR" sz="2000" dirty="0" smtClean="0"/>
          </a:p>
          <a:p>
            <a:r>
              <a:rPr lang="en-US" altLang="ko-KR" sz="2000" dirty="0" smtClean="0"/>
              <a:t>Adapter</a:t>
            </a:r>
            <a:r>
              <a:rPr lang="ko-KR" altLang="en-US" sz="2000" dirty="0" smtClean="0"/>
              <a:t>를 이용하여 쉽게 </a:t>
            </a:r>
            <a:r>
              <a:rPr lang="en-US" altLang="ko-KR" sz="2000" dirty="0" smtClean="0"/>
              <a:t>Item</a:t>
            </a:r>
            <a:r>
              <a:rPr lang="ko-KR" altLang="en-US" sz="2000" dirty="0" smtClean="0"/>
              <a:t>을 삽입할 수 있다</a:t>
            </a:r>
            <a:endParaRPr lang="en-US" altLang="ko-KR" sz="2000" dirty="0" smtClean="0"/>
          </a:p>
          <a:p>
            <a:r>
              <a:rPr lang="ko-KR" altLang="en-US" sz="2000" b="1" dirty="0" smtClean="0"/>
              <a:t>가장 많이 사용되는 인터페이스 </a:t>
            </a:r>
            <a:r>
              <a:rPr lang="en-US" altLang="ko-KR" sz="2000" b="1" dirty="0" smtClean="0"/>
              <a:t>(ex. </a:t>
            </a:r>
            <a:r>
              <a:rPr lang="ko-KR" altLang="en-US" sz="2000" b="1" dirty="0" smtClean="0"/>
              <a:t>카카오톡 친구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채팅 목록</a:t>
            </a:r>
            <a:r>
              <a:rPr lang="en-US" altLang="ko-KR" sz="2000" b="1" dirty="0" smtClean="0"/>
              <a:t>)</a:t>
            </a:r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2668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ListView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486228" y="1237929"/>
            <a:ext cx="8229600" cy="4641492"/>
          </a:xfrm>
        </p:spPr>
        <p:txBody>
          <a:bodyPr/>
          <a:lstStyle/>
          <a:p>
            <a:r>
              <a:rPr lang="ko-KR" altLang="en-US" dirty="0" smtClean="0"/>
              <a:t>리스트뷰 추가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738312"/>
            <a:ext cx="4419600" cy="48006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3794235" y="4035972"/>
            <a:ext cx="1214507" cy="232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284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ListView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486228" y="1237929"/>
            <a:ext cx="8229600" cy="4641492"/>
          </a:xfrm>
        </p:spPr>
        <p:txBody>
          <a:bodyPr/>
          <a:lstStyle/>
          <a:p>
            <a:r>
              <a:rPr lang="ko-KR" altLang="en-US" dirty="0" smtClean="0"/>
              <a:t>리스트뷰 추가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917" y="1735302"/>
            <a:ext cx="7244221" cy="498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50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425" y="2078558"/>
            <a:ext cx="5444031" cy="454238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ListView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리스트뷰의</a:t>
            </a:r>
            <a:r>
              <a:rPr lang="ko-KR" altLang="en-US" dirty="0" smtClean="0"/>
              <a:t> 아이템 레이아웃용 </a:t>
            </a:r>
            <a:r>
              <a:rPr lang="en-US" altLang="ko-KR" dirty="0" smtClean="0"/>
              <a:t>xml </a:t>
            </a:r>
            <a:r>
              <a:rPr lang="ko-KR" altLang="en-US" dirty="0" smtClean="0"/>
              <a:t>파일 추가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9" name="Rectangle 1"/>
          <p:cNvSpPr/>
          <p:nvPr/>
        </p:nvSpPr>
        <p:spPr>
          <a:xfrm>
            <a:off x="2970609" y="3370527"/>
            <a:ext cx="491804" cy="16992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ectangle 1"/>
          <p:cNvSpPr/>
          <p:nvPr/>
        </p:nvSpPr>
        <p:spPr>
          <a:xfrm>
            <a:off x="2970608" y="3636578"/>
            <a:ext cx="739543" cy="15612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586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ListView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리스트뷰의</a:t>
            </a:r>
            <a:r>
              <a:rPr lang="ko-KR" altLang="en-US" dirty="0" smtClean="0"/>
              <a:t> 아이템 레이아웃용 </a:t>
            </a:r>
            <a:r>
              <a:rPr lang="en-US" altLang="ko-KR" dirty="0" smtClean="0"/>
              <a:t>xml </a:t>
            </a:r>
            <a:r>
              <a:rPr lang="ko-KR" altLang="en-US" dirty="0" smtClean="0"/>
              <a:t>파일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/res/layout/item.xml</a:t>
            </a:r>
          </a:p>
          <a:p>
            <a:pPr lvl="1"/>
            <a:r>
              <a:rPr lang="en-US" altLang="ko-KR" dirty="0" err="1" smtClean="0"/>
              <a:t>TextView</a:t>
            </a:r>
            <a:r>
              <a:rPr lang="en-US" altLang="ko-KR" dirty="0" smtClean="0"/>
              <a:t>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411354" y="2713384"/>
            <a:ext cx="5470728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xmlns:android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"http://schemas.android.com/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apk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/res/android"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400" dirty="0" err="1">
                <a:solidFill>
                  <a:srgbClr val="3F7F7F"/>
                </a:solidFill>
                <a:latin typeface="맑은 고딕"/>
              </a:rPr>
              <a:t>TextView</a:t>
            </a:r>
            <a:endParaRPr lang="en-US" altLang="ko-KR" sz="14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400" dirty="0">
                <a:latin typeface="맑은 고딕"/>
              </a:rPr>
              <a:t>    </a:t>
            </a:r>
            <a:r>
              <a:rPr lang="en-US" altLang="ko-KR" sz="1400" dirty="0" smtClean="0">
                <a:latin typeface="맑은 고딕"/>
              </a:rPr>
              <a:t>    </a:t>
            </a:r>
            <a:r>
              <a:rPr lang="en-US" altLang="ko-KR" sz="14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"@+id/name"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"40dp"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android:gravity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center_vertical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400" dirty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&lt;/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0458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ListView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소스에 </a:t>
            </a:r>
            <a:r>
              <a:rPr lang="ko-KR" altLang="en-US" dirty="0" err="1" smtClean="0"/>
              <a:t>리스트뷰용</a:t>
            </a:r>
            <a:r>
              <a:rPr lang="ko-KR" altLang="en-US" dirty="0" smtClean="0"/>
              <a:t> 어댑터를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java/MainActivity.java</a:t>
            </a:r>
          </a:p>
          <a:p>
            <a:pPr lvl="1"/>
            <a:r>
              <a:rPr lang="en-US" altLang="ko-KR" dirty="0" err="1" smtClean="0"/>
              <a:t>ArrayList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ArrayAdapter</a:t>
            </a:r>
            <a:r>
              <a:rPr lang="ko-KR" altLang="en-US" dirty="0" smtClean="0"/>
              <a:t>를 사용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411354" y="2554358"/>
            <a:ext cx="5416868" cy="41549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public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R.layout.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main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ListView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listView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ListView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R.id.</a:t>
            </a:r>
            <a:r>
              <a:rPr lang="en-US" altLang="ko-KR" sz="1200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listView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200" i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ArrayList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&lt;String&gt;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u="sng" dirty="0" err="1">
                <a:solidFill>
                  <a:srgbClr val="000000"/>
                </a:solidFill>
                <a:latin typeface="돋움체"/>
                <a:ea typeface="돋움체"/>
              </a:rPr>
              <a:t>arrName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ArrayList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&lt;String&gt;();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arrName.add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“Android"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arrName.add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“Apple"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arrName.add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“Nokia"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arrName.add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“RIM"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arrName.add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“Microsoft"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ArrayAdapter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&lt;String&gt;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u="sng" dirty="0" err="1">
                <a:solidFill>
                  <a:srgbClr val="000000"/>
                </a:solidFill>
                <a:latin typeface="돋움체"/>
                <a:ea typeface="돋움체"/>
              </a:rPr>
              <a:t>adapName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ArrayAdapter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&lt;String&gt;(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R.layout.</a:t>
            </a:r>
            <a:r>
              <a:rPr lang="en-US" altLang="ko-KR" sz="1200" i="1" dirty="0" err="1">
                <a:solidFill>
                  <a:srgbClr val="0000C0"/>
                </a:solidFill>
                <a:latin typeface="돋움체"/>
                <a:ea typeface="돋움체"/>
              </a:rPr>
              <a:t>item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, // </a:t>
            </a:r>
            <a:r>
              <a:rPr lang="en-US" altLang="ko-KR" sz="1200" i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android.R.layout.simple_list_item_1</a:t>
            </a:r>
            <a:endParaRPr lang="en-US" altLang="ko-KR" sz="1200" i="1" dirty="0">
              <a:solidFill>
                <a:srgbClr val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R.id.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name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u="sng" dirty="0" err="1">
                <a:solidFill>
                  <a:srgbClr val="000000"/>
                </a:solidFill>
                <a:latin typeface="돋움체"/>
                <a:ea typeface="돋움체"/>
              </a:rPr>
              <a:t>arrName</a:t>
            </a:r>
            <a:endParaRPr lang="en-US" altLang="ko-KR" sz="1200" u="sng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listView.setAdapter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u="sng" dirty="0" err="1">
                <a:solidFill>
                  <a:srgbClr val="000000"/>
                </a:solidFill>
                <a:latin typeface="돋움체"/>
                <a:ea typeface="돋움체"/>
              </a:rPr>
              <a:t>adapName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23641" y="5612524"/>
            <a:ext cx="3621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안드로이드에서 기본 제공하는 아이템</a:t>
            </a:r>
            <a:endParaRPr lang="en-US" altLang="ko-KR" sz="1600" dirty="0" smtClean="0"/>
          </a:p>
          <a:p>
            <a:r>
              <a:rPr lang="ko-KR" altLang="en-US" sz="1600" dirty="0" smtClean="0"/>
              <a:t>레이아웃으로 텍스트뷰만 들어있다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cxnSp>
        <p:nvCxnSpPr>
          <p:cNvPr id="8" name="Straight Arrow Connector 7"/>
          <p:cNvCxnSpPr>
            <a:stCxn id="3" idx="1"/>
          </p:cNvCxnSpPr>
          <p:nvPr/>
        </p:nvCxnSpPr>
        <p:spPr>
          <a:xfrm flipH="1" flipV="1">
            <a:off x="5023945" y="5612525"/>
            <a:ext cx="199696" cy="2923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0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ListView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소스에 </a:t>
            </a:r>
            <a:r>
              <a:rPr lang="ko-KR" altLang="en-US" dirty="0" err="1" smtClean="0"/>
              <a:t>리스트뷰용</a:t>
            </a:r>
            <a:r>
              <a:rPr lang="ko-KR" altLang="en-US" dirty="0" smtClean="0"/>
              <a:t> 어댑터를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/java/MainActivity.java</a:t>
            </a:r>
          </a:p>
          <a:p>
            <a:pPr lvl="1"/>
            <a:r>
              <a:rPr lang="en-US" altLang="ko-KR" dirty="0" err="1" smtClean="0"/>
              <a:t>ArrayList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ArrayAdapter</a:t>
            </a:r>
            <a:r>
              <a:rPr lang="ko-KR" altLang="en-US" dirty="0" smtClean="0"/>
              <a:t>를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실행화면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466" y="2647850"/>
            <a:ext cx="2147307" cy="385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3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Adapter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Adapter Design Pattern</a:t>
            </a:r>
          </a:p>
          <a:p>
            <a:pPr lvl="1"/>
            <a:r>
              <a:rPr lang="ko-KR" altLang="en-US" dirty="0" smtClean="0"/>
              <a:t>서로</a:t>
            </a:r>
            <a:r>
              <a:rPr lang="en-US" altLang="ko-KR" dirty="0" smtClean="0"/>
              <a:t> </a:t>
            </a:r>
            <a:r>
              <a:rPr lang="ko-KR" altLang="en-US" dirty="0" smtClean="0"/>
              <a:t>다른 인터페이스 사이에 같은 데이터를 교환하기 위한 기법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데이터의 입출력 형태가 다르지만 서로 교환이 필요할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ex) 110V </a:t>
            </a:r>
            <a:r>
              <a:rPr lang="ko-KR" altLang="en-US" dirty="0" smtClean="0"/>
              <a:t>소켓에 </a:t>
            </a:r>
            <a:r>
              <a:rPr lang="en-US" altLang="ko-KR" dirty="0" smtClean="0"/>
              <a:t>220V </a:t>
            </a:r>
            <a:r>
              <a:rPr lang="ko-KR" altLang="en-US" dirty="0" smtClean="0"/>
              <a:t>코드를 꽂기 위해 사용하는 어댑터</a:t>
            </a:r>
            <a:r>
              <a:rPr lang="en-US" altLang="ko-KR" dirty="0" smtClean="0"/>
              <a:t>(?)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목록을 표현하는 </a:t>
            </a:r>
            <a:r>
              <a:rPr lang="ko-KR" altLang="en-US" dirty="0" err="1" smtClean="0"/>
              <a:t>위젯에서</a:t>
            </a:r>
            <a:r>
              <a:rPr lang="ko-KR" altLang="en-US" dirty="0" smtClean="0"/>
              <a:t> 사용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39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ListView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리스트뷰의</a:t>
            </a:r>
            <a:r>
              <a:rPr lang="ko-KR" altLang="en-US" dirty="0" smtClean="0"/>
              <a:t> 아이템 레이아웃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변경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New -&gt; Image Asset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954" y="2475772"/>
            <a:ext cx="7038646" cy="388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0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ListView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리스트뷰의</a:t>
            </a:r>
            <a:r>
              <a:rPr lang="ko-KR" altLang="en-US" dirty="0" smtClean="0"/>
              <a:t> 아이템 레이아웃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변경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Next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703" y="2354425"/>
            <a:ext cx="4768908" cy="432501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801710" y="6453352"/>
            <a:ext cx="557049" cy="22608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51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ListView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리스트뷰의</a:t>
            </a:r>
            <a:r>
              <a:rPr lang="ko-KR" altLang="en-US" dirty="0" smtClean="0"/>
              <a:t> 아이템 레이아웃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변경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 -&gt; Finish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058" y="2296479"/>
            <a:ext cx="4874664" cy="4204863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869443" y="6188803"/>
            <a:ext cx="675290" cy="22608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1907043" y="3835070"/>
            <a:ext cx="675290" cy="22608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14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ListView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리스트뷰의</a:t>
            </a:r>
            <a:r>
              <a:rPr lang="ko-KR" altLang="en-US" dirty="0" smtClean="0"/>
              <a:t> 아이템 레이아웃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변경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Drawable</a:t>
            </a:r>
            <a:r>
              <a:rPr lang="ko-KR" altLang="en-US" dirty="0" smtClean="0"/>
              <a:t>폴더로 복사 </a:t>
            </a:r>
            <a:r>
              <a:rPr lang="en-US" altLang="ko-KR" dirty="0" smtClean="0"/>
              <a:t>-&gt; </a:t>
            </a:r>
            <a:r>
              <a:rPr lang="ko-KR" altLang="en-US" dirty="0" err="1" smtClean="0"/>
              <a:t>붙여넣기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918" y="2637165"/>
            <a:ext cx="3057525" cy="2847975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3507243" y="4080603"/>
            <a:ext cx="1708224" cy="22608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3346376" y="2996870"/>
            <a:ext cx="1225623" cy="22608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꺾인 연결선 9"/>
          <p:cNvCxnSpPr>
            <a:stCxn id="7" idx="3"/>
            <a:endCxn id="8" idx="3"/>
          </p:cNvCxnSpPr>
          <p:nvPr/>
        </p:nvCxnSpPr>
        <p:spPr>
          <a:xfrm flipH="1" flipV="1">
            <a:off x="4571999" y="3109912"/>
            <a:ext cx="643468" cy="1083733"/>
          </a:xfrm>
          <a:prstGeom prst="bentConnector3">
            <a:avLst>
              <a:gd name="adj1" fmla="val -3552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175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ListView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리스트뷰의</a:t>
            </a:r>
            <a:r>
              <a:rPr lang="ko-KR" altLang="en-US" dirty="0" smtClean="0"/>
              <a:t> 아이템 레이아웃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변경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/res/layout/item.xml</a:t>
            </a:r>
          </a:p>
          <a:p>
            <a:pPr lvl="1"/>
            <a:r>
              <a:rPr lang="en-US" altLang="ko-KR" dirty="0" err="1" smtClean="0"/>
              <a:t>TextView</a:t>
            </a:r>
            <a:r>
              <a:rPr lang="en-US" altLang="ko-KR" dirty="0" smtClean="0"/>
              <a:t> </a:t>
            </a:r>
            <a:r>
              <a:rPr lang="ko-KR" altLang="en-US" dirty="0" smtClean="0"/>
              <a:t>앞에 </a:t>
            </a:r>
            <a:r>
              <a:rPr lang="en-US" altLang="ko-KR" dirty="0" err="1" smtClean="0"/>
              <a:t>ImageView</a:t>
            </a:r>
            <a:r>
              <a:rPr lang="en-US" altLang="ko-KR" dirty="0" smtClean="0"/>
              <a:t>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948372" y="2568244"/>
            <a:ext cx="5470728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xmlns:android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"http://schemas.android.com/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apk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/res/android"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400" dirty="0" err="1">
                <a:solidFill>
                  <a:srgbClr val="3F7F7F"/>
                </a:solidFill>
                <a:latin typeface="맑은 고딕"/>
              </a:rPr>
              <a:t>ImageView</a:t>
            </a:r>
            <a:endParaRPr lang="en-US" altLang="ko-KR" sz="14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400" dirty="0">
                <a:latin typeface="맑은 고딕"/>
              </a:rPr>
              <a:t>    </a:t>
            </a:r>
            <a:r>
              <a:rPr lang="en-US" altLang="ko-KR" sz="1400" dirty="0" smtClean="0">
                <a:latin typeface="맑은 고딕"/>
              </a:rPr>
              <a:t>    </a:t>
            </a:r>
            <a:r>
              <a:rPr lang="en-US" altLang="ko-KR" sz="14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"@+id/imageView1"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android:src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</a:t>
            </a:r>
            <a:r>
              <a:rPr lang="en-US" altLang="ko-KR" sz="1400" i="1" dirty="0" err="1" smtClean="0">
                <a:solidFill>
                  <a:srgbClr val="2A00FF"/>
                </a:solidFill>
                <a:latin typeface="맑은 고딕"/>
              </a:rPr>
              <a:t>drawable</a:t>
            </a:r>
            <a:r>
              <a:rPr lang="en-US" altLang="ko-KR" sz="1400" i="1" dirty="0" smtClean="0">
                <a:solidFill>
                  <a:srgbClr val="2A00FF"/>
                </a:solidFill>
                <a:latin typeface="맑은 고딕"/>
              </a:rPr>
              <a:t>/</a:t>
            </a:r>
            <a:r>
              <a:rPr lang="en-US" altLang="ko-KR" sz="1400" i="1" dirty="0" err="1" smtClean="0">
                <a:solidFill>
                  <a:srgbClr val="2A00FF"/>
                </a:solidFill>
                <a:latin typeface="맑은 고딕"/>
              </a:rPr>
              <a:t>ic_launcher</a:t>
            </a:r>
            <a:r>
              <a:rPr lang="en-US" altLang="ko-KR" sz="1400" i="1" dirty="0" smtClean="0">
                <a:solidFill>
                  <a:srgbClr val="2A00FF"/>
                </a:solidFill>
                <a:latin typeface="맑은 고딕"/>
              </a:rPr>
              <a:t>"</a:t>
            </a:r>
            <a:endParaRPr lang="en-US" altLang="ko-KR" sz="1400" i="1" dirty="0">
              <a:solidFill>
                <a:srgbClr val="2A00FF"/>
              </a:solidFill>
              <a:latin typeface="맑은 고딕"/>
            </a:endParaRP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400" dirty="0" smtClean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&lt;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TextView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"@+id/name"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"40dp"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android:gravity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center_vertical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/&gt;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&lt;/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3589547" y="4334614"/>
            <a:ext cx="1974491" cy="0"/>
          </a:xfrm>
          <a:prstGeom prst="line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39121" y="4127373"/>
            <a:ext cx="10839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Image </a:t>
            </a:r>
            <a:r>
              <a:rPr lang="ko-KR" altLang="en-US" sz="1400" dirty="0" smtClean="0"/>
              <a:t>경로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719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ListView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리스트뷰의</a:t>
            </a:r>
            <a:r>
              <a:rPr lang="ko-KR" altLang="en-US" dirty="0"/>
              <a:t> 아이템 레이아웃</a:t>
            </a:r>
            <a:r>
              <a:rPr lang="en-US" altLang="ko-KR" dirty="0"/>
              <a:t> </a:t>
            </a:r>
            <a:r>
              <a:rPr lang="ko-KR" altLang="en-US" dirty="0"/>
              <a:t>변경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1" t="11242" r="8370" b="16594"/>
          <a:stretch/>
        </p:blipFill>
        <p:spPr>
          <a:xfrm>
            <a:off x="3018368" y="2123307"/>
            <a:ext cx="2817988" cy="453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54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EditText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70372"/>
            <a:ext cx="8229600" cy="4641492"/>
          </a:xfrm>
        </p:spPr>
        <p:txBody>
          <a:bodyPr/>
          <a:lstStyle/>
          <a:p>
            <a:r>
              <a:rPr lang="ko-KR" altLang="en-US" dirty="0" err="1" smtClean="0"/>
              <a:t>에디트텍스트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</a:t>
            </a:r>
            <a:r>
              <a:rPr lang="en-US" altLang="ko-KR" dirty="0"/>
              <a:t>a</a:t>
            </a:r>
            <a:r>
              <a:rPr lang="en-US" altLang="ko-KR" dirty="0" smtClean="0"/>
              <a:t>ctivity_main.xml</a:t>
            </a:r>
          </a:p>
          <a:p>
            <a:pPr lvl="1"/>
            <a:r>
              <a:rPr lang="ko-KR" altLang="en-US" dirty="0" smtClean="0"/>
              <a:t>텍스트상자에 포커스를 주면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자동으로 소프트키보드가 나타남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한번 나타난 키보드는 다른</a:t>
            </a:r>
            <a:r>
              <a:rPr lang="en-US" altLang="ko-KR" dirty="0" smtClean="0"/>
              <a:t> </a:t>
            </a:r>
            <a:r>
              <a:rPr lang="ko-KR" altLang="en-US" dirty="0" smtClean="0"/>
              <a:t>영역을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터치하더라도 사라지지 않음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071" y="1509486"/>
            <a:ext cx="3266087" cy="5102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160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EditText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70372"/>
            <a:ext cx="8229600" cy="4641492"/>
          </a:xfrm>
        </p:spPr>
        <p:txBody>
          <a:bodyPr/>
          <a:lstStyle/>
          <a:p>
            <a:r>
              <a:rPr lang="ko-KR" altLang="en-US" dirty="0" err="1" smtClean="0"/>
              <a:t>에디트텍스트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/res/layout/activity_main.xml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814164" y="1861211"/>
            <a:ext cx="5641288" cy="445506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&lt;</a:t>
            </a:r>
            <a:r>
              <a:rPr lang="en-US" altLang="ko-KR" sz="105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RelativeLayout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</a:t>
            </a:r>
            <a:r>
              <a:rPr lang="en-US" altLang="ko-KR" sz="105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xmlns:android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"http://schemas.android.com/</a:t>
            </a:r>
            <a:r>
              <a:rPr lang="en-US" altLang="ko-KR" sz="1050" i="1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apk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/res/android"</a:t>
            </a:r>
          </a:p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   </a:t>
            </a:r>
            <a:r>
              <a:rPr lang="en-US" altLang="ko-KR" sz="105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xmlns:tools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"http://schemas.android.com/tools"</a:t>
            </a:r>
          </a:p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   </a:t>
            </a:r>
            <a:r>
              <a:rPr lang="en-US" altLang="ko-KR" sz="105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android:layout_width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</a:t>
            </a:r>
            <a:r>
              <a:rPr lang="en-US" altLang="ko-KR" sz="1050" i="1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match_parent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</a:t>
            </a:r>
          </a:p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   </a:t>
            </a:r>
            <a:r>
              <a:rPr lang="en-US" altLang="ko-KR" sz="105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android:layout_height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</a:t>
            </a:r>
            <a:r>
              <a:rPr lang="en-US" altLang="ko-KR" sz="1050" i="1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match_parent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</a:t>
            </a:r>
          </a:p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   </a:t>
            </a:r>
            <a:r>
              <a:rPr lang="en-US" altLang="ko-KR" sz="105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tools:context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".Main" &gt;</a:t>
            </a:r>
          </a:p>
          <a:p>
            <a:endParaRPr lang="ko-KR" altLang="en-US" sz="1050" dirty="0">
              <a:solidFill>
                <a:schemeClr val="bg1">
                  <a:lumMod val="50000"/>
                </a:schemeClr>
              </a:solidFill>
              <a:latin typeface="Consolas"/>
            </a:endParaRPr>
          </a:p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   &lt;</a:t>
            </a:r>
            <a:r>
              <a:rPr lang="en-US" altLang="ko-KR" sz="105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TextView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Consolas"/>
            </a:endParaRPr>
          </a:p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       </a:t>
            </a:r>
            <a:r>
              <a:rPr lang="en-US" altLang="ko-KR" sz="105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android:layout_width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</a:t>
            </a:r>
            <a:r>
              <a:rPr lang="en-US" altLang="ko-KR" sz="1050" i="1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wrap_content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</a:t>
            </a:r>
          </a:p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       </a:t>
            </a:r>
            <a:r>
              <a:rPr lang="en-US" altLang="ko-KR" sz="105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android:layout_height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</a:t>
            </a:r>
            <a:r>
              <a:rPr lang="en-US" altLang="ko-KR" sz="1050" i="1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wrap_content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</a:t>
            </a:r>
          </a:p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       </a:t>
            </a:r>
            <a:r>
              <a:rPr lang="en-US" altLang="ko-KR" sz="105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android:layout_centerHorizontal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"true"</a:t>
            </a:r>
          </a:p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       </a:t>
            </a:r>
            <a:r>
              <a:rPr lang="en-US" altLang="ko-KR" sz="105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android:layout_centerVertical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"true"</a:t>
            </a:r>
          </a:p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       </a:t>
            </a:r>
            <a:r>
              <a:rPr lang="en-US" altLang="ko-KR" sz="105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android:text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"@string/</a:t>
            </a:r>
            <a:r>
              <a:rPr lang="en-US" altLang="ko-KR" sz="1050" i="1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hello_world</a:t>
            </a:r>
            <a:r>
              <a:rPr lang="en-US" altLang="ko-KR" sz="105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 /&gt;</a:t>
            </a:r>
          </a:p>
          <a:p>
            <a:endParaRPr lang="ko-KR" altLang="en-US" sz="1050" dirty="0">
              <a:latin typeface="Consolas"/>
            </a:endParaRPr>
          </a:p>
          <a:p>
            <a:r>
              <a:rPr lang="en-US" altLang="ko-KR" sz="105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ko-KR" sz="105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1050" dirty="0" err="1">
                <a:solidFill>
                  <a:srgbClr val="3F7F7F"/>
                </a:solidFill>
                <a:latin typeface="Consolas"/>
              </a:rPr>
              <a:t>EditText</a:t>
            </a:r>
            <a:endParaRPr lang="en-US" altLang="ko-KR" sz="1050" dirty="0">
              <a:solidFill>
                <a:srgbClr val="3F7F7F"/>
              </a:solidFill>
              <a:latin typeface="Consolas"/>
            </a:endParaRPr>
          </a:p>
          <a:p>
            <a:r>
              <a:rPr lang="en-US" altLang="ko-KR" sz="1050" dirty="0">
                <a:latin typeface="Consolas"/>
              </a:rPr>
              <a:t>        </a:t>
            </a:r>
            <a:r>
              <a:rPr lang="en-US" altLang="ko-KR" sz="1050" dirty="0" err="1">
                <a:solidFill>
                  <a:srgbClr val="7F007F"/>
                </a:solidFill>
                <a:latin typeface="Consolas"/>
              </a:rPr>
              <a:t>android:id</a:t>
            </a:r>
            <a:r>
              <a:rPr lang="en-US" altLang="ko-KR" sz="105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rgbClr val="2A00FF"/>
                </a:solidFill>
                <a:latin typeface="Consolas"/>
              </a:rPr>
              <a:t>"@+id/editText1"</a:t>
            </a:r>
          </a:p>
          <a:p>
            <a:r>
              <a:rPr lang="en-US" altLang="ko-KR" sz="1050" dirty="0">
                <a:latin typeface="Consolas"/>
              </a:rPr>
              <a:t>        </a:t>
            </a:r>
            <a:r>
              <a:rPr lang="en-US" altLang="ko-KR" sz="1050" dirty="0" err="1">
                <a:solidFill>
                  <a:srgbClr val="7F007F"/>
                </a:solidFill>
                <a:latin typeface="Consolas"/>
              </a:rPr>
              <a:t>android:inputType</a:t>
            </a:r>
            <a:r>
              <a:rPr lang="en-US" altLang="ko-KR" sz="105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rgbClr val="2A00FF"/>
                </a:solidFill>
                <a:latin typeface="Consolas"/>
              </a:rPr>
              <a:t>"text"</a:t>
            </a:r>
          </a:p>
          <a:p>
            <a:r>
              <a:rPr lang="en-US" altLang="ko-KR" sz="1050" dirty="0">
                <a:latin typeface="Consolas"/>
              </a:rPr>
              <a:t>        </a:t>
            </a:r>
            <a:r>
              <a:rPr lang="en-US" altLang="ko-KR" sz="1050" dirty="0" err="1">
                <a:solidFill>
                  <a:srgbClr val="7F007F"/>
                </a:solidFill>
                <a:latin typeface="Consolas"/>
              </a:rPr>
              <a:t>android:layout_width</a:t>
            </a:r>
            <a:r>
              <a:rPr lang="en-US" altLang="ko-KR" sz="105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altLang="ko-KR" sz="1050" i="1" dirty="0" err="1">
                <a:solidFill>
                  <a:srgbClr val="2A00FF"/>
                </a:solidFill>
                <a:latin typeface="Consolas"/>
              </a:rPr>
              <a:t>match_parent</a:t>
            </a:r>
            <a:r>
              <a:rPr lang="en-US" altLang="ko-KR" sz="1050" i="1" dirty="0">
                <a:solidFill>
                  <a:srgbClr val="2A00FF"/>
                </a:solidFill>
                <a:latin typeface="Consolas"/>
              </a:rPr>
              <a:t>"</a:t>
            </a:r>
          </a:p>
          <a:p>
            <a:r>
              <a:rPr lang="en-US" altLang="ko-KR" sz="1050" dirty="0">
                <a:latin typeface="Consolas"/>
              </a:rPr>
              <a:t>        </a:t>
            </a:r>
            <a:r>
              <a:rPr lang="en-US" altLang="ko-KR" sz="1050" dirty="0" err="1">
                <a:solidFill>
                  <a:srgbClr val="7F007F"/>
                </a:solidFill>
                <a:latin typeface="Consolas"/>
              </a:rPr>
              <a:t>android:layout_height</a:t>
            </a:r>
            <a:r>
              <a:rPr lang="en-US" altLang="ko-KR" sz="105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altLang="ko-KR" sz="1050" i="1" dirty="0" err="1">
                <a:solidFill>
                  <a:srgbClr val="2A00FF"/>
                </a:solidFill>
                <a:latin typeface="Consolas"/>
              </a:rPr>
              <a:t>wrap_content</a:t>
            </a:r>
            <a:r>
              <a:rPr lang="en-US" altLang="ko-KR" sz="1050" i="1" dirty="0">
                <a:solidFill>
                  <a:srgbClr val="2A00FF"/>
                </a:solidFill>
                <a:latin typeface="Consolas"/>
              </a:rPr>
              <a:t>" </a:t>
            </a:r>
            <a:r>
              <a:rPr lang="en-US" altLang="ko-KR" sz="1050" i="1" dirty="0">
                <a:solidFill>
                  <a:srgbClr val="008080"/>
                </a:solidFill>
                <a:latin typeface="Consolas"/>
              </a:rPr>
              <a:t>/&gt;</a:t>
            </a:r>
          </a:p>
          <a:p>
            <a:endParaRPr lang="ko-KR" altLang="en-US" sz="1050" dirty="0">
              <a:latin typeface="Consolas"/>
            </a:endParaRPr>
          </a:p>
          <a:p>
            <a:r>
              <a:rPr lang="en-US" altLang="ko-KR" sz="105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ko-KR" sz="105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1050" dirty="0">
                <a:solidFill>
                  <a:srgbClr val="3F7F7F"/>
                </a:solidFill>
                <a:latin typeface="Consolas"/>
              </a:rPr>
              <a:t>Button</a:t>
            </a:r>
          </a:p>
          <a:p>
            <a:r>
              <a:rPr lang="en-US" altLang="ko-KR" sz="1050" dirty="0">
                <a:latin typeface="Consolas"/>
              </a:rPr>
              <a:t>        </a:t>
            </a:r>
            <a:r>
              <a:rPr lang="en-US" altLang="ko-KR" sz="1050" dirty="0" err="1">
                <a:solidFill>
                  <a:srgbClr val="7F007F"/>
                </a:solidFill>
                <a:latin typeface="Consolas"/>
              </a:rPr>
              <a:t>android:id</a:t>
            </a:r>
            <a:r>
              <a:rPr lang="en-US" altLang="ko-KR" sz="105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rgbClr val="2A00FF"/>
                </a:solidFill>
                <a:latin typeface="Consolas"/>
              </a:rPr>
              <a:t>"@+id/button1"</a:t>
            </a:r>
          </a:p>
          <a:p>
            <a:r>
              <a:rPr lang="en-US" altLang="ko-KR" sz="1050" dirty="0">
                <a:latin typeface="Consolas"/>
              </a:rPr>
              <a:t>        </a:t>
            </a:r>
            <a:r>
              <a:rPr lang="en-US" altLang="ko-KR" sz="1050" dirty="0" err="1">
                <a:solidFill>
                  <a:srgbClr val="7F007F"/>
                </a:solidFill>
                <a:latin typeface="Consolas"/>
              </a:rPr>
              <a:t>android:layout_width</a:t>
            </a:r>
            <a:r>
              <a:rPr lang="en-US" altLang="ko-KR" sz="105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altLang="ko-KR" sz="1050" i="1" dirty="0" err="1">
                <a:solidFill>
                  <a:srgbClr val="2A00FF"/>
                </a:solidFill>
                <a:latin typeface="Consolas"/>
              </a:rPr>
              <a:t>match_parent</a:t>
            </a:r>
            <a:r>
              <a:rPr lang="en-US" altLang="ko-KR" sz="1050" i="1" dirty="0">
                <a:solidFill>
                  <a:srgbClr val="2A00FF"/>
                </a:solidFill>
                <a:latin typeface="Consolas"/>
              </a:rPr>
              <a:t>"</a:t>
            </a:r>
          </a:p>
          <a:p>
            <a:r>
              <a:rPr lang="en-US" altLang="ko-KR" sz="1050" dirty="0">
                <a:latin typeface="Consolas"/>
              </a:rPr>
              <a:t>        </a:t>
            </a:r>
            <a:r>
              <a:rPr lang="en-US" altLang="ko-KR" sz="1050" dirty="0" err="1">
                <a:solidFill>
                  <a:srgbClr val="7F007F"/>
                </a:solidFill>
                <a:latin typeface="Consolas"/>
              </a:rPr>
              <a:t>android:layout_height</a:t>
            </a:r>
            <a:r>
              <a:rPr lang="en-US" altLang="ko-KR" sz="105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altLang="ko-KR" sz="1050" i="1" dirty="0" err="1">
                <a:solidFill>
                  <a:srgbClr val="2A00FF"/>
                </a:solidFill>
                <a:latin typeface="Consolas"/>
              </a:rPr>
              <a:t>wrap_content</a:t>
            </a:r>
            <a:r>
              <a:rPr lang="en-US" altLang="ko-KR" sz="1050" i="1" dirty="0">
                <a:solidFill>
                  <a:srgbClr val="2A00FF"/>
                </a:solidFill>
                <a:latin typeface="Consolas"/>
              </a:rPr>
              <a:t>"        </a:t>
            </a:r>
          </a:p>
          <a:p>
            <a:r>
              <a:rPr lang="en-US" altLang="ko-KR" sz="1050" dirty="0">
                <a:latin typeface="Consolas"/>
              </a:rPr>
              <a:t>        </a:t>
            </a:r>
            <a:r>
              <a:rPr lang="en-US" altLang="ko-KR" sz="1050" dirty="0" err="1">
                <a:solidFill>
                  <a:srgbClr val="7F007F"/>
                </a:solidFill>
                <a:latin typeface="Consolas"/>
              </a:rPr>
              <a:t>android:layout_below</a:t>
            </a:r>
            <a:r>
              <a:rPr lang="en-US" altLang="ko-KR" sz="105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050" i="1" dirty="0">
                <a:solidFill>
                  <a:srgbClr val="2A00FF"/>
                </a:solidFill>
                <a:latin typeface="Consolas"/>
              </a:rPr>
              <a:t>"@+id/editText1"</a:t>
            </a:r>
          </a:p>
          <a:p>
            <a:r>
              <a:rPr lang="en-US" altLang="ko-KR" sz="1050" dirty="0">
                <a:latin typeface="Consolas"/>
              </a:rPr>
              <a:t>        </a:t>
            </a:r>
            <a:r>
              <a:rPr lang="en-US" altLang="ko-KR" sz="1050" u="sng" dirty="0" err="1">
                <a:solidFill>
                  <a:srgbClr val="7F007F"/>
                </a:solidFill>
                <a:latin typeface="Consolas"/>
              </a:rPr>
              <a:t>android:text</a:t>
            </a:r>
            <a:r>
              <a:rPr lang="en-US" altLang="ko-KR" sz="1050" u="sng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050" i="1" u="sng" dirty="0">
                <a:solidFill>
                  <a:srgbClr val="2A00FF"/>
                </a:solidFill>
                <a:latin typeface="Consolas"/>
              </a:rPr>
              <a:t>"</a:t>
            </a:r>
            <a:r>
              <a:rPr lang="ko-KR" altLang="en-US" sz="1050" i="1" u="sng" dirty="0">
                <a:solidFill>
                  <a:srgbClr val="2A00FF"/>
                </a:solidFill>
                <a:latin typeface="Consolas"/>
              </a:rPr>
              <a:t>버튼</a:t>
            </a:r>
            <a:r>
              <a:rPr lang="en-US" altLang="ko-KR" sz="1050" i="1" u="sng" dirty="0">
                <a:solidFill>
                  <a:srgbClr val="2A00FF"/>
                </a:solidFill>
                <a:latin typeface="Consolas"/>
              </a:rPr>
              <a:t>" </a:t>
            </a:r>
            <a:r>
              <a:rPr lang="en-US" altLang="ko-KR" sz="1050" i="1" u="sng" dirty="0">
                <a:solidFill>
                  <a:srgbClr val="008080"/>
                </a:solidFill>
                <a:latin typeface="Consolas"/>
              </a:rPr>
              <a:t>/&gt;</a:t>
            </a:r>
          </a:p>
          <a:p>
            <a:endParaRPr lang="ko-KR" altLang="en-US" sz="1050" dirty="0">
              <a:latin typeface="Consolas"/>
            </a:endParaRPr>
          </a:p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&lt;/</a:t>
            </a:r>
            <a:r>
              <a:rPr lang="en-US" altLang="ko-KR" sz="1050" dirty="0" err="1">
                <a:solidFill>
                  <a:schemeClr val="bg1">
                    <a:lumMod val="50000"/>
                  </a:schemeClr>
                </a:solidFill>
                <a:latin typeface="Consolas"/>
              </a:rPr>
              <a:t>RelativeLayout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&gt;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29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EditText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문자열 얻기와 설정하기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/MainActivity.java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411353" y="2375454"/>
            <a:ext cx="5840060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public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R.layout.</a:t>
            </a:r>
            <a:r>
              <a:rPr lang="en-US" altLang="ko-K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main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</a:p>
          <a:p>
            <a:endParaRPr lang="en-US" altLang="ko-KR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public void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onClickButton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(View v)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edit =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400" i="1" dirty="0">
                <a:solidFill>
                  <a:srgbClr val="0000C0"/>
                </a:solidFill>
                <a:latin typeface="돋움체"/>
                <a:ea typeface="돋움체"/>
              </a:rPr>
              <a:t>editText1</a:t>
            </a:r>
            <a:r>
              <a:rPr lang="en-US" altLang="ko-KR" sz="14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String input =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edit.getText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toString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Toast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msg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400" i="1" dirty="0" err="1">
                <a:solidFill>
                  <a:srgbClr val="000000"/>
                </a:solidFill>
                <a:latin typeface="돋움체"/>
                <a:ea typeface="돋움체"/>
              </a:rPr>
              <a:t>makeText</a:t>
            </a:r>
            <a:r>
              <a:rPr lang="en-US" altLang="ko-KR" sz="1400" i="1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Act1.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"'"</a:t>
            </a:r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+ input +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"'</a:t>
            </a:r>
            <a:r>
              <a:rPr lang="ko-KR" altLang="en-US" sz="1400" dirty="0">
                <a:solidFill>
                  <a:srgbClr val="2A00FF"/>
                </a:solidFill>
                <a:latin typeface="돋움체"/>
                <a:ea typeface="돋움체"/>
              </a:rPr>
              <a:t>을 입력했습니다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."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400" i="1" dirty="0" err="1">
                <a:solidFill>
                  <a:srgbClr val="0000C0"/>
                </a:solidFill>
                <a:latin typeface="돋움체"/>
                <a:ea typeface="돋움체"/>
              </a:rPr>
              <a:t>LENGTH_SHORT</a:t>
            </a:r>
            <a:r>
              <a:rPr lang="en-US" altLang="ko-KR" sz="14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msg.show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edit.setText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b="1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400" b="1" dirty="0">
                <a:solidFill>
                  <a:srgbClr val="2A00FF"/>
                </a:solidFill>
                <a:latin typeface="돋움체"/>
                <a:ea typeface="돋움체"/>
              </a:rPr>
              <a:t>입력 </a:t>
            </a:r>
            <a:r>
              <a:rPr lang="ko-KR" altLang="en-US" sz="1400" b="1" dirty="0" smtClean="0">
                <a:solidFill>
                  <a:srgbClr val="2A00FF"/>
                </a:solidFill>
                <a:latin typeface="돋움체"/>
                <a:ea typeface="돋움체"/>
              </a:rPr>
              <a:t>완료</a:t>
            </a:r>
            <a:r>
              <a:rPr lang="en-US" altLang="ko-KR" sz="1400" b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b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454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EditText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07991" y="1500808"/>
            <a:ext cx="4007828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1200" dirty="0">
                <a:solidFill>
                  <a:srgbClr val="3F7F7F"/>
                </a:solidFill>
                <a:latin typeface="Consolas"/>
              </a:rPr>
              <a:t>Button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Consolas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"@+id/button1"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Consolas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Consolas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Consolas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Consolas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Consolas"/>
              </a:rPr>
              <a:t>android:layout_below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"@+id/editText1"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Consolas"/>
              </a:rPr>
              <a:t>android:onClick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Consolas"/>
              </a:rPr>
              <a:t>onClickButton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u="sng" dirty="0" err="1">
                <a:solidFill>
                  <a:srgbClr val="7F007F"/>
                </a:solidFill>
                <a:latin typeface="Consolas"/>
              </a:rPr>
              <a:t>android:text</a:t>
            </a:r>
            <a:r>
              <a:rPr lang="en-US" altLang="ko-KR" sz="1200" u="sng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u="sng" dirty="0">
                <a:solidFill>
                  <a:srgbClr val="2A00FF"/>
                </a:solidFill>
                <a:latin typeface="Consolas"/>
              </a:rPr>
              <a:t>"</a:t>
            </a:r>
            <a:r>
              <a:rPr lang="ko-KR" altLang="en-US" sz="1200" i="1" u="sng" dirty="0">
                <a:solidFill>
                  <a:srgbClr val="2A00FF"/>
                </a:solidFill>
                <a:latin typeface="Consolas"/>
              </a:rPr>
              <a:t>버튼</a:t>
            </a:r>
            <a:r>
              <a:rPr lang="en-US" altLang="ko-KR" sz="1200" i="1" u="sng" dirty="0">
                <a:solidFill>
                  <a:srgbClr val="2A00FF"/>
                </a:solidFill>
                <a:latin typeface="Consolas"/>
              </a:rPr>
              <a:t>" </a:t>
            </a:r>
            <a:r>
              <a:rPr lang="en-US" altLang="ko-KR" sz="1200" i="1" u="sng" dirty="0">
                <a:solidFill>
                  <a:srgbClr val="008080"/>
                </a:solidFill>
                <a:latin typeface="Consolas"/>
              </a:rPr>
              <a:t>/&gt;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89" t="26154" r="35318" b="28252"/>
          <a:stretch/>
        </p:blipFill>
        <p:spPr>
          <a:xfrm>
            <a:off x="5555329" y="1500808"/>
            <a:ext cx="2810933" cy="452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77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EditText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자동완성 기능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/res/layout/activity_main.xml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411353" y="2375454"/>
            <a:ext cx="4117537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TextView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fill_parent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 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wrap_content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 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android:text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"@string/hello"</a:t>
            </a:r>
          </a:p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/&gt;</a:t>
            </a:r>
          </a:p>
          <a:p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b="1" dirty="0" err="1">
                <a:solidFill>
                  <a:srgbClr val="3F7F7F"/>
                </a:solidFill>
                <a:latin typeface="맑은 고딕"/>
              </a:rPr>
              <a:t>AutoCompleteTextView</a:t>
            </a:r>
            <a:endParaRPr lang="en-US" altLang="ko-KR" sz="1600" b="1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android:id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"@+id/editText1"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wrap_content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/&gt;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&lt;Button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android:id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"@+id/button1"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android:text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ko-KR" altLang="en-US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버튼</a:t>
            </a:r>
            <a:r>
              <a:rPr lang="en-US" altLang="ko-K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“ </a:t>
            </a:r>
          </a:p>
          <a:p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</a:t>
            </a:r>
            <a:r>
              <a:rPr lang="en-US" altLang="ko-K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/&gt;</a:t>
            </a:r>
            <a:endParaRPr lang="en-US" altLang="ko-KR" sz="1600" i="1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6711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EditText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자동완성 기능 추가하기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/MainActivity.java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411353" y="2375454"/>
            <a:ext cx="7000634" cy="249299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public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R.layout.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main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endParaRPr lang="en-US" altLang="ko-KR" sz="1200" dirty="0" smtClean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AutoCompleteTextView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actext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AutoCompleteTextView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editText1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String[] words = { 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"apple"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"appose"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"application"</a:t>
            </a:r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};</a:t>
            </a:r>
          </a:p>
          <a:p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actext.setAdapter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ArrayAdapter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&lt;String&gt;(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R.layout.support_simple_spinner_dropdown_item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words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7034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EditText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TextWatcher</a:t>
            </a:r>
            <a:r>
              <a:rPr lang="ko-KR" altLang="en-US" dirty="0" smtClean="0"/>
              <a:t>로 입력 중인 문자열 감시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5" name="평행 사변형 4"/>
          <p:cNvSpPr/>
          <p:nvPr/>
        </p:nvSpPr>
        <p:spPr>
          <a:xfrm>
            <a:off x="3438939" y="2047461"/>
            <a:ext cx="2107096" cy="626165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키 입력</a:t>
            </a:r>
            <a:endParaRPr lang="ko-KR" altLang="en-US" dirty="0"/>
          </a:p>
        </p:txBody>
      </p:sp>
      <p:sp>
        <p:nvSpPr>
          <p:cNvPr id="6" name="순서도: 처리 5"/>
          <p:cNvSpPr/>
          <p:nvPr/>
        </p:nvSpPr>
        <p:spPr>
          <a:xfrm>
            <a:off x="3125854" y="2912163"/>
            <a:ext cx="2733261" cy="695739"/>
          </a:xfrm>
          <a:prstGeom prst="flowChart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beforeTextChanged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7" name="순서도: 처리 6"/>
          <p:cNvSpPr/>
          <p:nvPr/>
        </p:nvSpPr>
        <p:spPr>
          <a:xfrm>
            <a:off x="3125854" y="3859694"/>
            <a:ext cx="2733261" cy="695739"/>
          </a:xfrm>
          <a:prstGeom prst="flowChart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onTextChanged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8" name="순서도: 처리 7"/>
          <p:cNvSpPr/>
          <p:nvPr/>
        </p:nvSpPr>
        <p:spPr>
          <a:xfrm>
            <a:off x="3125853" y="4827103"/>
            <a:ext cx="2733261" cy="695739"/>
          </a:xfrm>
          <a:prstGeom prst="flowChart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afterTextChanged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9" name="평행 사변형 8"/>
          <p:cNvSpPr/>
          <p:nvPr/>
        </p:nvSpPr>
        <p:spPr>
          <a:xfrm>
            <a:off x="3282393" y="5811080"/>
            <a:ext cx="2420179" cy="626165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EditText</a:t>
            </a:r>
            <a:r>
              <a:rPr lang="ko-KR" altLang="en-US" dirty="0" smtClean="0"/>
              <a:t>에 반영</a:t>
            </a:r>
            <a:endParaRPr lang="ko-KR" altLang="en-US" dirty="0"/>
          </a:p>
        </p:txBody>
      </p:sp>
      <p:sp>
        <p:nvSpPr>
          <p:cNvPr id="10" name="아래쪽 화살표 9"/>
          <p:cNvSpPr/>
          <p:nvPr/>
        </p:nvSpPr>
        <p:spPr>
          <a:xfrm>
            <a:off x="4333461" y="2604052"/>
            <a:ext cx="318052" cy="417444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>
            <a:off x="4333461" y="3531704"/>
            <a:ext cx="318052" cy="417444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아래쪽 화살표 11"/>
          <p:cNvSpPr/>
          <p:nvPr/>
        </p:nvSpPr>
        <p:spPr>
          <a:xfrm>
            <a:off x="4333461" y="4485860"/>
            <a:ext cx="318052" cy="417444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아래쪽 화살표 12"/>
          <p:cNvSpPr/>
          <p:nvPr/>
        </p:nvSpPr>
        <p:spPr>
          <a:xfrm>
            <a:off x="4333461" y="5466522"/>
            <a:ext cx="318052" cy="417444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78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EditText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TextWatcher</a:t>
            </a:r>
            <a:r>
              <a:rPr lang="ko-KR" altLang="en-US" dirty="0" smtClean="0"/>
              <a:t>로 입력 중인 문자열 감시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94519" y="2007706"/>
            <a:ext cx="7263527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public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R.layout.</a:t>
            </a:r>
            <a:r>
              <a:rPr lang="en-US" altLang="ko-KR" sz="12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main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endParaRPr lang="en-US" altLang="ko-KR" sz="1200" dirty="0" smtClean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AutoCompleteTextView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actext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= (</a:t>
            </a:r>
            <a:r>
              <a:rPr lang="en-US" altLang="ko-KR" sz="12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AutoCompleteTextView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)</a:t>
            </a:r>
            <a:r>
              <a:rPr lang="en-US" altLang="ko-KR" sz="12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(R.id.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editText1);</a:t>
            </a:r>
          </a:p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String[] words = { "apple", "appose", "application" };</a:t>
            </a:r>
          </a:p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actext.setAdapter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	new </a:t>
            </a:r>
            <a:r>
              <a:rPr lang="en-US" altLang="ko-KR" sz="12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ArrayAdapter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&lt;String&gt;(</a:t>
            </a:r>
          </a:p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        this, </a:t>
            </a:r>
            <a:r>
              <a:rPr lang="en-US" altLang="ko-KR" sz="12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R.layout.support_simple_spinner_dropdown_item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,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words</a:t>
            </a:r>
          </a:p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)</a:t>
            </a:r>
            <a:r>
              <a:rPr lang="ko-KR" altLang="en-US" sz="12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</a:t>
            </a:r>
            <a:endParaRPr lang="en-US" altLang="ko-KR" sz="1200" dirty="0" smtClean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TextWatcher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txtw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TextWatcher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646464"/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beforeTextChanged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CharSequence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s,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start,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count,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after)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Log.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i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돋움체"/>
                <a:ea typeface="돋움체"/>
              </a:rPr>
              <a:t>MainActivity</a:t>
            </a:r>
            <a:r>
              <a:rPr lang="en-US" altLang="ko-KR" sz="12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  <a:endParaRPr lang="en-US" altLang="ko-KR" sz="1200" i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돋움체"/>
                <a:ea typeface="돋움체"/>
              </a:rPr>
              <a:t>beforeTextChanged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('"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+s+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"', "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+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String.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valueOf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(start)+</a:t>
            </a:r>
            <a:r>
              <a:rPr lang="en-US" altLang="ko-KR" sz="1200" i="1" dirty="0">
                <a:solidFill>
                  <a:srgbClr val="2A00FF"/>
                </a:solidFill>
                <a:latin typeface="돋움체"/>
                <a:ea typeface="돋움체"/>
              </a:rPr>
              <a:t>", "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+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String.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valueOf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(count)+</a:t>
            </a:r>
            <a:r>
              <a:rPr lang="en-US" altLang="ko-KR" sz="1200" i="1" dirty="0">
                <a:solidFill>
                  <a:srgbClr val="2A00FF"/>
                </a:solidFill>
                <a:latin typeface="돋움체"/>
                <a:ea typeface="돋움체"/>
              </a:rPr>
              <a:t>", "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+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String.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valueOf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(after)+</a:t>
            </a:r>
            <a:r>
              <a:rPr lang="en-US" altLang="ko-KR" sz="1200" i="1" dirty="0">
                <a:solidFill>
                  <a:srgbClr val="2A00FF"/>
                </a:solidFill>
                <a:latin typeface="돋움체"/>
                <a:ea typeface="돋움체"/>
              </a:rPr>
              <a:t>")"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105513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EditText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TextWatcher</a:t>
            </a:r>
            <a:r>
              <a:rPr lang="ko-KR" altLang="en-US" dirty="0" smtClean="0"/>
              <a:t>로 입력 중인 문자열 감시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err="1" smtClean="0"/>
              <a:t>LogCat</a:t>
            </a:r>
            <a:r>
              <a:rPr lang="ko-KR" altLang="en-US" dirty="0" smtClean="0"/>
              <a:t>으로 입력 결과 확인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94519" y="2007706"/>
            <a:ext cx="7032694" cy="28623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646464"/>
                </a:solidFill>
                <a:latin typeface="돋움체"/>
                <a:ea typeface="돋움체"/>
              </a:rPr>
              <a:t>            @</a:t>
            </a:r>
            <a:r>
              <a:rPr lang="en-US" altLang="ko-KR" sz="12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onTextChanged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CharSequence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s,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start,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before,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count)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Log.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i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돋움체"/>
                <a:ea typeface="돋움체"/>
              </a:rPr>
              <a:t>MainActivity</a:t>
            </a:r>
            <a:r>
              <a:rPr lang="en-US" altLang="ko-KR" sz="12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  <a:endParaRPr lang="en-US" altLang="ko-KR" sz="1200" i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 err="1">
                <a:solidFill>
                  <a:srgbClr val="2A00FF"/>
                </a:solidFill>
                <a:latin typeface="돋움체"/>
                <a:ea typeface="돋움체"/>
              </a:rPr>
              <a:t>onTextChanged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('"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+s+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"', "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+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String.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valueOf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(start)+</a:t>
            </a:r>
            <a:r>
              <a:rPr lang="en-US" altLang="ko-KR" sz="1200" i="1" dirty="0">
                <a:solidFill>
                  <a:srgbClr val="2A00FF"/>
                </a:solidFill>
                <a:latin typeface="돋움체"/>
                <a:ea typeface="돋움체"/>
              </a:rPr>
              <a:t>", "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+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String.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valueOf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(before)+</a:t>
            </a:r>
            <a:r>
              <a:rPr lang="en-US" altLang="ko-KR" sz="1200" i="1" dirty="0">
                <a:solidFill>
                  <a:srgbClr val="2A00FF"/>
                </a:solidFill>
                <a:latin typeface="돋움체"/>
                <a:ea typeface="돋움체"/>
              </a:rPr>
              <a:t>", "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+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String.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valueOf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(count)+</a:t>
            </a:r>
            <a:r>
              <a:rPr lang="en-US" altLang="ko-KR" sz="1200" i="1" dirty="0">
                <a:solidFill>
                  <a:srgbClr val="2A00FF"/>
                </a:solidFill>
                <a:latin typeface="돋움체"/>
                <a:ea typeface="돋움체"/>
              </a:rPr>
              <a:t>")"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646464"/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afterTextChanged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(Editable s)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Log.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i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i="1" dirty="0" smtClean="0">
                <a:solidFill>
                  <a:srgbClr val="2A00FF"/>
                </a:solidFill>
                <a:latin typeface="돋움체"/>
                <a:ea typeface="돋움체"/>
              </a:rPr>
              <a:t>“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돋움체"/>
                <a:ea typeface="돋움체"/>
              </a:rPr>
              <a:t>MainActivity</a:t>
            </a:r>
            <a:r>
              <a:rPr lang="en-US" altLang="ko-KR" sz="12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i="1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돋움체"/>
                <a:ea typeface="돋움체"/>
              </a:rPr>
              <a:t>afterTextChanged</a:t>
            </a:r>
            <a:r>
              <a:rPr lang="en-US" altLang="ko-KR" sz="1200" i="1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actext.addTextChangedListener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txtw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18124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EditText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99"/>
          <a:stretch/>
        </p:blipFill>
        <p:spPr>
          <a:xfrm>
            <a:off x="10992" y="1411111"/>
            <a:ext cx="9130786" cy="4775200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366889" y="5150556"/>
            <a:ext cx="5796844" cy="10357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2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EditText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입력 문자열 길이 제한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94519" y="3319671"/>
            <a:ext cx="7032694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public void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onTextChanged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CharSequence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s,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start,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before,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count) {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Log.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</a:t>
            </a:r>
            <a:r>
              <a:rPr lang="en-US" altLang="ko-KR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(“</a:t>
            </a:r>
            <a:r>
              <a:rPr lang="en-US" altLang="ko-KR" sz="12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MainActivity</a:t>
            </a:r>
            <a:r>
              <a:rPr lang="en-US" altLang="ko-KR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",</a:t>
            </a:r>
            <a:endParaRPr lang="en-US" altLang="ko-KR" sz="1200" i="1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onTextChanged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('"+s+"', "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+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String.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valueOf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(start)+", "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+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String.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valueOf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(before)+", "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+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String.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valueOf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(count</a:t>
            </a:r>
            <a:r>
              <a:rPr lang="en-US" altLang="ko-KR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)+")");</a:t>
            </a:r>
          </a:p>
          <a:p>
            <a:endParaRPr lang="en-US" altLang="ko-KR" sz="1200" i="1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s.toString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().length();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Button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btn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(Button)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button1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btn.setText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String.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valueOf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cnt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) + </a:t>
            </a:r>
            <a:r>
              <a:rPr lang="en-US" altLang="ko-KR" sz="1200" i="1" dirty="0">
                <a:solidFill>
                  <a:srgbClr val="2A00FF"/>
                </a:solidFill>
                <a:latin typeface="돋움체"/>
                <a:ea typeface="돋움체"/>
              </a:rPr>
              <a:t>"/"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 + 160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afterTextChanged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(Editable s) {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Log.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</a:t>
            </a:r>
            <a:r>
              <a:rPr lang="en-US" altLang="ko-KR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(“</a:t>
            </a:r>
            <a:r>
              <a:rPr lang="en-US" altLang="ko-KR" sz="12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MainActivity</a:t>
            </a:r>
            <a:r>
              <a:rPr lang="en-US" altLang="ko-KR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", 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"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afterTextChanged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");</a:t>
            </a:r>
          </a:p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actext.addTextChangedListener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txtw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519" y="1991141"/>
            <a:ext cx="302845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AutoCompleteTextView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"@+id/editText1"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latin typeface="맑은 고딕"/>
              </a:rPr>
              <a:t>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150dp“</a:t>
            </a:r>
          </a:p>
          <a:p>
            <a:r>
              <a:rPr lang="en-US" altLang="ko-KR" sz="1200" dirty="0" smtClean="0">
                <a:latin typeface="맑은 고딕"/>
              </a:rPr>
              <a:t>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android:maxLength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"160"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2145611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EditText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입력 문자열 길이 제한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27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0" t="16616" r="14102" b="15103"/>
          <a:stretch/>
        </p:blipFill>
        <p:spPr>
          <a:xfrm>
            <a:off x="4673599" y="1556886"/>
            <a:ext cx="3081867" cy="4921553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901266" y="3771551"/>
            <a:ext cx="601134" cy="36018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29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Soft Keyboard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InputMethodManager</a:t>
            </a:r>
            <a:r>
              <a:rPr lang="ko-KR" altLang="en-US" dirty="0" smtClean="0"/>
              <a:t> 이용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액티비티</a:t>
            </a:r>
            <a:r>
              <a:rPr lang="ko-KR" altLang="en-US" dirty="0" smtClean="0"/>
              <a:t> 시작할 때 키보드 바로 나타내기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EditText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이외의 영역을 터치했을 때 키보드 감추기</a:t>
            </a:r>
            <a:endParaRPr lang="en-US" altLang="ko-KR" dirty="0"/>
          </a:p>
          <a:p>
            <a:r>
              <a:rPr lang="ko-KR" altLang="en-US" dirty="0" smtClean="0"/>
              <a:t>키보드 나타내기</a:t>
            </a:r>
            <a:r>
              <a:rPr lang="en-US" altLang="ko-KR" dirty="0" smtClean="0"/>
              <a:t>/</a:t>
            </a:r>
            <a:r>
              <a:rPr lang="ko-KR" altLang="en-US" dirty="0" smtClean="0"/>
              <a:t>감추</a:t>
            </a:r>
            <a:r>
              <a:rPr lang="ko-KR" altLang="en-US" dirty="0"/>
              <a:t>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/MainActivity.java</a:t>
            </a:r>
          </a:p>
          <a:p>
            <a:pPr lvl="1"/>
            <a:r>
              <a:rPr lang="en-US" altLang="ko-KR" dirty="0" err="1" smtClean="0"/>
              <a:t>onClickButton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메서드</a:t>
            </a:r>
            <a:r>
              <a:rPr lang="ko-KR" altLang="en-US" dirty="0" smtClean="0"/>
              <a:t> 내부에 구현하여 버튼으로 작동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62267" y="3604595"/>
            <a:ext cx="7186583" cy="28623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mSoftKBD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onClickButton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(View v)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InputMethodManager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imm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InputMethodManager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getSystemService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Context.</a:t>
            </a:r>
            <a:r>
              <a:rPr lang="en-US" altLang="ko-KR" sz="1200" i="1" dirty="0" err="1">
                <a:solidFill>
                  <a:srgbClr val="0000C0"/>
                </a:solidFill>
                <a:latin typeface="돋움체"/>
                <a:ea typeface="돋움체"/>
              </a:rPr>
              <a:t>INPUT_METHOD_SERVICE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mSoftKBD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imm.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hideSoftInputFromWindow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editText1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).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getWindowToken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(), 0);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mSoftKBD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else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imm.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showSoftInput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editText1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), 0);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mSoftKBD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1708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Advanced Widget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01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90" y="1393049"/>
            <a:ext cx="3240677" cy="502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33" y="1393049"/>
            <a:ext cx="3175629" cy="500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Spinner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173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Spinner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28110" y="1561457"/>
            <a:ext cx="308340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>
                <a:solidFill>
                  <a:srgbClr val="3F7F7F"/>
                </a:solidFill>
                <a:latin typeface="맑은 고딕"/>
              </a:rPr>
              <a:t>Spinner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"@+id/spinner1"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android:prompt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"@string/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app_name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008080"/>
                </a:solidFill>
                <a:latin typeface="맑은 고딕"/>
              </a:rPr>
              <a:t>    /&gt;</a:t>
            </a:r>
            <a:endParaRPr lang="en-US" altLang="ko-KR" sz="1200" dirty="0">
              <a:solidFill>
                <a:srgbClr val="008080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28110" y="2897620"/>
            <a:ext cx="5282340" cy="33085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 public void 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onCreate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(Bundle 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savedInstanceState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) {</a:t>
            </a:r>
          </a:p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        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super.onCreate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savedInstanceState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        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setContentView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R.layout.</a:t>
            </a:r>
            <a:r>
              <a:rPr lang="en-US" altLang="ko-KR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main</a:t>
            </a:r>
            <a:r>
              <a:rPr lang="en-US" altLang="ko-K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);</a:t>
            </a:r>
          </a:p>
          <a:p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        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Spinner spin = (Spinner)</a:t>
            </a:r>
            <a:r>
              <a:rPr lang="en-US" altLang="ko-KR" sz="110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findViewById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(R.id.</a:t>
            </a:r>
            <a:r>
              <a:rPr lang="en-US" altLang="ko-KR" sz="1100" i="1" dirty="0">
                <a:solidFill>
                  <a:srgbClr val="0000C0"/>
                </a:solidFill>
                <a:latin typeface="돋움체" pitchFamily="49" charset="-127"/>
                <a:ea typeface="돋움체" pitchFamily="49" charset="-127"/>
              </a:rPr>
              <a:t>spinner1</a:t>
            </a:r>
            <a:r>
              <a:rPr lang="en-US" altLang="ko-KR" sz="1100" i="1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ArrayList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&lt;String&gt; </a:t>
            </a:r>
            <a:r>
              <a:rPr lang="en-US" altLang="ko-KR" sz="110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arrName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= </a:t>
            </a:r>
            <a:r>
              <a:rPr lang="en-US" altLang="ko-KR" sz="1100" dirty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</a:rPr>
              <a:t>new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ArrayList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&lt;String&gt;();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</a:t>
            </a:r>
            <a:r>
              <a:rPr lang="en-US" altLang="ko-KR" sz="1100" dirty="0" err="1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arrName.add</a:t>
            </a:r>
            <a:r>
              <a:rPr lang="en-US" altLang="ko-KR" sz="11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100" dirty="0">
                <a:solidFill>
                  <a:srgbClr val="2A00FF"/>
                </a:solidFill>
                <a:latin typeface="돋움체" pitchFamily="49" charset="-127"/>
                <a:ea typeface="돋움체" pitchFamily="49" charset="-127"/>
              </a:rPr>
              <a:t>"Google</a:t>
            </a:r>
            <a:r>
              <a:rPr lang="en-US" altLang="ko-KR" sz="1100" dirty="0" smtClean="0">
                <a:solidFill>
                  <a:srgbClr val="2A00FF"/>
                </a:solidFill>
                <a:latin typeface="돋움체" pitchFamily="49" charset="-127"/>
                <a:ea typeface="돋움체" pitchFamily="49" charset="-127"/>
              </a:rPr>
              <a:t>"</a:t>
            </a:r>
            <a:r>
              <a:rPr lang="en-US" altLang="ko-KR" sz="11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);</a:t>
            </a:r>
            <a:endParaRPr lang="en-US" altLang="ko-KR" sz="1100" dirty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arrName.add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100" dirty="0">
                <a:solidFill>
                  <a:srgbClr val="2A00FF"/>
                </a:solidFill>
                <a:latin typeface="돋움체" pitchFamily="49" charset="-127"/>
                <a:ea typeface="돋움체" pitchFamily="49" charset="-127"/>
              </a:rPr>
              <a:t>"Apple"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arrName.add(</a:t>
            </a:r>
            <a:r>
              <a:rPr lang="en-US" altLang="ko-KR" sz="1100" dirty="0">
                <a:solidFill>
                  <a:srgbClr val="2A00FF"/>
                </a:solidFill>
                <a:latin typeface="돋움체" pitchFamily="49" charset="-127"/>
                <a:ea typeface="돋움체" pitchFamily="49" charset="-127"/>
              </a:rPr>
              <a:t>"</a:t>
            </a:r>
            <a:r>
              <a:rPr lang="en-US" altLang="ko-KR" sz="1100" dirty="0" smtClean="0">
                <a:solidFill>
                  <a:srgbClr val="2A00FF"/>
                </a:solidFill>
                <a:latin typeface="돋움체" pitchFamily="49" charset="-127"/>
                <a:ea typeface="돋움체" pitchFamily="49" charset="-127"/>
              </a:rPr>
              <a:t>Nokia"</a:t>
            </a:r>
            <a:r>
              <a:rPr lang="en-US" altLang="ko-KR" sz="11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);</a:t>
            </a:r>
            <a:endParaRPr lang="en-US" altLang="ko-KR" sz="1100" dirty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arrName.add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100" dirty="0">
                <a:solidFill>
                  <a:srgbClr val="2A00FF"/>
                </a:solidFill>
                <a:latin typeface="돋움체" pitchFamily="49" charset="-127"/>
                <a:ea typeface="돋움체" pitchFamily="49" charset="-127"/>
              </a:rPr>
              <a:t>"RIM"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arrName.add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100" dirty="0">
                <a:solidFill>
                  <a:srgbClr val="2A00FF"/>
                </a:solidFill>
                <a:latin typeface="돋움체" pitchFamily="49" charset="-127"/>
                <a:ea typeface="돋움체" pitchFamily="49" charset="-127"/>
              </a:rPr>
              <a:t>"Microsoft"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);</a:t>
            </a:r>
            <a:r>
              <a:rPr lang="ko-KR" altLang="en-US" sz="11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ArrayAdapter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&lt;String&gt; </a:t>
            </a:r>
            <a:r>
              <a:rPr lang="en-US" altLang="ko-KR" sz="110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adapName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= </a:t>
            </a:r>
            <a:r>
              <a:rPr lang="en-US" altLang="ko-KR" sz="1100" dirty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</a:rPr>
              <a:t>new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ArrayAdapter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&lt;String&gt;(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    </a:t>
            </a:r>
            <a:r>
              <a:rPr lang="en-US" altLang="ko-KR" sz="1100" dirty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</a:rPr>
              <a:t>this</a:t>
            </a:r>
            <a:r>
              <a:rPr lang="en-US" altLang="ko-KR" sz="11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,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100" i="1" dirty="0" err="1" smtClean="0">
                <a:solidFill>
                  <a:schemeClr val="tx1"/>
                </a:solidFill>
                <a:latin typeface="돋움체"/>
                <a:ea typeface="돋움체"/>
              </a:rPr>
              <a:t>R.layout.item</a:t>
            </a:r>
            <a:r>
              <a:rPr lang="en-US" altLang="ko-KR" sz="1100" b="1" dirty="0" smtClean="0">
                <a:solidFill>
                  <a:schemeClr val="tx1"/>
                </a:solidFill>
                <a:latin typeface="돋움체"/>
                <a:ea typeface="돋움체"/>
              </a:rPr>
              <a:t>,</a:t>
            </a:r>
            <a:r>
              <a:rPr lang="en-US" altLang="ko-KR" sz="1100" dirty="0" smtClean="0">
                <a:solidFill>
                  <a:schemeClr val="tx1"/>
                </a:solidFill>
                <a:latin typeface="돋움체"/>
                <a:ea typeface="돋움체"/>
              </a:rPr>
              <a:t> </a:t>
            </a:r>
            <a:r>
              <a:rPr lang="en-US" altLang="ko-KR" sz="1100" i="1" dirty="0" smtClean="0">
                <a:solidFill>
                  <a:schemeClr val="tx1"/>
                </a:solidFill>
                <a:latin typeface="돋움체"/>
                <a:ea typeface="돋움체"/>
              </a:rPr>
              <a:t>R.id.name</a:t>
            </a:r>
            <a:r>
              <a:rPr lang="en-US" altLang="ko-KR" sz="1100" i="1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,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arrName</a:t>
            </a:r>
            <a:endParaRPr lang="en-US" altLang="ko-KR" sz="1100" dirty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spin.setAdapter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10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adapName</a:t>
            </a:r>
            <a:r>
              <a:rPr lang="en-US" altLang="ko-KR" sz="110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);</a:t>
            </a:r>
          </a:p>
          <a:p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   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62022" y="2451471"/>
            <a:ext cx="1790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00FF"/>
                </a:solidFill>
              </a:rPr>
              <a:t>Activity_main.xml</a:t>
            </a:r>
            <a:endParaRPr lang="ko-KR" altLang="en-US" sz="1400" dirty="0">
              <a:solidFill>
                <a:srgbClr val="0000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63181" y="6042015"/>
            <a:ext cx="1689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00FF"/>
                </a:solidFill>
              </a:rPr>
              <a:t>MainActivity.java</a:t>
            </a:r>
            <a:endParaRPr lang="ko-KR" alt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38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Spinner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smtClean="0"/>
              <a:t>/res/layout/item.xml </a:t>
            </a:r>
            <a:r>
              <a:rPr lang="ko-KR" altLang="en-US" dirty="0" smtClean="0"/>
              <a:t>파일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New -&gt; Layout resource file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51213" y="2189591"/>
            <a:ext cx="6301725" cy="32316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&lt;LinearLayout xmlns:android=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"http://schemas.android.com/apk/res/android"</a:t>
            </a:r>
          </a:p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   android:layout_width=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"match_parent"</a:t>
            </a:r>
          </a:p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    android:layout_height=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"match_parent" &gt;</a:t>
            </a:r>
          </a:p>
          <a:p>
            <a:endParaRPr lang="ko-KR" altLang="en-US" sz="1200" dirty="0">
              <a:latin typeface="Consolas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ko-KR" sz="1200" u="sng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1200" u="sng" dirty="0">
                <a:solidFill>
                  <a:srgbClr val="3F7F7F"/>
                </a:solidFill>
                <a:latin typeface="Consolas"/>
              </a:rPr>
              <a:t>ImageView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dirty="0">
                <a:solidFill>
                  <a:srgbClr val="7F007F"/>
                </a:solidFill>
                <a:latin typeface="Consolas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"@+id/imageView1"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dirty="0">
                <a:solidFill>
                  <a:srgbClr val="7F007F"/>
                </a:solidFill>
                <a:latin typeface="Consolas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"wrap_content"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dirty="0">
                <a:solidFill>
                  <a:srgbClr val="7F007F"/>
                </a:solidFill>
                <a:latin typeface="Consolas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"wrap_content"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dirty="0">
                <a:solidFill>
                  <a:srgbClr val="7F007F"/>
                </a:solidFill>
                <a:latin typeface="Consolas"/>
              </a:rPr>
              <a:t>android:src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"@drawable/ic_launcher" </a:t>
            </a:r>
            <a:r>
              <a:rPr lang="en-US" altLang="ko-KR" sz="1200" i="1" dirty="0">
                <a:solidFill>
                  <a:srgbClr val="008080"/>
                </a:solidFill>
                <a:latin typeface="Consolas"/>
              </a:rPr>
              <a:t>/&gt;</a:t>
            </a:r>
            <a:r>
              <a:rPr lang="en-US" altLang="ko-KR" sz="1200" i="1" dirty="0">
                <a:solidFill>
                  <a:srgbClr val="000000"/>
                </a:solidFill>
                <a:latin typeface="Consolas"/>
              </a:rPr>
              <a:t>    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Consolas"/>
              </a:rPr>
              <a:t>   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1200" dirty="0">
                <a:solidFill>
                  <a:srgbClr val="3F7F7F"/>
                </a:solidFill>
                <a:latin typeface="Consolas"/>
              </a:rPr>
              <a:t>TextView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dirty="0">
                <a:solidFill>
                  <a:srgbClr val="7F007F"/>
                </a:solidFill>
                <a:latin typeface="Consolas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"@+id/name"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dirty="0">
                <a:solidFill>
                  <a:srgbClr val="7F007F"/>
                </a:solidFill>
                <a:latin typeface="Consolas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"match_parent"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dirty="0">
                <a:solidFill>
                  <a:srgbClr val="7F007F"/>
                </a:solidFill>
                <a:latin typeface="Consolas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"40dp"</a:t>
            </a:r>
          </a:p>
          <a:p>
            <a:r>
              <a:rPr lang="en-US" altLang="ko-KR" sz="1200" dirty="0">
                <a:latin typeface="Consolas"/>
              </a:rPr>
              <a:t>        </a:t>
            </a:r>
            <a:r>
              <a:rPr lang="en-US" altLang="ko-KR" sz="1200" dirty="0">
                <a:solidFill>
                  <a:srgbClr val="7F007F"/>
                </a:solidFill>
                <a:latin typeface="Consolas"/>
              </a:rPr>
              <a:t>android:gravity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Consolas"/>
              </a:rPr>
              <a:t>"center_vertical"</a:t>
            </a:r>
          </a:p>
          <a:p>
            <a:r>
              <a:rPr lang="ko-KR" altLang="en-US" sz="1200" dirty="0">
                <a:latin typeface="Consolas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/&gt;</a:t>
            </a:r>
          </a:p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&lt;/LinearLayout&gt;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6008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Spinner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96" t="11761" r="9099" b="17322"/>
          <a:stretch/>
        </p:blipFill>
        <p:spPr>
          <a:xfrm>
            <a:off x="1302087" y="1588789"/>
            <a:ext cx="2813339" cy="446464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2" t="11761" r="9172" b="17322"/>
          <a:stretch/>
        </p:blipFill>
        <p:spPr>
          <a:xfrm>
            <a:off x="5204177" y="1568228"/>
            <a:ext cx="2810933" cy="448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Spinner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프롬프트 변경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/res/values/strings.xml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smtClean="0"/>
              <a:t>/res/layout/activity_main.xml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63405" y="2237313"/>
            <a:ext cx="4787401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&lt;resources&gt;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&lt;string name=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"hello"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&gt;Hello World, Act1!&lt;/string&gt;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&lt;string name=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app_name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&gt;UI Test&lt;/string&gt;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>
                <a:solidFill>
                  <a:srgbClr val="3F7F7F"/>
                </a:solidFill>
                <a:latin typeface="맑은 고딕"/>
              </a:rPr>
              <a:t>string </a:t>
            </a:r>
            <a:r>
              <a:rPr lang="en-US" altLang="ko-KR" sz="1200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spin_prompt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dirty="0" smtClean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ko-KR" altLang="en-US" sz="1200" dirty="0" smtClean="0">
                <a:solidFill>
                  <a:srgbClr val="000000"/>
                </a:solidFill>
                <a:latin typeface="맑은 고딕"/>
              </a:rPr>
              <a:t>가장 좋아하는 회사는</a:t>
            </a:r>
            <a:r>
              <a:rPr lang="en-US" altLang="ko-KR" sz="1200" dirty="0" smtClean="0">
                <a:solidFill>
                  <a:srgbClr val="000000"/>
                </a:solidFill>
                <a:latin typeface="맑은 고딕"/>
              </a:rPr>
              <a:t>?</a:t>
            </a:r>
            <a:r>
              <a:rPr lang="en-US" altLang="ko-KR" sz="1200" dirty="0" smtClean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1200" dirty="0">
                <a:solidFill>
                  <a:srgbClr val="3F7F7F"/>
                </a:solidFill>
                <a:latin typeface="맑은 고딕"/>
              </a:rPr>
              <a:t>string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&lt;/resources&gt;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3405" y="3725923"/>
            <a:ext cx="3276666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&lt;Spinner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"@+id/spinner1"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wrap_content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android:prompt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string/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맑은 고딕"/>
              </a:rPr>
              <a:t>spin_prompt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"</a:t>
            </a:r>
            <a:endParaRPr lang="en-US" altLang="ko-KR" sz="1200" i="1" dirty="0">
              <a:solidFill>
                <a:srgbClr val="2A00FF"/>
              </a:solidFill>
              <a:latin typeface="맑은 고딕"/>
            </a:endParaRP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/&gt;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85845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Spinner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목록 데이터를 리소스로 작성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/res/values/arrays.xml </a:t>
            </a:r>
            <a:r>
              <a:rPr lang="ko-KR" altLang="en-US" dirty="0" smtClean="0"/>
              <a:t>파일을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Value(</a:t>
            </a:r>
            <a:r>
              <a:rPr lang="ko-KR" altLang="en-US" dirty="0" err="1" smtClean="0"/>
              <a:t>우클릭</a:t>
            </a:r>
            <a:r>
              <a:rPr lang="en-US" altLang="ko-KR" dirty="0" smtClean="0"/>
              <a:t>) -&gt; New -&gt; XML -&gt; Values XML File</a:t>
            </a:r>
          </a:p>
          <a:p>
            <a:pPr lvl="1"/>
            <a:r>
              <a:rPr lang="en-US" altLang="ko-KR" dirty="0" smtClean="0"/>
              <a:t>XML </a:t>
            </a:r>
            <a:r>
              <a:rPr lang="ko-KR" altLang="en-US" dirty="0" smtClean="0"/>
              <a:t>이름 </a:t>
            </a:r>
            <a:r>
              <a:rPr lang="en-US" altLang="ko-KR" dirty="0" smtClean="0"/>
              <a:t>: array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230346" y="2928255"/>
            <a:ext cx="3413114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&lt;resources&gt;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1200" dirty="0">
                <a:solidFill>
                  <a:srgbClr val="3F7F7F"/>
                </a:solidFill>
                <a:latin typeface="Consolas"/>
              </a:rPr>
              <a:t>string-array </a:t>
            </a:r>
            <a:r>
              <a:rPr lang="en-US" altLang="ko-KR" sz="1200" dirty="0">
                <a:solidFill>
                  <a:srgbClr val="7F007F"/>
                </a:solidFill>
                <a:latin typeface="Consolas"/>
              </a:rPr>
              <a:t>name</a:t>
            </a:r>
            <a:r>
              <a:rPr lang="en-US" altLang="ko-KR" sz="1200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ko-KR" sz="1200" i="1" dirty="0" smtClean="0">
                <a:solidFill>
                  <a:srgbClr val="2A00FF"/>
                </a:solidFill>
                <a:latin typeface="Consolas"/>
              </a:rPr>
              <a:t>“company"</a:t>
            </a:r>
            <a:r>
              <a:rPr lang="en-US" altLang="ko-KR" sz="1200" i="1" dirty="0" smtClean="0">
                <a:solidFill>
                  <a:srgbClr val="008080"/>
                </a:solidFill>
                <a:latin typeface="Consolas"/>
              </a:rPr>
              <a:t>&gt;</a:t>
            </a:r>
            <a:endParaRPr lang="en-US" altLang="ko-KR" sz="1200" i="1" dirty="0">
              <a:solidFill>
                <a:srgbClr val="008080"/>
              </a:solidFill>
              <a:latin typeface="Consolas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1200" dirty="0" smtClean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1200" dirty="0" smtClean="0">
                <a:solidFill>
                  <a:srgbClr val="008080"/>
                </a:solidFill>
                <a:latin typeface="Consolas"/>
              </a:rPr>
              <a:t>&gt;</a:t>
            </a:r>
            <a:r>
              <a:rPr lang="en-US" altLang="ko-KR" sz="1200" dirty="0" smtClean="0">
                <a:solidFill>
                  <a:schemeClr val="tx1"/>
                </a:solidFill>
                <a:latin typeface="Consolas"/>
              </a:rPr>
              <a:t>Google</a:t>
            </a:r>
            <a:r>
              <a:rPr lang="en-US" altLang="ko-KR" sz="1200" dirty="0" smtClean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12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12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Apple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12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1200" dirty="0" smtClean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1200" dirty="0" smtClean="0">
                <a:solidFill>
                  <a:srgbClr val="008080"/>
                </a:solidFill>
                <a:latin typeface="Consolas"/>
              </a:rPr>
              <a:t>&gt;</a:t>
            </a:r>
            <a:r>
              <a:rPr lang="en-US" altLang="ko-KR" sz="1200" dirty="0" smtClean="0">
                <a:solidFill>
                  <a:srgbClr val="000000"/>
                </a:solidFill>
                <a:latin typeface="Consolas"/>
              </a:rPr>
              <a:t>Nokia</a:t>
            </a:r>
            <a:r>
              <a:rPr lang="en-US" altLang="ko-KR" sz="1200" dirty="0" smtClean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12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12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RIM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12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&lt;</a:t>
            </a:r>
            <a:r>
              <a:rPr lang="en-US" altLang="ko-KR" sz="12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Microsoft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1200" dirty="0">
                <a:solidFill>
                  <a:srgbClr val="3F7F7F"/>
                </a:solidFill>
                <a:latin typeface="Consolas"/>
              </a:rPr>
              <a:t>item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&gt;</a:t>
            </a:r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       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&lt;/</a:t>
            </a:r>
            <a:r>
              <a:rPr lang="en-US" altLang="ko-KR" sz="1200" dirty="0">
                <a:solidFill>
                  <a:srgbClr val="3F7F7F"/>
                </a:solidFill>
                <a:latin typeface="Consolas"/>
              </a:rPr>
              <a:t>string-array</a:t>
            </a:r>
            <a:r>
              <a:rPr lang="en-US" altLang="ko-KR" sz="1200" dirty="0">
                <a:solidFill>
                  <a:srgbClr val="008080"/>
                </a:solidFill>
                <a:latin typeface="Consolas"/>
              </a:rPr>
              <a:t>&gt;</a:t>
            </a:r>
          </a:p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Consolas"/>
              </a:rPr>
              <a:t>&lt;/resources&gt;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1455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Spinner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목록 데이터를 리소스로 작성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/MainActivity.java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263405" y="2238040"/>
            <a:ext cx="4416594" cy="29700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void 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R.layout.</a:t>
            </a:r>
            <a:r>
              <a:rPr lang="en-US" altLang="ko-KR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main</a:t>
            </a:r>
            <a:r>
              <a:rPr lang="en-US" altLang="ko-K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        Spinner spin = (Spinner)</a:t>
            </a:r>
            <a:r>
              <a:rPr lang="en-US" altLang="ko-KR" sz="11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100" i="1" dirty="0">
                <a:solidFill>
                  <a:srgbClr val="0000C0"/>
                </a:solidFill>
                <a:latin typeface="돋움체"/>
                <a:ea typeface="돋움체"/>
              </a:rPr>
              <a:t>spinner1</a:t>
            </a:r>
            <a:r>
              <a:rPr lang="en-US" altLang="ko-KR" sz="11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100" dirty="0">
              <a:latin typeface="돋움체"/>
              <a:ea typeface="돋움체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/>
                <a:ea typeface="돋움체"/>
              </a:rPr>
              <a:t>ArrayAdapter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&lt;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D4D4D4"/>
                </a:highlight>
                <a:latin typeface="돋움체"/>
                <a:ea typeface="돋움체"/>
              </a:rPr>
              <a:t>CharSequence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D4D4D4"/>
                </a:highlight>
                <a:latin typeface="돋움체"/>
                <a:ea typeface="돋움체"/>
              </a:rPr>
              <a:t>&gt;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D4D4D4"/>
                </a:highlight>
                <a:latin typeface="돋움체"/>
                <a:ea typeface="돋움체"/>
              </a:rPr>
              <a:t>adapName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D4D4D4"/>
                </a:highlight>
                <a:latin typeface="돋움체"/>
                <a:ea typeface="돋움체"/>
              </a:rPr>
              <a:t> =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       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</a:t>
            </a:r>
            <a:r>
              <a:rPr lang="en-US" altLang="ko-KR" sz="1100" dirty="0" err="1">
                <a:solidFill>
                  <a:srgbClr val="000000"/>
                </a:solidFill>
                <a:latin typeface="돋움체"/>
                <a:ea typeface="돋움체"/>
              </a:rPr>
              <a:t>ArrayAdapter.</a:t>
            </a:r>
            <a:r>
              <a:rPr lang="en-US" altLang="ko-KR" sz="1100" i="1" dirty="0" err="1">
                <a:solidFill>
                  <a:srgbClr val="000000"/>
                </a:solidFill>
                <a:latin typeface="돋움체"/>
                <a:ea typeface="돋움체"/>
              </a:rPr>
              <a:t>createFromResource</a:t>
            </a:r>
            <a:r>
              <a:rPr lang="en-US" altLang="ko-KR" sz="11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1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R.array.</a:t>
            </a:r>
            <a:r>
              <a:rPr lang="en-US" altLang="ko-KR" sz="1100" i="1" dirty="0" smtClean="0">
                <a:solidFill>
                  <a:srgbClr val="0000C0"/>
                </a:solidFill>
                <a:latin typeface="돋움체"/>
                <a:ea typeface="돋움체"/>
              </a:rPr>
              <a:t>company</a:t>
            </a:r>
            <a:r>
              <a:rPr lang="en-US" altLang="ko-KR" sz="1100" i="1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  <a:endParaRPr lang="en-US" altLang="ko-KR" sz="1100" i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100" b="1" dirty="0" err="1">
                <a:solidFill>
                  <a:srgbClr val="000000"/>
                </a:solidFill>
                <a:latin typeface="돋움체"/>
                <a:ea typeface="돋움체"/>
              </a:rPr>
              <a:t>android.R.layout.</a:t>
            </a:r>
            <a:r>
              <a:rPr lang="en-US" altLang="ko-KR" sz="1100" b="1" i="1" dirty="0" err="1">
                <a:solidFill>
                  <a:srgbClr val="0000C0"/>
                </a:solidFill>
                <a:latin typeface="돋움체"/>
                <a:ea typeface="돋움체"/>
              </a:rPr>
              <a:t>simple_spinner_item</a:t>
            </a:r>
            <a:endParaRPr lang="en-US" altLang="ko-KR" sz="1100" b="1" i="1" dirty="0">
              <a:solidFill>
                <a:srgbClr val="0000C0"/>
              </a:solidFill>
              <a:latin typeface="돋움체"/>
              <a:ea typeface="돋움체"/>
            </a:endParaRPr>
          </a:p>
          <a:p>
            <a:r>
              <a:rPr lang="ko-KR" altLang="en-US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/>
                <a:ea typeface="돋움체"/>
              </a:rPr>
              <a:t>adapName.setDropDownViewResource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1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android.R.layout.</a:t>
            </a:r>
            <a:r>
              <a:rPr lang="en-US" altLang="ko-KR" sz="1100" b="1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simple_spinner_dropdown_item</a:t>
            </a:r>
            <a:r>
              <a:rPr lang="en-US" altLang="ko-KR" sz="11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/>
                <a:ea typeface="돋움체"/>
              </a:rPr>
              <a:t>spin.setAdapter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100" dirty="0" err="1">
                <a:solidFill>
                  <a:srgbClr val="000000"/>
                </a:solidFill>
                <a:latin typeface="돋움체"/>
                <a:ea typeface="돋움체"/>
              </a:rPr>
              <a:t>adapName</a:t>
            </a:r>
            <a:r>
              <a:rPr lang="en-US" altLang="ko-KR" sz="11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4786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Spinner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이벤트 </a:t>
            </a:r>
            <a:r>
              <a:rPr lang="ko-KR" altLang="en-US" dirty="0" err="1" smtClean="0"/>
              <a:t>리스너</a:t>
            </a:r>
            <a:r>
              <a:rPr lang="ko-KR" altLang="en-US" dirty="0" smtClean="0"/>
              <a:t> 설치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/MainActivity.java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263404" y="2238040"/>
            <a:ext cx="7508807" cy="29700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adapName.setDropDownViewResource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</a:t>
            </a:r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android.R.layout.</a:t>
            </a:r>
            <a:r>
              <a:rPr lang="en-US" altLang="ko-KR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simple_spinner_dropdown_item</a:t>
            </a:r>
            <a:r>
              <a:rPr lang="en-US" altLang="ko-K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spin.setAdapter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adapName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spin.setOnItemSelectedListener(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100" dirty="0" smtClean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100" dirty="0" err="1" smtClean="0">
                <a:solidFill>
                  <a:srgbClr val="000000"/>
                </a:solidFill>
                <a:latin typeface="돋움체"/>
                <a:ea typeface="돋움체"/>
              </a:rPr>
              <a:t>AdapterView.</a:t>
            </a:r>
            <a:r>
              <a:rPr lang="en-US" altLang="ko-KR" sz="11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OnItemSelectedListener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100" dirty="0" smtClean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100" dirty="0" smtClean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onItemSelected( AdapterView&lt;?&gt; parent, View v, </a:t>
            </a:r>
            <a:r>
              <a:rPr lang="en-US" altLang="ko-KR" sz="1100" dirty="0" smtClean="0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pos, </a:t>
            </a:r>
            <a:r>
              <a:rPr lang="en-US" altLang="ko-KR" sz="1100" dirty="0" smtClean="0">
                <a:solidFill>
                  <a:srgbClr val="7F0055"/>
                </a:solidFill>
                <a:latin typeface="돋움체"/>
                <a:ea typeface="돋움체"/>
              </a:rPr>
              <a:t>long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id) {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100" dirty="0" err="1" smtClean="0">
                <a:solidFill>
                  <a:srgbClr val="000000"/>
                </a:solidFill>
                <a:latin typeface="돋움체"/>
                <a:ea typeface="돋움체"/>
              </a:rPr>
              <a:t>Log.</a:t>
            </a:r>
            <a:r>
              <a:rPr lang="en-US" altLang="ko-KR" sz="1100" i="1" dirty="0" err="1" smtClean="0">
                <a:solidFill>
                  <a:srgbClr val="000000"/>
                </a:solidFill>
                <a:latin typeface="돋움체"/>
                <a:ea typeface="돋움체"/>
              </a:rPr>
              <a:t>i</a:t>
            </a:r>
            <a:r>
              <a:rPr lang="en-US" altLang="ko-KR" sz="11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100" i="1" dirty="0" smtClean="0">
                <a:solidFill>
                  <a:srgbClr val="2A00FF"/>
                </a:solidFill>
                <a:latin typeface="돋움체"/>
                <a:ea typeface="돋움체"/>
              </a:rPr>
              <a:t>“MainActivity.spinner1"</a:t>
            </a:r>
            <a:r>
              <a:rPr lang="en-US" altLang="ko-KR" sz="1100" i="1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100" dirty="0" smtClean="0">
                <a:solidFill>
                  <a:srgbClr val="2A00FF"/>
                </a:solidFill>
                <a:latin typeface="돋움체"/>
                <a:ea typeface="돋움체"/>
              </a:rPr>
              <a:t>"pos = "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+ pos + </a:t>
            </a:r>
            <a:r>
              <a:rPr lang="en-US" altLang="ko-KR" sz="1100" dirty="0" smtClean="0">
                <a:solidFill>
                  <a:srgbClr val="2A00FF"/>
                </a:solidFill>
                <a:latin typeface="돋움체"/>
                <a:ea typeface="돋움체"/>
              </a:rPr>
              <a:t>", id = "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+ id);</a:t>
            </a:r>
          </a:p>
          <a:p>
            <a:r>
              <a:rPr lang="ko-KR" altLang="en-US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100" dirty="0" smtClean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100" dirty="0" smtClean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onNothingSelected( AdapterView&lt;?&gt; parent) {</a:t>
            </a:r>
          </a:p>
          <a:p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100" dirty="0" err="1" smtClean="0">
                <a:solidFill>
                  <a:srgbClr val="000000"/>
                </a:solidFill>
                <a:latin typeface="돋움체"/>
                <a:ea typeface="돋움체"/>
              </a:rPr>
              <a:t>Log.</a:t>
            </a:r>
            <a:r>
              <a:rPr lang="en-US" altLang="ko-KR" sz="1100" i="1" dirty="0" err="1" smtClean="0">
                <a:solidFill>
                  <a:srgbClr val="000000"/>
                </a:solidFill>
                <a:latin typeface="돋움체"/>
                <a:ea typeface="돋움체"/>
              </a:rPr>
              <a:t>i</a:t>
            </a:r>
            <a:r>
              <a:rPr lang="en-US" altLang="ko-KR" sz="11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100" i="1" dirty="0" smtClean="0">
                <a:solidFill>
                  <a:srgbClr val="2A00FF"/>
                </a:solidFill>
                <a:latin typeface="돋움체"/>
                <a:ea typeface="돋움체"/>
              </a:rPr>
              <a:t>“MainActivity.spinner1"</a:t>
            </a:r>
            <a:r>
              <a:rPr lang="en-US" altLang="ko-KR" sz="1100" i="1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1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100" i="1" dirty="0" smtClean="0">
                <a:solidFill>
                  <a:srgbClr val="2A00FF"/>
                </a:solidFill>
                <a:latin typeface="돋움체"/>
                <a:ea typeface="돋움체"/>
              </a:rPr>
              <a:t>선택 없음</a:t>
            </a:r>
            <a:r>
              <a:rPr lang="en-US" altLang="ko-KR" sz="11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100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1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1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5433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GridView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그리드뷰와</a:t>
            </a:r>
            <a:r>
              <a:rPr lang="ko-KR" altLang="en-US" dirty="0" smtClean="0"/>
              <a:t> 이미지 리소스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Android -&gt; Project</a:t>
            </a:r>
            <a:r>
              <a:rPr lang="ko-KR" altLang="en-US" dirty="0" smtClean="0"/>
              <a:t>로 변경 후 </a:t>
            </a:r>
            <a:r>
              <a:rPr lang="en-US" altLang="ko-KR" dirty="0" err="1" smtClean="0"/>
              <a:t>drawable</a:t>
            </a:r>
            <a:r>
              <a:rPr lang="en-US" altLang="ko-KR" dirty="0" smtClean="0"/>
              <a:t> </a:t>
            </a:r>
            <a:r>
              <a:rPr lang="ko-KR" altLang="en-US" dirty="0" smtClean="0"/>
              <a:t>폴더에 드래그 </a:t>
            </a:r>
            <a:r>
              <a:rPr lang="en-US" altLang="ko-KR" dirty="0" smtClean="0"/>
              <a:t>&amp; </a:t>
            </a:r>
            <a:r>
              <a:rPr lang="ko-KR" altLang="en-US" dirty="0" err="1" smtClean="0"/>
              <a:t>드랍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구글에서</a:t>
            </a:r>
            <a:r>
              <a:rPr lang="ko-KR" altLang="en-US" dirty="0" smtClean="0"/>
              <a:t> </a:t>
            </a:r>
            <a:r>
              <a:rPr lang="en-US" altLang="ko-KR" dirty="0" smtClean="0"/>
              <a:t>“android logo”</a:t>
            </a:r>
            <a:r>
              <a:rPr lang="ko-KR" altLang="en-US" dirty="0" smtClean="0"/>
              <a:t>로 검색한 이미지 몇 장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94088" y="3055770"/>
            <a:ext cx="3086166" cy="212365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GridView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"@+id/gridView1"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android:padding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"30dp"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android:verticalSpacing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"30dp"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android:horizontalSpacing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"30dp"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android:numColumns</a:t>
            </a:r>
            <a:r>
              <a:rPr lang="en-US" altLang="ko-KR" sz="12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 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auto_fit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 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android:columnWidth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"60dp"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android:gravity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"center"</a:t>
            </a:r>
          </a:p>
          <a:p>
            <a:r>
              <a:rPr lang="en-US" altLang="ko-KR" sz="1200" dirty="0" smtClean="0">
                <a:solidFill>
                  <a:srgbClr val="008080"/>
                </a:solidFill>
                <a:latin typeface="맑은 고딕"/>
              </a:rPr>
              <a:t>    /&gt;</a:t>
            </a:r>
            <a:endParaRPr lang="en-US" altLang="ko-KR" sz="1200" dirty="0">
              <a:solidFill>
                <a:srgbClr val="008080"/>
              </a:solidFill>
              <a:latin typeface="맑은 고딕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796" y="2746375"/>
            <a:ext cx="3352800" cy="3609975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4851400" y="2705552"/>
            <a:ext cx="1930400" cy="3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5964040" y="4930204"/>
            <a:ext cx="2316359" cy="4630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97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GridView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그리드뷰</a:t>
            </a:r>
            <a:r>
              <a:rPr lang="ko-KR" altLang="en-US" dirty="0" smtClean="0"/>
              <a:t> 전용 </a:t>
            </a:r>
            <a:r>
              <a:rPr lang="ko-KR" altLang="en-US" dirty="0" err="1" smtClean="0"/>
              <a:t>커스텀</a:t>
            </a:r>
            <a:r>
              <a:rPr lang="ko-KR" altLang="en-US" dirty="0" smtClean="0"/>
              <a:t> 어댑터 제작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15535" y="1959021"/>
            <a:ext cx="5032147" cy="47089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MainActivity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extends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AppCompatActivity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/** Called when the activity is first created. */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@Override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R.layout.</a:t>
            </a:r>
            <a:r>
              <a:rPr lang="en-US" altLang="ko-KR" sz="12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activity_main</a:t>
            </a:r>
            <a:r>
              <a:rPr lang="en-US" altLang="ko-KR" sz="12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  <a:endParaRPr lang="en-US" altLang="ko-KR" sz="1200" i="1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GridView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grid =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GridView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gridView1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grid.setAdapter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GridAdapter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));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GridAdapter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extends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BaseAdapter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highlight>
                  <a:srgbClr val="D4D4D4"/>
                </a:highlight>
                <a:latin typeface="돋움체"/>
                <a:ea typeface="돋움체"/>
              </a:rPr>
              <a:t>Context </a:t>
            </a:r>
            <a:r>
              <a:rPr lang="en-US" altLang="ko-KR" sz="1200" dirty="0" err="1">
                <a:solidFill>
                  <a:srgbClr val="0000C0"/>
                </a:solidFill>
                <a:highlight>
                  <a:srgbClr val="D4D4D4"/>
                </a:highlight>
                <a:latin typeface="돋움체"/>
                <a:ea typeface="돋움체"/>
              </a:rPr>
              <a:t>mContext</a:t>
            </a:r>
            <a:r>
              <a:rPr lang="en-US" altLang="ko-KR" sz="1200" dirty="0">
                <a:solidFill>
                  <a:srgbClr val="000000"/>
                </a:solidFill>
                <a:highlight>
                  <a:srgbClr val="D4D4D4"/>
                </a:highlight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Integer[]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mImageId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logo1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logo2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logo3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logo4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R.drawable.</a:t>
            </a:r>
            <a:r>
              <a:rPr lang="en-US" altLang="ko-KR" sz="1200" i="1" dirty="0" smtClean="0">
                <a:solidFill>
                  <a:srgbClr val="0000C0"/>
                </a:solidFill>
                <a:latin typeface="돋움체"/>
                <a:ea typeface="돋움체"/>
              </a:rPr>
              <a:t>logo1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R.drawable.</a:t>
            </a:r>
            <a:r>
              <a:rPr lang="en-US" altLang="ko-KR" sz="1200" i="1" dirty="0" smtClean="0">
                <a:solidFill>
                  <a:srgbClr val="0000C0"/>
                </a:solidFill>
                <a:latin typeface="돋움체"/>
                <a:ea typeface="돋움체"/>
              </a:rPr>
              <a:t>logo2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R.drawable.</a:t>
            </a:r>
            <a:r>
              <a:rPr lang="en-US" altLang="ko-KR" sz="1200" i="1" dirty="0" smtClean="0">
                <a:solidFill>
                  <a:srgbClr val="0000C0"/>
                </a:solidFill>
                <a:latin typeface="돋움체"/>
                <a:ea typeface="돋움체"/>
              </a:rPr>
              <a:t>logo3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R.drawable.</a:t>
            </a:r>
            <a:r>
              <a:rPr lang="en-US" altLang="ko-KR" sz="1200" i="1" dirty="0" smtClean="0">
                <a:solidFill>
                  <a:srgbClr val="0000C0"/>
                </a:solidFill>
                <a:latin typeface="돋움체"/>
                <a:ea typeface="돋움체"/>
              </a:rPr>
              <a:t>logo4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logo1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logo2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  <a:endParaRPr lang="en-US" altLang="ko-KR" sz="1200" i="1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285418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GridView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그리드뷰</a:t>
            </a:r>
            <a:r>
              <a:rPr lang="ko-KR" altLang="en-US" dirty="0" smtClean="0"/>
              <a:t> 전용 </a:t>
            </a:r>
            <a:r>
              <a:rPr lang="ko-KR" altLang="en-US" dirty="0" err="1" smtClean="0"/>
              <a:t>커스텀</a:t>
            </a:r>
            <a:r>
              <a:rPr lang="ko-KR" altLang="en-US" dirty="0" smtClean="0"/>
              <a:t> 어댑터 제작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15535" y="1959021"/>
            <a:ext cx="5570756" cy="47089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R.drawable.</a:t>
            </a:r>
            <a:r>
              <a:rPr lang="en-US" altLang="ko-KR" sz="1200" i="1" dirty="0" smtClean="0">
                <a:solidFill>
                  <a:srgbClr val="0000C0"/>
                </a:solidFill>
                <a:latin typeface="돋움체"/>
                <a:ea typeface="돋움체"/>
              </a:rPr>
              <a:t>logo3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R.drawable.</a:t>
            </a:r>
            <a:r>
              <a:rPr lang="en-US" altLang="ko-KR" sz="1200" i="1" dirty="0" smtClean="0">
                <a:solidFill>
                  <a:srgbClr val="0000C0"/>
                </a:solidFill>
                <a:latin typeface="돋움체"/>
                <a:ea typeface="돋움체"/>
              </a:rPr>
              <a:t>logo4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logo1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logo2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logo3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logo4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logo1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logo2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logo3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logo4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GridAdapter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000000"/>
                </a:solidFill>
                <a:highlight>
                  <a:srgbClr val="D4D4D4"/>
                </a:highlight>
                <a:latin typeface="돋움체"/>
                <a:ea typeface="돋움체"/>
              </a:rPr>
              <a:t>Context c)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mContext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c;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View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getView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pos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View v,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ViewGroup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p)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ImageView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(v ==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ImageView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mContext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img.setLayoutParams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GridView.LayoutParams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(75,75));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img.setAdjustViewBounds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img.setScaleType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ImageView.ScaleType.</a:t>
            </a:r>
            <a:r>
              <a:rPr lang="en-US" altLang="ko-KR" sz="1200" i="1" dirty="0" err="1">
                <a:solidFill>
                  <a:srgbClr val="0000C0"/>
                </a:solidFill>
                <a:latin typeface="돋움체"/>
                <a:ea typeface="돋움체"/>
              </a:rPr>
              <a:t>CENTER_CROP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222942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GridView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그리드뷰</a:t>
            </a:r>
            <a:r>
              <a:rPr lang="ko-KR" altLang="en-US" dirty="0" smtClean="0"/>
              <a:t> 전용 </a:t>
            </a:r>
            <a:r>
              <a:rPr lang="ko-KR" altLang="en-US" dirty="0" err="1" smtClean="0"/>
              <a:t>커스텀</a:t>
            </a:r>
            <a:r>
              <a:rPr lang="ko-KR" altLang="en-US" dirty="0" smtClean="0"/>
              <a:t> 어댑터 제작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41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15535" y="1959021"/>
            <a:ext cx="3877985" cy="41549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else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ImageView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)v;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img.setImageResource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mImageId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[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pos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]);</a:t>
            </a:r>
          </a:p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img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getCount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mImageId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Object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getItem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pos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pos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long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getItemId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pos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pos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rgbClr val="008080"/>
              </a:solidFill>
              <a:latin typeface="맑은 고딕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463" y="1497340"/>
            <a:ext cx="3116766" cy="4914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87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17153" y="1412369"/>
            <a:ext cx="4878259" cy="526297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MainActivity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extends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AppCompatActivity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ViewFlipper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u="sng" dirty="0" err="1">
                <a:solidFill>
                  <a:srgbClr val="0000C0"/>
                </a:solidFill>
                <a:latin typeface="돋움체"/>
                <a:ea typeface="돋움체"/>
              </a:rPr>
              <a:t>mFlip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/** Called when the activity is first created. */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@Override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R.layout.</a:t>
            </a:r>
            <a:r>
              <a:rPr lang="en-US" altLang="ko-KR" sz="12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activity_main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u="sng" dirty="0" err="1">
                <a:solidFill>
                  <a:srgbClr val="0000C0"/>
                </a:solidFill>
                <a:latin typeface="돋움체"/>
                <a:ea typeface="돋움체"/>
              </a:rPr>
              <a:t>mFlip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ViewFlipper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i="1" dirty="0">
                <a:solidFill>
                  <a:srgbClr val="0000C0"/>
                </a:solidFill>
                <a:latin typeface="돋움체"/>
                <a:ea typeface="돋움체"/>
              </a:rPr>
              <a:t>viewFlipper1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u="sng" dirty="0" err="1">
                <a:solidFill>
                  <a:srgbClr val="0000C0"/>
                </a:solidFill>
                <a:latin typeface="돋움체"/>
                <a:ea typeface="돋움체"/>
              </a:rPr>
              <a:t>mFlip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.setOnClickListener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View.OnClickListener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onClick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childId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= </a:t>
            </a:r>
            <a:r>
              <a:rPr lang="en-US" altLang="ko-KR" sz="1200" u="sng" dirty="0" err="1">
                <a:solidFill>
                  <a:srgbClr val="0000C0"/>
                </a:solidFill>
                <a:latin typeface="돋움체"/>
                <a:ea typeface="돋움체"/>
              </a:rPr>
              <a:t>mFlip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getDisplayedChild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childCnt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u="sng" dirty="0" err="1">
                <a:solidFill>
                  <a:srgbClr val="0000C0"/>
                </a:solidFill>
                <a:latin typeface="돋움체"/>
                <a:ea typeface="돋움체"/>
              </a:rPr>
              <a:t>mFlip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.getChildCount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endParaRPr lang="en-US" altLang="ko-KR" sz="1200" dirty="0" smtClean="0">
              <a:solidFill>
                <a:srgbClr val="7F0055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       if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childId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+ 1 ==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childCnt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200" u="sng" dirty="0" err="1">
                <a:solidFill>
                  <a:srgbClr val="0000C0"/>
                </a:solidFill>
                <a:latin typeface="돋움체"/>
                <a:ea typeface="돋움체"/>
              </a:rPr>
              <a:t>mFlip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.setDisplayedChild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(0);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else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200" u="sng" dirty="0" err="1">
                <a:solidFill>
                  <a:srgbClr val="0000C0"/>
                </a:solidFill>
                <a:latin typeface="돋움체"/>
                <a:ea typeface="돋움체"/>
              </a:rPr>
              <a:t>mFlip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setDisplayedChild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childId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+ 1);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ViewFlipper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78215" y="1412370"/>
            <a:ext cx="3304174" cy="489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ViewFlipper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"@+id/viewFlipper1"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008080"/>
                </a:solidFill>
                <a:latin typeface="맑은 고딕"/>
              </a:rPr>
              <a:t>    &gt;</a:t>
            </a:r>
            <a:endParaRPr lang="en-US" altLang="ko-KR" sz="1200" dirty="0">
              <a:solidFill>
                <a:srgbClr val="008080"/>
              </a:solidFill>
              <a:latin typeface="맑은 고딕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ImageView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>
                <a:latin typeface="맑은 고딕"/>
              </a:rPr>
              <a:t>    </a:t>
            </a:r>
            <a:r>
              <a:rPr lang="en-US" altLang="ko-KR" sz="1200" dirty="0" smtClean="0"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android:src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drawable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/logo1"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200" dirty="0" smtClean="0">
                <a:latin typeface="맑은 고딕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ImageView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android:src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drawable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/logo2"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200" dirty="0" smtClean="0">
                <a:latin typeface="맑은 고딕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ImageView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android:src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drawable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/logo3"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200" dirty="0" smtClean="0">
                <a:latin typeface="맑은 고딕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ImageView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android:src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drawable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/logo4"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200" dirty="0" smtClean="0">
                <a:latin typeface="맑은 고딕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ViewFlipper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11775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77805" y="2058411"/>
            <a:ext cx="4851008" cy="41549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public void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onClick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childId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= </a:t>
            </a:r>
            <a:r>
              <a:rPr lang="en-US" altLang="ko-KR" sz="1200" u="sng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mFlip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.</a:t>
            </a:r>
            <a:r>
              <a:rPr lang="en-US" altLang="ko-KR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getDisplayedChild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childCnt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</a:t>
            </a:r>
            <a:r>
              <a:rPr lang="en-US" altLang="ko-KR" sz="1200" u="sng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mFlip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.getChildCount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endParaRPr lang="en-US" altLang="ko-KR" sz="1200" dirty="0" smtClean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mFlip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.setInAnimation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AnimationUtils.</a:t>
            </a:r>
            <a:r>
              <a:rPr lang="en-US" altLang="ko-KR" sz="1200" i="1" dirty="0" err="1" smtClean="0">
                <a:solidFill>
                  <a:srgbClr val="000000"/>
                </a:solidFill>
                <a:latin typeface="돋움체"/>
                <a:ea typeface="돋움체"/>
              </a:rPr>
              <a:t>loadAnimation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MainActivity.</a:t>
            </a:r>
            <a:r>
              <a:rPr lang="en-US" altLang="ko-KR" sz="1200" b="1" dirty="0" err="1" smtClean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android.R.anim.</a:t>
            </a:r>
            <a:r>
              <a:rPr lang="en-US" altLang="ko-KR" sz="1200" i="1" dirty="0" err="1">
                <a:solidFill>
                  <a:srgbClr val="0000C0"/>
                </a:solidFill>
                <a:latin typeface="돋움체"/>
                <a:ea typeface="돋움체"/>
              </a:rPr>
              <a:t>slide_in_left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 )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mFlip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.setOutAnimation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AnimationUtils.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loadAnimation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MainActivity.</a:t>
            </a:r>
            <a:r>
              <a:rPr lang="en-US" altLang="ko-KR" sz="1200" b="1" dirty="0" err="1" smtClean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android.R.anim.</a:t>
            </a:r>
            <a:r>
              <a:rPr lang="en-US" altLang="ko-KR" sz="1200" i="1" dirty="0" err="1">
                <a:solidFill>
                  <a:srgbClr val="0000C0"/>
                </a:solidFill>
                <a:highlight>
                  <a:srgbClr val="D4D4D4"/>
                </a:highlight>
                <a:latin typeface="돋움체"/>
                <a:ea typeface="돋움체"/>
              </a:rPr>
              <a:t>slide_out_right</a:t>
            </a:r>
            <a:r>
              <a:rPr lang="en-US" altLang="ko-KR" sz="1200" i="1" dirty="0">
                <a:solidFill>
                  <a:srgbClr val="000000"/>
                </a:solidFill>
                <a:highlight>
                  <a:srgbClr val="D4D4D4"/>
                </a:highlight>
                <a:latin typeface="돋움체"/>
                <a:ea typeface="돋움체"/>
              </a:rPr>
              <a:t> )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   if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childId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+ 1 ==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childCnt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200" u="sng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mFlip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.setDisplayedChild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(0);</a:t>
            </a:r>
          </a:p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else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mFlip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.showNext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ViewFlipper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전환 애니메이션 효과 추가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866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ActionBar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44</a:t>
            </a:fld>
            <a:endParaRPr lang="ko-KR" altLang="en-US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1" t="5119" r="37630" b="58276"/>
          <a:stretch/>
        </p:blipFill>
        <p:spPr bwMode="auto">
          <a:xfrm>
            <a:off x="4744961" y="2068106"/>
            <a:ext cx="4004406" cy="3626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34" y="1381347"/>
            <a:ext cx="3159702" cy="4535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>
            <a:off x="3393497" y="1607127"/>
            <a:ext cx="1489796" cy="852995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flipH="1">
            <a:off x="2383743" y="2368539"/>
            <a:ext cx="2979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3.0 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HoneyComb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92469" y="6132051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StatusBar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117021" y="6127531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ActionBar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256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ActionBar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45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62014" y="1607127"/>
            <a:ext cx="3448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Activity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Basic Activity</a:t>
            </a:r>
            <a:r>
              <a:rPr lang="ko-KR" altLang="en-US" dirty="0" smtClean="0"/>
              <a:t>로 생성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46" y="2194155"/>
            <a:ext cx="6166908" cy="3949998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2700867" y="2785533"/>
            <a:ext cx="1286933" cy="150706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07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ActionBar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46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62014" y="1607127"/>
            <a:ext cx="3448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Activity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Basic Activity</a:t>
            </a:r>
            <a:r>
              <a:rPr lang="ko-KR" altLang="en-US" dirty="0" smtClean="0"/>
              <a:t>로 생성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46" y="2275897"/>
            <a:ext cx="6166908" cy="384168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6951135" y="5849408"/>
            <a:ext cx="729720" cy="2296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09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ActionBar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47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54177" y="1630266"/>
            <a:ext cx="3321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액션 메뉴 활성화</a:t>
            </a:r>
            <a:endParaRPr lang="en-US" altLang="ko-KR" dirty="0" smtClean="0"/>
          </a:p>
          <a:p>
            <a:r>
              <a:rPr lang="en-US" altLang="ko-KR" dirty="0" smtClean="0"/>
              <a:t>res – menu – menu_main.xml  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086574" y="2915032"/>
            <a:ext cx="4831645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b="1" dirty="0"/>
              <a:t>menu </a:t>
            </a:r>
            <a:r>
              <a:rPr lang="en-US" altLang="ko-KR" sz="1200" b="1" dirty="0" err="1"/>
              <a:t>xmlns:android</a:t>
            </a:r>
            <a:r>
              <a:rPr lang="en-US" altLang="ko-KR" sz="1200" b="1" dirty="0"/>
              <a:t>="http://schemas.android.com/</a:t>
            </a:r>
            <a:r>
              <a:rPr lang="en-US" altLang="ko-KR" sz="1200" b="1" dirty="0" err="1"/>
              <a:t>apk</a:t>
            </a:r>
            <a:r>
              <a:rPr lang="en-US" altLang="ko-KR" sz="1200" b="1" dirty="0"/>
              <a:t>/res/android"</a:t>
            </a:r>
            <a:br>
              <a:rPr lang="en-US" altLang="ko-KR" sz="1200" b="1" dirty="0"/>
            </a:br>
            <a:r>
              <a:rPr lang="en-US" altLang="ko-KR" sz="1200" b="1" dirty="0"/>
              <a:t>    </a:t>
            </a:r>
            <a:r>
              <a:rPr lang="en-US" altLang="ko-KR" sz="1200" b="1" dirty="0" err="1"/>
              <a:t>xmlns:app</a:t>
            </a:r>
            <a:r>
              <a:rPr lang="en-US" altLang="ko-KR" sz="1200" b="1" dirty="0"/>
              <a:t>="http://schemas.android.com/</a:t>
            </a:r>
            <a:r>
              <a:rPr lang="en-US" altLang="ko-KR" sz="1200" b="1" dirty="0" err="1"/>
              <a:t>apk</a:t>
            </a:r>
            <a:r>
              <a:rPr lang="en-US" altLang="ko-KR" sz="1200" b="1" dirty="0"/>
              <a:t>/res-auto"</a:t>
            </a:r>
            <a:br>
              <a:rPr lang="en-US" altLang="ko-KR" sz="1200" b="1" dirty="0"/>
            </a:br>
            <a:r>
              <a:rPr lang="en-US" altLang="ko-KR" sz="1200" b="1" dirty="0"/>
              <a:t>    </a:t>
            </a:r>
            <a:r>
              <a:rPr lang="en-US" altLang="ko-KR" sz="1200" b="1" dirty="0" err="1" smtClean="0"/>
              <a:t>xmlns:tools</a:t>
            </a:r>
            <a:r>
              <a:rPr lang="en-US" altLang="ko-KR" sz="1200" b="1" dirty="0" smtClean="0"/>
              <a:t>=</a:t>
            </a:r>
            <a:r>
              <a:rPr lang="en-US" altLang="ko-KR" sz="1200" b="1" dirty="0" smtClean="0">
                <a:hlinkClick r:id="rId2"/>
              </a:rPr>
              <a:t>http</a:t>
            </a:r>
            <a:r>
              <a:rPr lang="en-US" altLang="ko-KR" sz="1200" b="1" dirty="0">
                <a:hlinkClick r:id="rId2"/>
              </a:rPr>
              <a:t>://</a:t>
            </a:r>
            <a:r>
              <a:rPr lang="en-US" altLang="ko-KR" sz="1200" b="1" dirty="0" smtClean="0">
                <a:hlinkClick r:id="rId2"/>
              </a:rPr>
              <a:t>schemas.android.com/tools</a:t>
            </a:r>
            <a:endParaRPr lang="en-US" altLang="ko-KR" sz="1200" b="1" dirty="0"/>
          </a:p>
          <a:p>
            <a:r>
              <a:rPr lang="en-US" altLang="ko-KR" sz="1200" b="1" dirty="0" smtClean="0"/>
              <a:t>    </a:t>
            </a:r>
            <a:r>
              <a:rPr lang="en-US" altLang="ko-KR" sz="1200" b="1" dirty="0" err="1" smtClean="0"/>
              <a:t>tools:context</a:t>
            </a:r>
            <a:r>
              <a:rPr lang="en-US" altLang="ko-KR" sz="1200" b="1" dirty="0" smtClean="0"/>
              <a:t>="</a:t>
            </a:r>
            <a:r>
              <a:rPr lang="en-US" altLang="ko-KR" sz="1200" b="1" dirty="0" err="1" smtClean="0"/>
              <a:t>com.example.vrlab.myapplication.MainActivity</a:t>
            </a:r>
            <a:r>
              <a:rPr lang="en-US" altLang="ko-KR" sz="1200" b="1" dirty="0" smtClean="0"/>
              <a:t>"</a:t>
            </a:r>
            <a:r>
              <a:rPr lang="en-US" altLang="ko-KR" sz="1200" dirty="0" smtClean="0"/>
              <a:t>&gt;</a:t>
            </a:r>
            <a:r>
              <a:rPr lang="en-US" altLang="ko-KR" sz="1200" dirty="0"/>
              <a:t/>
            </a:r>
            <a:br>
              <a:rPr lang="en-US" altLang="ko-KR" sz="1200" dirty="0"/>
            </a:br>
            <a:r>
              <a:rPr lang="en-US" altLang="ko-KR" sz="1200" dirty="0"/>
              <a:t>    &lt;</a:t>
            </a:r>
            <a:r>
              <a:rPr lang="en-US" altLang="ko-KR" sz="1200" b="1" dirty="0"/>
              <a:t>item </a:t>
            </a:r>
            <a:endParaRPr lang="en-US" altLang="ko-KR" sz="1200" b="1" dirty="0" smtClean="0"/>
          </a:p>
          <a:p>
            <a:r>
              <a:rPr lang="en-US" altLang="ko-KR" sz="1200" b="1" dirty="0"/>
              <a:t>	</a:t>
            </a:r>
            <a:r>
              <a:rPr lang="en-US" altLang="ko-KR" sz="1200" b="1" dirty="0" err="1" smtClean="0"/>
              <a:t>android:id</a:t>
            </a:r>
            <a:r>
              <a:rPr lang="en-US" altLang="ko-KR" sz="1200" b="1" dirty="0"/>
              <a:t>="@+id/</a:t>
            </a:r>
            <a:r>
              <a:rPr lang="en-US" altLang="ko-KR" sz="1200" b="1" dirty="0" err="1"/>
              <a:t>action_settings</a:t>
            </a:r>
            <a:r>
              <a:rPr lang="en-US" altLang="ko-KR" sz="1200" b="1" dirty="0"/>
              <a:t>" </a:t>
            </a:r>
            <a:r>
              <a:rPr lang="en-US" altLang="ko-KR" sz="1200" b="1" dirty="0" smtClean="0"/>
              <a:t>	</a:t>
            </a:r>
            <a:r>
              <a:rPr lang="en-US" altLang="ko-KR" sz="1200" b="1" dirty="0" err="1" smtClean="0"/>
              <a:t>android:title</a:t>
            </a:r>
            <a:r>
              <a:rPr lang="en-US" altLang="ko-KR" sz="1200" b="1" dirty="0"/>
              <a:t>="@string/</a:t>
            </a:r>
            <a:r>
              <a:rPr lang="en-US" altLang="ko-KR" sz="1200" b="1" dirty="0" err="1"/>
              <a:t>action_settings</a:t>
            </a:r>
            <a:r>
              <a:rPr lang="en-US" altLang="ko-KR" sz="1200" b="1" dirty="0"/>
              <a:t>"</a:t>
            </a:r>
            <a:br>
              <a:rPr lang="en-US" altLang="ko-KR" sz="1200" b="1" dirty="0"/>
            </a:br>
            <a:r>
              <a:rPr lang="en-US" altLang="ko-KR" sz="1200" b="1" dirty="0" smtClean="0"/>
              <a:t>	</a:t>
            </a:r>
            <a:r>
              <a:rPr lang="en-US" altLang="ko-KR" sz="1200" b="1" dirty="0" err="1" smtClean="0"/>
              <a:t>android:orderInCategory</a:t>
            </a:r>
            <a:r>
              <a:rPr lang="en-US" altLang="ko-KR" sz="1200" b="1" dirty="0"/>
              <a:t>="100" </a:t>
            </a:r>
            <a:r>
              <a:rPr lang="en-US" altLang="ko-KR" sz="1200" b="1" dirty="0" smtClean="0"/>
              <a:t>	</a:t>
            </a:r>
            <a:r>
              <a:rPr lang="en-US" altLang="ko-KR" sz="1200" b="1" dirty="0" err="1" smtClean="0"/>
              <a:t>app:showAsAction</a:t>
            </a:r>
            <a:r>
              <a:rPr lang="en-US" altLang="ko-KR" sz="1200" b="1" dirty="0" smtClean="0"/>
              <a:t>=“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always</a:t>
            </a:r>
            <a:r>
              <a:rPr lang="en-US" altLang="ko-KR" sz="1200" b="1" dirty="0" smtClean="0"/>
              <a:t>" </a:t>
            </a:r>
            <a:r>
              <a:rPr lang="en-US" altLang="ko-KR" sz="1200" dirty="0"/>
              <a:t>/&gt;</a:t>
            </a:r>
            <a:br>
              <a:rPr lang="en-US" altLang="ko-KR" sz="1200" dirty="0"/>
            </a:br>
            <a:r>
              <a:rPr lang="en-US" altLang="ko-KR" sz="1200" dirty="0"/>
              <a:t>&lt;/</a:t>
            </a:r>
            <a:r>
              <a:rPr lang="en-US" altLang="ko-KR" sz="1200" b="1" dirty="0"/>
              <a:t>menu</a:t>
            </a:r>
            <a:r>
              <a:rPr lang="en-US" altLang="ko-KR" sz="1200" dirty="0"/>
              <a:t>&gt;</a:t>
            </a:r>
            <a:br>
              <a:rPr lang="en-US" altLang="ko-KR" sz="1200" dirty="0"/>
            </a:b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48" y="2353733"/>
            <a:ext cx="3343275" cy="3657600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/>
        </p:nvSpPr>
        <p:spPr>
          <a:xfrm>
            <a:off x="1015997" y="4731808"/>
            <a:ext cx="1227665" cy="2296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꺾인 연결선 12"/>
          <p:cNvCxnSpPr>
            <a:stCxn id="10" idx="3"/>
            <a:endCxn id="9" idx="1"/>
          </p:cNvCxnSpPr>
          <p:nvPr/>
        </p:nvCxnSpPr>
        <p:spPr>
          <a:xfrm flipV="1">
            <a:off x="2243662" y="4069194"/>
            <a:ext cx="1842912" cy="777444"/>
          </a:xfrm>
          <a:prstGeom prst="bentConnector3">
            <a:avLst>
              <a:gd name="adj1" fmla="val 8001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71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ActionBar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48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7" t="17897" r="16560" b="14568"/>
          <a:stretch/>
        </p:blipFill>
        <p:spPr>
          <a:xfrm>
            <a:off x="3059288" y="1570115"/>
            <a:ext cx="2935111" cy="46771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01356" y="1626560"/>
            <a:ext cx="770465" cy="3040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02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ActionBar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dirty="0"/>
              <a:t>&lt;</a:t>
            </a:r>
            <a:r>
              <a:rPr lang="en-US" altLang="ko-KR" b="1" dirty="0"/>
              <a:t>menu</a:t>
            </a:r>
            <a:br>
              <a:rPr lang="en-US" altLang="ko-KR" b="1" dirty="0"/>
            </a:br>
            <a:r>
              <a:rPr lang="en-US" altLang="ko-KR" b="1" dirty="0"/>
              <a:t>    </a:t>
            </a:r>
            <a:r>
              <a:rPr lang="en-US" altLang="ko-KR" b="1" dirty="0" err="1"/>
              <a:t>xmlns:android</a:t>
            </a:r>
            <a:r>
              <a:rPr lang="en-US" altLang="ko-KR" b="1" dirty="0"/>
              <a:t>="http://schemas.android.com/</a:t>
            </a:r>
            <a:r>
              <a:rPr lang="en-US" altLang="ko-KR" b="1" dirty="0" err="1"/>
              <a:t>apk</a:t>
            </a:r>
            <a:r>
              <a:rPr lang="en-US" altLang="ko-KR" b="1" dirty="0"/>
              <a:t>/res/android"</a:t>
            </a:r>
            <a:br>
              <a:rPr lang="en-US" altLang="ko-KR" b="1" dirty="0"/>
            </a:br>
            <a:r>
              <a:rPr lang="en-US" altLang="ko-KR" b="1" dirty="0"/>
              <a:t>    </a:t>
            </a:r>
            <a:r>
              <a:rPr lang="en-US" altLang="ko-KR" b="1" dirty="0" err="1"/>
              <a:t>xmlns:app</a:t>
            </a:r>
            <a:r>
              <a:rPr lang="en-US" altLang="ko-KR" b="1" dirty="0"/>
              <a:t>="http://schemas.android.com/</a:t>
            </a:r>
            <a:r>
              <a:rPr lang="en-US" altLang="ko-KR" b="1" dirty="0" err="1"/>
              <a:t>apk</a:t>
            </a:r>
            <a:r>
              <a:rPr lang="en-US" altLang="ko-KR" b="1" dirty="0"/>
              <a:t>/res-auto"</a:t>
            </a:r>
            <a:br>
              <a:rPr lang="en-US" altLang="ko-KR" b="1" dirty="0"/>
            </a:br>
            <a:r>
              <a:rPr lang="en-US" altLang="ko-KR" b="1" dirty="0"/>
              <a:t>    </a:t>
            </a:r>
            <a:r>
              <a:rPr lang="en-US" altLang="ko-KR" b="1" dirty="0" err="1"/>
              <a:t>xmlns:tools</a:t>
            </a:r>
            <a:r>
              <a:rPr lang="en-US" altLang="ko-KR" b="1" dirty="0"/>
              <a:t>="http://schemas.android.com/tools"  </a:t>
            </a:r>
            <a:r>
              <a:rPr lang="en-US" altLang="ko-KR" b="1" dirty="0" smtClean="0"/>
              <a:t>   </a:t>
            </a:r>
            <a:r>
              <a:rPr lang="en-US" altLang="ko-KR" b="1" dirty="0" err="1" smtClean="0"/>
              <a:t>tools:context</a:t>
            </a:r>
            <a:r>
              <a:rPr lang="en-US" altLang="ko-KR" b="1" dirty="0"/>
              <a:t>=".</a:t>
            </a:r>
            <a:r>
              <a:rPr lang="en-US" altLang="ko-KR" b="1" dirty="0" err="1"/>
              <a:t>MainActivity</a:t>
            </a:r>
            <a:r>
              <a:rPr lang="en-US" altLang="ko-KR" b="1" dirty="0"/>
              <a:t>"</a:t>
            </a:r>
            <a:r>
              <a:rPr lang="en-US" altLang="ko-KR" dirty="0"/>
              <a:t>&gt;</a:t>
            </a:r>
            <a:br>
              <a:rPr lang="en-US" altLang="ko-KR" dirty="0"/>
            </a:br>
            <a:r>
              <a:rPr lang="en-US" altLang="ko-KR" dirty="0"/>
              <a:t>    &lt;</a:t>
            </a:r>
            <a:r>
              <a:rPr lang="en-US" altLang="ko-KR" b="1" dirty="0"/>
              <a:t>item</a:t>
            </a:r>
            <a:br>
              <a:rPr lang="en-US" altLang="ko-KR" b="1" dirty="0"/>
            </a:br>
            <a:r>
              <a:rPr lang="en-US" altLang="ko-KR" b="1" dirty="0"/>
              <a:t>        </a:t>
            </a:r>
            <a:r>
              <a:rPr lang="en-US" altLang="ko-KR" b="1" dirty="0" err="1"/>
              <a:t>android:id</a:t>
            </a:r>
            <a:r>
              <a:rPr lang="en-US" altLang="ko-KR" b="1" dirty="0"/>
              <a:t>="@+id/</a:t>
            </a:r>
            <a:r>
              <a:rPr lang="en-US" altLang="ko-KR" b="1" dirty="0" err="1"/>
              <a:t>action_settings</a:t>
            </a:r>
            <a:r>
              <a:rPr lang="en-US" altLang="ko-KR" b="1" dirty="0"/>
              <a:t>"</a:t>
            </a:r>
            <a:br>
              <a:rPr lang="en-US" altLang="ko-KR" b="1" dirty="0"/>
            </a:br>
            <a:r>
              <a:rPr lang="en-US" altLang="ko-KR" b="1" dirty="0"/>
              <a:t>        </a:t>
            </a:r>
            <a:r>
              <a:rPr lang="en-US" altLang="ko-KR" b="1" dirty="0" err="1"/>
              <a:t>android:title</a:t>
            </a:r>
            <a:r>
              <a:rPr lang="en-US" altLang="ko-KR" b="1" dirty="0"/>
              <a:t>="@string/</a:t>
            </a:r>
            <a:r>
              <a:rPr lang="en-US" altLang="ko-KR" b="1" dirty="0" err="1"/>
              <a:t>action_settings</a:t>
            </a:r>
            <a:r>
              <a:rPr lang="en-US" altLang="ko-KR" b="1" dirty="0"/>
              <a:t>"</a:t>
            </a:r>
            <a:br>
              <a:rPr lang="en-US" altLang="ko-KR" b="1" dirty="0"/>
            </a:br>
            <a:r>
              <a:rPr lang="en-US" altLang="ko-KR" b="1" dirty="0"/>
              <a:t>        </a:t>
            </a:r>
            <a:r>
              <a:rPr lang="en-US" altLang="ko-KR" b="1" dirty="0" err="1"/>
              <a:t>android:orderInCategory</a:t>
            </a:r>
            <a:r>
              <a:rPr lang="en-US" altLang="ko-KR" b="1" dirty="0"/>
              <a:t>="100"</a:t>
            </a:r>
            <a:br>
              <a:rPr lang="en-US" altLang="ko-KR" b="1" dirty="0"/>
            </a:br>
            <a:r>
              <a:rPr lang="en-US" altLang="ko-KR" b="1" dirty="0"/>
              <a:t>        </a:t>
            </a:r>
            <a:r>
              <a:rPr lang="en-US" altLang="ko-KR" b="1" dirty="0" err="1"/>
              <a:t>app:showAsAction</a:t>
            </a:r>
            <a:r>
              <a:rPr lang="en-US" altLang="ko-KR" b="1" dirty="0"/>
              <a:t>="always"</a:t>
            </a:r>
            <a:br>
              <a:rPr lang="en-US" altLang="ko-KR" b="1" dirty="0"/>
            </a:br>
            <a:r>
              <a:rPr lang="en-US" altLang="ko-KR" b="1" dirty="0"/>
              <a:t>        </a:t>
            </a:r>
            <a:r>
              <a:rPr lang="en-US" altLang="ko-KR" b="1" dirty="0" err="1">
                <a:solidFill>
                  <a:srgbClr val="004CBC"/>
                </a:solidFill>
              </a:rPr>
              <a:t>android:icon</a:t>
            </a:r>
            <a:r>
              <a:rPr lang="en-US" altLang="ko-KR" b="1" dirty="0" smtClean="0">
                <a:solidFill>
                  <a:srgbClr val="004CBC"/>
                </a:solidFill>
              </a:rPr>
              <a:t>="@</a:t>
            </a:r>
            <a:r>
              <a:rPr lang="en-US" altLang="ko-KR" b="1" dirty="0" err="1" smtClean="0">
                <a:solidFill>
                  <a:srgbClr val="004CBC"/>
                </a:solidFill>
              </a:rPr>
              <a:t>drawable</a:t>
            </a:r>
            <a:r>
              <a:rPr lang="en-US" altLang="ko-KR" b="1" dirty="0" smtClean="0">
                <a:solidFill>
                  <a:srgbClr val="004CBC"/>
                </a:solidFill>
              </a:rPr>
              <a:t>/</a:t>
            </a:r>
            <a:r>
              <a:rPr lang="en-US" altLang="ko-KR" b="1" dirty="0" err="1" smtClean="0">
                <a:solidFill>
                  <a:srgbClr val="004CBC"/>
                </a:solidFill>
              </a:rPr>
              <a:t>ic_menu_edit</a:t>
            </a:r>
            <a:r>
              <a:rPr lang="en-US" altLang="ko-KR" b="1" dirty="0">
                <a:solidFill>
                  <a:srgbClr val="004CBC"/>
                </a:solidFill>
              </a:rPr>
              <a:t>"</a:t>
            </a:r>
            <a:r>
              <a:rPr lang="en-US" altLang="ko-KR" dirty="0"/>
              <a:t>/&gt;</a:t>
            </a:r>
            <a:br>
              <a:rPr lang="en-US" altLang="ko-KR" dirty="0"/>
            </a:br>
            <a:r>
              <a:rPr lang="en-US" altLang="ko-KR" dirty="0"/>
              <a:t>    </a:t>
            </a:r>
            <a:r>
              <a:rPr lang="en-US" altLang="ko-KR" dirty="0">
                <a:solidFill>
                  <a:srgbClr val="004CBC"/>
                </a:solidFill>
              </a:rPr>
              <a:t>&lt;</a:t>
            </a:r>
            <a:r>
              <a:rPr lang="en-US" altLang="ko-KR" b="1" dirty="0">
                <a:solidFill>
                  <a:srgbClr val="004CBC"/>
                </a:solidFill>
              </a:rPr>
              <a:t>item</a:t>
            </a:r>
            <a:br>
              <a:rPr lang="en-US" altLang="ko-KR" b="1" dirty="0">
                <a:solidFill>
                  <a:srgbClr val="004CBC"/>
                </a:solidFill>
              </a:rPr>
            </a:br>
            <a:r>
              <a:rPr lang="en-US" altLang="ko-KR" b="1" dirty="0">
                <a:solidFill>
                  <a:srgbClr val="004CBC"/>
                </a:solidFill>
              </a:rPr>
              <a:t>        </a:t>
            </a:r>
            <a:r>
              <a:rPr lang="en-US" altLang="ko-KR" b="1" dirty="0" err="1">
                <a:solidFill>
                  <a:srgbClr val="004CBC"/>
                </a:solidFill>
              </a:rPr>
              <a:t>android:id</a:t>
            </a:r>
            <a:r>
              <a:rPr lang="en-US" altLang="ko-KR" b="1" dirty="0">
                <a:solidFill>
                  <a:srgbClr val="004CBC"/>
                </a:solidFill>
              </a:rPr>
              <a:t>="@+id/</a:t>
            </a:r>
            <a:r>
              <a:rPr lang="en-US" altLang="ko-KR" b="1" dirty="0" err="1">
                <a:solidFill>
                  <a:srgbClr val="004CBC"/>
                </a:solidFill>
              </a:rPr>
              <a:t>action_send</a:t>
            </a:r>
            <a:r>
              <a:rPr lang="en-US" altLang="ko-KR" b="1" dirty="0">
                <a:solidFill>
                  <a:srgbClr val="004CBC"/>
                </a:solidFill>
              </a:rPr>
              <a:t>"</a:t>
            </a:r>
            <a:br>
              <a:rPr lang="en-US" altLang="ko-KR" b="1" dirty="0">
                <a:solidFill>
                  <a:srgbClr val="004CBC"/>
                </a:solidFill>
              </a:rPr>
            </a:br>
            <a:r>
              <a:rPr lang="en-US" altLang="ko-KR" b="1" dirty="0">
                <a:solidFill>
                  <a:srgbClr val="004CBC"/>
                </a:solidFill>
              </a:rPr>
              <a:t>        </a:t>
            </a:r>
            <a:r>
              <a:rPr lang="en-US" altLang="ko-KR" b="1" dirty="0" err="1">
                <a:solidFill>
                  <a:srgbClr val="004CBC"/>
                </a:solidFill>
              </a:rPr>
              <a:t>android:title</a:t>
            </a:r>
            <a:r>
              <a:rPr lang="en-US" altLang="ko-KR" b="1" dirty="0">
                <a:solidFill>
                  <a:srgbClr val="004CBC"/>
                </a:solidFill>
              </a:rPr>
              <a:t>="send"</a:t>
            </a:r>
            <a:br>
              <a:rPr lang="en-US" altLang="ko-KR" b="1" dirty="0">
                <a:solidFill>
                  <a:srgbClr val="004CBC"/>
                </a:solidFill>
              </a:rPr>
            </a:br>
            <a:r>
              <a:rPr lang="en-US" altLang="ko-KR" b="1" dirty="0">
                <a:solidFill>
                  <a:srgbClr val="004CBC"/>
                </a:solidFill>
              </a:rPr>
              <a:t>        </a:t>
            </a:r>
            <a:r>
              <a:rPr lang="en-US" altLang="ko-KR" b="1" dirty="0" err="1">
                <a:solidFill>
                  <a:srgbClr val="004CBC"/>
                </a:solidFill>
              </a:rPr>
              <a:t>android:orderInCategory</a:t>
            </a:r>
            <a:r>
              <a:rPr lang="en-US" altLang="ko-KR" b="1" dirty="0">
                <a:solidFill>
                  <a:srgbClr val="004CBC"/>
                </a:solidFill>
              </a:rPr>
              <a:t>="100"</a:t>
            </a:r>
            <a:br>
              <a:rPr lang="en-US" altLang="ko-KR" b="1" dirty="0">
                <a:solidFill>
                  <a:srgbClr val="004CBC"/>
                </a:solidFill>
              </a:rPr>
            </a:br>
            <a:r>
              <a:rPr lang="en-US" altLang="ko-KR" b="1" dirty="0">
                <a:solidFill>
                  <a:srgbClr val="004CBC"/>
                </a:solidFill>
              </a:rPr>
              <a:t>        </a:t>
            </a:r>
            <a:r>
              <a:rPr lang="en-US" altLang="ko-KR" b="1" dirty="0" err="1">
                <a:solidFill>
                  <a:srgbClr val="004CBC"/>
                </a:solidFill>
              </a:rPr>
              <a:t>app:showAsAction</a:t>
            </a:r>
            <a:r>
              <a:rPr lang="en-US" altLang="ko-KR" b="1" dirty="0">
                <a:solidFill>
                  <a:srgbClr val="004CBC"/>
                </a:solidFill>
              </a:rPr>
              <a:t>="always"</a:t>
            </a:r>
            <a:br>
              <a:rPr lang="en-US" altLang="ko-KR" b="1" dirty="0">
                <a:solidFill>
                  <a:srgbClr val="004CBC"/>
                </a:solidFill>
              </a:rPr>
            </a:br>
            <a:r>
              <a:rPr lang="en-US" altLang="ko-KR" b="1" dirty="0">
                <a:solidFill>
                  <a:srgbClr val="004CBC"/>
                </a:solidFill>
              </a:rPr>
              <a:t>        </a:t>
            </a:r>
            <a:r>
              <a:rPr lang="en-US" altLang="ko-KR" b="1" dirty="0" err="1">
                <a:solidFill>
                  <a:srgbClr val="004CBC"/>
                </a:solidFill>
              </a:rPr>
              <a:t>android:icon</a:t>
            </a:r>
            <a:r>
              <a:rPr lang="en-US" altLang="ko-KR" b="1" dirty="0" smtClean="0">
                <a:solidFill>
                  <a:srgbClr val="004CBC"/>
                </a:solidFill>
              </a:rPr>
              <a:t>="@</a:t>
            </a:r>
            <a:r>
              <a:rPr lang="en-US" altLang="ko-KR" b="1" dirty="0" err="1" smtClean="0">
                <a:solidFill>
                  <a:srgbClr val="004CBC"/>
                </a:solidFill>
              </a:rPr>
              <a:t>drawable</a:t>
            </a:r>
            <a:r>
              <a:rPr lang="en-US" altLang="ko-KR" b="1" dirty="0" smtClean="0">
                <a:solidFill>
                  <a:srgbClr val="004CBC"/>
                </a:solidFill>
              </a:rPr>
              <a:t>/</a:t>
            </a:r>
            <a:r>
              <a:rPr lang="en-US" altLang="ko-KR" b="1" dirty="0" err="1" smtClean="0">
                <a:solidFill>
                  <a:srgbClr val="004CBC"/>
                </a:solidFill>
              </a:rPr>
              <a:t>ic_menu_send</a:t>
            </a:r>
            <a:r>
              <a:rPr lang="en-US" altLang="ko-KR" b="1" dirty="0">
                <a:solidFill>
                  <a:srgbClr val="004CBC"/>
                </a:solidFill>
              </a:rPr>
              <a:t>" </a:t>
            </a:r>
            <a:r>
              <a:rPr lang="en-US" altLang="ko-KR" dirty="0">
                <a:solidFill>
                  <a:srgbClr val="004CBC"/>
                </a:solidFill>
              </a:rPr>
              <a:t>/&gt;</a:t>
            </a:r>
            <a:br>
              <a:rPr lang="en-US" altLang="ko-KR" dirty="0">
                <a:solidFill>
                  <a:srgbClr val="004CBC"/>
                </a:solidFill>
              </a:rPr>
            </a:br>
            <a:r>
              <a:rPr lang="en-US" altLang="ko-KR" dirty="0"/>
              <a:t>&lt;/</a:t>
            </a:r>
            <a:r>
              <a:rPr lang="en-US" altLang="ko-KR" b="1" dirty="0"/>
              <a:t>menu</a:t>
            </a:r>
            <a:r>
              <a:rPr lang="en-US" altLang="ko-KR" dirty="0"/>
              <a:t>&gt;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49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179127" y="3754582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 // Icon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714623" y="4123914"/>
            <a:ext cx="2929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 // </a:t>
            </a:r>
            <a:r>
              <a:rPr lang="ko-KR" altLang="en-US" dirty="0" smtClean="0"/>
              <a:t>새로운 액션 아이템</a:t>
            </a:r>
            <a:r>
              <a:rPr lang="en-US" altLang="ko-KR" dirty="0" smtClean="0"/>
              <a:t>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75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ActionBar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50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8" t="18187" r="16907" b="14084"/>
          <a:stretch/>
        </p:blipFill>
        <p:spPr>
          <a:xfrm>
            <a:off x="1727199" y="1322832"/>
            <a:ext cx="2754489" cy="4502689"/>
          </a:xfrm>
          <a:prstGeom prst="rect">
            <a:avLst/>
          </a:prstGeom>
        </p:spPr>
      </p:pic>
      <p:sp>
        <p:nvSpPr>
          <p:cNvPr id="7" name="Rectangle 4"/>
          <p:cNvSpPr/>
          <p:nvPr/>
        </p:nvSpPr>
        <p:spPr>
          <a:xfrm>
            <a:off x="4035779" y="1330818"/>
            <a:ext cx="423331" cy="4415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7" t="18187" r="16447" b="14084"/>
          <a:stretch/>
        </p:blipFill>
        <p:spPr>
          <a:xfrm>
            <a:off x="4614676" y="1330818"/>
            <a:ext cx="2861392" cy="4494703"/>
          </a:xfrm>
          <a:prstGeom prst="rect">
            <a:avLst/>
          </a:prstGeom>
        </p:spPr>
      </p:pic>
      <p:sp>
        <p:nvSpPr>
          <p:cNvPr id="9" name="Rectangle 4"/>
          <p:cNvSpPr/>
          <p:nvPr/>
        </p:nvSpPr>
        <p:spPr>
          <a:xfrm>
            <a:off x="6482646" y="1330818"/>
            <a:ext cx="970843" cy="4415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25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ActionBar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51</a:t>
            </a:fld>
            <a:endParaRPr lang="ko-KR" alt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413" y="2092036"/>
            <a:ext cx="5665495" cy="4599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83673" y="179635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액션 아이템 클릭 처리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75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52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Tab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635" y="1917988"/>
            <a:ext cx="6702661" cy="3928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343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53</a:t>
            </a:fld>
            <a:endParaRPr lang="ko-KR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Tab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77462" y="1776248"/>
            <a:ext cx="71470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2800" dirty="0" err="1" smtClean="0">
                <a:latin typeface="+mn-ea"/>
              </a:rPr>
              <a:t>TabActivity</a:t>
            </a:r>
            <a:r>
              <a:rPr lang="en-US" altLang="ko-KR" sz="2800" dirty="0" smtClean="0">
                <a:latin typeface="+mn-ea"/>
              </a:rPr>
              <a:t> (Deprecated in 3.0)</a:t>
            </a:r>
          </a:p>
          <a:p>
            <a:pPr lvl="1"/>
            <a:r>
              <a:rPr lang="en-US" altLang="ko-KR" sz="2800" dirty="0" smtClean="0">
                <a:latin typeface="+mn-ea"/>
              </a:rPr>
              <a:t>- Too old</a:t>
            </a:r>
          </a:p>
          <a:p>
            <a:pPr marL="342900" indent="-342900">
              <a:buAutoNum type="arabicPeriod"/>
            </a:pPr>
            <a:r>
              <a:rPr lang="en-US" altLang="ko-KR" sz="2800" b="1" dirty="0" err="1" smtClean="0">
                <a:latin typeface="+mn-ea"/>
              </a:rPr>
              <a:t>ActionBar.TabListener</a:t>
            </a:r>
            <a:r>
              <a:rPr lang="en-US" altLang="ko-KR" sz="2800" b="1" dirty="0" smtClean="0">
                <a:latin typeface="+mn-ea"/>
              </a:rPr>
              <a:t> + Fragment </a:t>
            </a:r>
            <a:r>
              <a:rPr lang="en-US" altLang="ko-KR" sz="2800" dirty="0" smtClean="0">
                <a:latin typeface="+mn-ea"/>
              </a:rPr>
              <a:t>(Deprecated in 5.0)</a:t>
            </a:r>
          </a:p>
          <a:p>
            <a:pPr marL="342900" indent="-342900">
              <a:buAutoNum type="arabicPeriod"/>
            </a:pPr>
            <a:r>
              <a:rPr lang="en-US" altLang="ko-KR" sz="2800" dirty="0" err="1" smtClean="0">
                <a:latin typeface="+mn-ea"/>
              </a:rPr>
              <a:t>TabLayout</a:t>
            </a:r>
            <a:r>
              <a:rPr lang="en-US" altLang="ko-KR" sz="2800" dirty="0" smtClean="0">
                <a:latin typeface="+mn-ea"/>
              </a:rPr>
              <a:t> (state-of-art)</a:t>
            </a:r>
            <a:br>
              <a:rPr lang="en-US" altLang="ko-KR" sz="2800" dirty="0" smtClean="0">
                <a:latin typeface="+mn-ea"/>
              </a:rPr>
            </a:br>
            <a:r>
              <a:rPr lang="en-US" altLang="ko-KR" sz="2800" dirty="0" smtClean="0">
                <a:latin typeface="+mn-ea"/>
              </a:rPr>
              <a:t>(In Android Design Support Library)</a:t>
            </a:r>
          </a:p>
        </p:txBody>
      </p:sp>
    </p:spTree>
    <p:extLst>
      <p:ext uri="{BB962C8B-B14F-4D97-AF65-F5344CB8AC3E}">
        <p14:creationId xmlns:p14="http://schemas.microsoft.com/office/powerpoint/2010/main" val="381175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54</a:t>
            </a:fld>
            <a:endParaRPr lang="ko-KR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Tab</a:t>
            </a:r>
            <a:endParaRPr lang="ko-KR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404" y="2312276"/>
            <a:ext cx="7003504" cy="4267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511972" y="4761186"/>
            <a:ext cx="1450428" cy="13663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01404" y="1770258"/>
            <a:ext cx="384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새 액티비티 생성 </a:t>
            </a:r>
            <a:r>
              <a:rPr lang="en-US" altLang="ko-KR" dirty="0" smtClean="0"/>
              <a:t>-&gt; Tabbed Activity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154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55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Tab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89" y="1363027"/>
            <a:ext cx="7379576" cy="5061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3794234" y="4319751"/>
            <a:ext cx="1450428" cy="189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36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56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" t="17629" r="51526" b="46606"/>
          <a:stretch/>
        </p:blipFill>
        <p:spPr bwMode="auto">
          <a:xfrm>
            <a:off x="405451" y="2574786"/>
            <a:ext cx="8600677" cy="3679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05451" y="1313793"/>
            <a:ext cx="8097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Fragment </a:t>
            </a:r>
            <a:r>
              <a:rPr lang="ko-KR" altLang="en-US" dirty="0" smtClean="0"/>
              <a:t>를 원하는 수만큼 추가</a:t>
            </a:r>
            <a:endParaRPr lang="en-US" altLang="ko-KR" dirty="0" smtClean="0"/>
          </a:p>
          <a:p>
            <a:r>
              <a:rPr lang="en-US" altLang="ko-KR" dirty="0" smtClean="0"/>
              <a:t>Include callback </a:t>
            </a:r>
            <a:r>
              <a:rPr lang="ko-KR" altLang="en-US" dirty="0" smtClean="0"/>
              <a:t>옵션은 끄고 생성</a:t>
            </a:r>
            <a:endParaRPr lang="en-US" altLang="ko-KR" dirty="0" smtClean="0"/>
          </a:p>
          <a:p>
            <a:r>
              <a:rPr lang="ko-KR" altLang="en-US" dirty="0" smtClean="0"/>
              <a:t>생성후 </a:t>
            </a:r>
            <a:r>
              <a:rPr lang="en-US" altLang="ko-KR" dirty="0" err="1" smtClean="0"/>
              <a:t>SupportLibrary</a:t>
            </a:r>
            <a:r>
              <a:rPr lang="en-US" altLang="ko-KR" dirty="0" smtClean="0"/>
              <a:t> V4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Fragment</a:t>
            </a:r>
            <a:r>
              <a:rPr lang="ko-KR" altLang="en-US" dirty="0" smtClean="0"/>
              <a:t>를 사용하도록 바꿔줄 것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75550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57</a:t>
            </a:fld>
            <a:endParaRPr lang="ko-KR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Tab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05451" y="1684886"/>
            <a:ext cx="80974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SupportLibrary</a:t>
            </a:r>
            <a:r>
              <a:rPr lang="en-US" altLang="ko-KR" dirty="0" smtClean="0"/>
              <a:t> V4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Fragment</a:t>
            </a:r>
            <a:r>
              <a:rPr lang="ko-KR" altLang="en-US" dirty="0" smtClean="0"/>
              <a:t>를 사용하도록 바꾸기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탭에 넣고자 하는 </a:t>
            </a:r>
            <a:r>
              <a:rPr lang="en-US" altLang="ko-KR" dirty="0" smtClean="0"/>
              <a:t>fragment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java</a:t>
            </a:r>
            <a:r>
              <a:rPr lang="ko-KR" altLang="en-US" dirty="0" smtClean="0"/>
              <a:t>파일 혹은 </a:t>
            </a:r>
            <a:r>
              <a:rPr lang="en-US" altLang="ko-KR" dirty="0" smtClean="0"/>
              <a:t>class</a:t>
            </a:r>
            <a:r>
              <a:rPr lang="ko-KR" altLang="en-US" dirty="0" smtClean="0"/>
              <a:t>에서</a:t>
            </a:r>
            <a:r>
              <a:rPr lang="en-US" altLang="ko-KR" dirty="0" smtClean="0"/>
              <a:t>,</a:t>
            </a:r>
            <a:endParaRPr lang="en-US" altLang="ko-KR" dirty="0"/>
          </a:p>
          <a:p>
            <a:r>
              <a:rPr lang="en-US" altLang="ko-K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import</a:t>
            </a:r>
            <a:r>
              <a:rPr lang="en-US" altLang="ko-KR" dirty="0"/>
              <a:t> </a:t>
            </a:r>
            <a:r>
              <a:rPr lang="en-US" altLang="ko-KR" dirty="0" err="1"/>
              <a:t>android.app.Fragment</a:t>
            </a:r>
            <a:r>
              <a:rPr lang="en-US" altLang="ko-KR" dirty="0" smtClean="0"/>
              <a:t>; </a:t>
            </a:r>
            <a:r>
              <a:rPr lang="ko-KR" altLang="en-US" dirty="0" smtClean="0"/>
              <a:t>를 지우고</a:t>
            </a:r>
            <a:endParaRPr lang="en-US" altLang="ko-KR" dirty="0" smtClean="0"/>
          </a:p>
          <a:p>
            <a:r>
              <a:rPr lang="en-US" altLang="ko-K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import</a:t>
            </a:r>
            <a:r>
              <a:rPr lang="en-US" altLang="ko-KR" dirty="0"/>
              <a:t> android.support.v4.app.Fragment</a:t>
            </a:r>
            <a:r>
              <a:rPr lang="en-US" altLang="ko-KR" dirty="0" smtClean="0"/>
              <a:t>;  </a:t>
            </a:r>
            <a:r>
              <a:rPr lang="ko-KR" altLang="en-US" dirty="0" smtClean="0"/>
              <a:t>로 교체</a:t>
            </a:r>
            <a:endParaRPr lang="en-US" altLang="ko-KR" dirty="0" smtClean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405451" y="2218267"/>
            <a:ext cx="5631282" cy="9439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505184" y="3170079"/>
            <a:ext cx="809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현재 사용중인 버전에서는 교체하지 않아도 됩니다</a:t>
            </a:r>
            <a:r>
              <a:rPr lang="en-US" altLang="ko-KR" dirty="0" smtClean="0"/>
              <a:t>.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270294" y="2218267"/>
            <a:ext cx="5837208" cy="943947"/>
          </a:xfrm>
          <a:prstGeom prst="line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9139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4796" y="1379111"/>
            <a:ext cx="7433744" cy="50783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p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ublic class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SectionPageAdapter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extends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FragmentPagerAdapter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endParaRPr lang="en-US" altLang="ko-KR" sz="1200" dirty="0" smtClean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	.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endParaRPr lang="en-US" altLang="ko-KR" sz="1200" dirty="0" smtClean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smtClean="0">
                <a:solidFill>
                  <a:schemeClr val="bg1">
                    <a:lumMod val="65000"/>
                  </a:schemeClr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public Fragment </a:t>
            </a:r>
            <a:r>
              <a:rPr lang="en-US" altLang="ko-KR" sz="12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getItem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int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 position)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Fragment </a:t>
            </a:r>
            <a:r>
              <a:rPr lang="en-US" altLang="ko-KR" sz="12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fragment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 = null;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	Bundle </a:t>
            </a:r>
            <a:r>
              <a:rPr lang="en-US" altLang="ko-KR" sz="12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args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 = null;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	switch (position) {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		case0: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			fragment = new SectionFragment1();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			</a:t>
            </a:r>
            <a:r>
              <a:rPr lang="en-US" altLang="ko-KR" sz="12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args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 = new Bundle();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			break;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		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case1:</a:t>
            </a:r>
            <a:endParaRPr lang="en-US" altLang="ko-KR" sz="1200" b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			fragment = new 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SectionFragment2();</a:t>
            </a:r>
            <a:endParaRPr lang="en-US" altLang="ko-KR" sz="1200" b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			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args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 = new Bundle();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			break;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		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case2:</a:t>
            </a:r>
            <a:endParaRPr lang="en-US" altLang="ko-KR" sz="1200" b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			fragment = new 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SectionFragment3();</a:t>
            </a:r>
            <a:endParaRPr lang="en-US" altLang="ko-KR" sz="1200" b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			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args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 = new Bundle();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			break;</a:t>
            </a:r>
          </a:p>
          <a:p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		}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	return fragment;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200" dirty="0" smtClean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58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</a:t>
            </a:r>
            <a:endParaRPr lang="ko-KR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1760652" y="2396359"/>
            <a:ext cx="5702032" cy="3878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5731932" y="3615267"/>
            <a:ext cx="1445263" cy="22013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749821" y="3245935"/>
            <a:ext cx="1711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Fragment </a:t>
            </a:r>
            <a:r>
              <a:rPr lang="ko-KR" altLang="en-US" dirty="0" smtClean="0"/>
              <a:t>이름</a:t>
            </a:r>
            <a:endParaRPr lang="en-US" altLang="ko-KR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894796" y="1057863"/>
            <a:ext cx="151820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MainActivity.java</a:t>
            </a:r>
          </a:p>
        </p:txBody>
      </p:sp>
    </p:spTree>
    <p:extLst>
      <p:ext uri="{BB962C8B-B14F-4D97-AF65-F5344CB8AC3E}">
        <p14:creationId xmlns:p14="http://schemas.microsoft.com/office/powerpoint/2010/main" val="184788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59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2" t="15923" r="17210" b="16054"/>
          <a:stretch/>
        </p:blipFill>
        <p:spPr>
          <a:xfrm>
            <a:off x="3375372" y="1659465"/>
            <a:ext cx="2410082" cy="389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8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ContextMenu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특정 </a:t>
            </a:r>
            <a:r>
              <a:rPr lang="ko-KR" altLang="en-US" dirty="0" err="1" smtClean="0"/>
              <a:t>뷰를</a:t>
            </a:r>
            <a:r>
              <a:rPr lang="ko-KR" altLang="en-US" dirty="0" smtClean="0"/>
              <a:t> 길게 눌렀을 때 </a:t>
            </a:r>
            <a:r>
              <a:rPr lang="ko-KR" altLang="en-US" dirty="0" err="1" smtClean="0"/>
              <a:t>팝업하는</a:t>
            </a:r>
            <a:r>
              <a:rPr lang="ko-KR" altLang="en-US" dirty="0" smtClean="0"/>
              <a:t> 메뉴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Activity </a:t>
            </a:r>
            <a:r>
              <a:rPr lang="ko-KR" altLang="en-US" dirty="0" smtClean="0"/>
              <a:t>내부의 코드로만 구현 </a:t>
            </a:r>
            <a:r>
              <a:rPr lang="en-US" altLang="ko-KR" dirty="0" smtClean="0"/>
              <a:t>/ fragment_blank.xml</a:t>
            </a:r>
            <a:r>
              <a:rPr lang="ko-KR" altLang="en-US" dirty="0" smtClean="0"/>
              <a:t>에 이미지 추가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60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685676" y="2835922"/>
            <a:ext cx="5647700" cy="212365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&lt;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FrameLayout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xmlns:android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  <a:hlinkClick r:id="rId2"/>
              </a:rPr>
              <a:t>http://schemas.android.com/apk/res/android</a:t>
            </a:r>
            <a:endParaRPr lang="en-US" altLang="ko-KR" sz="1200" dirty="0" smtClean="0">
              <a:solidFill>
                <a:schemeClr val="tx1"/>
              </a:solidFill>
              <a:latin typeface="돋움체"/>
              <a:ea typeface="돋움체"/>
            </a:endParaRPr>
          </a:p>
          <a:p>
            <a:r>
              <a:rPr lang="ko-KR" altLang="en-US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ㆍ</a:t>
            </a:r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ko-KR" altLang="en-US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ㆍ</a:t>
            </a:r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ko-KR" altLang="en-US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ㆍ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&gt;</a:t>
            </a:r>
          </a:p>
          <a:p>
            <a:endParaRPr lang="en-US" altLang="ko-KR" sz="1200" dirty="0" smtClean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&lt;!–- TODO: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Upate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blank fragment layout --&gt;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	&lt;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ImageView</a:t>
            </a:r>
            <a:endParaRPr lang="en-US" altLang="ko-KR" sz="1200" dirty="0" smtClean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android:layout_width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=“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match_parent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”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android:layout_height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=“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match_parent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”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android:src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=“@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drawable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/image”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android:id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=“@+id/image” /&gt;</a:t>
            </a:r>
          </a:p>
          <a:p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&lt;/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FrameLayout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&gt;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315651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ContextMenu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특정 </a:t>
            </a:r>
            <a:r>
              <a:rPr lang="ko-KR" altLang="en-US" dirty="0" err="1" smtClean="0"/>
              <a:t>뷰를</a:t>
            </a:r>
            <a:r>
              <a:rPr lang="ko-KR" altLang="en-US" dirty="0" smtClean="0"/>
              <a:t> 길게 눌렀을 때 </a:t>
            </a:r>
            <a:r>
              <a:rPr lang="ko-KR" altLang="en-US" dirty="0" err="1" smtClean="0"/>
              <a:t>팝업하는</a:t>
            </a:r>
            <a:r>
              <a:rPr lang="ko-KR" altLang="en-US" dirty="0" smtClean="0"/>
              <a:t> 메뉴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Activity </a:t>
            </a:r>
            <a:r>
              <a:rPr lang="ko-KR" altLang="en-US" dirty="0" smtClean="0"/>
              <a:t>내부의 코드로만 구현 </a:t>
            </a:r>
            <a:r>
              <a:rPr lang="en-US" altLang="ko-KR" dirty="0" smtClean="0"/>
              <a:t>/ BlankFragment.java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61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18876" y="2250297"/>
            <a:ext cx="8494633" cy="41549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    public View 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onCreateView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LayoutInfalter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inflater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ViewGroup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 container, Bundle 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saveInstanceState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돋움체"/>
                <a:ea typeface="돋움체"/>
              </a:rPr>
              <a:t>	</a:t>
            </a:r>
            <a:endParaRPr lang="en-US" altLang="ko-KR" sz="1200" dirty="0" smtClean="0">
              <a:solidFill>
                <a:schemeClr val="tx1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	View header = 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inflater.inflate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R.layout.fragment_blank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, container, 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flase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ImageView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 context = (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ImageView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)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header.findViewById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R.id.image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err="1" smtClean="0">
                <a:solidFill>
                  <a:schemeClr val="tx1"/>
                </a:solidFill>
                <a:latin typeface="돋움체"/>
                <a:ea typeface="돋움체"/>
              </a:rPr>
              <a:t>registerForContextMenu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(context);</a:t>
            </a:r>
            <a:r>
              <a:rPr lang="en-US" altLang="ko-KR" sz="1200" dirty="0">
                <a:solidFill>
                  <a:schemeClr val="tx1"/>
                </a:solidFill>
                <a:latin typeface="돋움체"/>
                <a:ea typeface="돋움체"/>
              </a:rPr>
              <a:t>	</a:t>
            </a:r>
            <a:endParaRPr lang="en-US" altLang="ko-KR" sz="1200" dirty="0" smtClean="0">
              <a:solidFill>
                <a:schemeClr val="tx1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돋움체"/>
                <a:ea typeface="돋움체"/>
              </a:rPr>
              <a:t>	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return header;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돋움체"/>
                <a:ea typeface="돋움체"/>
              </a:rPr>
              <a:t>    }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646464"/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onCreateContextMenu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ContextMenu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menu,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View v,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ContextMenu.ContextMenuInfo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info)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.onCreateContextMenu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(menu, v, info);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menu.setHeaderTitle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어떤 로고가 마음에 드십니까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?"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menu.add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(0,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v.getId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(), 0,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첫 번째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menu.add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(0,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v.getId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(), 0,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두 번째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menu.add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(0,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v.getId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(), 0,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세 번째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endParaRPr lang="ko-KR" altLang="en-US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rgbClr val="646464"/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onContextItemSelected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MenuItem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item)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Toast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msg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200" i="1" dirty="0" err="1" smtClean="0">
                <a:solidFill>
                  <a:srgbClr val="000000"/>
                </a:solidFill>
                <a:latin typeface="돋움체"/>
                <a:ea typeface="돋움체"/>
              </a:rPr>
              <a:t>makeText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i="1" dirty="0" err="1" smtClean="0">
                <a:solidFill>
                  <a:srgbClr val="7F0055"/>
                </a:solidFill>
                <a:latin typeface="돋움체"/>
                <a:ea typeface="돋움체"/>
              </a:rPr>
              <a:t>getContext</a:t>
            </a:r>
            <a:r>
              <a:rPr lang="en-US" altLang="ko-KR" sz="1200" i="1" dirty="0" smtClean="0">
                <a:solidFill>
                  <a:srgbClr val="7F0055"/>
                </a:solidFill>
                <a:latin typeface="돋움체"/>
                <a:ea typeface="돋움체"/>
              </a:rPr>
              <a:t>()</a:t>
            </a:r>
            <a:r>
              <a:rPr lang="en-US" altLang="ko-KR" sz="1200" i="1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item.getTitle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() + </a:t>
            </a:r>
            <a:r>
              <a:rPr lang="en-US" altLang="ko-KR" sz="1200" i="1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i="1" dirty="0">
                <a:solidFill>
                  <a:srgbClr val="2A00FF"/>
                </a:solidFill>
                <a:latin typeface="돋움체"/>
                <a:ea typeface="돋움체"/>
              </a:rPr>
              <a:t>가 마음에 듭니다</a:t>
            </a:r>
            <a:r>
              <a:rPr lang="en-US" altLang="ko-KR" sz="1200" i="1" dirty="0">
                <a:solidFill>
                  <a:srgbClr val="2A00FF"/>
                </a:solidFill>
                <a:latin typeface="돋움체"/>
                <a:ea typeface="돋움체"/>
              </a:rPr>
              <a:t>."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i="1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200" i="1" dirty="0" err="1">
                <a:solidFill>
                  <a:srgbClr val="0000C0"/>
                </a:solidFill>
                <a:latin typeface="돋움체"/>
                <a:ea typeface="돋움체"/>
              </a:rPr>
              <a:t>LENGTH_SHORT</a:t>
            </a:r>
            <a:r>
              <a:rPr lang="en-US" altLang="ko-KR" sz="1200" i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msg.show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391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ContextMenu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특정 </a:t>
            </a:r>
            <a:r>
              <a:rPr lang="ko-KR" altLang="en-US" dirty="0" err="1" smtClean="0"/>
              <a:t>뷰를</a:t>
            </a:r>
            <a:r>
              <a:rPr lang="ko-KR" altLang="en-US" dirty="0" smtClean="0"/>
              <a:t> 길게 눌렀을 때 </a:t>
            </a:r>
            <a:r>
              <a:rPr lang="ko-KR" altLang="en-US" dirty="0" err="1" smtClean="0"/>
              <a:t>팝업하는</a:t>
            </a:r>
            <a:r>
              <a:rPr lang="ko-KR" altLang="en-US" dirty="0" smtClean="0"/>
              <a:t> 메뉴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첫 번째 탭의 내용을 길게 누르면 </a:t>
            </a:r>
            <a:r>
              <a:rPr lang="ko-KR" altLang="en-US" dirty="0" err="1" smtClean="0"/>
              <a:t>컨텍스트</a:t>
            </a:r>
            <a:r>
              <a:rPr lang="ko-KR" altLang="en-US" dirty="0" smtClean="0"/>
              <a:t> 메뉴가 팝업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62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6" t="16475" r="16216" b="15859"/>
          <a:stretch/>
        </p:blipFill>
        <p:spPr>
          <a:xfrm>
            <a:off x="3251200" y="2439365"/>
            <a:ext cx="2483556" cy="396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3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effectLst/>
              </a:rPr>
              <a:t>Resolution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다양한</a:t>
            </a:r>
            <a:r>
              <a:rPr lang="en-US" altLang="ko-KR" dirty="0" smtClean="0"/>
              <a:t> </a:t>
            </a:r>
            <a:r>
              <a:rPr lang="ko-KR" altLang="en-US" dirty="0" smtClean="0"/>
              <a:t>화면 크기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넥서스원</a:t>
            </a:r>
            <a:r>
              <a:rPr lang="ko-KR" altLang="en-US" dirty="0" smtClean="0"/>
              <a:t> </a:t>
            </a:r>
            <a:r>
              <a:rPr lang="en-US" altLang="ko-KR" dirty="0" smtClean="0"/>
              <a:t>= 3.7</a:t>
            </a:r>
            <a:r>
              <a:rPr lang="ko-KR" altLang="en-US" dirty="0" smtClean="0"/>
              <a:t>인치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엑스페리아</a:t>
            </a:r>
            <a:r>
              <a:rPr lang="ko-KR" altLang="en-US" dirty="0" smtClean="0"/>
              <a:t> </a:t>
            </a:r>
            <a:r>
              <a:rPr lang="en-US" altLang="ko-KR" dirty="0" smtClean="0"/>
              <a:t>=4</a:t>
            </a:r>
            <a:r>
              <a:rPr lang="ko-KR" altLang="en-US" dirty="0" smtClean="0"/>
              <a:t>인치</a:t>
            </a:r>
            <a:r>
              <a:rPr lang="en-US" altLang="ko-KR" dirty="0"/>
              <a:t> </a:t>
            </a:r>
            <a:r>
              <a:rPr lang="ko-KR" altLang="en-US" dirty="0" smtClean="0"/>
              <a:t>등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화면 크기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일반적인 </a:t>
            </a:r>
            <a:r>
              <a:rPr lang="ko-KR" altLang="en-US" dirty="0" err="1" smtClean="0"/>
              <a:t>스마트폰과</a:t>
            </a:r>
            <a:r>
              <a:rPr lang="ko-KR" altLang="en-US" dirty="0" smtClean="0"/>
              <a:t> 비교했을 때의 상대적인 크기</a:t>
            </a:r>
            <a:endParaRPr lang="en-US" altLang="ko-KR" dirty="0" smtClean="0"/>
          </a:p>
          <a:p>
            <a:pPr lvl="1"/>
            <a:r>
              <a:rPr lang="en-US" altLang="ko-KR" dirty="0"/>
              <a:t>s</a:t>
            </a:r>
            <a:r>
              <a:rPr lang="en-US" altLang="ko-KR" dirty="0" smtClean="0"/>
              <a:t>mall – 3.2</a:t>
            </a:r>
            <a:r>
              <a:rPr lang="ko-KR" altLang="en-US" dirty="0" smtClean="0"/>
              <a:t>인치 보다 작은 크기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medium – </a:t>
            </a:r>
            <a:r>
              <a:rPr lang="ko-KR" altLang="en-US" dirty="0" smtClean="0"/>
              <a:t>전형적인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스마트폰</a:t>
            </a:r>
            <a:r>
              <a:rPr lang="ko-KR" altLang="en-US" dirty="0" smtClean="0"/>
              <a:t> 크기</a:t>
            </a:r>
            <a:endParaRPr lang="en-US" altLang="ko-KR" dirty="0" smtClean="0"/>
          </a:p>
          <a:p>
            <a:pPr lvl="1"/>
            <a:r>
              <a:rPr lang="en-US" altLang="ko-KR" dirty="0"/>
              <a:t>l</a:t>
            </a:r>
            <a:r>
              <a:rPr lang="en-US" altLang="ko-KR" dirty="0" smtClean="0"/>
              <a:t>arge – </a:t>
            </a:r>
            <a:r>
              <a:rPr lang="ko-KR" altLang="en-US" dirty="0" err="1" smtClean="0"/>
              <a:t>태블릿이나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넷북과</a:t>
            </a:r>
            <a:r>
              <a:rPr lang="ko-KR" altLang="en-US" dirty="0" smtClean="0"/>
              <a:t> 같이 현격하게 큰 화면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err="1" smtClean="0"/>
              <a:t>종횡비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화면의 높이와 폭의 비율</a:t>
            </a:r>
            <a:endParaRPr lang="en-US" altLang="ko-KR" dirty="0" smtClean="0"/>
          </a:p>
          <a:p>
            <a:pPr lvl="1"/>
            <a:r>
              <a:rPr lang="en-US" altLang="ko-KR" dirty="0"/>
              <a:t>l</a:t>
            </a:r>
            <a:r>
              <a:rPr lang="en-US" altLang="ko-KR" dirty="0" smtClean="0"/>
              <a:t>ong – </a:t>
            </a:r>
            <a:r>
              <a:rPr lang="ko-KR" altLang="en-US" dirty="0" smtClean="0"/>
              <a:t>가로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모드가 현격하게 넓은 화면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notlong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일반적인 </a:t>
            </a:r>
            <a:r>
              <a:rPr lang="ko-KR" altLang="en-US" dirty="0" err="1" smtClean="0"/>
              <a:t>종횡비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87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effectLst/>
              </a:rPr>
              <a:t>Resolution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픽셀 밀도에</a:t>
            </a:r>
            <a:r>
              <a:rPr lang="en-US" altLang="ko-KR" dirty="0" smtClean="0"/>
              <a:t> </a:t>
            </a:r>
            <a:r>
              <a:rPr lang="ko-KR" altLang="en-US" dirty="0" smtClean="0"/>
              <a:t>따른 리소스 구분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ldpi</a:t>
            </a:r>
            <a:r>
              <a:rPr lang="en-US" altLang="ko-KR" dirty="0" smtClean="0"/>
              <a:t> – 100~140dpi, </a:t>
            </a:r>
            <a:r>
              <a:rPr lang="ko-KR" altLang="en-US" dirty="0" smtClean="0"/>
              <a:t>저밀</a:t>
            </a:r>
            <a:r>
              <a:rPr lang="ko-KR" altLang="en-US" dirty="0"/>
              <a:t>도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mdpi</a:t>
            </a:r>
            <a:r>
              <a:rPr lang="en-US" altLang="ko-KR" dirty="0" smtClean="0"/>
              <a:t> – 140~180dpi, </a:t>
            </a:r>
            <a:r>
              <a:rPr lang="ko-KR" altLang="en-US" dirty="0" smtClean="0"/>
              <a:t>중밀</a:t>
            </a:r>
            <a:r>
              <a:rPr lang="ko-KR" altLang="en-US" dirty="0"/>
              <a:t>도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hdpi</a:t>
            </a:r>
            <a:r>
              <a:rPr lang="en-US" altLang="ko-KR" dirty="0" smtClean="0"/>
              <a:t> – 190~250dpi, </a:t>
            </a:r>
            <a:r>
              <a:rPr lang="ko-KR" altLang="en-US" dirty="0" smtClean="0"/>
              <a:t>고밀도</a:t>
            </a:r>
            <a:endParaRPr lang="en-US" altLang="ko-KR" dirty="0" smtClean="0"/>
          </a:p>
          <a:p>
            <a:pPr lvl="1"/>
            <a:r>
              <a:rPr lang="en-US" altLang="ko-KR" dirty="0" err="1"/>
              <a:t>x</a:t>
            </a:r>
            <a:r>
              <a:rPr lang="en-US" altLang="ko-KR" dirty="0" err="1" smtClean="0"/>
              <a:t>hdpi</a:t>
            </a:r>
            <a:r>
              <a:rPr lang="en-US" altLang="ko-KR" dirty="0" smtClean="0"/>
              <a:t> </a:t>
            </a:r>
            <a:r>
              <a:rPr lang="en-US" altLang="ko-KR" dirty="0"/>
              <a:t>– </a:t>
            </a:r>
            <a:r>
              <a:rPr lang="en-US" altLang="ko-KR" dirty="0" smtClean="0"/>
              <a:t>~320dpi, </a:t>
            </a:r>
            <a:r>
              <a:rPr lang="ko-KR" altLang="en-US" dirty="0" smtClean="0"/>
              <a:t>초고밀도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xxhdpi</a:t>
            </a:r>
            <a:r>
              <a:rPr lang="en-US" altLang="ko-KR" dirty="0"/>
              <a:t> – </a:t>
            </a:r>
            <a:r>
              <a:rPr lang="en-US" altLang="ko-KR" dirty="0" smtClean="0"/>
              <a:t>~480dpi, </a:t>
            </a:r>
            <a:r>
              <a:rPr lang="ko-KR" altLang="en-US" dirty="0" smtClean="0"/>
              <a:t>초초고밀도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nodpi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화면 밀도에 관계없이 크기가 변하면 안 되는 리소스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해상도 조건 조합에 따라 서로 다른 리소스 사용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64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74926" y="4427911"/>
            <a:ext cx="28394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res/</a:t>
            </a:r>
            <a:r>
              <a:rPr lang="en-US" altLang="ko-KR" dirty="0" err="1" smtClean="0"/>
              <a:t>drawable-ldpi</a:t>
            </a:r>
            <a:r>
              <a:rPr lang="en-US" altLang="ko-KR" dirty="0" smtClean="0"/>
              <a:t>/*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res/</a:t>
            </a:r>
            <a:r>
              <a:rPr lang="en-US" altLang="ko-KR" dirty="0" err="1" smtClean="0"/>
              <a:t>drawable</a:t>
            </a:r>
            <a:r>
              <a:rPr lang="en-US" altLang="ko-KR" dirty="0" smtClean="0"/>
              <a:t>-small-long/*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/>
              <a:t>res/layout-large/*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800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UI </a:t>
            </a:r>
            <a:r>
              <a:rPr lang="ko-KR" altLang="en-US" dirty="0" smtClean="0"/>
              <a:t>최적화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 smtClean="0"/>
              <a:t>효율적인</a:t>
            </a:r>
            <a:r>
              <a:rPr lang="en-US" altLang="ko-KR" dirty="0" smtClean="0"/>
              <a:t> </a:t>
            </a:r>
            <a:r>
              <a:rPr lang="ko-KR" altLang="en-US" dirty="0" smtClean="0"/>
              <a:t>레이아웃 설계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레이아웃은 되도록 간단하게 유지하도록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불필요한 중첩이 발생하지 않도록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과도한 </a:t>
            </a:r>
            <a:r>
              <a:rPr lang="ko-KR" altLang="en-US" dirty="0" err="1" smtClean="0"/>
              <a:t>뷰의</a:t>
            </a:r>
            <a:r>
              <a:rPr lang="ko-KR" altLang="en-US" dirty="0" smtClean="0"/>
              <a:t> 사용은 자제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하나의 </a:t>
            </a:r>
            <a:r>
              <a:rPr lang="ko-KR" altLang="en-US" dirty="0" err="1" smtClean="0"/>
              <a:t>액티비티에</a:t>
            </a:r>
            <a:r>
              <a:rPr lang="ko-KR" altLang="en-US" dirty="0" smtClean="0"/>
              <a:t> 적당한 개수를 유지하도록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레이아웃의 깊이는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단계 이하로 유지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균형적인</a:t>
            </a:r>
            <a:r>
              <a:rPr lang="en-US" altLang="ko-KR" dirty="0" smtClean="0"/>
              <a:t> </a:t>
            </a:r>
            <a:r>
              <a:rPr lang="ko-KR" altLang="en-US" dirty="0" smtClean="0"/>
              <a:t>디자인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되도록 표준 컨트롤을 사용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작은 화면에서 화려한 컨트롤은 </a:t>
            </a:r>
            <a:r>
              <a:rPr lang="ko-KR" altLang="en-US" dirty="0" err="1" smtClean="0"/>
              <a:t>사용성이</a:t>
            </a:r>
            <a:r>
              <a:rPr lang="ko-KR" altLang="en-US" dirty="0" smtClean="0"/>
              <a:t> 떨어짐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새로운 형태의 컨트롤이 필요하다면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해당하는 기본 기능을 가진 표준 컨트롤을 수정하거나 확장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복합적인 기능이 필요하다면 해당 기능을 가진 표준 컨트롤들을 결합하여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재사용이 가능한 확장 컨트롤을 제작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기존에는 없는 기능과 전혀 다른 방식의 출력이 필요하다면 새로운 컨트롤을 생성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다양한</a:t>
            </a:r>
            <a:r>
              <a:rPr lang="en-US" altLang="ko-KR" dirty="0" smtClean="0"/>
              <a:t> </a:t>
            </a:r>
            <a:r>
              <a:rPr lang="ko-KR" altLang="en-US" dirty="0" smtClean="0"/>
              <a:t>대상의 고려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지원 가능한 해상도를 신중하게 선정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필요할 경우 해상도별로 리소스를 제작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1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66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42291</TotalTime>
  <Words>2775</Words>
  <Application>Microsoft Office PowerPoint</Application>
  <PresentationFormat>화면 슬라이드 쇼(4:3)</PresentationFormat>
  <Paragraphs>871</Paragraphs>
  <Slides>66</Slides>
  <Notes>29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67" baseType="lpstr">
      <vt:lpstr>Executive</vt:lpstr>
      <vt:lpstr>사용자 인터페이스-2</vt:lpstr>
      <vt:lpstr>ListView</vt:lpstr>
      <vt:lpstr>ListView</vt:lpstr>
      <vt:lpstr>ListView</vt:lpstr>
      <vt:lpstr>ListView</vt:lpstr>
      <vt:lpstr>ListView</vt:lpstr>
      <vt:lpstr>ListView</vt:lpstr>
      <vt:lpstr>ListView</vt:lpstr>
      <vt:lpstr>Adapter</vt:lpstr>
      <vt:lpstr>ListView</vt:lpstr>
      <vt:lpstr>ListView</vt:lpstr>
      <vt:lpstr>ListView</vt:lpstr>
      <vt:lpstr>ListView</vt:lpstr>
      <vt:lpstr>ListView</vt:lpstr>
      <vt:lpstr>ListView</vt:lpstr>
      <vt:lpstr>EditText</vt:lpstr>
      <vt:lpstr>EditText</vt:lpstr>
      <vt:lpstr>EditText</vt:lpstr>
      <vt:lpstr>EditText</vt:lpstr>
      <vt:lpstr>EditText</vt:lpstr>
      <vt:lpstr>EditText</vt:lpstr>
      <vt:lpstr>EditText</vt:lpstr>
      <vt:lpstr>EditText</vt:lpstr>
      <vt:lpstr>EditText</vt:lpstr>
      <vt:lpstr>EditText</vt:lpstr>
      <vt:lpstr>EditText</vt:lpstr>
      <vt:lpstr>EditText</vt:lpstr>
      <vt:lpstr>Soft Keyboard</vt:lpstr>
      <vt:lpstr>Advanced Widget</vt:lpstr>
      <vt:lpstr>Spinner</vt:lpstr>
      <vt:lpstr>Spinner</vt:lpstr>
      <vt:lpstr>Spinner</vt:lpstr>
      <vt:lpstr>Spinner</vt:lpstr>
      <vt:lpstr>Spinner</vt:lpstr>
      <vt:lpstr>Spinner</vt:lpstr>
      <vt:lpstr>Spinner</vt:lpstr>
      <vt:lpstr>Spinner</vt:lpstr>
      <vt:lpstr>GridView</vt:lpstr>
      <vt:lpstr>GridView</vt:lpstr>
      <vt:lpstr>GridView</vt:lpstr>
      <vt:lpstr>GridView</vt:lpstr>
      <vt:lpstr>ViewFlipper</vt:lpstr>
      <vt:lpstr>ViewFlipper</vt:lpstr>
      <vt:lpstr>ActionBar</vt:lpstr>
      <vt:lpstr>ActionBar</vt:lpstr>
      <vt:lpstr>ActionBar</vt:lpstr>
      <vt:lpstr>ActionBar</vt:lpstr>
      <vt:lpstr>ActionBar</vt:lpstr>
      <vt:lpstr>ActionBar</vt:lpstr>
      <vt:lpstr>ActionBar</vt:lpstr>
      <vt:lpstr>ActionBar</vt:lpstr>
      <vt:lpstr>Tab</vt:lpstr>
      <vt:lpstr>Tab</vt:lpstr>
      <vt:lpstr>Tab</vt:lpstr>
      <vt:lpstr>Tab</vt:lpstr>
      <vt:lpstr>Tab</vt:lpstr>
      <vt:lpstr>Tab</vt:lpstr>
      <vt:lpstr>Tab</vt:lpstr>
      <vt:lpstr>Tab</vt:lpstr>
      <vt:lpstr>ContextMenu</vt:lpstr>
      <vt:lpstr>ContextMenu</vt:lpstr>
      <vt:lpstr>ContextMenu</vt:lpstr>
      <vt:lpstr>Resolution</vt:lpstr>
      <vt:lpstr>Resolution</vt:lpstr>
      <vt:lpstr>UI 최적화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1907</cp:revision>
  <cp:lastPrinted>2011-03-01T18:43:48Z</cp:lastPrinted>
  <dcterms:created xsi:type="dcterms:W3CDTF">2010-10-12T07:50:15Z</dcterms:created>
  <dcterms:modified xsi:type="dcterms:W3CDTF">2017-09-11T06:19:57Z</dcterms:modified>
</cp:coreProperties>
</file>