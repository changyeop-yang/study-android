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28" r:id="rId1"/>
  </p:sldMasterIdLst>
  <p:notesMasterIdLst>
    <p:notesMasterId r:id="rId33"/>
  </p:notesMasterIdLst>
  <p:sldIdLst>
    <p:sldId id="256" r:id="rId2"/>
    <p:sldId id="342" r:id="rId3"/>
    <p:sldId id="306" r:id="rId4"/>
    <p:sldId id="308" r:id="rId5"/>
    <p:sldId id="310" r:id="rId6"/>
    <p:sldId id="343" r:id="rId7"/>
    <p:sldId id="344" r:id="rId8"/>
    <p:sldId id="345" r:id="rId9"/>
    <p:sldId id="346" r:id="rId10"/>
    <p:sldId id="347" r:id="rId11"/>
    <p:sldId id="348" r:id="rId12"/>
    <p:sldId id="353" r:id="rId13"/>
    <p:sldId id="354" r:id="rId14"/>
    <p:sldId id="378" r:id="rId15"/>
    <p:sldId id="355" r:id="rId16"/>
    <p:sldId id="373" r:id="rId17"/>
    <p:sldId id="374" r:id="rId18"/>
    <p:sldId id="349" r:id="rId19"/>
    <p:sldId id="352" r:id="rId20"/>
    <p:sldId id="356" r:id="rId21"/>
    <p:sldId id="357" r:id="rId22"/>
    <p:sldId id="358" r:id="rId23"/>
    <p:sldId id="359" r:id="rId24"/>
    <p:sldId id="360" r:id="rId25"/>
    <p:sldId id="361" r:id="rId26"/>
    <p:sldId id="362" r:id="rId27"/>
    <p:sldId id="363" r:id="rId28"/>
    <p:sldId id="375" r:id="rId29"/>
    <p:sldId id="364" r:id="rId30"/>
    <p:sldId id="376" r:id="rId31"/>
    <p:sldId id="294" r:id="rId32"/>
  </p:sldIdLst>
  <p:sldSz cx="9144000" cy="6858000" type="screen4x3"/>
  <p:notesSz cx="7104063" cy="102346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FF"/>
    <a:srgbClr val="004CBC"/>
    <a:srgbClr val="005B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255" autoAdjust="0"/>
    <p:restoredTop sz="93972" autoAdjust="0"/>
  </p:normalViewPr>
  <p:slideViewPr>
    <p:cSldViewPr snapToGrid="0">
      <p:cViewPr varScale="1">
        <p:scale>
          <a:sx n="83" d="100"/>
          <a:sy n="83" d="100"/>
        </p:scale>
        <p:origin x="1008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-3870" y="-120"/>
      </p:cViewPr>
      <p:guideLst>
        <p:guide orient="horz" pos="3224"/>
        <p:guide pos="223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8427" cy="511730"/>
          </a:xfrm>
          <a:prstGeom prst="rect">
            <a:avLst/>
          </a:prstGeom>
        </p:spPr>
        <p:txBody>
          <a:bodyPr vert="horz" lIns="95079" tIns="47540" rIns="95079" bIns="4754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1"/>
            <a:ext cx="3078427" cy="511730"/>
          </a:xfrm>
          <a:prstGeom prst="rect">
            <a:avLst/>
          </a:prstGeom>
        </p:spPr>
        <p:txBody>
          <a:bodyPr vert="horz" lIns="95079" tIns="47540" rIns="95079" bIns="47540" rtlCol="0"/>
          <a:lstStyle>
            <a:lvl1pPr algn="r">
              <a:defRPr sz="1200"/>
            </a:lvl1pPr>
          </a:lstStyle>
          <a:p>
            <a:fld id="{F90D873F-EA2E-46B8-AF3A-207077BF9E2A}" type="datetimeFigureOut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6763"/>
            <a:ext cx="5119687" cy="38401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079" tIns="47540" rIns="95079" bIns="47540" rtlCol="0" anchor="ctr"/>
          <a:lstStyle/>
          <a:p>
            <a:endParaRPr lang="ko-KR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861441"/>
            <a:ext cx="5683250" cy="4605575"/>
          </a:xfrm>
          <a:prstGeom prst="rect">
            <a:avLst/>
          </a:prstGeom>
        </p:spPr>
        <p:txBody>
          <a:bodyPr vert="horz" lIns="95079" tIns="47540" rIns="95079" bIns="47540" rtlCol="0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721106"/>
            <a:ext cx="3078427" cy="511730"/>
          </a:xfrm>
          <a:prstGeom prst="rect">
            <a:avLst/>
          </a:prstGeom>
        </p:spPr>
        <p:txBody>
          <a:bodyPr vert="horz" lIns="95079" tIns="47540" rIns="95079" bIns="4754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06"/>
            <a:ext cx="3078427" cy="511730"/>
          </a:xfrm>
          <a:prstGeom prst="rect">
            <a:avLst/>
          </a:prstGeom>
        </p:spPr>
        <p:txBody>
          <a:bodyPr vert="horz" lIns="95079" tIns="47540" rIns="95079" bIns="47540" rtlCol="0" anchor="b"/>
          <a:lstStyle>
            <a:lvl1pPr algn="r">
              <a:defRPr sz="1200"/>
            </a:lvl1pPr>
          </a:lstStyle>
          <a:p>
            <a:fld id="{56445C23-547F-4807-82A2-44CB5165115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37635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52073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45684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32522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11349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39732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23166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45196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41098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09956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17168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25626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9239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61606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411371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55237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55237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564678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943596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851306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306207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480750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601077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627251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364649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171000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192101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832305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622228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202935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013225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560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09601"/>
            <a:ext cx="7772400" cy="42672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8000">
                <a:latin typeface="Calibri" pitchFamily="34" charset="0"/>
                <a:cs typeface="Calibri" pitchFamily="34" charset="0"/>
              </a:defRPr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953000"/>
            <a:ext cx="6400800" cy="12192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  <a:latin typeface="Calibri" pitchFamily="34" charset="0"/>
                <a:cs typeface="Calibri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ko-KR" dirty="0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B1D5F-33CD-4488-976B-F9464FD91753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A0C15-7F47-4547-995A-E06B8BD978BD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371600"/>
            <a:ext cx="7772400" cy="2505075"/>
          </a:xfrm>
        </p:spPr>
        <p:txBody>
          <a:bodyPr anchor="b"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068763"/>
            <a:ext cx="7772400" cy="11318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276DC-5F53-4EC5-9E0B-7C43E8461919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7" name="Oval 6"/>
          <p:cNvSpPr/>
          <p:nvPr/>
        </p:nvSpPr>
        <p:spPr>
          <a:xfrm>
            <a:off x="4539760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4739785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340688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80812-1F40-45FD-82CF-F544E5564805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65760" y="1600200"/>
            <a:ext cx="4041648" cy="4526280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40188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1600200"/>
            <a:ext cx="4041775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F5704-1777-4A4F-9646-122E7F100DB5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457200" y="2212848"/>
            <a:ext cx="4041648" cy="3913632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72584" y="2212848"/>
            <a:ext cx="4041648" cy="3913187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A8956-45F5-40BA-9EC4-3972E0A2B8E3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65470"/>
            <a:ext cx="8229600" cy="1042219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ko-KR" smtClean="0"/>
              <a:t>Click to edit Master title style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6DBBE-459F-47F7-AC25-C1520DCBA826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7087" y="266700"/>
            <a:ext cx="3008313" cy="209550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37" y="273050"/>
            <a:ext cx="499586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07087" y="2438400"/>
            <a:ext cx="3008313" cy="3687763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D703F-420F-4C6E-A47B-DAAC0702168C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228600"/>
            <a:ext cx="5711824" cy="89535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08126" y="1143000"/>
            <a:ext cx="6054724" cy="4541044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5810250"/>
            <a:ext cx="5711824" cy="533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317E0-6ED8-49AC-8F3C-035789E329D3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6A579-5918-4B54-82E8-D4CEFF471756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19546-0714-4120-89FC-4148593C534F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65470"/>
            <a:ext cx="8229600" cy="104221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altLang="ko-KR" dirty="0" smtClean="0"/>
              <a:t>Click to edit Master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84672"/>
            <a:ext cx="8229600" cy="4641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3B9C821C-F261-4C36-858D-913B97B2EFDC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7" name="Oval 6"/>
          <p:cNvSpPr/>
          <p:nvPr/>
        </p:nvSpPr>
        <p:spPr>
          <a:xfrm>
            <a:off x="8457760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569119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1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827345" y="110416"/>
            <a:ext cx="2137143" cy="27809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1" name="TextBox 10"/>
          <p:cNvSpPr txBox="1"/>
          <p:nvPr userDrawn="1"/>
        </p:nvSpPr>
        <p:spPr>
          <a:xfrm>
            <a:off x="-3205" y="171313"/>
            <a:ext cx="1125180" cy="2782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300"/>
              </a:lnSpc>
            </a:pPr>
            <a:r>
              <a:rPr lang="en-US" altLang="ko-KR" sz="1800" kern="1200" spc="0" dirty="0" smtClean="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rPr>
              <a:t>COMP</a:t>
            </a:r>
            <a:r>
              <a:rPr lang="en-US" altLang="ko-KR" sz="1800" kern="1200" spc="0" dirty="0" smtClean="0">
                <a:solidFill>
                  <a:srgbClr val="FF0000"/>
                </a:solidFill>
                <a:latin typeface="Calibri" pitchFamily="34" charset="0"/>
                <a:ea typeface="+mn-ea"/>
                <a:cs typeface="Calibri" pitchFamily="34" charset="0"/>
              </a:rPr>
              <a:t>3</a:t>
            </a:r>
            <a:r>
              <a:rPr lang="en-US" altLang="ko-KR" sz="1800" kern="1200" spc="0" dirty="0" smtClean="0">
                <a:solidFill>
                  <a:schemeClr val="accent5"/>
                </a:solidFill>
                <a:latin typeface="Calibri" pitchFamily="34" charset="0"/>
                <a:ea typeface="+mn-ea"/>
                <a:cs typeface="Calibri" pitchFamily="34" charset="0"/>
              </a:rPr>
              <a:t>2</a:t>
            </a:r>
            <a:r>
              <a:rPr lang="en-US" altLang="ko-KR" sz="1800" kern="1200" spc="0" dirty="0" smtClean="0">
                <a:solidFill>
                  <a:srgbClr val="0066FF"/>
                </a:solidFill>
                <a:latin typeface="Calibri" pitchFamily="34" charset="0"/>
                <a:ea typeface="+mn-ea"/>
                <a:cs typeface="Calibri" pitchFamily="34" charset="0"/>
              </a:rPr>
              <a:t>8</a:t>
            </a:r>
            <a:endParaRPr lang="ko-KR" altLang="en-US" sz="1800" kern="1200" spc="0" dirty="0" smtClean="0">
              <a:solidFill>
                <a:schemeClr val="tx1">
                  <a:lumMod val="50000"/>
                  <a:lumOff val="50000"/>
                </a:schemeClr>
              </a:solidFill>
              <a:latin typeface="Calibri" pitchFamily="34" charset="0"/>
              <a:ea typeface="+mn-ea"/>
              <a:cs typeface="Calibri" pitchFamily="34" charset="0"/>
            </a:endParaRPr>
          </a:p>
        </p:txBody>
      </p:sp>
      <p:grpSp>
        <p:nvGrpSpPr>
          <p:cNvPr id="13" name="그룹 12"/>
          <p:cNvGrpSpPr/>
          <p:nvPr userDrawn="1"/>
        </p:nvGrpSpPr>
        <p:grpSpPr>
          <a:xfrm>
            <a:off x="949172" y="101474"/>
            <a:ext cx="1474704" cy="391812"/>
            <a:chOff x="983729" y="101774"/>
            <a:chExt cx="1474704" cy="391812"/>
          </a:xfrm>
        </p:grpSpPr>
        <p:sp>
          <p:nvSpPr>
            <p:cNvPr id="10" name="TextBox 9"/>
            <p:cNvSpPr txBox="1"/>
            <p:nvPr userDrawn="1"/>
          </p:nvSpPr>
          <p:spPr>
            <a:xfrm>
              <a:off x="983729" y="101774"/>
              <a:ext cx="1151277" cy="2714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indent="0" algn="l" defTabSz="914400" rtl="0" eaLnBrk="1" fontAlgn="auto" latinLnBrk="1" hangingPunct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600" b="0" kern="1200" dirty="0" smtClean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itchFamily="34" charset="0"/>
                  <a:ea typeface="+mn-ea"/>
                  <a:cs typeface="Calibri" pitchFamily="34" charset="0"/>
                </a:rPr>
                <a:t>M</a:t>
              </a:r>
              <a:r>
                <a:rPr lang="en-US" altLang="ko-KR" sz="1600" kern="12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alibri" pitchFamily="34" charset="0"/>
                  <a:ea typeface="+mn-ea"/>
                  <a:cs typeface="Calibri" pitchFamily="34" charset="0"/>
                </a:rPr>
                <a:t>obile </a:t>
              </a:r>
              <a:r>
                <a:rPr lang="en-US" altLang="ko-KR" sz="1600" b="0" kern="1200" dirty="0" smtClean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itchFamily="34" charset="0"/>
                  <a:ea typeface="+mn-ea"/>
                  <a:cs typeface="Calibri" pitchFamily="34" charset="0"/>
                </a:rPr>
                <a:t>A</a:t>
              </a:r>
              <a:r>
                <a:rPr lang="en-US" altLang="ko-KR" sz="1600" kern="12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alibri" pitchFamily="34" charset="0"/>
                  <a:ea typeface="+mn-ea"/>
                  <a:cs typeface="Calibri" pitchFamily="34" charset="0"/>
                </a:rPr>
                <a:t>pp</a:t>
              </a:r>
              <a:endParaRPr lang="ko-KR" altLang="en-US" sz="1600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+mn-ea"/>
                <a:cs typeface="Calibri" pitchFamily="34" charset="0"/>
              </a:endParaRPr>
            </a:p>
          </p:txBody>
        </p:sp>
        <p:sp>
          <p:nvSpPr>
            <p:cNvPr id="12" name="직사각형 11"/>
            <p:cNvSpPr/>
            <p:nvPr userDrawn="1"/>
          </p:nvSpPr>
          <p:spPr>
            <a:xfrm>
              <a:off x="1053433" y="155032"/>
              <a:ext cx="1405000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6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Calibri" pitchFamily="34" charset="0"/>
                  <a:ea typeface="+mn-ea"/>
                  <a:cs typeface="Calibri" pitchFamily="34" charset="0"/>
                </a:rPr>
                <a:t>P</a:t>
              </a:r>
              <a:r>
                <a:rPr kumimoji="0" lang="en-US" altLang="ko-KR" sz="16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Calibri" pitchFamily="34" charset="0"/>
                </a:rPr>
                <a:t>rogramming I</a:t>
              </a:r>
              <a:endParaRPr lang="ko-KR" altLang="en-US" sz="1600" dirty="0" smtClean="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400" rtl="0" eaLnBrk="1" latinLnBrk="1" hangingPunct="1">
        <a:lnSpc>
          <a:spcPts val="5800"/>
        </a:lnSpc>
        <a:spcBef>
          <a:spcPct val="0"/>
        </a:spcBef>
        <a:buNone/>
        <a:defRPr sz="54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Calibri" pitchFamily="34" charset="0"/>
          <a:ea typeface="+mj-ea"/>
          <a:cs typeface="Calibri" pitchFamily="34" charset="0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1pPr>
      <a:lvl2pPr marL="742950" indent="-28575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3pPr>
      <a:lvl4pPr marL="1600200" indent="-22860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5pPr>
      <a:lvl6pPr marL="2514600" indent="-22860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developer.android.com/reference/android/graphics/Canvas.html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developer.android.com/reference/android/graphics/Paint.html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fontsquirrel.com/fonts/3Dumb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88840"/>
            <a:ext cx="7772400" cy="864096"/>
          </a:xfrm>
          <a:solidFill>
            <a:srgbClr val="004CBC"/>
          </a:solidFill>
        </p:spPr>
        <p:txBody>
          <a:bodyPr>
            <a:normAutofit/>
          </a:bodyPr>
          <a:lstStyle/>
          <a:p>
            <a:r>
              <a:rPr lang="ko-KR" altLang="en-US" sz="4800" b="1" dirty="0" smtClean="0">
                <a:solidFill>
                  <a:schemeClr val="bg1"/>
                </a:solidFill>
                <a:effectLst/>
                <a:latin typeface="Arial" pitchFamily="34" charset="0"/>
                <a:cs typeface="Arial" pitchFamily="34" charset="0"/>
              </a:rPr>
              <a:t>그래픽</a:t>
            </a:r>
            <a:r>
              <a:rPr lang="en-US" altLang="ko-KR" sz="4800" b="1" smtClean="0">
                <a:solidFill>
                  <a:schemeClr val="bg1"/>
                </a:solidFill>
                <a:effectLst/>
                <a:latin typeface="Arial" pitchFamily="34" charset="0"/>
                <a:cs typeface="Arial" pitchFamily="34" charset="0"/>
              </a:rPr>
              <a:t>(2D)</a:t>
            </a:r>
            <a:endParaRPr lang="ko-KR" altLang="en-US" sz="4800" b="1" dirty="0">
              <a:solidFill>
                <a:schemeClr val="bg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부제목 4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 err="1"/>
              <a:t>Gi</a:t>
            </a:r>
            <a:r>
              <a:rPr lang="en-US" altLang="ko-KR" dirty="0"/>
              <a:t> Sook Jung, </a:t>
            </a:r>
            <a:r>
              <a:rPr lang="en-US" altLang="ko-KR" dirty="0" err="1"/>
              <a:t>Ph.D</a:t>
            </a:r>
            <a:endParaRPr lang="en-US" altLang="ko-KR" dirty="0"/>
          </a:p>
          <a:p>
            <a:r>
              <a:rPr lang="en-US" altLang="ko-KR" dirty="0" smtClean="0"/>
              <a:t>School </a:t>
            </a:r>
            <a:r>
              <a:rPr lang="en-US" altLang="ko-KR" dirty="0" smtClean="0"/>
              <a:t>of Computer Science and Engineering</a:t>
            </a:r>
          </a:p>
          <a:p>
            <a:r>
              <a:rPr lang="en-US" altLang="ko-KR" dirty="0" smtClean="0"/>
              <a:t>College of IT Engineering, KNU</a:t>
            </a:r>
            <a:endParaRPr lang="ko-KR" altLang="en-US" dirty="0"/>
          </a:p>
        </p:txBody>
      </p:sp>
      <p:pic>
        <p:nvPicPr>
          <p:cNvPr id="5122" name="Picture 2" descr="http://www.ddaily.co.kr/DATA/news/20110210/20110210140451__I6720.jp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027" b="22179"/>
          <a:stretch/>
        </p:blipFill>
        <p:spPr bwMode="auto">
          <a:xfrm>
            <a:off x="2208089" y="3084845"/>
            <a:ext cx="4762500" cy="1778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7308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Graphics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2D Computer Graphics</a:t>
            </a:r>
          </a:p>
          <a:p>
            <a:pPr lvl="1"/>
            <a:r>
              <a:rPr lang="en-US" altLang="ko-KR" dirty="0" smtClean="0"/>
              <a:t>2</a:t>
            </a:r>
            <a:r>
              <a:rPr lang="ko-KR" altLang="en-US" dirty="0" smtClean="0"/>
              <a:t>차원 출력 장치에 표현된 컴퓨터에 의해 그려진 그림</a:t>
            </a:r>
            <a:r>
              <a:rPr lang="en-US" altLang="ko-KR" dirty="0" smtClean="0"/>
              <a:t>, </a:t>
            </a:r>
            <a:r>
              <a:rPr lang="ko-KR" altLang="en-US" dirty="0" smtClean="0"/>
              <a:t>도형</a:t>
            </a:r>
            <a:r>
              <a:rPr lang="en-US" altLang="ko-KR" dirty="0" smtClean="0"/>
              <a:t>, </a:t>
            </a:r>
            <a:r>
              <a:rPr lang="ko-KR" altLang="en-US" dirty="0" smtClean="0"/>
              <a:t>무늬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Raster Graphics: </a:t>
            </a:r>
            <a:r>
              <a:rPr lang="ko-KR" altLang="en-US" dirty="0" err="1" smtClean="0"/>
              <a:t>화소</a:t>
            </a:r>
            <a:r>
              <a:rPr lang="en-US" altLang="ko-KR" dirty="0" smtClean="0"/>
              <a:t>(</a:t>
            </a:r>
            <a:r>
              <a:rPr lang="ko-KR" altLang="en-US" dirty="0" smtClean="0"/>
              <a:t>픽셀</a:t>
            </a:r>
            <a:r>
              <a:rPr lang="en-US" altLang="ko-KR" dirty="0" smtClean="0"/>
              <a:t>)</a:t>
            </a:r>
            <a:r>
              <a:rPr lang="ko-KR" altLang="en-US" dirty="0" smtClean="0"/>
              <a:t>로 이루어진 그래픽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		</a:t>
            </a:r>
            <a:r>
              <a:rPr lang="ko-KR" altLang="en-US" dirty="0" smtClean="0"/>
              <a:t>수많은 색상 점들이 모자이크처럼 이미지를 구성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Vector Graphics: </a:t>
            </a:r>
            <a:r>
              <a:rPr lang="ko-KR" altLang="en-US" dirty="0" smtClean="0"/>
              <a:t>선과 면으로 이루어진 그래픽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		</a:t>
            </a:r>
            <a:r>
              <a:rPr lang="ko-KR" altLang="en-US" dirty="0" smtClean="0"/>
              <a:t>출력되기 전 </a:t>
            </a:r>
            <a:r>
              <a:rPr lang="ko-KR" altLang="en-US" dirty="0" err="1" smtClean="0"/>
              <a:t>래스터로</a:t>
            </a:r>
            <a:r>
              <a:rPr lang="ko-KR" altLang="en-US" dirty="0" smtClean="0"/>
              <a:t> 변환되어 출력되며 확대</a:t>
            </a:r>
            <a:r>
              <a:rPr lang="en-US" altLang="ko-KR" dirty="0" smtClean="0"/>
              <a:t>/</a:t>
            </a:r>
            <a:r>
              <a:rPr lang="ko-KR" altLang="en-US" dirty="0" smtClean="0"/>
              <a:t>축소에도 변화가 적음</a:t>
            </a:r>
            <a:endParaRPr lang="en-US" altLang="ko-KR" dirty="0" smtClean="0"/>
          </a:p>
          <a:p>
            <a:pPr lvl="1"/>
            <a:endParaRPr lang="en-US" altLang="ko-KR" dirty="0" smtClean="0"/>
          </a:p>
          <a:p>
            <a:r>
              <a:rPr lang="ko-KR" altLang="en-US" dirty="0" smtClean="0"/>
              <a:t>구성 요소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Pixel</a:t>
            </a:r>
          </a:p>
          <a:p>
            <a:pPr lvl="1"/>
            <a:r>
              <a:rPr lang="en-US" altLang="ko-KR" dirty="0" smtClean="0"/>
              <a:t>Vector(Path)</a:t>
            </a:r>
          </a:p>
          <a:p>
            <a:pPr lvl="1"/>
            <a:r>
              <a:rPr lang="en-US" altLang="ko-KR" dirty="0" smtClean="0"/>
              <a:t>Bitmap</a:t>
            </a:r>
          </a:p>
          <a:p>
            <a:pPr lvl="1"/>
            <a:r>
              <a:rPr lang="en-US" altLang="ko-KR" dirty="0" smtClean="0"/>
              <a:t>Text</a:t>
            </a:r>
            <a:endParaRPr lang="en-US" altLang="ko-KR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1579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Example #10_4</a:t>
            </a:r>
            <a:endParaRPr lang="ko-KR" altLang="en-US" dirty="0"/>
          </a:p>
        </p:txBody>
      </p:sp>
      <p:sp>
        <p:nvSpPr>
          <p:cNvPr id="6" name="텍스트 개체 틀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Canvas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3</a:t>
            </a:fld>
            <a:endParaRPr lang="ko-KR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6170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New Project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새로운 프로젝트 시작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Android Project</a:t>
            </a:r>
          </a:p>
          <a:p>
            <a:pPr lvl="1"/>
            <a:r>
              <a:rPr lang="en-US" altLang="ko-KR" dirty="0"/>
              <a:t>Application name</a:t>
            </a:r>
            <a:r>
              <a:rPr lang="en-US" altLang="ko-KR" dirty="0" smtClean="0"/>
              <a:t>: </a:t>
            </a:r>
            <a:r>
              <a:rPr lang="en-US" altLang="ko-KR" dirty="0" err="1" smtClean="0"/>
              <a:t>Ex_Canvas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Build Target: Android 6.0</a:t>
            </a:r>
          </a:p>
          <a:p>
            <a:pPr lvl="1"/>
            <a:r>
              <a:rPr lang="en-US" altLang="ko-KR" dirty="0" smtClean="0"/>
              <a:t>Package name: </a:t>
            </a:r>
            <a:r>
              <a:rPr lang="en-US" altLang="ko-KR" dirty="0" err="1" smtClean="0"/>
              <a:t>vr.ex.canvas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Create Activity: Act1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4</a:t>
            </a:fld>
            <a:endParaRPr lang="ko-KR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6414" y="1484672"/>
            <a:ext cx="3124962" cy="4668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614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5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Canvas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97230" y="1926491"/>
            <a:ext cx="4942379" cy="483209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public class Act1 extends Activity {</a:t>
            </a:r>
          </a:p>
          <a:p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/** Called when the activity is first created. */</a:t>
            </a:r>
          </a:p>
          <a:p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@Override</a:t>
            </a:r>
          </a:p>
          <a:p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public void </a:t>
            </a:r>
            <a:r>
              <a:rPr lang="en-US" altLang="ko-K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onCreate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(Bundle </a:t>
            </a:r>
            <a:r>
              <a:rPr lang="en-US" altLang="ko-K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savedInstanceState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) {</a:t>
            </a:r>
          </a:p>
          <a:p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super.onCreate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</a:t>
            </a:r>
            <a:r>
              <a:rPr lang="en-US" altLang="ko-K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savedInstanceState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setContentView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400" u="sng" dirty="0">
                <a:solidFill>
                  <a:srgbClr val="7F0055"/>
                </a:solidFill>
                <a:latin typeface="돋움체"/>
                <a:ea typeface="돋움체"/>
              </a:rPr>
              <a:t>new</a:t>
            </a:r>
            <a:r>
              <a:rPr lang="en-US" altLang="ko-KR" sz="1400" u="sng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u="sng" dirty="0" err="1">
                <a:solidFill>
                  <a:srgbClr val="000000"/>
                </a:solidFill>
                <a:latin typeface="돋움체"/>
                <a:ea typeface="돋움체"/>
              </a:rPr>
              <a:t>CanvasView</a:t>
            </a:r>
            <a:r>
              <a:rPr lang="en-US" altLang="ko-KR" sz="1400" u="sng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400" u="sng" dirty="0">
                <a:solidFill>
                  <a:srgbClr val="7F0055"/>
                </a:solidFill>
                <a:latin typeface="돋움체"/>
                <a:ea typeface="돋움체"/>
              </a:rPr>
              <a:t>this</a:t>
            </a:r>
            <a:r>
              <a:rPr lang="en-US" altLang="ko-KR" sz="1400" u="sng" dirty="0">
                <a:solidFill>
                  <a:srgbClr val="000000"/>
                </a:solidFill>
                <a:latin typeface="돋움체"/>
                <a:ea typeface="돋움체"/>
              </a:rPr>
              <a:t>)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}</a:t>
            </a:r>
          </a:p>
          <a:p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</a:t>
            </a:r>
            <a:r>
              <a:rPr lang="en-US" altLang="ko-KR" sz="1400" dirty="0">
                <a:solidFill>
                  <a:srgbClr val="7F0055"/>
                </a:solidFill>
                <a:latin typeface="돋움체"/>
                <a:ea typeface="돋움체"/>
              </a:rPr>
              <a:t>protected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>
                <a:solidFill>
                  <a:srgbClr val="7F0055"/>
                </a:solidFill>
                <a:latin typeface="돋움체"/>
                <a:ea typeface="돋움체"/>
              </a:rPr>
              <a:t>class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CanvasView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>
                <a:solidFill>
                  <a:srgbClr val="7F0055"/>
                </a:solidFill>
                <a:latin typeface="돋움체"/>
                <a:ea typeface="돋움체"/>
              </a:rPr>
              <a:t>extends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View {</a:t>
            </a:r>
          </a:p>
          <a:p>
            <a:r>
              <a:rPr lang="en-US" altLang="ko-KR" sz="1400" dirty="0" smtClean="0">
                <a:solidFill>
                  <a:srgbClr val="7F0055"/>
                </a:solidFill>
                <a:latin typeface="돋움체"/>
                <a:ea typeface="돋움체"/>
              </a:rPr>
              <a:t>        public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CanvasView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(Context context) {</a:t>
            </a:r>
          </a:p>
          <a:p>
            <a:r>
              <a:rPr lang="en-US" altLang="ko-KR" sz="1400" dirty="0" smtClean="0">
                <a:solidFill>
                  <a:srgbClr val="7F0055"/>
                </a:solidFill>
                <a:latin typeface="돋움체"/>
                <a:ea typeface="돋움체"/>
              </a:rPr>
              <a:t>            super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(context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}</a:t>
            </a:r>
            <a:endParaRPr lang="en-US" altLang="ko-KR" sz="1400" dirty="0">
              <a:solidFill>
                <a:srgbClr val="000000"/>
              </a:solidFill>
              <a:latin typeface="돋움체"/>
              <a:ea typeface="돋움체"/>
            </a:endParaRPr>
          </a:p>
          <a:p>
            <a:endParaRPr lang="ko-KR" altLang="en-US" sz="1400" dirty="0">
              <a:latin typeface="돋움체"/>
              <a:ea typeface="돋움체"/>
            </a:endParaRPr>
          </a:p>
          <a:p>
            <a:r>
              <a:rPr lang="en-US" altLang="ko-KR" sz="1400" dirty="0" smtClean="0">
                <a:solidFill>
                  <a:srgbClr val="7F0055"/>
                </a:solidFill>
                <a:latin typeface="돋움체"/>
                <a:ea typeface="돋움체"/>
              </a:rPr>
              <a:t>        public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>
                <a:solidFill>
                  <a:srgbClr val="7F0055"/>
                </a:solidFill>
                <a:latin typeface="돋움체"/>
                <a:ea typeface="돋움체"/>
              </a:rPr>
              <a:t>void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b="1" dirty="0" err="1">
                <a:solidFill>
                  <a:srgbClr val="000000"/>
                </a:solidFill>
                <a:latin typeface="돋움체"/>
                <a:ea typeface="돋움체"/>
              </a:rPr>
              <a:t>onDraw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400" b="1" dirty="0">
                <a:solidFill>
                  <a:srgbClr val="000000"/>
                </a:solidFill>
                <a:latin typeface="돋움체"/>
                <a:ea typeface="돋움체"/>
              </a:rPr>
              <a:t>Canvas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canvas) {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canvas.drawColor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Color.</a:t>
            </a:r>
            <a:r>
              <a:rPr lang="en-US" altLang="ko-KR" sz="1400" dirty="0" err="1">
                <a:solidFill>
                  <a:srgbClr val="0000C0"/>
                </a:solidFill>
                <a:latin typeface="돋움체"/>
                <a:ea typeface="돋움체"/>
              </a:rPr>
              <a:t>WHITE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b="1" dirty="0" smtClean="0">
                <a:solidFill>
                  <a:srgbClr val="000000"/>
                </a:solidFill>
                <a:latin typeface="돋움체"/>
                <a:ea typeface="돋움체"/>
              </a:rPr>
              <a:t>Paint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paint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= </a:t>
            </a:r>
            <a:r>
              <a:rPr lang="en-US" altLang="ko-KR" sz="1400" dirty="0">
                <a:solidFill>
                  <a:srgbClr val="7F0055"/>
                </a:solidFill>
                <a:latin typeface="돋움체"/>
                <a:ea typeface="돋움체"/>
              </a:rPr>
              <a:t>new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Paint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();</a:t>
            </a:r>
          </a:p>
          <a:p>
            <a:endParaRPr lang="en-US" altLang="ko-KR" sz="1400" dirty="0">
              <a:solidFill>
                <a:srgbClr val="000000"/>
              </a:solidFill>
              <a:latin typeface="돋움체"/>
              <a:ea typeface="돋움체"/>
            </a:endParaRP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paint.setColor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Color.</a:t>
            </a:r>
            <a:r>
              <a:rPr lang="en-US" altLang="ko-KR" sz="1400" dirty="0" err="1" smtClean="0">
                <a:solidFill>
                  <a:srgbClr val="0000C0"/>
                </a:solidFill>
                <a:latin typeface="돋움체"/>
                <a:ea typeface="돋움체"/>
              </a:rPr>
              <a:t>GREEN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canvas.</a:t>
            </a:r>
            <a:r>
              <a:rPr lang="en-US" altLang="ko-KR" sz="1400" b="1" dirty="0" err="1" smtClean="0">
                <a:solidFill>
                  <a:srgbClr val="000000"/>
                </a:solidFill>
                <a:latin typeface="돋움체"/>
                <a:ea typeface="돋움체"/>
              </a:rPr>
              <a:t>drawCircle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(100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, 100, 80, paint);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}</a:t>
            </a:r>
            <a:endParaRPr lang="en-US" altLang="ko-KR" sz="1400" dirty="0">
              <a:solidFill>
                <a:srgbClr val="000000"/>
              </a:solidFill>
              <a:latin typeface="돋움체"/>
              <a:ea typeface="돋움체"/>
            </a:endParaRPr>
          </a:p>
          <a:p>
            <a:r>
              <a:rPr lang="ko-KR" altLang="en-US" sz="1400" dirty="0">
                <a:solidFill>
                  <a:srgbClr val="000000"/>
                </a:solidFill>
                <a:latin typeface="돋움체"/>
                <a:ea typeface="돋움체"/>
              </a:rPr>
              <a:t>    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}</a:t>
            </a:r>
          </a:p>
          <a:p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7230" y="1280160"/>
            <a:ext cx="15634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>
                <a:solidFill>
                  <a:prstClr val="black"/>
                </a:solidFill>
              </a:rPr>
              <a:t>Ex_Canvas</a:t>
            </a:r>
            <a:endParaRPr lang="en-US" altLang="ko-KR" b="1" dirty="0" smtClean="0">
              <a:solidFill>
                <a:prstClr val="black"/>
              </a:solidFill>
            </a:endParaRPr>
          </a:p>
          <a:p>
            <a:r>
              <a:rPr lang="en-US" altLang="ko-KR" dirty="0" smtClean="0">
                <a:solidFill>
                  <a:prstClr val="black"/>
                </a:solidFill>
              </a:rPr>
              <a:t>/</a:t>
            </a:r>
            <a:r>
              <a:rPr lang="en-US" altLang="ko-KR" dirty="0" err="1" smtClean="0">
                <a:solidFill>
                  <a:prstClr val="black"/>
                </a:solidFill>
              </a:rPr>
              <a:t>src</a:t>
            </a:r>
            <a:r>
              <a:rPr lang="en-US" altLang="ko-KR" dirty="0" smtClean="0">
                <a:solidFill>
                  <a:prstClr val="black"/>
                </a:solidFill>
              </a:rPr>
              <a:t>/Act1.java</a:t>
            </a:r>
            <a:endParaRPr lang="ko-KR" altLang="en-US" dirty="0">
              <a:solidFill>
                <a:prstClr val="black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8617" y="1926491"/>
            <a:ext cx="2708183" cy="4832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777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Canvas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Canvas class</a:t>
            </a:r>
          </a:p>
          <a:p>
            <a:pPr lvl="1"/>
            <a:r>
              <a:rPr lang="ko-KR" altLang="en-US" dirty="0" smtClean="0"/>
              <a:t>직접적인 그리기 객체</a:t>
            </a:r>
            <a:endParaRPr lang="en-US" altLang="ko-KR" dirty="0" smtClean="0"/>
          </a:p>
          <a:p>
            <a:pPr lvl="1"/>
            <a:r>
              <a:rPr lang="en-US" altLang="ko-KR" dirty="0" err="1" smtClean="0"/>
              <a:t>drawPoint</a:t>
            </a:r>
            <a:r>
              <a:rPr lang="en-US" altLang="ko-KR" dirty="0" smtClean="0"/>
              <a:t>, </a:t>
            </a:r>
            <a:r>
              <a:rPr lang="en-US" altLang="ko-KR" dirty="0" err="1" smtClean="0"/>
              <a:t>drawLine</a:t>
            </a:r>
            <a:r>
              <a:rPr lang="en-US" altLang="ko-KR" dirty="0" smtClean="0"/>
              <a:t>, </a:t>
            </a:r>
            <a:r>
              <a:rPr lang="en-US" altLang="ko-KR" dirty="0" err="1" smtClean="0"/>
              <a:t>drawCircle</a:t>
            </a:r>
            <a:r>
              <a:rPr lang="en-US" altLang="ko-KR" dirty="0" smtClean="0"/>
              <a:t>, </a:t>
            </a:r>
            <a:r>
              <a:rPr lang="en-US" altLang="ko-KR" dirty="0" err="1" smtClean="0"/>
              <a:t>drawRect</a:t>
            </a:r>
            <a:r>
              <a:rPr lang="en-US" altLang="ko-KR" dirty="0" smtClean="0"/>
              <a:t>, </a:t>
            </a:r>
            <a:r>
              <a:rPr lang="en-US" altLang="ko-KR" dirty="0" err="1" smtClean="0"/>
              <a:t>drawText</a:t>
            </a:r>
            <a:endParaRPr lang="en-US" altLang="ko-KR" dirty="0" smtClean="0"/>
          </a:p>
          <a:p>
            <a:pPr lvl="1"/>
            <a:r>
              <a:rPr lang="en-US" altLang="ko-KR" dirty="0" err="1" smtClean="0"/>
              <a:t>drawARGB</a:t>
            </a:r>
            <a:r>
              <a:rPr lang="en-US" altLang="ko-KR" dirty="0" smtClean="0"/>
              <a:t>, </a:t>
            </a:r>
            <a:r>
              <a:rPr lang="en-US" altLang="ko-KR" dirty="0" err="1" smtClean="0"/>
              <a:t>drawColor</a:t>
            </a:r>
            <a:r>
              <a:rPr lang="en-US" altLang="ko-KR" dirty="0" smtClean="0"/>
              <a:t>, </a:t>
            </a:r>
            <a:r>
              <a:rPr lang="en-US" altLang="ko-KR" dirty="0" err="1" smtClean="0"/>
              <a:t>drawPaint</a:t>
            </a:r>
            <a:r>
              <a:rPr lang="en-US" altLang="ko-KR" dirty="0" smtClean="0"/>
              <a:t>, </a:t>
            </a:r>
            <a:r>
              <a:rPr lang="en-US" altLang="ko-KR" dirty="0" err="1" smtClean="0"/>
              <a:t>drawRoundRect</a:t>
            </a:r>
            <a:r>
              <a:rPr lang="en-US" altLang="ko-KR" dirty="0" smtClean="0"/>
              <a:t>, </a:t>
            </a:r>
            <a:r>
              <a:rPr lang="en-US" altLang="ko-KR" dirty="0" err="1" smtClean="0"/>
              <a:t>drawOval</a:t>
            </a:r>
            <a:r>
              <a:rPr lang="en-US" altLang="ko-KR" dirty="0" smtClean="0"/>
              <a:t>, </a:t>
            </a:r>
            <a:r>
              <a:rPr lang="en-US" altLang="ko-KR" dirty="0" err="1" smtClean="0"/>
              <a:t>drawArc</a:t>
            </a:r>
            <a:endParaRPr lang="en-US" altLang="ko-KR" dirty="0" smtClean="0"/>
          </a:p>
          <a:p>
            <a:pPr lvl="1"/>
            <a:r>
              <a:rPr lang="en-US" altLang="ko-KR" dirty="0" err="1" smtClean="0"/>
              <a:t>drawLines</a:t>
            </a:r>
            <a:r>
              <a:rPr lang="en-US" altLang="ko-KR" dirty="0" smtClean="0"/>
              <a:t>, </a:t>
            </a:r>
            <a:r>
              <a:rPr lang="en-US" altLang="ko-KR" dirty="0" err="1" smtClean="0"/>
              <a:t>drawPoints</a:t>
            </a:r>
            <a:endParaRPr lang="en-US" altLang="ko-KR" dirty="0" smtClean="0"/>
          </a:p>
          <a:p>
            <a:pPr lvl="1"/>
            <a:r>
              <a:rPr lang="en-US" altLang="ko-KR" dirty="0">
                <a:hlinkClick r:id="rId3"/>
              </a:rPr>
              <a:t>http://</a:t>
            </a:r>
            <a:r>
              <a:rPr lang="en-US" altLang="ko-KR" dirty="0" smtClean="0">
                <a:hlinkClick r:id="rId3"/>
              </a:rPr>
              <a:t>developer.android.com/reference/android/graphics/Canvas.html</a:t>
            </a:r>
            <a:endParaRPr lang="en-US" altLang="ko-KR" dirty="0" smtClean="0"/>
          </a:p>
          <a:p>
            <a:pPr lvl="1"/>
            <a:endParaRPr lang="en-US" altLang="ko-KR" dirty="0"/>
          </a:p>
          <a:p>
            <a:r>
              <a:rPr lang="en-US" altLang="ko-KR" dirty="0" smtClean="0"/>
              <a:t>Paint class</a:t>
            </a:r>
          </a:p>
          <a:p>
            <a:pPr lvl="1"/>
            <a:r>
              <a:rPr lang="ko-KR" altLang="en-US" dirty="0" smtClean="0"/>
              <a:t>색상이나 글꼴</a:t>
            </a:r>
            <a:r>
              <a:rPr lang="en-US" altLang="ko-KR" dirty="0" smtClean="0"/>
              <a:t>, </a:t>
            </a:r>
            <a:r>
              <a:rPr lang="ko-KR" altLang="en-US" dirty="0" smtClean="0"/>
              <a:t>채우기 스타일 등의 그리기 정보들을 정의한 객체</a:t>
            </a:r>
            <a:endParaRPr lang="en-US" altLang="ko-KR" dirty="0" smtClean="0"/>
          </a:p>
          <a:p>
            <a:pPr lvl="1"/>
            <a:r>
              <a:rPr lang="en-US" altLang="ko-KR" dirty="0" err="1" smtClean="0"/>
              <a:t>setColor</a:t>
            </a:r>
            <a:r>
              <a:rPr lang="en-US" altLang="ko-KR" dirty="0" smtClean="0"/>
              <a:t>, </a:t>
            </a:r>
            <a:r>
              <a:rPr lang="en-US" altLang="ko-KR" dirty="0" err="1"/>
              <a:t>setARGB</a:t>
            </a:r>
            <a:r>
              <a:rPr lang="en-US" altLang="ko-KR" dirty="0" smtClean="0"/>
              <a:t>, </a:t>
            </a:r>
            <a:r>
              <a:rPr lang="en-US" altLang="ko-KR" dirty="0" err="1" smtClean="0"/>
              <a:t>setAntiAlias</a:t>
            </a:r>
            <a:endParaRPr lang="en-US" altLang="ko-KR" dirty="0" smtClean="0"/>
          </a:p>
          <a:p>
            <a:pPr lvl="1"/>
            <a:r>
              <a:rPr lang="en-US" altLang="ko-KR" dirty="0" err="1" smtClean="0"/>
              <a:t>setStrokeWidth</a:t>
            </a:r>
            <a:r>
              <a:rPr lang="en-US" altLang="ko-KR" dirty="0" smtClean="0"/>
              <a:t>, </a:t>
            </a:r>
            <a:r>
              <a:rPr lang="en-US" altLang="ko-KR" dirty="0" err="1" smtClean="0"/>
              <a:t>setStrokeCap</a:t>
            </a:r>
            <a:r>
              <a:rPr lang="en-US" altLang="ko-KR" dirty="0" smtClean="0"/>
              <a:t>, </a:t>
            </a:r>
            <a:r>
              <a:rPr lang="en-US" altLang="ko-KR" dirty="0" err="1" smtClean="0"/>
              <a:t>setStrokeJoin</a:t>
            </a:r>
            <a:r>
              <a:rPr lang="en-US" altLang="ko-KR" dirty="0" smtClean="0"/>
              <a:t>, </a:t>
            </a:r>
            <a:r>
              <a:rPr lang="en-US" altLang="ko-KR" dirty="0" err="1" smtClean="0"/>
              <a:t>setStrokeMiter</a:t>
            </a:r>
            <a:endParaRPr lang="en-US" altLang="ko-KR" dirty="0" smtClean="0"/>
          </a:p>
          <a:p>
            <a:pPr lvl="1"/>
            <a:r>
              <a:rPr lang="en-US" altLang="ko-KR" dirty="0" err="1" smtClean="0"/>
              <a:t>setStyle</a:t>
            </a:r>
            <a:endParaRPr lang="en-US" altLang="ko-KR" dirty="0" smtClean="0"/>
          </a:p>
          <a:p>
            <a:pPr lvl="1"/>
            <a:r>
              <a:rPr lang="en-US" altLang="ko-KR" dirty="0">
                <a:hlinkClick r:id="rId4"/>
              </a:rPr>
              <a:t>http://</a:t>
            </a:r>
            <a:r>
              <a:rPr lang="en-US" altLang="ko-KR" dirty="0" smtClean="0">
                <a:hlinkClick r:id="rId4"/>
              </a:rPr>
              <a:t>developer.android.com/reference/android/graphics/Paint.html</a:t>
            </a:r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6654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7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Canvas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55365" y="1926491"/>
            <a:ext cx="5724644" cy="233910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600" dirty="0" smtClean="0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        public </a:t>
            </a:r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void </a:t>
            </a:r>
            <a:r>
              <a:rPr lang="en-US" altLang="ko-KR" sz="1600" dirty="0" err="1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onDraw</a:t>
            </a:r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(Canvas canvas) {</a:t>
            </a:r>
          </a:p>
          <a:p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600" dirty="0" err="1" smtClean="0">
                <a:solidFill>
                  <a:srgbClr val="000000"/>
                </a:solidFill>
                <a:latin typeface="돋움체"/>
                <a:ea typeface="돋움체"/>
              </a:rPr>
              <a:t>canvas.drawColor</a:t>
            </a:r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600" dirty="0" err="1" smtClean="0">
                <a:solidFill>
                  <a:srgbClr val="000000"/>
                </a:solidFill>
                <a:latin typeface="돋움체"/>
                <a:ea typeface="돋움체"/>
              </a:rPr>
              <a:t>Color.</a:t>
            </a:r>
            <a:r>
              <a:rPr lang="en-US" altLang="ko-KR" sz="1600" dirty="0" err="1" smtClean="0">
                <a:solidFill>
                  <a:srgbClr val="0000C0"/>
                </a:solidFill>
                <a:latin typeface="돋움체"/>
                <a:ea typeface="돋움체"/>
              </a:rPr>
              <a:t>LTGRAY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Paint 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paint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= </a:t>
            </a:r>
            <a:r>
              <a:rPr lang="en-US" altLang="ko-KR" sz="1600" dirty="0">
                <a:solidFill>
                  <a:srgbClr val="7F0055"/>
                </a:solidFill>
                <a:latin typeface="돋움체"/>
                <a:ea typeface="돋움체"/>
              </a:rPr>
              <a:t>new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Paint();</a:t>
            </a:r>
          </a:p>
          <a:p>
            <a:endParaRPr lang="ko-KR" altLang="en-US" sz="1600" dirty="0">
              <a:latin typeface="돋움체"/>
              <a:ea typeface="돋움체"/>
            </a:endParaRPr>
          </a:p>
          <a:p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600" dirty="0" err="1" smtClean="0">
                <a:solidFill>
                  <a:srgbClr val="000000"/>
                </a:solidFill>
                <a:latin typeface="돋움체"/>
                <a:ea typeface="돋움체"/>
              </a:rPr>
              <a:t>paint.setColor</a:t>
            </a:r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600" dirty="0" err="1" smtClean="0">
                <a:solidFill>
                  <a:srgbClr val="000000"/>
                </a:solidFill>
                <a:latin typeface="돋움체"/>
                <a:ea typeface="돋움체"/>
              </a:rPr>
              <a:t>Color.</a:t>
            </a:r>
            <a:r>
              <a:rPr lang="en-US" altLang="ko-KR" sz="1600" dirty="0" err="1" smtClean="0">
                <a:solidFill>
                  <a:srgbClr val="0000C0"/>
                </a:solidFill>
                <a:latin typeface="돋움체"/>
                <a:ea typeface="돋움체"/>
              </a:rPr>
              <a:t>GREEN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600" dirty="0" err="1" smtClean="0">
                <a:solidFill>
                  <a:srgbClr val="000000"/>
                </a:solidFill>
                <a:latin typeface="돋움체"/>
                <a:ea typeface="돋움체"/>
              </a:rPr>
              <a:t>canvas.drawCircle</a:t>
            </a:r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(100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, 100, 80, paint);</a:t>
            </a:r>
          </a:p>
          <a:p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600" dirty="0" err="1" smtClean="0">
                <a:solidFill>
                  <a:srgbClr val="000000"/>
                </a:solidFill>
                <a:latin typeface="돋움체"/>
                <a:ea typeface="돋움체"/>
              </a:rPr>
              <a:t>paint.setARGB</a:t>
            </a:r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(127,0,0,255);</a:t>
            </a:r>
            <a:endParaRPr lang="en-US" altLang="ko-KR" sz="1600" dirty="0">
              <a:solidFill>
                <a:srgbClr val="000000"/>
              </a:solidFill>
              <a:latin typeface="돋움체"/>
              <a:ea typeface="돋움체"/>
            </a:endParaRPr>
          </a:p>
          <a:p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600" dirty="0" err="1" smtClean="0">
                <a:solidFill>
                  <a:srgbClr val="000000"/>
                </a:solidFill>
                <a:latin typeface="돋움체"/>
                <a:ea typeface="돋움체"/>
              </a:rPr>
              <a:t>canvas.drawRect</a:t>
            </a:r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(80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, 120, 300, 200, paint);</a:t>
            </a:r>
          </a:p>
          <a:p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600" dirty="0" smtClean="0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}</a:t>
            </a:r>
            <a:endParaRPr lang="en-US" altLang="ko-KR" sz="1600" dirty="0">
              <a:solidFill>
                <a:schemeClr val="bg1">
                  <a:lumMod val="50000"/>
                </a:schemeClr>
              </a:solidFill>
              <a:latin typeface="돋움체"/>
              <a:ea typeface="돋움체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97230" y="1280160"/>
            <a:ext cx="15634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>
                <a:solidFill>
                  <a:prstClr val="black"/>
                </a:solidFill>
              </a:rPr>
              <a:t>Ex_Canvas</a:t>
            </a:r>
            <a:endParaRPr lang="en-US" altLang="ko-KR" b="1" dirty="0" smtClean="0">
              <a:solidFill>
                <a:prstClr val="black"/>
              </a:solidFill>
            </a:endParaRPr>
          </a:p>
          <a:p>
            <a:r>
              <a:rPr lang="en-US" altLang="ko-KR" dirty="0" smtClean="0">
                <a:solidFill>
                  <a:prstClr val="black"/>
                </a:solidFill>
              </a:rPr>
              <a:t>/</a:t>
            </a:r>
            <a:r>
              <a:rPr lang="en-US" altLang="ko-KR" dirty="0" err="1" smtClean="0">
                <a:solidFill>
                  <a:prstClr val="black"/>
                </a:solidFill>
              </a:rPr>
              <a:t>src</a:t>
            </a:r>
            <a:r>
              <a:rPr lang="en-US" altLang="ko-KR" dirty="0" smtClean="0">
                <a:solidFill>
                  <a:prstClr val="black"/>
                </a:solidFill>
              </a:rPr>
              <a:t>/Act1.java</a:t>
            </a:r>
            <a:endParaRPr lang="ko-KR" altLang="en-US" dirty="0">
              <a:solidFill>
                <a:prstClr val="black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0039" y="1737327"/>
            <a:ext cx="2406791" cy="4308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715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8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Canvas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97230" y="1926491"/>
            <a:ext cx="5929828" cy="403187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public </a:t>
            </a:r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void </a:t>
            </a:r>
            <a:r>
              <a:rPr lang="en-US" altLang="ko-KR" sz="1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onDraw</a:t>
            </a:r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(Canvas canvas) {</a:t>
            </a:r>
          </a:p>
          <a:p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    </a:t>
            </a:r>
            <a:r>
              <a:rPr lang="en-US" altLang="ko-KR" sz="1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canvas.drawColor</a:t>
            </a:r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</a:t>
            </a:r>
            <a:r>
              <a:rPr lang="en-US" altLang="ko-KR" sz="1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Color.LTGRAY</a:t>
            </a:r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    Paint </a:t>
            </a:r>
            <a:r>
              <a:rPr lang="en-US" altLang="ko-KR" sz="1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paint</a:t>
            </a:r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= new Paint();</a:t>
            </a:r>
          </a:p>
          <a:p>
            <a:endParaRPr lang="ko-KR" altLang="en-US" sz="1600" dirty="0">
              <a:latin typeface="돋움체"/>
              <a:ea typeface="돋움체"/>
            </a:endParaRPr>
          </a:p>
          <a:p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paint.setColor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Color.</a:t>
            </a:r>
            <a:r>
              <a:rPr lang="en-US" altLang="ko-KR" sz="1600" dirty="0" err="1">
                <a:solidFill>
                  <a:srgbClr val="0000C0"/>
                </a:solidFill>
                <a:latin typeface="돋움체"/>
                <a:ea typeface="돋움체"/>
              </a:rPr>
              <a:t>RED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RectF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rect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= </a:t>
            </a:r>
            <a:r>
              <a:rPr lang="en-US" altLang="ko-KR" sz="1600" dirty="0">
                <a:solidFill>
                  <a:srgbClr val="7F0055"/>
                </a:solidFill>
                <a:latin typeface="돋움체"/>
                <a:ea typeface="돋움체"/>
              </a:rPr>
              <a:t>new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RectF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(10, 10, 100, 100);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canvas.</a:t>
            </a:r>
            <a:r>
              <a:rPr lang="en-US" altLang="ko-KR" sz="1600" b="1" dirty="0" err="1">
                <a:solidFill>
                  <a:srgbClr val="000000"/>
                </a:solidFill>
                <a:latin typeface="돋움체"/>
                <a:ea typeface="돋움체"/>
              </a:rPr>
              <a:t>drawRoundRect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rect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, 5, 5, paint);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paint.setColor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Color.</a:t>
            </a:r>
            <a:r>
              <a:rPr lang="en-US" altLang="ko-KR" sz="1600" dirty="0" err="1">
                <a:solidFill>
                  <a:srgbClr val="0000C0"/>
                </a:solidFill>
                <a:latin typeface="돋움체"/>
                <a:ea typeface="돋움체"/>
              </a:rPr>
              <a:t>GREEN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600" dirty="0" err="1" smtClean="0">
                <a:solidFill>
                  <a:srgbClr val="000000"/>
                </a:solidFill>
                <a:latin typeface="돋움체"/>
                <a:ea typeface="돋움체"/>
              </a:rPr>
              <a:t>rect.set</a:t>
            </a:r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(110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, 10, 150, 100);</a:t>
            </a:r>
          </a:p>
          <a:p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600" dirty="0" err="1" smtClean="0">
                <a:solidFill>
                  <a:srgbClr val="000000"/>
                </a:solidFill>
                <a:latin typeface="돋움체"/>
                <a:ea typeface="돋움체"/>
              </a:rPr>
              <a:t>canvas.</a:t>
            </a:r>
            <a:r>
              <a:rPr lang="en-US" altLang="ko-KR" sz="1600" b="1" dirty="0" err="1" smtClean="0">
                <a:solidFill>
                  <a:srgbClr val="000000"/>
                </a:solidFill>
                <a:latin typeface="돋움체"/>
                <a:ea typeface="돋움체"/>
              </a:rPr>
              <a:t>drawOval</a:t>
            </a:r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600" dirty="0" err="1" smtClean="0">
                <a:solidFill>
                  <a:srgbClr val="000000"/>
                </a:solidFill>
                <a:latin typeface="돋움체"/>
                <a:ea typeface="돋움체"/>
              </a:rPr>
              <a:t>rect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, paint);</a:t>
            </a:r>
          </a:p>
          <a:p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600" dirty="0" err="1" smtClean="0">
                <a:solidFill>
                  <a:srgbClr val="000000"/>
                </a:solidFill>
                <a:latin typeface="돋움체"/>
                <a:ea typeface="돋움체"/>
              </a:rPr>
              <a:t>paint.setColor</a:t>
            </a:r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600" dirty="0" err="1" smtClean="0">
                <a:solidFill>
                  <a:srgbClr val="000000"/>
                </a:solidFill>
                <a:latin typeface="돋움체"/>
                <a:ea typeface="돋움체"/>
              </a:rPr>
              <a:t>Color.</a:t>
            </a:r>
            <a:r>
              <a:rPr lang="en-US" altLang="ko-KR" sz="1600" dirty="0" err="1" smtClean="0">
                <a:solidFill>
                  <a:srgbClr val="0000C0"/>
                </a:solidFill>
                <a:latin typeface="돋움체"/>
                <a:ea typeface="돋움체"/>
              </a:rPr>
              <a:t>BLUE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600" dirty="0" err="1" smtClean="0">
                <a:solidFill>
                  <a:srgbClr val="000000"/>
                </a:solidFill>
                <a:latin typeface="돋움체"/>
                <a:ea typeface="돋움체"/>
              </a:rPr>
              <a:t>rect.set</a:t>
            </a:r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(10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, 110, 100, 200);</a:t>
            </a:r>
          </a:p>
          <a:p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600" dirty="0" err="1" smtClean="0">
                <a:solidFill>
                  <a:srgbClr val="000000"/>
                </a:solidFill>
                <a:latin typeface="돋움체"/>
                <a:ea typeface="돋움체"/>
              </a:rPr>
              <a:t>canvas.</a:t>
            </a:r>
            <a:r>
              <a:rPr lang="en-US" altLang="ko-KR" sz="1600" b="1" dirty="0" err="1" smtClean="0">
                <a:solidFill>
                  <a:srgbClr val="000000"/>
                </a:solidFill>
                <a:latin typeface="돋움체"/>
                <a:ea typeface="돋움체"/>
              </a:rPr>
              <a:t>drawArc</a:t>
            </a:r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600" dirty="0" err="1" smtClean="0">
                <a:solidFill>
                  <a:srgbClr val="000000"/>
                </a:solidFill>
                <a:latin typeface="돋움체"/>
                <a:ea typeface="돋움체"/>
              </a:rPr>
              <a:t>rect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, 30, 240, </a:t>
            </a:r>
            <a:r>
              <a:rPr lang="en-US" altLang="ko-KR" sz="1600" u="sng" dirty="0">
                <a:solidFill>
                  <a:srgbClr val="7F0055"/>
                </a:solidFill>
                <a:latin typeface="돋움체"/>
                <a:ea typeface="돋움체"/>
              </a:rPr>
              <a:t>false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, paint);</a:t>
            </a:r>
          </a:p>
          <a:p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600" dirty="0" err="1" smtClean="0">
                <a:solidFill>
                  <a:srgbClr val="000000"/>
                </a:solidFill>
                <a:latin typeface="돋움체"/>
                <a:ea typeface="돋움체"/>
              </a:rPr>
              <a:t>rect.set</a:t>
            </a:r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(110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, 110, 200, 200);</a:t>
            </a:r>
          </a:p>
          <a:p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600" dirty="0" err="1" smtClean="0">
                <a:solidFill>
                  <a:srgbClr val="000000"/>
                </a:solidFill>
                <a:latin typeface="돋움체"/>
                <a:ea typeface="돋움체"/>
              </a:rPr>
              <a:t>canvas.</a:t>
            </a:r>
            <a:r>
              <a:rPr lang="en-US" altLang="ko-KR" sz="1600" b="1" dirty="0" err="1" smtClean="0">
                <a:solidFill>
                  <a:srgbClr val="000000"/>
                </a:solidFill>
                <a:latin typeface="돋움체"/>
                <a:ea typeface="돋움체"/>
              </a:rPr>
              <a:t>drawArc</a:t>
            </a:r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600" dirty="0" err="1" smtClean="0">
                <a:solidFill>
                  <a:srgbClr val="000000"/>
                </a:solidFill>
                <a:latin typeface="돋움체"/>
                <a:ea typeface="돋움체"/>
              </a:rPr>
              <a:t>rect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, 30, 240, </a:t>
            </a:r>
            <a:r>
              <a:rPr lang="en-US" altLang="ko-KR" sz="1600" u="sng" dirty="0">
                <a:solidFill>
                  <a:srgbClr val="7F0055"/>
                </a:solidFill>
                <a:latin typeface="돋움체"/>
                <a:ea typeface="돋움체"/>
              </a:rPr>
              <a:t>true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, paint);</a:t>
            </a:r>
          </a:p>
          <a:p>
            <a:r>
              <a:rPr lang="ko-KR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</a:t>
            </a:r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7230" y="1280160"/>
            <a:ext cx="15634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>
                <a:solidFill>
                  <a:prstClr val="black"/>
                </a:solidFill>
              </a:rPr>
              <a:t>Ex_Canvas</a:t>
            </a:r>
            <a:endParaRPr lang="en-US" altLang="ko-KR" b="1" dirty="0" smtClean="0">
              <a:solidFill>
                <a:prstClr val="black"/>
              </a:solidFill>
            </a:endParaRPr>
          </a:p>
          <a:p>
            <a:r>
              <a:rPr lang="en-US" altLang="ko-KR" dirty="0" smtClean="0">
                <a:solidFill>
                  <a:prstClr val="black"/>
                </a:solidFill>
              </a:rPr>
              <a:t>/</a:t>
            </a:r>
            <a:r>
              <a:rPr lang="en-US" altLang="ko-KR" dirty="0" err="1" smtClean="0">
                <a:solidFill>
                  <a:prstClr val="black"/>
                </a:solidFill>
              </a:rPr>
              <a:t>src</a:t>
            </a:r>
            <a:r>
              <a:rPr lang="en-US" altLang="ko-KR" dirty="0" smtClean="0">
                <a:solidFill>
                  <a:prstClr val="black"/>
                </a:solidFill>
              </a:rPr>
              <a:t>/Act1.java</a:t>
            </a:r>
            <a:endParaRPr lang="ko-KR" altLang="en-US" dirty="0">
              <a:solidFill>
                <a:prstClr val="black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7058" y="1891653"/>
            <a:ext cx="2304165" cy="4101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991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9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Canvas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97230" y="1926491"/>
            <a:ext cx="5622052" cy="427809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public </a:t>
            </a:r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void </a:t>
            </a:r>
            <a:r>
              <a:rPr lang="en-US" altLang="ko-KR" sz="1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onDraw</a:t>
            </a:r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(Canvas canvas) {</a:t>
            </a:r>
          </a:p>
          <a:p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    </a:t>
            </a:r>
            <a:r>
              <a:rPr lang="en-US" altLang="ko-KR" sz="1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canvas.drawColor</a:t>
            </a:r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</a:t>
            </a:r>
            <a:r>
              <a:rPr lang="en-US" altLang="ko-KR" sz="1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Color.LTGRAY</a:t>
            </a:r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    Paint </a:t>
            </a:r>
            <a:r>
              <a:rPr lang="en-US" altLang="ko-KR" sz="1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paint</a:t>
            </a:r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= new Paint();</a:t>
            </a:r>
          </a:p>
          <a:p>
            <a:endParaRPr lang="ko-KR" altLang="en-US" sz="1600" dirty="0">
              <a:latin typeface="돋움체"/>
              <a:ea typeface="돋움체"/>
            </a:endParaRPr>
          </a:p>
          <a:p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paint.setColor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Color.</a:t>
            </a:r>
            <a:r>
              <a:rPr lang="en-US" altLang="ko-KR" sz="1600" dirty="0" err="1">
                <a:solidFill>
                  <a:srgbClr val="0000C0"/>
                </a:solidFill>
                <a:latin typeface="돋움체"/>
                <a:ea typeface="돋움체"/>
              </a:rPr>
              <a:t>BLACK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paint.setTextSize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(30);</a:t>
            </a:r>
          </a:p>
          <a:p>
            <a:r>
              <a:rPr lang="ko-KR" altLang="en-US" sz="16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paint.</a:t>
            </a:r>
            <a:r>
              <a:rPr lang="en-US" altLang="ko-KR" sz="1600" b="1" dirty="0" err="1">
                <a:solidFill>
                  <a:srgbClr val="000000"/>
                </a:solidFill>
                <a:latin typeface="돋움체"/>
                <a:ea typeface="돋움체"/>
              </a:rPr>
              <a:t>setAntiAlias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600" u="sng" dirty="0">
                <a:solidFill>
                  <a:srgbClr val="7F0055"/>
                </a:solidFill>
                <a:latin typeface="돋움체"/>
                <a:ea typeface="돋움체"/>
              </a:rPr>
              <a:t>false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RectF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rect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= </a:t>
            </a:r>
            <a:r>
              <a:rPr lang="en-US" altLang="ko-KR" sz="1600" dirty="0">
                <a:solidFill>
                  <a:srgbClr val="7F0055"/>
                </a:solidFill>
                <a:latin typeface="돋움체"/>
                <a:ea typeface="돋움체"/>
              </a:rPr>
              <a:t>new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RectF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(10, 10, 100, 60);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canvas.drawOval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rect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, paint);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canvas.drawText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600" dirty="0">
                <a:solidFill>
                  <a:srgbClr val="2A00FF"/>
                </a:solidFill>
                <a:latin typeface="돋움체"/>
                <a:ea typeface="돋움체"/>
              </a:rPr>
              <a:t>"Text"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, 110, 50, paint);</a:t>
            </a:r>
          </a:p>
          <a:p>
            <a:endParaRPr lang="ko-KR" altLang="en-US" sz="1600" dirty="0">
              <a:latin typeface="돋움체"/>
              <a:ea typeface="돋움체"/>
            </a:endParaRPr>
          </a:p>
          <a:p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600" dirty="0" err="1" smtClean="0">
                <a:solidFill>
                  <a:srgbClr val="000000"/>
                </a:solidFill>
                <a:latin typeface="돋움체"/>
                <a:ea typeface="돋움체"/>
              </a:rPr>
              <a:t>paint.</a:t>
            </a:r>
            <a:r>
              <a:rPr lang="en-US" altLang="ko-KR" sz="1600" b="1" dirty="0" err="1" smtClean="0">
                <a:solidFill>
                  <a:srgbClr val="000000"/>
                </a:solidFill>
                <a:latin typeface="돋움체"/>
                <a:ea typeface="돋움체"/>
              </a:rPr>
              <a:t>setAntiAlias</a:t>
            </a:r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600" u="sng" dirty="0" smtClean="0">
                <a:solidFill>
                  <a:srgbClr val="7F0055"/>
                </a:solidFill>
                <a:latin typeface="돋움체"/>
                <a:ea typeface="돋움체"/>
              </a:rPr>
              <a:t>true</a:t>
            </a:r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rect.offset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(0, 60</a:t>
            </a:r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canvas.drawOval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rect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, paint);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canvas.drawText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600" dirty="0">
                <a:solidFill>
                  <a:srgbClr val="2A00FF"/>
                </a:solidFill>
                <a:latin typeface="돋움체"/>
                <a:ea typeface="돋움체"/>
              </a:rPr>
              <a:t>"Text"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, 110, 110, paint);</a:t>
            </a:r>
          </a:p>
          <a:p>
            <a:r>
              <a:rPr lang="ko-KR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</a:t>
            </a:r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7230" y="1280160"/>
            <a:ext cx="15634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>
                <a:solidFill>
                  <a:prstClr val="black"/>
                </a:solidFill>
              </a:rPr>
              <a:t>Ex_Canvas</a:t>
            </a:r>
            <a:endParaRPr lang="en-US" altLang="ko-KR" b="1" dirty="0" smtClean="0">
              <a:solidFill>
                <a:prstClr val="black"/>
              </a:solidFill>
            </a:endParaRPr>
          </a:p>
          <a:p>
            <a:r>
              <a:rPr lang="en-US" altLang="ko-KR" dirty="0" smtClean="0">
                <a:solidFill>
                  <a:prstClr val="black"/>
                </a:solidFill>
              </a:rPr>
              <a:t>/</a:t>
            </a:r>
            <a:r>
              <a:rPr lang="en-US" altLang="ko-KR" dirty="0" err="1" smtClean="0">
                <a:solidFill>
                  <a:prstClr val="black"/>
                </a:solidFill>
              </a:rPr>
              <a:t>src</a:t>
            </a:r>
            <a:r>
              <a:rPr lang="en-US" altLang="ko-KR" dirty="0" smtClean="0">
                <a:solidFill>
                  <a:prstClr val="black"/>
                </a:solidFill>
              </a:rPr>
              <a:t>/Act1.java</a:t>
            </a:r>
            <a:endParaRPr lang="ko-KR" altLang="en-US" dirty="0">
              <a:solidFill>
                <a:prstClr val="black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2420" y="1749720"/>
            <a:ext cx="2583321" cy="4631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342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10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Canvas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97230" y="1926491"/>
            <a:ext cx="5480988" cy="461664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public 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void </a:t>
            </a:r>
            <a:r>
              <a:rPr lang="en-US" altLang="ko-K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onDraw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(Canvas canvas) {</a:t>
            </a:r>
          </a:p>
          <a:p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canvas.drawColor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</a:t>
            </a:r>
            <a:r>
              <a:rPr lang="en-US" altLang="ko-K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Color.LTGRAY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        Paint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paint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= </a:t>
            </a:r>
            <a:r>
              <a:rPr lang="en-US" altLang="ko-KR" sz="1400" dirty="0">
                <a:solidFill>
                  <a:srgbClr val="7F0055"/>
                </a:solidFill>
                <a:latin typeface="돋움체"/>
                <a:ea typeface="돋움체"/>
              </a:rPr>
              <a:t>new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Paint(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Paint.</a:t>
            </a:r>
            <a:r>
              <a:rPr lang="en-US" altLang="ko-KR" sz="1400" dirty="0" err="1">
                <a:solidFill>
                  <a:srgbClr val="0000C0"/>
                </a:solidFill>
                <a:latin typeface="돋움체"/>
                <a:ea typeface="돋움체"/>
              </a:rPr>
              <a:t>ANTI_ALIAS_FLAG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endParaRPr lang="ko-KR" altLang="en-US" sz="1400" dirty="0">
              <a:latin typeface="돋움체"/>
              <a:ea typeface="돋움체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paint.setColor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Color.</a:t>
            </a:r>
            <a:r>
              <a:rPr lang="en-US" altLang="ko-KR" sz="1400" dirty="0" err="1">
                <a:solidFill>
                  <a:srgbClr val="0000C0"/>
                </a:solidFill>
                <a:latin typeface="돋움체"/>
                <a:ea typeface="돋움체"/>
              </a:rPr>
              <a:t>BLUE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paint.setStrokeWidth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(14);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canvas.drawLine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(10,10,200,10, paint);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paint.setStrokeCap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Paint.Cap.</a:t>
            </a:r>
            <a:r>
              <a:rPr lang="en-US" altLang="ko-KR" sz="1400" dirty="0" err="1">
                <a:solidFill>
                  <a:srgbClr val="0000C0"/>
                </a:solidFill>
                <a:latin typeface="돋움체"/>
                <a:ea typeface="돋움체"/>
              </a:rPr>
              <a:t>ROUND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canvas.drawLine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(10,30,200,30, paint);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paint.setStrokeCap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Paint.Cap.</a:t>
            </a:r>
            <a:r>
              <a:rPr lang="en-US" altLang="ko-KR" sz="1400" dirty="0" err="1">
                <a:solidFill>
                  <a:srgbClr val="0000C0"/>
                </a:solidFill>
                <a:latin typeface="돋움체"/>
                <a:ea typeface="돋움체"/>
              </a:rPr>
              <a:t>SQUARE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canvas.drawLine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(10,50,200,50, paint);</a:t>
            </a:r>
          </a:p>
          <a:p>
            <a:endParaRPr lang="ko-KR" altLang="en-US" sz="1400" dirty="0">
              <a:latin typeface="돋움체"/>
              <a:ea typeface="돋움체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paint.setColor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Color.</a:t>
            </a:r>
            <a:r>
              <a:rPr lang="en-US" altLang="ko-KR" sz="1400" dirty="0" err="1">
                <a:solidFill>
                  <a:srgbClr val="0000C0"/>
                </a:solidFill>
                <a:latin typeface="돋움체"/>
                <a:ea typeface="돋움체"/>
              </a:rPr>
              <a:t>BLACK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paint.setStrokeWidth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(16);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paint.setStyle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Paint.Style.</a:t>
            </a:r>
            <a:r>
              <a:rPr lang="en-US" altLang="ko-KR" sz="1400" dirty="0" err="1">
                <a:solidFill>
                  <a:srgbClr val="0000C0"/>
                </a:solidFill>
                <a:latin typeface="돋움체"/>
                <a:ea typeface="돋움체"/>
              </a:rPr>
              <a:t>STROKE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paint.setStrokeJoin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Paint.Join.</a:t>
            </a:r>
            <a:r>
              <a:rPr lang="en-US" altLang="ko-KR" sz="1400" dirty="0" err="1">
                <a:solidFill>
                  <a:srgbClr val="0000C0"/>
                </a:solidFill>
                <a:latin typeface="돋움체"/>
                <a:ea typeface="돋움체"/>
              </a:rPr>
              <a:t>MITER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canvas.drawRect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(10,80,60,130, paint);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paint.setStrokeJoin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Paint.Join.</a:t>
            </a:r>
            <a:r>
              <a:rPr lang="en-US" altLang="ko-KR" sz="1400" dirty="0" err="1">
                <a:solidFill>
                  <a:srgbClr val="0000C0"/>
                </a:solidFill>
                <a:latin typeface="돋움체"/>
                <a:ea typeface="돋움체"/>
              </a:rPr>
              <a:t>BEVEL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canvas.drawRect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(80,80,130,130, paint);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paint.setStrokeJoin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Paint.Join.</a:t>
            </a:r>
            <a:r>
              <a:rPr lang="en-US" altLang="ko-KR" sz="1400" dirty="0" err="1">
                <a:solidFill>
                  <a:srgbClr val="0000C0"/>
                </a:solidFill>
                <a:latin typeface="돋움체"/>
                <a:ea typeface="돋움체"/>
              </a:rPr>
              <a:t>ROUND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canvas.drawRect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(150,80,200,130, paint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  <a:endParaRPr lang="en-US" altLang="ko-KR" sz="1400" dirty="0">
              <a:solidFill>
                <a:srgbClr val="000000"/>
              </a:solidFill>
              <a:latin typeface="돋움체"/>
              <a:ea typeface="돋움체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97230" y="1280160"/>
            <a:ext cx="15634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>
                <a:solidFill>
                  <a:prstClr val="black"/>
                </a:solidFill>
              </a:rPr>
              <a:t>Ex_Canvas</a:t>
            </a:r>
            <a:endParaRPr lang="en-US" altLang="ko-KR" b="1" dirty="0" smtClean="0">
              <a:solidFill>
                <a:prstClr val="black"/>
              </a:solidFill>
            </a:endParaRPr>
          </a:p>
          <a:p>
            <a:r>
              <a:rPr lang="en-US" altLang="ko-KR" dirty="0" smtClean="0">
                <a:solidFill>
                  <a:prstClr val="black"/>
                </a:solidFill>
              </a:rPr>
              <a:t>/</a:t>
            </a:r>
            <a:r>
              <a:rPr lang="en-US" altLang="ko-KR" dirty="0" err="1" smtClean="0">
                <a:solidFill>
                  <a:prstClr val="black"/>
                </a:solidFill>
              </a:rPr>
              <a:t>src</a:t>
            </a:r>
            <a:r>
              <a:rPr lang="en-US" altLang="ko-KR" dirty="0" smtClean="0">
                <a:solidFill>
                  <a:prstClr val="black"/>
                </a:solidFill>
              </a:rPr>
              <a:t>/Act1.java</a:t>
            </a:r>
            <a:endParaRPr lang="ko-KR" altLang="en-US" dirty="0">
              <a:solidFill>
                <a:prstClr val="black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8281" y="1839484"/>
            <a:ext cx="2657072" cy="4790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1978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11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Canvas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97230" y="1926491"/>
            <a:ext cx="5211683" cy="224676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ko-KR" altLang="en-US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endParaRPr lang="ko-KR" altLang="en-US" sz="1400" dirty="0">
              <a:solidFill>
                <a:srgbClr val="000000"/>
              </a:solidFill>
              <a:latin typeface="돋움체"/>
              <a:ea typeface="돋움체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paint.setStrokeWidth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(5);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paint.setColor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Color.</a:t>
            </a:r>
            <a:r>
              <a:rPr lang="en-US" altLang="ko-KR" sz="1400" dirty="0" err="1">
                <a:solidFill>
                  <a:srgbClr val="0000C0"/>
                </a:solidFill>
                <a:latin typeface="돋움체"/>
                <a:ea typeface="돋움체"/>
              </a:rPr>
              <a:t>RED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paint.setStyle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Paint.Style.</a:t>
            </a:r>
            <a:r>
              <a:rPr lang="en-US" altLang="ko-KR" sz="1400" dirty="0" err="1">
                <a:solidFill>
                  <a:srgbClr val="0000C0"/>
                </a:solidFill>
                <a:latin typeface="돋움체"/>
                <a:ea typeface="돋움체"/>
              </a:rPr>
              <a:t>FILL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canvas.drawCircle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(30,180,20, paint);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paint.setStyle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Paint.Style.</a:t>
            </a:r>
            <a:r>
              <a:rPr lang="en-US" altLang="ko-KR" sz="1400" dirty="0" err="1">
                <a:solidFill>
                  <a:srgbClr val="0000C0"/>
                </a:solidFill>
                <a:latin typeface="돋움체"/>
                <a:ea typeface="돋움체"/>
              </a:rPr>
              <a:t>STROKE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canvas.drawCircle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(80,180,20,paint);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paint.setStyle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Paint.Style.</a:t>
            </a:r>
            <a:r>
              <a:rPr lang="en-US" altLang="ko-KR" sz="1400" dirty="0" err="1">
                <a:solidFill>
                  <a:srgbClr val="0000C0"/>
                </a:solidFill>
                <a:latin typeface="돋움체"/>
                <a:ea typeface="돋움체"/>
              </a:rPr>
              <a:t>FILL_AND_STROKE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canvas.drawCircle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(130,180,20,paint);</a:t>
            </a:r>
          </a:p>
          <a:p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7230" y="1280160"/>
            <a:ext cx="15634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>
                <a:solidFill>
                  <a:prstClr val="black"/>
                </a:solidFill>
              </a:rPr>
              <a:t>Ex_Canvas</a:t>
            </a:r>
            <a:endParaRPr lang="en-US" altLang="ko-KR" b="1" dirty="0" smtClean="0">
              <a:solidFill>
                <a:prstClr val="black"/>
              </a:solidFill>
            </a:endParaRPr>
          </a:p>
          <a:p>
            <a:r>
              <a:rPr lang="en-US" altLang="ko-KR" dirty="0" smtClean="0">
                <a:solidFill>
                  <a:prstClr val="black"/>
                </a:solidFill>
              </a:rPr>
              <a:t>/</a:t>
            </a:r>
            <a:r>
              <a:rPr lang="en-US" altLang="ko-KR" dirty="0" err="1" smtClean="0">
                <a:solidFill>
                  <a:prstClr val="black"/>
                </a:solidFill>
              </a:rPr>
              <a:t>src</a:t>
            </a:r>
            <a:r>
              <a:rPr lang="en-US" altLang="ko-KR" dirty="0" smtClean="0">
                <a:solidFill>
                  <a:prstClr val="black"/>
                </a:solidFill>
              </a:rPr>
              <a:t>/Act1.java</a:t>
            </a:r>
            <a:endParaRPr lang="ko-KR" altLang="en-US" dirty="0">
              <a:solidFill>
                <a:prstClr val="black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6" t="12776" r="50520" b="68141"/>
          <a:stretch/>
        </p:blipFill>
        <p:spPr>
          <a:xfrm>
            <a:off x="6148943" y="1991578"/>
            <a:ext cx="2845768" cy="2088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2015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12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Text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97230" y="1926491"/>
            <a:ext cx="7981672" cy="452431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       </a:t>
            </a:r>
            <a:r>
              <a:rPr lang="en-US" altLang="ko-KR" sz="1600" dirty="0" smtClean="0">
                <a:solidFill>
                  <a:srgbClr val="7F0055"/>
                </a:solidFill>
                <a:latin typeface="돋움체"/>
                <a:ea typeface="돋움체"/>
              </a:rPr>
              <a:t>public</a:t>
            </a:r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600" dirty="0">
                <a:solidFill>
                  <a:srgbClr val="7F0055"/>
                </a:solidFill>
                <a:latin typeface="돋움체"/>
                <a:ea typeface="돋움체"/>
              </a:rPr>
              <a:t>void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onDraw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(Canvas canvas) {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canvas.drawColor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Color.</a:t>
            </a:r>
            <a:r>
              <a:rPr lang="en-US" altLang="ko-KR" sz="1600" dirty="0" err="1">
                <a:solidFill>
                  <a:srgbClr val="0000C0"/>
                </a:solidFill>
                <a:latin typeface="돋움체"/>
                <a:ea typeface="돋움체"/>
              </a:rPr>
              <a:t>LTGRAY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           Paint 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paint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= </a:t>
            </a:r>
            <a:r>
              <a:rPr lang="en-US" altLang="ko-KR" sz="1600" dirty="0">
                <a:solidFill>
                  <a:srgbClr val="7F0055"/>
                </a:solidFill>
                <a:latin typeface="돋움체"/>
                <a:ea typeface="돋움체"/>
              </a:rPr>
              <a:t>new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Paint(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Paint.</a:t>
            </a:r>
            <a:r>
              <a:rPr lang="en-US" altLang="ko-KR" sz="1600" dirty="0" err="1">
                <a:solidFill>
                  <a:srgbClr val="0000C0"/>
                </a:solidFill>
                <a:latin typeface="돋움체"/>
                <a:ea typeface="돋움체"/>
              </a:rPr>
              <a:t>ANTI_ALIAS_FLAG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endParaRPr lang="ko-KR" altLang="en-US" sz="1600" dirty="0">
              <a:latin typeface="돋움체"/>
              <a:ea typeface="돋움체"/>
            </a:endParaRPr>
          </a:p>
          <a:p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           String 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msg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= </a:t>
            </a:r>
            <a:r>
              <a:rPr lang="en-US" altLang="ko-KR" sz="1600" dirty="0">
                <a:solidFill>
                  <a:srgbClr val="2A00FF"/>
                </a:solidFill>
                <a:latin typeface="돋움체"/>
                <a:ea typeface="돋움체"/>
              </a:rPr>
              <a:t>"KNU VR Lab."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paint.setColor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Color.</a:t>
            </a:r>
            <a:r>
              <a:rPr lang="en-US" altLang="ko-KR" sz="1600" dirty="0" err="1">
                <a:solidFill>
                  <a:srgbClr val="0000C0"/>
                </a:solidFill>
                <a:latin typeface="돋움체"/>
                <a:ea typeface="돋움체"/>
              </a:rPr>
              <a:t>BLUE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paint.setTextSize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(20);</a:t>
            </a:r>
          </a:p>
          <a:p>
            <a:r>
              <a:rPr lang="ko-KR" altLang="en-US" sz="16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canvas.drawText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msg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, 10, 50, paint);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paint.setTypeface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Typeface.create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((String)</a:t>
            </a:r>
            <a:r>
              <a:rPr lang="en-US" altLang="ko-KR" sz="1600" dirty="0">
                <a:solidFill>
                  <a:srgbClr val="7F0055"/>
                </a:solidFill>
                <a:latin typeface="돋움체"/>
                <a:ea typeface="돋움체"/>
              </a:rPr>
              <a:t>null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, 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Typeface.</a:t>
            </a:r>
            <a:r>
              <a:rPr lang="en-US" altLang="ko-KR" sz="1600" dirty="0" err="1">
                <a:solidFill>
                  <a:srgbClr val="0000C0"/>
                </a:solidFill>
                <a:latin typeface="돋움체"/>
                <a:ea typeface="돋움체"/>
              </a:rPr>
              <a:t>BOLD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));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canvas.drawText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msg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, 10, 80, paint);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paint.setUnderlineText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600" dirty="0">
                <a:solidFill>
                  <a:srgbClr val="7F0055"/>
                </a:solidFill>
                <a:latin typeface="돋움체"/>
                <a:ea typeface="돋움체"/>
              </a:rPr>
              <a:t>true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paint.setStrikeThruText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600" dirty="0">
                <a:solidFill>
                  <a:srgbClr val="7F0055"/>
                </a:solidFill>
                <a:latin typeface="돋움체"/>
                <a:ea typeface="돋움체"/>
              </a:rPr>
              <a:t>true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paint.setSubpixelText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600" dirty="0">
                <a:solidFill>
                  <a:srgbClr val="7F0055"/>
                </a:solidFill>
                <a:latin typeface="돋움체"/>
                <a:ea typeface="돋움체"/>
              </a:rPr>
              <a:t>true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paint.setTextSkewX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(-0.24f);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paint.setTextScaleX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(0.8f);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canvas.drawText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msg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, 10, 110, paint);</a:t>
            </a:r>
          </a:p>
          <a:p>
            <a:r>
              <a:rPr lang="ko-KR" altLang="en-US" sz="1600" dirty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}</a:t>
            </a:r>
            <a:endParaRPr lang="en-US" altLang="ko-KR" sz="1600" dirty="0">
              <a:solidFill>
                <a:schemeClr val="tx1">
                  <a:lumMod val="50000"/>
                  <a:lumOff val="50000"/>
                </a:schemeClr>
              </a:solidFill>
              <a:latin typeface="돋움체"/>
              <a:ea typeface="돋움체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97230" y="1280160"/>
            <a:ext cx="15634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>
                <a:solidFill>
                  <a:prstClr val="black"/>
                </a:solidFill>
              </a:rPr>
              <a:t>Ex_Canvas</a:t>
            </a:r>
            <a:endParaRPr lang="en-US" altLang="ko-KR" b="1" dirty="0" smtClean="0">
              <a:solidFill>
                <a:prstClr val="black"/>
              </a:solidFill>
            </a:endParaRPr>
          </a:p>
          <a:p>
            <a:r>
              <a:rPr lang="en-US" altLang="ko-KR" dirty="0" smtClean="0">
                <a:solidFill>
                  <a:prstClr val="black"/>
                </a:solidFill>
              </a:rPr>
              <a:t>/</a:t>
            </a:r>
            <a:r>
              <a:rPr lang="en-US" altLang="ko-KR" dirty="0" err="1" smtClean="0">
                <a:solidFill>
                  <a:prstClr val="black"/>
                </a:solidFill>
              </a:rPr>
              <a:t>src</a:t>
            </a:r>
            <a:r>
              <a:rPr lang="en-US" altLang="ko-KR" dirty="0" smtClean="0">
                <a:solidFill>
                  <a:prstClr val="black"/>
                </a:solidFill>
              </a:rPr>
              <a:t>/Act1.java</a:t>
            </a:r>
            <a:endParaRPr lang="ko-KR" altLang="en-US" dirty="0">
              <a:solidFill>
                <a:prstClr val="black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7"/>
          <a:stretch/>
        </p:blipFill>
        <p:spPr bwMode="auto">
          <a:xfrm>
            <a:off x="7002855" y="4852802"/>
            <a:ext cx="1432136" cy="139065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6482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Text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156681"/>
            <a:ext cx="8229600" cy="4641492"/>
          </a:xfrm>
        </p:spPr>
        <p:txBody>
          <a:bodyPr/>
          <a:lstStyle/>
          <a:p>
            <a:r>
              <a:rPr lang="ko-KR" altLang="en-US" dirty="0" smtClean="0"/>
              <a:t>글</a:t>
            </a:r>
            <a:r>
              <a:rPr lang="ko-KR" altLang="en-US" dirty="0"/>
              <a:t>꼴</a:t>
            </a:r>
            <a:r>
              <a:rPr lang="ko-KR" altLang="en-US" dirty="0" smtClean="0"/>
              <a:t>  파일을 추가</a:t>
            </a:r>
            <a:endParaRPr lang="en-US" altLang="ko-KR" dirty="0" smtClean="0"/>
          </a:p>
          <a:p>
            <a:pPr lvl="1"/>
            <a:r>
              <a:rPr lang="en-US" altLang="ko-KR" dirty="0" err="1" smtClean="0"/>
              <a:t>Bitbucket</a:t>
            </a:r>
            <a:r>
              <a:rPr lang="ko-KR" altLang="en-US" dirty="0" smtClean="0"/>
              <a:t>에서 </a:t>
            </a:r>
            <a:r>
              <a:rPr lang="en-US" altLang="ko-KR" dirty="0" smtClean="0"/>
              <a:t>graphic2D.zip(</a:t>
            </a:r>
            <a:r>
              <a:rPr lang="en-US" altLang="ko-KR" dirty="0" smtClean="0">
                <a:hlinkClick r:id="rId3"/>
              </a:rPr>
              <a:t>http</a:t>
            </a:r>
            <a:r>
              <a:rPr lang="en-US" altLang="ko-KR" dirty="0">
                <a:hlinkClick r:id="rId3"/>
              </a:rPr>
              <a:t>://</a:t>
            </a:r>
            <a:r>
              <a:rPr lang="en-US" altLang="ko-KR" dirty="0" smtClean="0">
                <a:hlinkClick r:id="rId3"/>
              </a:rPr>
              <a:t>www.fontsquirrel.com/fonts/3Dumb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한글안됨</a:t>
            </a:r>
            <a:r>
              <a:rPr lang="en-US" altLang="ko-KR" dirty="0" smtClean="0"/>
              <a:t>)</a:t>
            </a:r>
          </a:p>
          <a:p>
            <a:pPr lvl="1"/>
            <a:r>
              <a:rPr lang="en-US" altLang="ko-KR" dirty="0" smtClean="0"/>
              <a:t>Project: app/</a:t>
            </a:r>
            <a:r>
              <a:rPr lang="en-US" altLang="ko-KR" dirty="0" err="1" smtClean="0"/>
              <a:t>src</a:t>
            </a:r>
            <a:r>
              <a:rPr lang="en-US" altLang="ko-KR" dirty="0" smtClean="0"/>
              <a:t>/main/ </a:t>
            </a:r>
            <a:r>
              <a:rPr lang="ko-KR" altLang="en-US" dirty="0" smtClean="0"/>
              <a:t>아래에 </a:t>
            </a:r>
            <a:r>
              <a:rPr lang="en-US" altLang="ko-KR" dirty="0" smtClean="0"/>
              <a:t>asset </a:t>
            </a:r>
            <a:r>
              <a:rPr lang="ko-KR" altLang="en-US" dirty="0" smtClean="0"/>
              <a:t>폴더 생성 </a:t>
            </a:r>
            <a:endParaRPr lang="en-US" altLang="ko-KR" dirty="0" smtClean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13</a:t>
            </a:fld>
            <a:endParaRPr lang="ko-KR" altLang="en-US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4859" y="2335453"/>
            <a:ext cx="6054281" cy="4106241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1544859" y="2335453"/>
            <a:ext cx="872416" cy="2176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6225500" y="6083588"/>
            <a:ext cx="1373639" cy="2176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4467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Text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14</a:t>
            </a:fld>
            <a:endParaRPr lang="ko-KR" alt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8713" y="2414881"/>
            <a:ext cx="6559826" cy="3383292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1246094" y="2851500"/>
            <a:ext cx="1940726" cy="37153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내용 개체 틀 2"/>
          <p:cNvSpPr>
            <a:spLocks noGrp="1"/>
          </p:cNvSpPr>
          <p:nvPr>
            <p:ph idx="1"/>
          </p:nvPr>
        </p:nvSpPr>
        <p:spPr>
          <a:xfrm>
            <a:off x="457200" y="1156681"/>
            <a:ext cx="8229600" cy="4641492"/>
          </a:xfrm>
        </p:spPr>
        <p:txBody>
          <a:bodyPr/>
          <a:lstStyle/>
          <a:p>
            <a:r>
              <a:rPr lang="ko-KR" altLang="en-US" dirty="0" smtClean="0"/>
              <a:t>글</a:t>
            </a:r>
            <a:r>
              <a:rPr lang="ko-KR" altLang="en-US" dirty="0"/>
              <a:t>꼴</a:t>
            </a:r>
            <a:r>
              <a:rPr lang="ko-KR" altLang="en-US" dirty="0" smtClean="0"/>
              <a:t>  파일을 추가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글꼴 폴더에서 </a:t>
            </a:r>
            <a:r>
              <a:rPr lang="en-US" altLang="ko-KR" dirty="0" smtClean="0"/>
              <a:t>assets </a:t>
            </a:r>
            <a:r>
              <a:rPr lang="ko-KR" altLang="en-US" dirty="0" smtClean="0"/>
              <a:t>폴더로 </a:t>
            </a:r>
            <a:r>
              <a:rPr lang="en-US" altLang="ko-KR" dirty="0" smtClean="0"/>
              <a:t>Drag &amp; Drop</a:t>
            </a:r>
            <a:endParaRPr lang="ko-KR" altLang="en-US" dirty="0"/>
          </a:p>
        </p:txBody>
      </p:sp>
      <p:sp>
        <p:nvSpPr>
          <p:cNvPr id="10" name="직사각형 9"/>
          <p:cNvSpPr/>
          <p:nvPr/>
        </p:nvSpPr>
        <p:spPr>
          <a:xfrm>
            <a:off x="6138249" y="4843605"/>
            <a:ext cx="1611517" cy="5613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" name="구부러진 연결선 11"/>
          <p:cNvCxnSpPr>
            <a:stCxn id="7" idx="3"/>
            <a:endCxn id="10" idx="0"/>
          </p:cNvCxnSpPr>
          <p:nvPr/>
        </p:nvCxnSpPr>
        <p:spPr>
          <a:xfrm>
            <a:off x="3186820" y="3037267"/>
            <a:ext cx="3757188" cy="1806338"/>
          </a:xfrm>
          <a:prstGeom prst="curvedConnector2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6341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15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Text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97230" y="1926491"/>
            <a:ext cx="7969692" cy="332193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latinLnBrk="0">
              <a:lnSpc>
                <a:spcPct val="115000"/>
              </a:lnSpc>
            </a:pPr>
            <a:r>
              <a:rPr lang="en-US" altLang="ko-KR" sz="1200" b="1" kern="0" dirty="0">
                <a:solidFill>
                  <a:schemeClr val="bg1">
                    <a:lumMod val="50000"/>
                  </a:schemeClr>
                </a:solidFill>
                <a:latin typeface="Consolas"/>
                <a:cs typeface="Times New Roman"/>
              </a:rPr>
              <a:t>public</a:t>
            </a:r>
            <a:r>
              <a:rPr lang="en-US" altLang="ko-KR" sz="1200" kern="0" dirty="0">
                <a:solidFill>
                  <a:schemeClr val="bg1">
                    <a:lumMod val="50000"/>
                  </a:schemeClr>
                </a:solidFill>
                <a:latin typeface="Consolas"/>
                <a:cs typeface="Times New Roman"/>
              </a:rPr>
              <a:t> </a:t>
            </a:r>
            <a:r>
              <a:rPr lang="en-US" altLang="ko-KR" sz="1200" b="1" kern="0" dirty="0">
                <a:solidFill>
                  <a:schemeClr val="bg1">
                    <a:lumMod val="50000"/>
                  </a:schemeClr>
                </a:solidFill>
                <a:latin typeface="Consolas"/>
                <a:cs typeface="Times New Roman"/>
              </a:rPr>
              <a:t>class</a:t>
            </a:r>
            <a:r>
              <a:rPr lang="en-US" altLang="ko-KR" sz="1200" kern="0" dirty="0">
                <a:solidFill>
                  <a:schemeClr val="bg1">
                    <a:lumMod val="50000"/>
                  </a:schemeClr>
                </a:solidFill>
                <a:latin typeface="Consolas"/>
                <a:cs typeface="Times New Roman"/>
              </a:rPr>
              <a:t> Act1 </a:t>
            </a:r>
            <a:r>
              <a:rPr lang="en-US" altLang="ko-KR" sz="1200" b="1" kern="0" dirty="0">
                <a:solidFill>
                  <a:schemeClr val="bg1">
                    <a:lumMod val="50000"/>
                  </a:schemeClr>
                </a:solidFill>
                <a:latin typeface="Consolas"/>
                <a:cs typeface="Times New Roman"/>
              </a:rPr>
              <a:t>extends</a:t>
            </a:r>
            <a:r>
              <a:rPr lang="en-US" altLang="ko-KR" sz="1200" kern="0" dirty="0">
                <a:solidFill>
                  <a:schemeClr val="bg1">
                    <a:lumMod val="50000"/>
                  </a:schemeClr>
                </a:solidFill>
                <a:latin typeface="Consolas"/>
                <a:cs typeface="Times New Roman"/>
              </a:rPr>
              <a:t> Activity {</a:t>
            </a:r>
            <a:endParaRPr lang="ko-KR" altLang="ko-KR" sz="1200" kern="100" dirty="0">
              <a:solidFill>
                <a:schemeClr val="bg1">
                  <a:lumMod val="50000"/>
                </a:schemeClr>
              </a:solidFill>
              <a:latin typeface="맑은 고딕"/>
              <a:cs typeface="Times New Roman"/>
            </a:endParaRPr>
          </a:p>
          <a:p>
            <a:pPr latinLnBrk="0">
              <a:lnSpc>
                <a:spcPct val="115000"/>
              </a:lnSpc>
            </a:pPr>
            <a:r>
              <a:rPr lang="en-US" altLang="ko-KR" sz="1200" kern="0" dirty="0">
                <a:solidFill>
                  <a:schemeClr val="bg1">
                    <a:lumMod val="50000"/>
                  </a:schemeClr>
                </a:solidFill>
                <a:latin typeface="Consolas"/>
                <a:cs typeface="Times New Roman"/>
              </a:rPr>
              <a:t>    /** Called when the activity is first created. */</a:t>
            </a:r>
            <a:endParaRPr lang="ko-KR" altLang="ko-KR" sz="1200" kern="100" dirty="0">
              <a:solidFill>
                <a:schemeClr val="bg1">
                  <a:lumMod val="50000"/>
                </a:schemeClr>
              </a:solidFill>
              <a:latin typeface="맑은 고딕"/>
              <a:cs typeface="Times New Roman"/>
            </a:endParaRPr>
          </a:p>
          <a:p>
            <a:pPr latinLnBrk="0">
              <a:lnSpc>
                <a:spcPct val="115000"/>
              </a:lnSpc>
            </a:pPr>
            <a:r>
              <a:rPr lang="en-US" altLang="ko-KR" sz="1200" kern="0" dirty="0">
                <a:solidFill>
                  <a:schemeClr val="bg1">
                    <a:lumMod val="50000"/>
                  </a:schemeClr>
                </a:solidFill>
                <a:latin typeface="Consolas"/>
                <a:cs typeface="Times New Roman"/>
              </a:rPr>
              <a:t>	</a:t>
            </a:r>
            <a:endParaRPr lang="ko-KR" altLang="ko-KR" sz="1200" kern="100" dirty="0">
              <a:solidFill>
                <a:schemeClr val="bg1">
                  <a:lumMod val="50000"/>
                </a:schemeClr>
              </a:solidFill>
              <a:latin typeface="맑은 고딕"/>
              <a:cs typeface="Times New Roman"/>
            </a:endParaRPr>
          </a:p>
          <a:p>
            <a:pPr latinLnBrk="0">
              <a:lnSpc>
                <a:spcPct val="115000"/>
              </a:lnSpc>
            </a:pPr>
            <a:r>
              <a:rPr lang="en-US" altLang="ko-KR" sz="1200" kern="0" dirty="0" smtClean="0">
                <a:solidFill>
                  <a:srgbClr val="000000"/>
                </a:solidFill>
                <a:latin typeface="Consolas"/>
                <a:cs typeface="Times New Roman"/>
              </a:rPr>
              <a:t>    Typeface </a:t>
            </a:r>
            <a:r>
              <a:rPr lang="en-US" altLang="ko-KR" sz="1200" kern="0" dirty="0" err="1">
                <a:solidFill>
                  <a:srgbClr val="0000C0"/>
                </a:solidFill>
                <a:latin typeface="Consolas"/>
                <a:cs typeface="Times New Roman"/>
              </a:rPr>
              <a:t>mFont</a:t>
            </a:r>
            <a:r>
              <a:rPr lang="en-US" altLang="ko-KR" sz="1200" kern="0" dirty="0">
                <a:solidFill>
                  <a:srgbClr val="000000"/>
                </a:solidFill>
                <a:latin typeface="Consolas"/>
                <a:cs typeface="Times New Roman"/>
              </a:rPr>
              <a:t>;</a:t>
            </a:r>
            <a:endParaRPr lang="ko-KR" altLang="ko-KR" sz="1200" kern="100" dirty="0">
              <a:latin typeface="맑은 고딕"/>
              <a:cs typeface="Times New Roman"/>
            </a:endParaRPr>
          </a:p>
          <a:p>
            <a:pPr latinLnBrk="0">
              <a:lnSpc>
                <a:spcPct val="115000"/>
              </a:lnSpc>
            </a:pPr>
            <a:r>
              <a:rPr lang="en-US" altLang="ko-KR" sz="1200" kern="0" dirty="0">
                <a:solidFill>
                  <a:srgbClr val="000000"/>
                </a:solidFill>
                <a:latin typeface="Consolas"/>
                <a:cs typeface="Times New Roman"/>
              </a:rPr>
              <a:t>	</a:t>
            </a:r>
            <a:endParaRPr lang="ko-KR" altLang="ko-KR" sz="1200" kern="100" dirty="0">
              <a:latin typeface="맑은 고딕"/>
              <a:cs typeface="Times New Roman"/>
            </a:endParaRPr>
          </a:p>
          <a:p>
            <a:pPr latinLnBrk="0">
              <a:lnSpc>
                <a:spcPct val="115000"/>
              </a:lnSpc>
            </a:pPr>
            <a:r>
              <a:rPr lang="en-US" altLang="ko-KR" sz="1200" kern="0" dirty="0">
                <a:solidFill>
                  <a:schemeClr val="bg1">
                    <a:lumMod val="50000"/>
                  </a:schemeClr>
                </a:solidFill>
                <a:latin typeface="Consolas"/>
                <a:cs typeface="Times New Roman"/>
              </a:rPr>
              <a:t>    @Override</a:t>
            </a:r>
            <a:endParaRPr lang="ko-KR" altLang="ko-KR" sz="1200" kern="100" dirty="0">
              <a:solidFill>
                <a:schemeClr val="bg1">
                  <a:lumMod val="50000"/>
                </a:schemeClr>
              </a:solidFill>
              <a:latin typeface="맑은 고딕"/>
              <a:cs typeface="Times New Roman"/>
            </a:endParaRPr>
          </a:p>
          <a:p>
            <a:pPr latinLnBrk="0">
              <a:lnSpc>
                <a:spcPct val="115000"/>
              </a:lnSpc>
            </a:pPr>
            <a:r>
              <a:rPr lang="en-US" altLang="ko-KR" sz="1200" kern="0" dirty="0">
                <a:solidFill>
                  <a:schemeClr val="bg1">
                    <a:lumMod val="50000"/>
                  </a:schemeClr>
                </a:solidFill>
                <a:latin typeface="Consolas"/>
                <a:cs typeface="Times New Roman"/>
              </a:rPr>
              <a:t>    </a:t>
            </a:r>
            <a:r>
              <a:rPr lang="en-US" altLang="ko-KR" sz="1200" b="1" kern="0" dirty="0">
                <a:solidFill>
                  <a:schemeClr val="bg1">
                    <a:lumMod val="50000"/>
                  </a:schemeClr>
                </a:solidFill>
                <a:latin typeface="Consolas"/>
                <a:cs typeface="Times New Roman"/>
              </a:rPr>
              <a:t>public</a:t>
            </a:r>
            <a:r>
              <a:rPr lang="en-US" altLang="ko-KR" sz="1200" kern="0" dirty="0">
                <a:solidFill>
                  <a:schemeClr val="bg1">
                    <a:lumMod val="50000"/>
                  </a:schemeClr>
                </a:solidFill>
                <a:latin typeface="Consolas"/>
                <a:cs typeface="Times New Roman"/>
              </a:rPr>
              <a:t> </a:t>
            </a:r>
            <a:r>
              <a:rPr lang="en-US" altLang="ko-KR" sz="1200" b="1" kern="0" dirty="0">
                <a:solidFill>
                  <a:schemeClr val="bg1">
                    <a:lumMod val="50000"/>
                  </a:schemeClr>
                </a:solidFill>
                <a:latin typeface="Consolas"/>
                <a:cs typeface="Times New Roman"/>
              </a:rPr>
              <a:t>void</a:t>
            </a:r>
            <a:r>
              <a:rPr lang="en-US" altLang="ko-KR" sz="1200" kern="0" dirty="0">
                <a:solidFill>
                  <a:schemeClr val="bg1">
                    <a:lumMod val="50000"/>
                  </a:schemeClr>
                </a:solidFill>
                <a:latin typeface="Consolas"/>
                <a:cs typeface="Times New Roman"/>
              </a:rPr>
              <a:t> </a:t>
            </a:r>
            <a:r>
              <a:rPr lang="en-US" altLang="ko-KR" sz="1200" kern="0" dirty="0" err="1">
                <a:solidFill>
                  <a:schemeClr val="bg1">
                    <a:lumMod val="50000"/>
                  </a:schemeClr>
                </a:solidFill>
                <a:latin typeface="Consolas"/>
                <a:cs typeface="Times New Roman"/>
              </a:rPr>
              <a:t>onCreate</a:t>
            </a:r>
            <a:r>
              <a:rPr lang="en-US" altLang="ko-KR" sz="1200" kern="0" dirty="0">
                <a:solidFill>
                  <a:schemeClr val="bg1">
                    <a:lumMod val="50000"/>
                  </a:schemeClr>
                </a:solidFill>
                <a:latin typeface="Consolas"/>
                <a:cs typeface="Times New Roman"/>
              </a:rPr>
              <a:t>(Bundle </a:t>
            </a:r>
            <a:r>
              <a:rPr lang="en-US" altLang="ko-KR" sz="1200" kern="0" dirty="0" err="1">
                <a:solidFill>
                  <a:schemeClr val="bg1">
                    <a:lumMod val="50000"/>
                  </a:schemeClr>
                </a:solidFill>
                <a:latin typeface="Consolas"/>
                <a:cs typeface="Times New Roman"/>
              </a:rPr>
              <a:t>savedInstanceState</a:t>
            </a:r>
            <a:r>
              <a:rPr lang="en-US" altLang="ko-KR" sz="1200" kern="0" dirty="0">
                <a:solidFill>
                  <a:schemeClr val="bg1">
                    <a:lumMod val="50000"/>
                  </a:schemeClr>
                </a:solidFill>
                <a:latin typeface="Consolas"/>
                <a:cs typeface="Times New Roman"/>
              </a:rPr>
              <a:t>) {</a:t>
            </a:r>
            <a:endParaRPr lang="ko-KR" altLang="ko-KR" sz="1200" kern="100" dirty="0">
              <a:solidFill>
                <a:schemeClr val="bg1">
                  <a:lumMod val="50000"/>
                </a:schemeClr>
              </a:solidFill>
              <a:latin typeface="맑은 고딕"/>
              <a:cs typeface="Times New Roman"/>
            </a:endParaRPr>
          </a:p>
          <a:p>
            <a:pPr latinLnBrk="0">
              <a:lnSpc>
                <a:spcPct val="115000"/>
              </a:lnSpc>
            </a:pPr>
            <a:r>
              <a:rPr lang="en-US" altLang="ko-KR" sz="1200" kern="0" dirty="0">
                <a:solidFill>
                  <a:schemeClr val="bg1">
                    <a:lumMod val="50000"/>
                  </a:schemeClr>
                </a:solidFill>
                <a:latin typeface="Consolas"/>
                <a:cs typeface="Times New Roman"/>
              </a:rPr>
              <a:t>        </a:t>
            </a:r>
            <a:r>
              <a:rPr lang="en-US" altLang="ko-KR" sz="1200" b="1" kern="0" dirty="0" err="1">
                <a:solidFill>
                  <a:schemeClr val="bg1">
                    <a:lumMod val="50000"/>
                  </a:schemeClr>
                </a:solidFill>
                <a:latin typeface="Consolas"/>
                <a:cs typeface="Times New Roman"/>
              </a:rPr>
              <a:t>super</a:t>
            </a:r>
            <a:r>
              <a:rPr lang="en-US" altLang="ko-KR" sz="1200" kern="0" dirty="0" err="1">
                <a:solidFill>
                  <a:schemeClr val="bg1">
                    <a:lumMod val="50000"/>
                  </a:schemeClr>
                </a:solidFill>
                <a:latin typeface="Consolas"/>
                <a:cs typeface="Times New Roman"/>
              </a:rPr>
              <a:t>.onCreate</a:t>
            </a:r>
            <a:r>
              <a:rPr lang="en-US" altLang="ko-KR" sz="1200" kern="0" dirty="0">
                <a:solidFill>
                  <a:schemeClr val="bg1">
                    <a:lumMod val="50000"/>
                  </a:schemeClr>
                </a:solidFill>
                <a:latin typeface="Consolas"/>
                <a:cs typeface="Times New Roman"/>
              </a:rPr>
              <a:t>(</a:t>
            </a:r>
            <a:r>
              <a:rPr lang="en-US" altLang="ko-KR" sz="1200" kern="0" dirty="0" err="1">
                <a:solidFill>
                  <a:schemeClr val="bg1">
                    <a:lumMod val="50000"/>
                  </a:schemeClr>
                </a:solidFill>
                <a:latin typeface="Consolas"/>
                <a:cs typeface="Times New Roman"/>
              </a:rPr>
              <a:t>savedInstanceState</a:t>
            </a:r>
            <a:r>
              <a:rPr lang="en-US" altLang="ko-KR" sz="1200" kern="0" dirty="0">
                <a:solidFill>
                  <a:schemeClr val="bg1">
                    <a:lumMod val="50000"/>
                  </a:schemeClr>
                </a:solidFill>
                <a:latin typeface="Consolas"/>
                <a:cs typeface="Times New Roman"/>
              </a:rPr>
              <a:t>);</a:t>
            </a:r>
            <a:endParaRPr lang="ko-KR" altLang="ko-KR" sz="1200" kern="100" dirty="0">
              <a:solidFill>
                <a:schemeClr val="bg1">
                  <a:lumMod val="50000"/>
                </a:schemeClr>
              </a:solidFill>
              <a:latin typeface="맑은 고딕"/>
              <a:cs typeface="Times New Roman"/>
            </a:endParaRPr>
          </a:p>
          <a:p>
            <a:pPr latinLnBrk="0">
              <a:lnSpc>
                <a:spcPct val="115000"/>
              </a:lnSpc>
            </a:pPr>
            <a:r>
              <a:rPr lang="en-US" altLang="ko-KR" sz="1200" kern="0" dirty="0">
                <a:solidFill>
                  <a:schemeClr val="bg1">
                    <a:lumMod val="50000"/>
                  </a:schemeClr>
                </a:solidFill>
                <a:latin typeface="Consolas"/>
                <a:cs typeface="Times New Roman"/>
              </a:rPr>
              <a:t>        </a:t>
            </a:r>
            <a:r>
              <a:rPr lang="en-US" altLang="ko-KR" sz="1200" kern="0" dirty="0" err="1">
                <a:solidFill>
                  <a:schemeClr val="bg1">
                    <a:lumMod val="50000"/>
                  </a:schemeClr>
                </a:solidFill>
                <a:latin typeface="Consolas"/>
                <a:cs typeface="Times New Roman"/>
              </a:rPr>
              <a:t>setContentView</a:t>
            </a:r>
            <a:r>
              <a:rPr lang="en-US" altLang="ko-KR" sz="1200" kern="0" dirty="0">
                <a:solidFill>
                  <a:schemeClr val="bg1">
                    <a:lumMod val="50000"/>
                  </a:schemeClr>
                </a:solidFill>
                <a:latin typeface="Consolas"/>
                <a:cs typeface="Times New Roman"/>
              </a:rPr>
              <a:t>(</a:t>
            </a:r>
            <a:r>
              <a:rPr lang="en-US" altLang="ko-KR" sz="1200" b="1" kern="0" dirty="0">
                <a:solidFill>
                  <a:schemeClr val="bg1">
                    <a:lumMod val="50000"/>
                  </a:schemeClr>
                </a:solidFill>
                <a:latin typeface="Consolas"/>
                <a:cs typeface="Times New Roman"/>
              </a:rPr>
              <a:t>new</a:t>
            </a:r>
            <a:r>
              <a:rPr lang="en-US" altLang="ko-KR" sz="1200" kern="0" dirty="0">
                <a:solidFill>
                  <a:schemeClr val="bg1">
                    <a:lumMod val="50000"/>
                  </a:schemeClr>
                </a:solidFill>
                <a:latin typeface="Consolas"/>
                <a:cs typeface="Times New Roman"/>
              </a:rPr>
              <a:t> </a:t>
            </a:r>
            <a:r>
              <a:rPr lang="en-US" altLang="ko-KR" sz="1200" kern="0" dirty="0" err="1">
                <a:solidFill>
                  <a:schemeClr val="bg1">
                    <a:lumMod val="50000"/>
                  </a:schemeClr>
                </a:solidFill>
                <a:latin typeface="Consolas"/>
                <a:cs typeface="Times New Roman"/>
              </a:rPr>
              <a:t>CanvasView</a:t>
            </a:r>
            <a:r>
              <a:rPr lang="en-US" altLang="ko-KR" sz="1200" kern="0" dirty="0">
                <a:solidFill>
                  <a:schemeClr val="bg1">
                    <a:lumMod val="50000"/>
                  </a:schemeClr>
                </a:solidFill>
                <a:latin typeface="Consolas"/>
                <a:cs typeface="Times New Roman"/>
              </a:rPr>
              <a:t>(</a:t>
            </a:r>
            <a:r>
              <a:rPr lang="en-US" altLang="ko-KR" sz="1200" b="1" kern="0" dirty="0">
                <a:solidFill>
                  <a:schemeClr val="bg1">
                    <a:lumMod val="50000"/>
                  </a:schemeClr>
                </a:solidFill>
                <a:latin typeface="Consolas"/>
                <a:cs typeface="Times New Roman"/>
              </a:rPr>
              <a:t>this</a:t>
            </a:r>
            <a:r>
              <a:rPr lang="en-US" altLang="ko-KR" sz="1200" kern="0" dirty="0">
                <a:solidFill>
                  <a:schemeClr val="bg1">
                    <a:lumMod val="50000"/>
                  </a:schemeClr>
                </a:solidFill>
                <a:latin typeface="Consolas"/>
                <a:cs typeface="Times New Roman"/>
              </a:rPr>
              <a:t>));</a:t>
            </a:r>
            <a:endParaRPr lang="ko-KR" altLang="ko-KR" sz="1200" kern="100" dirty="0">
              <a:solidFill>
                <a:schemeClr val="bg1">
                  <a:lumMod val="50000"/>
                </a:schemeClr>
              </a:solidFill>
              <a:latin typeface="맑은 고딕"/>
              <a:cs typeface="Times New Roman"/>
            </a:endParaRPr>
          </a:p>
          <a:p>
            <a:pPr latinLnBrk="0">
              <a:lnSpc>
                <a:spcPct val="115000"/>
              </a:lnSpc>
            </a:pPr>
            <a:r>
              <a:rPr lang="en-US" altLang="ko-KR" sz="1200" kern="0" dirty="0">
                <a:solidFill>
                  <a:srgbClr val="000000"/>
                </a:solidFill>
                <a:latin typeface="Consolas"/>
                <a:cs typeface="Times New Roman"/>
              </a:rPr>
              <a:t>        </a:t>
            </a:r>
            <a:endParaRPr lang="ko-KR" altLang="ko-KR" sz="1200" kern="100" dirty="0">
              <a:latin typeface="맑은 고딕"/>
              <a:cs typeface="Times New Roman"/>
            </a:endParaRPr>
          </a:p>
          <a:p>
            <a:pPr latinLnBrk="0">
              <a:lnSpc>
                <a:spcPct val="115000"/>
              </a:lnSpc>
            </a:pPr>
            <a:r>
              <a:rPr lang="en-US" altLang="ko-KR" sz="1200" kern="0" dirty="0">
                <a:solidFill>
                  <a:srgbClr val="000000"/>
                </a:solidFill>
                <a:latin typeface="Consolas"/>
                <a:cs typeface="Times New Roman"/>
              </a:rPr>
              <a:t>        </a:t>
            </a:r>
            <a:r>
              <a:rPr lang="en-US" altLang="ko-KR" sz="1200" kern="0" dirty="0" err="1">
                <a:solidFill>
                  <a:srgbClr val="0000C0"/>
                </a:solidFill>
                <a:latin typeface="Consolas"/>
                <a:cs typeface="Times New Roman"/>
              </a:rPr>
              <a:t>mFont</a:t>
            </a:r>
            <a:r>
              <a:rPr lang="en-US" altLang="ko-KR" sz="1200" kern="0" dirty="0">
                <a:solidFill>
                  <a:srgbClr val="000000"/>
                </a:solidFill>
                <a:latin typeface="Consolas"/>
                <a:cs typeface="Times New Roman"/>
              </a:rPr>
              <a:t> = </a:t>
            </a:r>
            <a:r>
              <a:rPr lang="en-US" altLang="ko-KR" sz="1200" kern="0" dirty="0" err="1">
                <a:solidFill>
                  <a:srgbClr val="000000"/>
                </a:solidFill>
                <a:latin typeface="Consolas"/>
                <a:cs typeface="Times New Roman"/>
              </a:rPr>
              <a:t>Typeface.</a:t>
            </a:r>
            <a:r>
              <a:rPr lang="en-US" altLang="ko-KR" sz="1200" i="1" kern="0" dirty="0" err="1">
                <a:solidFill>
                  <a:srgbClr val="000000"/>
                </a:solidFill>
                <a:latin typeface="Consolas"/>
                <a:cs typeface="Times New Roman"/>
              </a:rPr>
              <a:t>createFromAsset</a:t>
            </a:r>
            <a:r>
              <a:rPr lang="en-US" altLang="ko-KR" sz="1200" kern="0" dirty="0">
                <a:solidFill>
                  <a:srgbClr val="000000"/>
                </a:solidFill>
                <a:latin typeface="Consolas"/>
                <a:cs typeface="Times New Roman"/>
              </a:rPr>
              <a:t>( </a:t>
            </a:r>
            <a:r>
              <a:rPr lang="en-US" altLang="ko-KR" sz="1200" kern="0" dirty="0" err="1">
                <a:solidFill>
                  <a:srgbClr val="000000"/>
                </a:solidFill>
                <a:latin typeface="Consolas"/>
                <a:cs typeface="Times New Roman"/>
              </a:rPr>
              <a:t>getAssets</a:t>
            </a:r>
            <a:r>
              <a:rPr lang="en-US" altLang="ko-KR" sz="1200" kern="0" dirty="0">
                <a:solidFill>
                  <a:srgbClr val="000000"/>
                </a:solidFill>
                <a:latin typeface="Consolas"/>
                <a:cs typeface="Times New Roman"/>
              </a:rPr>
              <a:t>(), </a:t>
            </a:r>
            <a:r>
              <a:rPr lang="en-US" altLang="ko-KR" sz="1200" kern="0" dirty="0" smtClean="0">
                <a:solidFill>
                  <a:srgbClr val="2A00FF"/>
                </a:solidFill>
                <a:latin typeface="Consolas"/>
                <a:cs typeface="Times New Roman"/>
              </a:rPr>
              <a:t>“3Dumb.ttf"</a:t>
            </a:r>
            <a:r>
              <a:rPr lang="en-US" altLang="ko-KR" sz="1200" kern="0" dirty="0" smtClean="0">
                <a:solidFill>
                  <a:srgbClr val="000000"/>
                </a:solidFill>
                <a:latin typeface="Consolas"/>
                <a:cs typeface="Times New Roman"/>
              </a:rPr>
              <a:t>); //</a:t>
            </a:r>
            <a:r>
              <a:rPr lang="ko-KR" altLang="en-US" sz="1200" kern="0" dirty="0" smtClean="0">
                <a:solidFill>
                  <a:srgbClr val="000000"/>
                </a:solidFill>
                <a:latin typeface="Consolas"/>
                <a:cs typeface="Times New Roman"/>
              </a:rPr>
              <a:t>대소문자구별함</a:t>
            </a:r>
            <a:endParaRPr lang="ko-KR" altLang="ko-KR" sz="1200" kern="100" dirty="0">
              <a:latin typeface="맑은 고딕"/>
              <a:cs typeface="Times New Roman"/>
            </a:endParaRP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en-US" altLang="ko-KR" sz="1200" kern="0" dirty="0">
                <a:solidFill>
                  <a:schemeClr val="bg1">
                    <a:lumMod val="50000"/>
                  </a:schemeClr>
                </a:solidFill>
                <a:latin typeface="Consolas"/>
                <a:cs typeface="Times New Roman"/>
              </a:rPr>
              <a:t>    </a:t>
            </a:r>
            <a:r>
              <a:rPr lang="en-US" altLang="ko-KR" sz="1200" kern="0" dirty="0" smtClean="0">
                <a:solidFill>
                  <a:schemeClr val="bg1">
                    <a:lumMod val="50000"/>
                  </a:schemeClr>
                </a:solidFill>
                <a:latin typeface="Consolas"/>
                <a:cs typeface="Times New Roman"/>
              </a:rPr>
              <a:t>}</a:t>
            </a: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en-US" altLang="ko-KR" sz="1200" kern="0" dirty="0" smtClean="0">
                <a:solidFill>
                  <a:schemeClr val="bg1">
                    <a:lumMod val="50000"/>
                  </a:schemeClr>
                </a:solidFill>
                <a:latin typeface="Consolas"/>
                <a:cs typeface="Times New Roman"/>
              </a:rPr>
              <a:t>     …</a:t>
            </a: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en-US" altLang="ko-KR" sz="1200" kern="0" dirty="0">
                <a:solidFill>
                  <a:schemeClr val="bg1">
                    <a:lumMod val="50000"/>
                  </a:schemeClr>
                </a:solidFill>
                <a:latin typeface="Consolas"/>
                <a:cs typeface="Times New Roman"/>
              </a:rPr>
              <a:t>}</a:t>
            </a:r>
            <a:endParaRPr lang="ko-KR" altLang="ko-KR" sz="1200" kern="100" dirty="0">
              <a:solidFill>
                <a:schemeClr val="bg1">
                  <a:lumMod val="50000"/>
                </a:schemeClr>
              </a:solidFill>
              <a:latin typeface="맑은 고딕"/>
              <a:cs typeface="Times New Roman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97230" y="1280160"/>
            <a:ext cx="15634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>
                <a:solidFill>
                  <a:prstClr val="black"/>
                </a:solidFill>
              </a:rPr>
              <a:t>Ex_Canvas</a:t>
            </a:r>
            <a:endParaRPr lang="en-US" altLang="ko-KR" b="1" dirty="0" smtClean="0">
              <a:solidFill>
                <a:prstClr val="black"/>
              </a:solidFill>
            </a:endParaRPr>
          </a:p>
          <a:p>
            <a:r>
              <a:rPr lang="en-US" altLang="ko-KR" dirty="0" smtClean="0">
                <a:solidFill>
                  <a:prstClr val="black"/>
                </a:solidFill>
              </a:rPr>
              <a:t>/</a:t>
            </a:r>
            <a:r>
              <a:rPr lang="en-US" altLang="ko-KR" dirty="0" err="1" smtClean="0">
                <a:solidFill>
                  <a:prstClr val="black"/>
                </a:solidFill>
              </a:rPr>
              <a:t>src</a:t>
            </a:r>
            <a:r>
              <a:rPr lang="en-US" altLang="ko-KR" dirty="0" smtClean="0">
                <a:solidFill>
                  <a:prstClr val="black"/>
                </a:solidFill>
              </a:rPr>
              <a:t>/Act1.java</a:t>
            </a:r>
            <a:endParaRPr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893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16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Text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97230" y="1926491"/>
            <a:ext cx="6032421" cy="452431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</a:t>
            </a:r>
            <a:r>
              <a:rPr lang="en-US" altLang="ko-KR" sz="1200" dirty="0" smtClean="0">
                <a:solidFill>
                  <a:srgbClr val="7F0055"/>
                </a:solidFill>
                <a:latin typeface="돋움체"/>
                <a:ea typeface="돋움체"/>
              </a:rPr>
              <a:t>public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200" dirty="0">
                <a:solidFill>
                  <a:srgbClr val="7F0055"/>
                </a:solidFill>
                <a:latin typeface="돋움체"/>
                <a:ea typeface="돋움체"/>
              </a:rPr>
              <a:t>void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onDraw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(Canvas canvas) {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canvas.drawColor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Color.</a:t>
            </a:r>
            <a:r>
              <a:rPr lang="en-US" altLang="ko-KR" sz="1200" dirty="0" err="1">
                <a:solidFill>
                  <a:srgbClr val="0000C0"/>
                </a:solidFill>
                <a:latin typeface="돋움체"/>
                <a:ea typeface="돋움체"/>
              </a:rPr>
              <a:t>LTGRAY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           Paint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paint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= </a:t>
            </a:r>
            <a:r>
              <a:rPr lang="en-US" altLang="ko-KR" sz="1200" dirty="0">
                <a:solidFill>
                  <a:srgbClr val="7F0055"/>
                </a:solidFill>
                <a:latin typeface="돋움체"/>
                <a:ea typeface="돋움체"/>
              </a:rPr>
              <a:t>new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Paint(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Paint.</a:t>
            </a:r>
            <a:r>
              <a:rPr lang="en-US" altLang="ko-KR" sz="1200" dirty="0" err="1">
                <a:solidFill>
                  <a:srgbClr val="0000C0"/>
                </a:solidFill>
                <a:latin typeface="돋움체"/>
                <a:ea typeface="돋움체"/>
              </a:rPr>
              <a:t>ANTI_ALIAS_FLAG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endParaRPr lang="ko-KR" altLang="en-US" sz="1200" dirty="0">
              <a:latin typeface="돋움체"/>
              <a:ea typeface="돋움체"/>
            </a:endParaRPr>
          </a:p>
          <a:p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           String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msg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= </a:t>
            </a:r>
            <a:r>
              <a:rPr lang="en-US" altLang="ko-KR" sz="1200" dirty="0">
                <a:solidFill>
                  <a:srgbClr val="2A00FF"/>
                </a:solidFill>
                <a:latin typeface="돋움체"/>
                <a:ea typeface="돋움체"/>
              </a:rPr>
              <a:t>"KNU VR Lab."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;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paint.setColor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Color.</a:t>
            </a:r>
            <a:r>
              <a:rPr lang="en-US" altLang="ko-KR" sz="1200" dirty="0" err="1">
                <a:solidFill>
                  <a:srgbClr val="0000C0"/>
                </a:solidFill>
                <a:latin typeface="돋움체"/>
                <a:ea typeface="돋움체"/>
              </a:rPr>
              <a:t>BLUE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ko-KR" altLang="en-US" sz="12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paint.setTextSize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(20);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canvas.drawText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msg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, 10, 50, paint);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paint.setTypeface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Typeface.create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((String)</a:t>
            </a:r>
            <a:r>
              <a:rPr lang="en-US" altLang="ko-KR" sz="1200" dirty="0">
                <a:solidFill>
                  <a:srgbClr val="7F0055"/>
                </a:solidFill>
                <a:latin typeface="돋움체"/>
                <a:ea typeface="돋움체"/>
              </a:rPr>
              <a:t>null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,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Typeface.</a:t>
            </a:r>
            <a:r>
              <a:rPr lang="en-US" altLang="ko-KR" sz="1200" dirty="0" err="1">
                <a:solidFill>
                  <a:srgbClr val="0000C0"/>
                </a:solidFill>
                <a:latin typeface="돋움체"/>
                <a:ea typeface="돋움체"/>
              </a:rPr>
              <a:t>BOLD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));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canvas.drawText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msg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, 10, 80, paint);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paint.setUnderlineText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200" dirty="0">
                <a:solidFill>
                  <a:srgbClr val="7F0055"/>
                </a:solidFill>
                <a:latin typeface="돋움체"/>
                <a:ea typeface="돋움체"/>
              </a:rPr>
              <a:t>true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paint.setStrikeThruText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200" dirty="0">
                <a:solidFill>
                  <a:srgbClr val="7F0055"/>
                </a:solidFill>
                <a:latin typeface="돋움체"/>
                <a:ea typeface="돋움체"/>
              </a:rPr>
              <a:t>true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paint.setSubpixelText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200" dirty="0">
                <a:solidFill>
                  <a:srgbClr val="7F0055"/>
                </a:solidFill>
                <a:latin typeface="돋움체"/>
                <a:ea typeface="돋움체"/>
              </a:rPr>
              <a:t>true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paint.setTextSkewX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(-0.24f);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paint.setTextScaleX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(0.8f);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canvas.drawText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msg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, 10, 110, paint);</a:t>
            </a:r>
          </a:p>
          <a:p>
            <a:endParaRPr lang="ko-KR" altLang="en-US" sz="1200" dirty="0">
              <a:latin typeface="돋움체"/>
              <a:ea typeface="돋움체"/>
            </a:endParaRPr>
          </a:p>
          <a:p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paint.reset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();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paint.setAntiAlias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200" dirty="0">
                <a:solidFill>
                  <a:srgbClr val="7F0055"/>
                </a:solidFill>
                <a:latin typeface="돋움체"/>
                <a:ea typeface="돋움체"/>
              </a:rPr>
              <a:t>true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paint.setTypeface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200" dirty="0" err="1">
                <a:solidFill>
                  <a:srgbClr val="0000C0"/>
                </a:solidFill>
                <a:latin typeface="돋움체"/>
                <a:ea typeface="돋움체"/>
              </a:rPr>
              <a:t>mFont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paint.setTextSize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(50);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canvas.drawText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msg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, 10, 170, paint);</a:t>
            </a:r>
          </a:p>
          <a:p>
            <a:r>
              <a:rPr lang="ko-KR" altLang="en-US" sz="1200" dirty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}</a:t>
            </a:r>
            <a:endParaRPr lang="en-US" altLang="ko-KR" sz="1200" dirty="0">
              <a:solidFill>
                <a:schemeClr val="tx1">
                  <a:lumMod val="50000"/>
                  <a:lumOff val="50000"/>
                </a:schemeClr>
              </a:solidFill>
              <a:latin typeface="돋움체"/>
              <a:ea typeface="돋움체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97230" y="1280160"/>
            <a:ext cx="15634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>
                <a:solidFill>
                  <a:prstClr val="black"/>
                </a:solidFill>
              </a:rPr>
              <a:t>Ex_Canvas</a:t>
            </a:r>
            <a:endParaRPr lang="en-US" altLang="ko-KR" b="1" dirty="0" smtClean="0">
              <a:solidFill>
                <a:prstClr val="black"/>
              </a:solidFill>
            </a:endParaRPr>
          </a:p>
          <a:p>
            <a:r>
              <a:rPr lang="en-US" altLang="ko-KR" dirty="0" smtClean="0">
                <a:solidFill>
                  <a:prstClr val="black"/>
                </a:solidFill>
              </a:rPr>
              <a:t>/</a:t>
            </a:r>
            <a:r>
              <a:rPr lang="en-US" altLang="ko-KR" dirty="0" err="1" smtClean="0">
                <a:solidFill>
                  <a:prstClr val="black"/>
                </a:solidFill>
              </a:rPr>
              <a:t>src</a:t>
            </a:r>
            <a:r>
              <a:rPr lang="en-US" altLang="ko-KR" dirty="0" smtClean="0">
                <a:solidFill>
                  <a:prstClr val="black"/>
                </a:solidFill>
              </a:rPr>
              <a:t>/Act1.java</a:t>
            </a:r>
            <a:endParaRPr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363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17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Text</a:t>
            </a:r>
            <a:endParaRPr lang="ko-KR" alt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6404" y="1463813"/>
            <a:ext cx="5611191" cy="486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546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Bitmap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이미지  파일을 추가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/res/</a:t>
            </a:r>
            <a:r>
              <a:rPr lang="en-US" altLang="ko-KR" dirty="0" err="1" smtClean="0"/>
              <a:t>drawable</a:t>
            </a:r>
            <a:r>
              <a:rPr lang="en-US" altLang="ko-KR" dirty="0" smtClean="0"/>
              <a:t>/android.png</a:t>
            </a:r>
          </a:p>
          <a:p>
            <a:pPr lvl="1"/>
            <a:r>
              <a:rPr lang="en-US" altLang="ko-KR" dirty="0" err="1" smtClean="0"/>
              <a:t>Bitbucket</a:t>
            </a:r>
            <a:r>
              <a:rPr lang="en-US" altLang="ko-KR" dirty="0" smtClean="0"/>
              <a:t> ~ downloads </a:t>
            </a:r>
            <a:r>
              <a:rPr lang="en-US" altLang="ko-KR" dirty="0"/>
              <a:t>	</a:t>
            </a:r>
            <a:r>
              <a:rPr lang="en-US" altLang="ko-KR" dirty="0" smtClean="0"/>
              <a:t>android.png in graphic2D.zip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18</a:t>
            </a:fld>
            <a:endParaRPr lang="ko-KR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6599" y="2552034"/>
            <a:ext cx="5569778" cy="3986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094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19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Bitmap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97230" y="1926491"/>
            <a:ext cx="8263801" cy="267765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400" dirty="0" smtClean="0">
                <a:solidFill>
                  <a:srgbClr val="7F0055"/>
                </a:solidFill>
                <a:latin typeface="돋움체"/>
                <a:ea typeface="돋움체"/>
              </a:rPr>
              <a:t>        public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 smtClean="0">
                <a:solidFill>
                  <a:srgbClr val="7F0055"/>
                </a:solidFill>
                <a:latin typeface="돋움체"/>
                <a:ea typeface="돋움체"/>
              </a:rPr>
              <a:t>void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onDraw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(Canvas canvas) {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canvas.drawColor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Color.</a:t>
            </a:r>
            <a:r>
              <a:rPr lang="en-US" altLang="ko-KR" sz="1400" dirty="0" err="1" smtClean="0">
                <a:solidFill>
                  <a:srgbClr val="0000C0"/>
                </a:solidFill>
                <a:latin typeface="돋움체"/>
                <a:ea typeface="돋움체"/>
              </a:rPr>
              <a:t>LTGRAY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Paint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paint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= </a:t>
            </a:r>
            <a:r>
              <a:rPr lang="en-US" altLang="ko-KR" sz="1400" dirty="0">
                <a:solidFill>
                  <a:srgbClr val="7F0055"/>
                </a:solidFill>
                <a:latin typeface="돋움체"/>
                <a:ea typeface="돋움체"/>
              </a:rPr>
              <a:t>new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Paint(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Paint.</a:t>
            </a:r>
            <a:r>
              <a:rPr lang="en-US" altLang="ko-KR" sz="1400" dirty="0" err="1">
                <a:solidFill>
                  <a:srgbClr val="0000C0"/>
                </a:solidFill>
                <a:latin typeface="돋움체"/>
                <a:ea typeface="돋움체"/>
              </a:rPr>
              <a:t>ANTI_ALIAS_FLAG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endParaRPr lang="ko-KR" altLang="en-US" sz="1400" dirty="0">
              <a:latin typeface="돋움체"/>
              <a:ea typeface="돋움체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paint.setColor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Color.</a:t>
            </a:r>
            <a:r>
              <a:rPr lang="en-US" altLang="ko-KR" sz="1400" dirty="0" err="1">
                <a:solidFill>
                  <a:srgbClr val="0000C0"/>
                </a:solidFill>
                <a:latin typeface="돋움체"/>
                <a:ea typeface="돋움체"/>
              </a:rPr>
              <a:t>MAGENTA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canvas.drawRect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400" dirty="0">
                <a:solidFill>
                  <a:srgbClr val="7F0055"/>
                </a:solidFill>
                <a:latin typeface="돋움체"/>
                <a:ea typeface="돋움체"/>
              </a:rPr>
              <a:t>new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Rect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(100, 20, 300, 80), paint);</a:t>
            </a:r>
            <a:endParaRPr lang="en-US" altLang="ko-KR" sz="1400" dirty="0" smtClean="0">
              <a:solidFill>
                <a:srgbClr val="000000"/>
              </a:solidFill>
              <a:highlight>
                <a:srgbClr val="D4D4D4"/>
              </a:highlight>
              <a:latin typeface="돋움체"/>
              <a:ea typeface="돋움체"/>
            </a:endParaRPr>
          </a:p>
          <a:p>
            <a:r>
              <a:rPr lang="ko-KR" altLang="en-US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Resources res = 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getResources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();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BitmapDrawable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draw = (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BitmapDrawable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)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res.getDrawable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R.drawable.</a:t>
            </a:r>
            <a:r>
              <a:rPr lang="en-US" altLang="ko-KR" sz="1400" dirty="0" err="1" smtClean="0">
                <a:solidFill>
                  <a:srgbClr val="0000C0"/>
                </a:solidFill>
                <a:latin typeface="돋움체"/>
                <a:ea typeface="돋움체"/>
              </a:rPr>
              <a:t>ic_launcher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Bitmap bmp = 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draw.getBitmap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();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canvas.drawBitmap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(bmp, </a:t>
            </a:r>
            <a:r>
              <a:rPr lang="en-US" altLang="ko-KR" sz="1400" dirty="0" smtClean="0">
                <a:solidFill>
                  <a:srgbClr val="7F0055"/>
                </a:solidFill>
                <a:latin typeface="돋움체"/>
                <a:ea typeface="돋움체"/>
              </a:rPr>
              <a:t>null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, </a:t>
            </a:r>
            <a:r>
              <a:rPr lang="en-US" altLang="ko-KR" sz="1400" dirty="0" smtClean="0">
                <a:solidFill>
                  <a:srgbClr val="7F0055"/>
                </a:solidFill>
                <a:latin typeface="돋움체"/>
                <a:ea typeface="돋움체"/>
              </a:rPr>
              <a:t>new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Rect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(10,10, 200,200), </a:t>
            </a:r>
            <a:r>
              <a:rPr lang="en-US" altLang="ko-KR" sz="1400" dirty="0" smtClean="0">
                <a:solidFill>
                  <a:srgbClr val="7F0055"/>
                </a:solidFill>
                <a:latin typeface="돋움체"/>
                <a:ea typeface="돋움체"/>
              </a:rPr>
              <a:t>null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ko-KR" altLang="en-US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}</a:t>
            </a:r>
            <a:endParaRPr lang="en-US" altLang="ko-KR" sz="1400" dirty="0">
              <a:solidFill>
                <a:schemeClr val="tx1">
                  <a:lumMod val="50000"/>
                  <a:lumOff val="50000"/>
                </a:schemeClr>
              </a:solidFill>
              <a:latin typeface="돋움체"/>
              <a:ea typeface="돋움체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97230" y="1280160"/>
            <a:ext cx="15634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>
                <a:solidFill>
                  <a:prstClr val="black"/>
                </a:solidFill>
              </a:rPr>
              <a:t>Ex_Canvas</a:t>
            </a:r>
            <a:endParaRPr lang="en-US" altLang="ko-KR" b="1" dirty="0" smtClean="0">
              <a:solidFill>
                <a:prstClr val="black"/>
              </a:solidFill>
            </a:endParaRPr>
          </a:p>
          <a:p>
            <a:r>
              <a:rPr lang="en-US" altLang="ko-KR" dirty="0" smtClean="0">
                <a:solidFill>
                  <a:prstClr val="black"/>
                </a:solidFill>
              </a:rPr>
              <a:t>/</a:t>
            </a:r>
            <a:r>
              <a:rPr lang="en-US" altLang="ko-KR" dirty="0" err="1" smtClean="0">
                <a:solidFill>
                  <a:prstClr val="black"/>
                </a:solidFill>
              </a:rPr>
              <a:t>src</a:t>
            </a:r>
            <a:r>
              <a:rPr lang="en-US" altLang="ko-KR" dirty="0" smtClean="0">
                <a:solidFill>
                  <a:prstClr val="black"/>
                </a:solidFill>
              </a:rPr>
              <a:t>/Act1.java</a:t>
            </a:r>
            <a:endParaRPr lang="ko-KR" altLang="en-US" dirty="0">
              <a:solidFill>
                <a:prstClr val="black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4976" y="4401839"/>
            <a:ext cx="2514048" cy="2307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74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20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Path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97230" y="1926491"/>
            <a:ext cx="5480988" cy="440120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public 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void </a:t>
            </a:r>
            <a:r>
              <a:rPr lang="en-US" altLang="ko-K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onDraw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(Canvas canvas) {</a:t>
            </a:r>
          </a:p>
          <a:p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canvas.drawColor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</a:t>
            </a:r>
            <a:r>
              <a:rPr lang="en-US" altLang="ko-K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Color.LTGRAY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    Paint </a:t>
            </a:r>
            <a:r>
              <a:rPr lang="en-US" altLang="ko-K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paint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= new Paint(</a:t>
            </a:r>
            <a:r>
              <a:rPr lang="en-US" altLang="ko-K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Paint.ANTI_ALIAS_FLAG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);</a:t>
            </a:r>
          </a:p>
          <a:p>
            <a:endParaRPr lang="ko-KR" altLang="en-US" sz="1400" dirty="0">
              <a:latin typeface="돋움체"/>
              <a:ea typeface="돋움체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paint.setStrokeWidth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(5);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paint.setStyle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Paint.Style.</a:t>
            </a:r>
            <a:r>
              <a:rPr lang="en-US" altLang="ko-KR" sz="1400" dirty="0" err="1">
                <a:solidFill>
                  <a:srgbClr val="0000C0"/>
                </a:solidFill>
                <a:latin typeface="돋움체"/>
                <a:ea typeface="돋움체"/>
              </a:rPr>
              <a:t>STROKE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ko-KR" altLang="en-US" sz="14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        Path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path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= </a:t>
            </a:r>
            <a:r>
              <a:rPr lang="en-US" altLang="ko-KR" sz="1400" dirty="0">
                <a:solidFill>
                  <a:srgbClr val="7F0055"/>
                </a:solidFill>
                <a:latin typeface="돋움체"/>
                <a:ea typeface="돋움체"/>
              </a:rPr>
              <a:t>new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Path();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path.addRect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(100,10,150,90,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Path.Direction.</a:t>
            </a:r>
            <a:r>
              <a:rPr lang="en-US" altLang="ko-KR" sz="1400" dirty="0" err="1">
                <a:solidFill>
                  <a:srgbClr val="0000C0"/>
                </a:solidFill>
                <a:latin typeface="돋움체"/>
                <a:ea typeface="돋움체"/>
              </a:rPr>
              <a:t>CW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path.addCircle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(50,50,40,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Path.Direction.</a:t>
            </a:r>
            <a:r>
              <a:rPr lang="en-US" altLang="ko-KR" sz="1400" dirty="0" err="1">
                <a:solidFill>
                  <a:srgbClr val="0000C0"/>
                </a:solidFill>
                <a:latin typeface="돋움체"/>
                <a:ea typeface="돋움체"/>
              </a:rPr>
              <a:t>CW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canvas.drawPath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(path, paint);</a:t>
            </a:r>
          </a:p>
          <a:p>
            <a:endParaRPr lang="ko-KR" altLang="en-US" sz="1400" dirty="0">
              <a:latin typeface="돋움체"/>
              <a:ea typeface="돋움체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paint.setStrokeWidth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(2);</a:t>
            </a:r>
          </a:p>
          <a:p>
            <a:r>
              <a:rPr lang="ko-KR" altLang="en-US" sz="14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path.reset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();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path.moveTo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(10,110);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path.lineTo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(50, 150);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path.rLineTo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(50, -30);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path.quadTo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(120,170,200,110);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canvas.drawPath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(path, paint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  <a:endParaRPr lang="en-US" altLang="ko-KR" sz="1400" dirty="0">
              <a:solidFill>
                <a:srgbClr val="000000"/>
              </a:solidFill>
              <a:latin typeface="돋움체"/>
              <a:ea typeface="돋움체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97230" y="1280160"/>
            <a:ext cx="15634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>
                <a:solidFill>
                  <a:prstClr val="black"/>
                </a:solidFill>
              </a:rPr>
              <a:t>Ex_Canvas</a:t>
            </a:r>
            <a:endParaRPr lang="en-US" altLang="ko-KR" b="1" dirty="0" smtClean="0">
              <a:solidFill>
                <a:prstClr val="black"/>
              </a:solidFill>
            </a:endParaRPr>
          </a:p>
          <a:p>
            <a:r>
              <a:rPr lang="en-US" altLang="ko-KR" dirty="0" smtClean="0">
                <a:solidFill>
                  <a:prstClr val="black"/>
                </a:solidFill>
              </a:rPr>
              <a:t>/</a:t>
            </a:r>
            <a:r>
              <a:rPr lang="en-US" altLang="ko-KR" dirty="0" err="1" smtClean="0">
                <a:solidFill>
                  <a:prstClr val="black"/>
                </a:solidFill>
              </a:rPr>
              <a:t>src</a:t>
            </a:r>
            <a:r>
              <a:rPr lang="en-US" altLang="ko-KR" dirty="0" smtClean="0">
                <a:solidFill>
                  <a:prstClr val="black"/>
                </a:solidFill>
              </a:rPr>
              <a:t>/Act1.java</a:t>
            </a:r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164496" y="5566561"/>
            <a:ext cx="11464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smtClean="0"/>
              <a:t>상대좌표 사용</a:t>
            </a:r>
            <a:endParaRPr lang="ko-KR" altLang="en-US" sz="1200"/>
          </a:p>
        </p:txBody>
      </p:sp>
      <p:cxnSp>
        <p:nvCxnSpPr>
          <p:cNvPr id="8" name="Straight Arrow Connector 7"/>
          <p:cNvCxnSpPr>
            <a:stCxn id="6" idx="1"/>
          </p:cNvCxnSpPr>
          <p:nvPr/>
        </p:nvCxnSpPr>
        <p:spPr>
          <a:xfrm flipH="1" flipV="1">
            <a:off x="3796748" y="5705060"/>
            <a:ext cx="367748" cy="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H="1">
            <a:off x="4547840" y="5966792"/>
            <a:ext cx="170229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230660" y="5571441"/>
            <a:ext cx="208069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Quadratic curve defined by,</a:t>
            </a:r>
          </a:p>
          <a:p>
            <a:r>
              <a:rPr lang="en-US" altLang="ko-KR" sz="1200" dirty="0" smtClean="0"/>
              <a:t>- current point </a:t>
            </a:r>
          </a:p>
          <a:p>
            <a:r>
              <a:rPr lang="en-US" altLang="ko-KR" sz="1200" dirty="0" smtClean="0"/>
              <a:t>- control point (x1, y1)</a:t>
            </a:r>
          </a:p>
          <a:p>
            <a:r>
              <a:rPr lang="en-US" altLang="ko-KR" sz="1200" dirty="0" smtClean="0"/>
              <a:t>- end point (x2, y2)</a:t>
            </a:r>
            <a:endParaRPr lang="ko-KR" altLang="en-US" sz="12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8248" y="1926491"/>
            <a:ext cx="2488861" cy="3071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9040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21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Path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97230" y="1926491"/>
            <a:ext cx="6288901" cy="203132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endParaRPr lang="ko-KR" altLang="en-US" sz="1400" dirty="0">
              <a:latin typeface="돋움체"/>
              <a:ea typeface="돋움체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path.reset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();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path.moveTo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(10,220);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path.cubicTo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(80,150, 150,220, 220,180);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canvas.drawPath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(path, paint);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paint.setTextSize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(20);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paint.setStyle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Paint.Style.</a:t>
            </a:r>
            <a:r>
              <a:rPr lang="en-US" altLang="ko-KR" sz="1400" dirty="0" err="1">
                <a:solidFill>
                  <a:srgbClr val="0000C0"/>
                </a:solidFill>
                <a:latin typeface="돋움체"/>
                <a:ea typeface="돋움체"/>
              </a:rPr>
              <a:t>FILL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canvas.drawTextOnPath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400" dirty="0">
                <a:solidFill>
                  <a:srgbClr val="2A00FF"/>
                </a:solidFill>
                <a:latin typeface="돋움체"/>
                <a:ea typeface="돋움체"/>
              </a:rPr>
              <a:t>"Curved Text"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, path, 0, 0, paint);</a:t>
            </a:r>
          </a:p>
          <a:p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7230" y="1280160"/>
            <a:ext cx="15634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>
                <a:solidFill>
                  <a:prstClr val="black"/>
                </a:solidFill>
              </a:rPr>
              <a:t>Ex_Canvas</a:t>
            </a:r>
            <a:endParaRPr lang="en-US" altLang="ko-KR" b="1" dirty="0" smtClean="0">
              <a:solidFill>
                <a:prstClr val="black"/>
              </a:solidFill>
            </a:endParaRPr>
          </a:p>
          <a:p>
            <a:r>
              <a:rPr lang="en-US" altLang="ko-KR" dirty="0" smtClean="0">
                <a:solidFill>
                  <a:prstClr val="black"/>
                </a:solidFill>
              </a:rPr>
              <a:t>/</a:t>
            </a:r>
            <a:r>
              <a:rPr lang="en-US" altLang="ko-KR" dirty="0" err="1" smtClean="0">
                <a:solidFill>
                  <a:prstClr val="black"/>
                </a:solidFill>
              </a:rPr>
              <a:t>src</a:t>
            </a:r>
            <a:r>
              <a:rPr lang="en-US" altLang="ko-KR" dirty="0" smtClean="0">
                <a:solidFill>
                  <a:prstClr val="black"/>
                </a:solidFill>
              </a:rPr>
              <a:t>/Act1.java</a:t>
            </a:r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956314" y="2231893"/>
            <a:ext cx="204414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Cubic curve defined by,</a:t>
            </a:r>
          </a:p>
          <a:p>
            <a:pPr marL="171450" indent="-171450">
              <a:buFontTx/>
              <a:buChar char="-"/>
            </a:pPr>
            <a:r>
              <a:rPr lang="en-US" altLang="ko-KR" sz="1200" dirty="0" smtClean="0"/>
              <a:t>current point </a:t>
            </a:r>
          </a:p>
          <a:p>
            <a:pPr marL="171450" indent="-171450">
              <a:buFontTx/>
              <a:buChar char="-"/>
            </a:pPr>
            <a:r>
              <a:rPr lang="en-US" altLang="ko-KR" sz="1200" dirty="0" smtClean="0"/>
              <a:t>1</a:t>
            </a:r>
            <a:r>
              <a:rPr lang="en-US" altLang="ko-KR" sz="1200" baseline="30000" dirty="0" smtClean="0"/>
              <a:t>st</a:t>
            </a:r>
            <a:r>
              <a:rPr lang="en-US" altLang="ko-KR" sz="1200" dirty="0" smtClean="0"/>
              <a:t> control point (x1, y1)</a:t>
            </a:r>
          </a:p>
          <a:p>
            <a:pPr marL="171450" indent="-171450">
              <a:buFontTx/>
              <a:buChar char="-"/>
            </a:pPr>
            <a:r>
              <a:rPr lang="en-US" altLang="ko-KR" sz="1200" dirty="0" smtClean="0"/>
              <a:t>1</a:t>
            </a:r>
            <a:r>
              <a:rPr lang="en-US" altLang="ko-KR" sz="1200" baseline="30000" dirty="0" smtClean="0"/>
              <a:t>st</a:t>
            </a:r>
            <a:r>
              <a:rPr lang="en-US" altLang="ko-KR" sz="1200" dirty="0" smtClean="0"/>
              <a:t> </a:t>
            </a:r>
            <a:r>
              <a:rPr lang="en-US" altLang="ko-KR" sz="1200" dirty="0"/>
              <a:t>control point (</a:t>
            </a:r>
            <a:r>
              <a:rPr lang="en-US" altLang="ko-KR" sz="1200" dirty="0" smtClean="0"/>
              <a:t>x2, y2)</a:t>
            </a:r>
          </a:p>
          <a:p>
            <a:pPr marL="171450" indent="-171450">
              <a:buFontTx/>
              <a:buChar char="-"/>
            </a:pPr>
            <a:r>
              <a:rPr lang="en-US" altLang="ko-KR" sz="1200" dirty="0" smtClean="0"/>
              <a:t>end point (x3, y3)</a:t>
            </a:r>
          </a:p>
        </p:txBody>
      </p:sp>
      <p:cxnSp>
        <p:nvCxnSpPr>
          <p:cNvPr id="7" name="Straight Arrow Connector 6"/>
          <p:cNvCxnSpPr/>
          <p:nvPr/>
        </p:nvCxnSpPr>
        <p:spPr>
          <a:xfrm flipH="1">
            <a:off x="5546708" y="2719846"/>
            <a:ext cx="140685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60"/>
          <a:stretch/>
        </p:blipFill>
        <p:spPr>
          <a:xfrm>
            <a:off x="2450204" y="4061012"/>
            <a:ext cx="2782952" cy="2295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431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22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Shader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97230" y="1926491"/>
            <a:ext cx="6647974" cy="280076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600" dirty="0">
                <a:solidFill>
                  <a:srgbClr val="7F0055"/>
                </a:solidFill>
                <a:latin typeface="돋움체"/>
                <a:ea typeface="돋움체"/>
              </a:rPr>
              <a:t>public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600" dirty="0">
                <a:solidFill>
                  <a:srgbClr val="7F0055"/>
                </a:solidFill>
                <a:latin typeface="돋움체"/>
                <a:ea typeface="돋움체"/>
              </a:rPr>
              <a:t>void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onDraw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(Canvas canvas) {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canvas.drawColor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Color.</a:t>
            </a:r>
            <a:r>
              <a:rPr lang="en-US" altLang="ko-KR" sz="1600" dirty="0" err="1">
                <a:solidFill>
                  <a:srgbClr val="0000C0"/>
                </a:solidFill>
                <a:latin typeface="돋움체"/>
                <a:ea typeface="돋움체"/>
              </a:rPr>
              <a:t>LTGRAY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           Paint 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paint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= </a:t>
            </a:r>
            <a:r>
              <a:rPr lang="en-US" altLang="ko-KR" sz="1600" dirty="0">
                <a:solidFill>
                  <a:srgbClr val="7F0055"/>
                </a:solidFill>
                <a:latin typeface="돋움체"/>
                <a:ea typeface="돋움체"/>
              </a:rPr>
              <a:t>new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Paint(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Paint.</a:t>
            </a:r>
            <a:r>
              <a:rPr lang="en-US" altLang="ko-KR" sz="1600" dirty="0" err="1">
                <a:solidFill>
                  <a:srgbClr val="0000C0"/>
                </a:solidFill>
                <a:latin typeface="돋움체"/>
                <a:ea typeface="돋움체"/>
              </a:rPr>
              <a:t>ANTI_ALIAS_FLAG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ko-KR" altLang="en-US" sz="16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paint.setShader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( </a:t>
            </a:r>
            <a:r>
              <a:rPr lang="en-US" altLang="ko-KR" sz="1600" dirty="0">
                <a:solidFill>
                  <a:srgbClr val="7F0055"/>
                </a:solidFill>
                <a:latin typeface="돋움체"/>
                <a:ea typeface="돋움체"/>
              </a:rPr>
              <a:t>new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600" b="1" dirty="0" err="1">
                <a:solidFill>
                  <a:srgbClr val="000000"/>
                </a:solidFill>
                <a:latin typeface="돋움체"/>
                <a:ea typeface="돋움체"/>
              </a:rPr>
              <a:t>LinearGradient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(0,0, 100,0,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Color.</a:t>
            </a:r>
            <a:r>
              <a:rPr lang="en-US" altLang="ko-KR" sz="1600" dirty="0" err="1">
                <a:solidFill>
                  <a:srgbClr val="0000C0"/>
                </a:solidFill>
                <a:latin typeface="돋움체"/>
                <a:ea typeface="돋움체"/>
              </a:rPr>
              <a:t>BLUE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, 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Color.</a:t>
            </a:r>
            <a:r>
              <a:rPr lang="en-US" altLang="ko-KR" sz="1600" dirty="0" err="1">
                <a:solidFill>
                  <a:srgbClr val="0000C0"/>
                </a:solidFill>
                <a:latin typeface="돋움체"/>
                <a:ea typeface="돋움체"/>
              </a:rPr>
              <a:t>WHITE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, </a:t>
            </a:r>
            <a:r>
              <a:rPr lang="en-US" altLang="ko-KR" sz="1600" dirty="0" err="1" smtClean="0">
                <a:solidFill>
                  <a:srgbClr val="000000"/>
                </a:solidFill>
                <a:latin typeface="돋움체"/>
                <a:ea typeface="돋움체"/>
              </a:rPr>
              <a:t>Shader.TileMode.</a:t>
            </a:r>
            <a:r>
              <a:rPr lang="en-US" altLang="ko-KR" sz="1600" dirty="0" err="1" smtClean="0">
                <a:solidFill>
                  <a:srgbClr val="0000C0"/>
                </a:solidFill>
                <a:latin typeface="돋움체"/>
                <a:ea typeface="돋움체"/>
              </a:rPr>
              <a:t>CLAMP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) );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canvas.drawRect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(0,0, 100,100, paint);</a:t>
            </a:r>
          </a:p>
          <a:p>
            <a:endParaRPr lang="ko-KR" altLang="en-US" sz="1600" dirty="0">
              <a:latin typeface="돋움체"/>
              <a:ea typeface="돋움체"/>
            </a:endParaRPr>
          </a:p>
          <a:p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paint.setShader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( </a:t>
            </a:r>
            <a:r>
              <a:rPr lang="en-US" altLang="ko-KR" sz="1600" dirty="0">
                <a:solidFill>
                  <a:srgbClr val="7F0055"/>
                </a:solidFill>
                <a:latin typeface="돋움체"/>
                <a:ea typeface="돋움체"/>
              </a:rPr>
              <a:t>new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LinearGradient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(110,0, 210,100,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Color.</a:t>
            </a:r>
            <a:r>
              <a:rPr lang="en-US" altLang="ko-KR" sz="1600" dirty="0" err="1">
                <a:solidFill>
                  <a:srgbClr val="0000C0"/>
                </a:solidFill>
                <a:latin typeface="돋움체"/>
                <a:ea typeface="돋움체"/>
              </a:rPr>
              <a:t>BLUE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, 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Color.</a:t>
            </a:r>
            <a:r>
              <a:rPr lang="en-US" altLang="ko-KR" sz="1600" dirty="0" err="1">
                <a:solidFill>
                  <a:srgbClr val="0000C0"/>
                </a:solidFill>
                <a:latin typeface="돋움체"/>
                <a:ea typeface="돋움체"/>
              </a:rPr>
              <a:t>WHITE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, </a:t>
            </a:r>
            <a:r>
              <a:rPr lang="en-US" altLang="ko-KR" sz="1600" dirty="0" err="1" smtClean="0">
                <a:solidFill>
                  <a:srgbClr val="000000"/>
                </a:solidFill>
                <a:latin typeface="돋움체"/>
                <a:ea typeface="돋움체"/>
              </a:rPr>
              <a:t>Shader.TileMode.</a:t>
            </a:r>
            <a:r>
              <a:rPr lang="en-US" altLang="ko-KR" sz="1600" dirty="0" err="1" smtClean="0">
                <a:solidFill>
                  <a:srgbClr val="0000C0"/>
                </a:solidFill>
                <a:latin typeface="돋움체"/>
                <a:ea typeface="돋움체"/>
              </a:rPr>
              <a:t>CLAMP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) );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canvas.drawRect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(110,0, 210,100, paint</a:t>
            </a:r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  <a:endParaRPr lang="en-US" altLang="ko-KR" sz="1600" dirty="0">
              <a:solidFill>
                <a:srgbClr val="000000"/>
              </a:solidFill>
              <a:latin typeface="돋움체"/>
              <a:ea typeface="돋움체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97230" y="1280160"/>
            <a:ext cx="15634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>
                <a:solidFill>
                  <a:prstClr val="black"/>
                </a:solidFill>
              </a:rPr>
              <a:t>Ex_Canvas</a:t>
            </a:r>
            <a:endParaRPr lang="en-US" altLang="ko-KR" b="1" dirty="0" smtClean="0">
              <a:solidFill>
                <a:prstClr val="black"/>
              </a:solidFill>
            </a:endParaRPr>
          </a:p>
          <a:p>
            <a:r>
              <a:rPr lang="en-US" altLang="ko-KR" dirty="0" smtClean="0">
                <a:solidFill>
                  <a:prstClr val="black"/>
                </a:solidFill>
              </a:rPr>
              <a:t>/</a:t>
            </a:r>
            <a:r>
              <a:rPr lang="en-US" altLang="ko-KR" dirty="0" err="1" smtClean="0">
                <a:solidFill>
                  <a:prstClr val="black"/>
                </a:solidFill>
              </a:rPr>
              <a:t>src</a:t>
            </a:r>
            <a:r>
              <a:rPr lang="en-US" altLang="ko-KR" dirty="0" smtClean="0">
                <a:solidFill>
                  <a:prstClr val="black"/>
                </a:solidFill>
              </a:rPr>
              <a:t>/Act1.java</a:t>
            </a:r>
            <a:endParaRPr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2198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23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Shader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97230" y="1926491"/>
            <a:ext cx="6647974" cy="403187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endParaRPr lang="ko-KR" altLang="en-US" sz="1600" dirty="0">
              <a:latin typeface="돋움체"/>
              <a:ea typeface="돋움체"/>
            </a:endParaRPr>
          </a:p>
          <a:p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paint.setShader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( </a:t>
            </a:r>
            <a:r>
              <a:rPr lang="en-US" altLang="ko-KR" sz="1600" dirty="0">
                <a:solidFill>
                  <a:srgbClr val="7F0055"/>
                </a:solidFill>
                <a:latin typeface="돋움체"/>
                <a:ea typeface="돋움체"/>
              </a:rPr>
              <a:t>new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LinearGradient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(220,100, 320,0,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Color.</a:t>
            </a:r>
            <a:r>
              <a:rPr lang="en-US" altLang="ko-KR" sz="1600" dirty="0" err="1">
                <a:solidFill>
                  <a:srgbClr val="0000C0"/>
                </a:solidFill>
                <a:latin typeface="돋움체"/>
                <a:ea typeface="돋움체"/>
              </a:rPr>
              <a:t>BLUE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, 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Color.</a:t>
            </a:r>
            <a:r>
              <a:rPr lang="en-US" altLang="ko-KR" sz="1600" dirty="0" err="1">
                <a:solidFill>
                  <a:srgbClr val="0000C0"/>
                </a:solidFill>
                <a:latin typeface="돋움체"/>
                <a:ea typeface="돋움체"/>
              </a:rPr>
              <a:t>WHITE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, </a:t>
            </a:r>
            <a:r>
              <a:rPr lang="en-US" altLang="ko-KR" sz="1600" dirty="0" err="1" smtClean="0">
                <a:solidFill>
                  <a:srgbClr val="000000"/>
                </a:solidFill>
                <a:latin typeface="돋움체"/>
                <a:ea typeface="돋움체"/>
              </a:rPr>
              <a:t>Shader.TileMode.</a:t>
            </a:r>
            <a:r>
              <a:rPr lang="en-US" altLang="ko-KR" sz="1600" dirty="0" err="1" smtClean="0">
                <a:solidFill>
                  <a:srgbClr val="0000C0"/>
                </a:solidFill>
                <a:latin typeface="돋움체"/>
                <a:ea typeface="돋움체"/>
              </a:rPr>
              <a:t>CLAMP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) );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canvas.drawRect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(220,0, 320,100, paint);</a:t>
            </a:r>
          </a:p>
          <a:p>
            <a:endParaRPr lang="ko-KR" altLang="en-US" sz="1600" dirty="0">
              <a:latin typeface="돋움체"/>
              <a:ea typeface="돋움체"/>
            </a:endParaRPr>
          </a:p>
          <a:p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paint.setShader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( </a:t>
            </a:r>
            <a:r>
              <a:rPr lang="en-US" altLang="ko-KR" sz="1600" dirty="0">
                <a:solidFill>
                  <a:srgbClr val="7F0055"/>
                </a:solidFill>
                <a:latin typeface="돋움체"/>
                <a:ea typeface="돋움체"/>
              </a:rPr>
              <a:t>new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LinearGradient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(0,0, 100,0,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Color.</a:t>
            </a:r>
            <a:r>
              <a:rPr lang="en-US" altLang="ko-KR" sz="1600" dirty="0" err="1">
                <a:solidFill>
                  <a:srgbClr val="0000C0"/>
                </a:solidFill>
                <a:latin typeface="돋움체"/>
                <a:ea typeface="돋움체"/>
              </a:rPr>
              <a:t>BLUE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, 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Color.</a:t>
            </a:r>
            <a:r>
              <a:rPr lang="en-US" altLang="ko-KR" sz="1600" dirty="0" err="1">
                <a:solidFill>
                  <a:srgbClr val="0000C0"/>
                </a:solidFill>
                <a:latin typeface="돋움체"/>
                <a:ea typeface="돋움체"/>
              </a:rPr>
              <a:t>WHITE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, </a:t>
            </a:r>
            <a:r>
              <a:rPr lang="en-US" altLang="ko-KR" sz="1600" dirty="0" err="1" smtClean="0">
                <a:solidFill>
                  <a:srgbClr val="000000"/>
                </a:solidFill>
                <a:latin typeface="돋움체"/>
                <a:ea typeface="돋움체"/>
              </a:rPr>
              <a:t>Shader.TileMode.</a:t>
            </a:r>
            <a:r>
              <a:rPr lang="en-US" altLang="ko-KR" sz="1600" b="1" dirty="0" err="1" smtClean="0">
                <a:solidFill>
                  <a:srgbClr val="0000C0"/>
                </a:solidFill>
                <a:latin typeface="돋움체"/>
                <a:ea typeface="돋움체"/>
              </a:rPr>
              <a:t>CLAMP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) );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canvas.drawRect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(0,110, 320,150, paint);</a:t>
            </a:r>
          </a:p>
          <a:p>
            <a:r>
              <a:rPr lang="ko-KR" altLang="en-US" sz="16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paint.setShader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( </a:t>
            </a:r>
            <a:r>
              <a:rPr lang="en-US" altLang="ko-KR" sz="1600" dirty="0">
                <a:solidFill>
                  <a:srgbClr val="7F0055"/>
                </a:solidFill>
                <a:latin typeface="돋움체"/>
                <a:ea typeface="돋움체"/>
              </a:rPr>
              <a:t>new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LinearGradient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(0,0, 100,0,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Color.</a:t>
            </a:r>
            <a:r>
              <a:rPr lang="en-US" altLang="ko-KR" sz="1600" dirty="0" err="1">
                <a:solidFill>
                  <a:srgbClr val="0000C0"/>
                </a:solidFill>
                <a:latin typeface="돋움체"/>
                <a:ea typeface="돋움체"/>
              </a:rPr>
              <a:t>BLUE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, 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Color.</a:t>
            </a:r>
            <a:r>
              <a:rPr lang="en-US" altLang="ko-KR" sz="1600" dirty="0" err="1">
                <a:solidFill>
                  <a:srgbClr val="0000C0"/>
                </a:solidFill>
                <a:latin typeface="돋움체"/>
                <a:ea typeface="돋움체"/>
              </a:rPr>
              <a:t>WHITE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, </a:t>
            </a:r>
            <a:r>
              <a:rPr lang="en-US" altLang="ko-KR" sz="1600" dirty="0" err="1" smtClean="0">
                <a:solidFill>
                  <a:srgbClr val="000000"/>
                </a:solidFill>
                <a:latin typeface="돋움체"/>
                <a:ea typeface="돋움체"/>
              </a:rPr>
              <a:t>Shader.TileMode.</a:t>
            </a:r>
            <a:r>
              <a:rPr lang="en-US" altLang="ko-KR" sz="1600" b="1" dirty="0" err="1" smtClean="0">
                <a:solidFill>
                  <a:srgbClr val="0000C0"/>
                </a:solidFill>
                <a:latin typeface="돋움체"/>
                <a:ea typeface="돋움체"/>
              </a:rPr>
              <a:t>REPEAT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) );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canvas.drawRect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(0,160, 320,200, paint);</a:t>
            </a:r>
          </a:p>
          <a:p>
            <a:r>
              <a:rPr lang="ko-KR" altLang="en-US" sz="16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paint.setShader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( </a:t>
            </a:r>
            <a:r>
              <a:rPr lang="en-US" altLang="ko-KR" sz="1600" dirty="0">
                <a:solidFill>
                  <a:srgbClr val="7F0055"/>
                </a:solidFill>
                <a:latin typeface="돋움체"/>
                <a:ea typeface="돋움체"/>
              </a:rPr>
              <a:t>new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LinearGradient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(0,0, 100,0,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Color.</a:t>
            </a:r>
            <a:r>
              <a:rPr lang="en-US" altLang="ko-KR" sz="1600" dirty="0" err="1">
                <a:solidFill>
                  <a:srgbClr val="0000C0"/>
                </a:solidFill>
                <a:latin typeface="돋움체"/>
                <a:ea typeface="돋움체"/>
              </a:rPr>
              <a:t>BLUE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, 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Color.</a:t>
            </a:r>
            <a:r>
              <a:rPr lang="en-US" altLang="ko-KR" sz="1600" dirty="0" err="1">
                <a:solidFill>
                  <a:srgbClr val="0000C0"/>
                </a:solidFill>
                <a:latin typeface="돋움체"/>
                <a:ea typeface="돋움체"/>
              </a:rPr>
              <a:t>WHITE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, </a:t>
            </a:r>
            <a:r>
              <a:rPr lang="en-US" altLang="ko-KR" sz="1600" dirty="0" err="1" smtClean="0">
                <a:solidFill>
                  <a:srgbClr val="000000"/>
                </a:solidFill>
                <a:latin typeface="돋움체"/>
                <a:ea typeface="돋움체"/>
              </a:rPr>
              <a:t>Shader.TileMode.</a:t>
            </a:r>
            <a:r>
              <a:rPr lang="en-US" altLang="ko-KR" sz="1600" b="1" dirty="0" err="1" smtClean="0">
                <a:solidFill>
                  <a:srgbClr val="0000C0"/>
                </a:solidFill>
                <a:latin typeface="돋움체"/>
                <a:ea typeface="돋움체"/>
              </a:rPr>
              <a:t>MIRROR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) );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canvas.drawRect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(0,210, 320,250, paint</a:t>
            </a:r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  <a:endParaRPr lang="en-US" altLang="ko-KR" sz="1600" dirty="0">
              <a:solidFill>
                <a:srgbClr val="000000"/>
              </a:solidFill>
              <a:latin typeface="돋움체"/>
              <a:ea typeface="돋움체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97230" y="1280160"/>
            <a:ext cx="15634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>
                <a:solidFill>
                  <a:prstClr val="black"/>
                </a:solidFill>
              </a:rPr>
              <a:t>Ex_Canvas</a:t>
            </a:r>
            <a:endParaRPr lang="en-US" altLang="ko-KR" b="1" dirty="0" smtClean="0">
              <a:solidFill>
                <a:prstClr val="black"/>
              </a:solidFill>
            </a:endParaRPr>
          </a:p>
          <a:p>
            <a:r>
              <a:rPr lang="en-US" altLang="ko-KR" dirty="0" smtClean="0">
                <a:solidFill>
                  <a:prstClr val="black"/>
                </a:solidFill>
              </a:rPr>
              <a:t>/</a:t>
            </a:r>
            <a:r>
              <a:rPr lang="en-US" altLang="ko-KR" dirty="0" err="1" smtClean="0">
                <a:solidFill>
                  <a:prstClr val="black"/>
                </a:solidFill>
              </a:rPr>
              <a:t>src</a:t>
            </a:r>
            <a:r>
              <a:rPr lang="en-US" altLang="ko-KR" dirty="0" smtClean="0">
                <a:solidFill>
                  <a:prstClr val="black"/>
                </a:solidFill>
              </a:rPr>
              <a:t>/Act1.java</a:t>
            </a:r>
            <a:endParaRPr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3594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24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Shader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97230" y="1926491"/>
            <a:ext cx="7058343" cy="403187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endParaRPr lang="ko-KR" altLang="en-US" sz="1600" dirty="0">
              <a:latin typeface="돋움체"/>
              <a:ea typeface="돋움체"/>
            </a:endParaRPr>
          </a:p>
          <a:p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600" dirty="0" err="1">
                <a:solidFill>
                  <a:srgbClr val="7F0055"/>
                </a:solidFill>
                <a:latin typeface="돋움체"/>
                <a:ea typeface="돋움체"/>
              </a:rPr>
              <a:t>int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[] 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color_list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=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               { 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Color.</a:t>
            </a:r>
            <a:r>
              <a:rPr lang="en-US" altLang="ko-KR" sz="1600" dirty="0" err="1">
                <a:solidFill>
                  <a:srgbClr val="0000C0"/>
                </a:solidFill>
                <a:latin typeface="돋움체"/>
                <a:ea typeface="돋움체"/>
              </a:rPr>
              <a:t>RED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, 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Color.</a:t>
            </a:r>
            <a:r>
              <a:rPr lang="en-US" altLang="ko-KR" sz="1600" dirty="0" err="1">
                <a:solidFill>
                  <a:srgbClr val="0000C0"/>
                </a:solidFill>
                <a:latin typeface="돋움체"/>
                <a:ea typeface="돋움체"/>
              </a:rPr>
              <a:t>GREEN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, 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Color.</a:t>
            </a:r>
            <a:r>
              <a:rPr lang="en-US" altLang="ko-KR" sz="1600" dirty="0" err="1">
                <a:solidFill>
                  <a:srgbClr val="0000C0"/>
                </a:solidFill>
                <a:latin typeface="돋움체"/>
                <a:ea typeface="돋움체"/>
              </a:rPr>
              <a:t>BLUE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,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                 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Color.</a:t>
            </a:r>
            <a:r>
              <a:rPr lang="en-US" altLang="ko-KR" sz="1600" dirty="0" err="1">
                <a:solidFill>
                  <a:srgbClr val="0000C0"/>
                </a:solidFill>
                <a:latin typeface="돋움체"/>
                <a:ea typeface="돋움체"/>
              </a:rPr>
              <a:t>YELLOW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, 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Color.</a:t>
            </a:r>
            <a:r>
              <a:rPr lang="en-US" altLang="ko-KR" sz="1600" dirty="0" err="1">
                <a:solidFill>
                  <a:srgbClr val="0000C0"/>
                </a:solidFill>
                <a:latin typeface="돋움체"/>
                <a:ea typeface="돋움체"/>
              </a:rPr>
              <a:t>WHITE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};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600" dirty="0">
                <a:solidFill>
                  <a:srgbClr val="7F0055"/>
                </a:solidFill>
                <a:latin typeface="돋움체"/>
                <a:ea typeface="돋움체"/>
              </a:rPr>
              <a:t>float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[] 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pos_list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= 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               { 0.0f, 0.1f, 0.6f, 0.9f, 1.0f };</a:t>
            </a:r>
          </a:p>
          <a:p>
            <a:r>
              <a:rPr lang="ko-KR" altLang="en-US" sz="16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paint.setShader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( </a:t>
            </a:r>
            <a:r>
              <a:rPr lang="en-US" altLang="ko-KR" sz="1600" dirty="0">
                <a:solidFill>
                  <a:srgbClr val="7F0055"/>
                </a:solidFill>
                <a:latin typeface="돋움체"/>
                <a:ea typeface="돋움체"/>
              </a:rPr>
              <a:t>new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LinearGradient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(0,0, 320,0,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600" dirty="0" err="1" smtClean="0">
                <a:solidFill>
                  <a:srgbClr val="000000"/>
                </a:solidFill>
                <a:latin typeface="돋움체"/>
                <a:ea typeface="돋움체"/>
              </a:rPr>
              <a:t>color_list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, </a:t>
            </a:r>
            <a:r>
              <a:rPr lang="en-US" altLang="ko-KR" sz="1600" dirty="0">
                <a:solidFill>
                  <a:srgbClr val="7F0055"/>
                </a:solidFill>
                <a:latin typeface="돋움체"/>
                <a:ea typeface="돋움체"/>
              </a:rPr>
              <a:t>null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, </a:t>
            </a:r>
            <a:r>
              <a:rPr lang="en-US" altLang="ko-KR" sz="1600" dirty="0" err="1" smtClean="0">
                <a:solidFill>
                  <a:srgbClr val="000000"/>
                </a:solidFill>
                <a:latin typeface="돋움체"/>
                <a:ea typeface="돋움체"/>
              </a:rPr>
              <a:t>Shader.TileMode.</a:t>
            </a:r>
            <a:r>
              <a:rPr lang="en-US" altLang="ko-KR" sz="1600" dirty="0" err="1" smtClean="0">
                <a:solidFill>
                  <a:srgbClr val="0000C0"/>
                </a:solidFill>
                <a:latin typeface="돋움체"/>
                <a:ea typeface="돋움체"/>
              </a:rPr>
              <a:t>CLAMP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) );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canvas.drawRect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(0,260, 320,300, paint);</a:t>
            </a:r>
          </a:p>
          <a:p>
            <a:r>
              <a:rPr lang="ko-KR" altLang="en-US" sz="16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paint.setShader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( </a:t>
            </a:r>
            <a:r>
              <a:rPr lang="en-US" altLang="ko-KR" sz="1600" dirty="0">
                <a:solidFill>
                  <a:srgbClr val="7F0055"/>
                </a:solidFill>
                <a:latin typeface="돋움체"/>
                <a:ea typeface="돋움체"/>
              </a:rPr>
              <a:t>new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LinearGradient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(0,0, 320,0,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600" dirty="0" err="1" smtClean="0">
                <a:solidFill>
                  <a:srgbClr val="000000"/>
                </a:solidFill>
                <a:latin typeface="돋움체"/>
                <a:ea typeface="돋움체"/>
              </a:rPr>
              <a:t>color_list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, 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pos_list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, </a:t>
            </a:r>
            <a:r>
              <a:rPr lang="en-US" altLang="ko-KR" sz="1600" dirty="0" err="1" smtClean="0">
                <a:solidFill>
                  <a:srgbClr val="000000"/>
                </a:solidFill>
                <a:latin typeface="돋움체"/>
                <a:ea typeface="돋움체"/>
              </a:rPr>
              <a:t>Shader.TileMode.</a:t>
            </a:r>
            <a:r>
              <a:rPr lang="en-US" altLang="ko-KR" sz="1600" dirty="0" err="1" smtClean="0">
                <a:solidFill>
                  <a:srgbClr val="0000C0"/>
                </a:solidFill>
                <a:latin typeface="돋움체"/>
                <a:ea typeface="돋움체"/>
              </a:rPr>
              <a:t>CLAMP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) );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canvas.drawRect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(0,310, 320,350, paint);</a:t>
            </a:r>
          </a:p>
          <a:p>
            <a:r>
              <a:rPr lang="ko-KR" altLang="en-US" sz="1600" dirty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}</a:t>
            </a:r>
          </a:p>
          <a:p>
            <a:r>
              <a:rPr lang="ko-KR" altLang="en-US" sz="1600" dirty="0">
                <a:solidFill>
                  <a:srgbClr val="000000"/>
                </a:solidFill>
                <a:latin typeface="돋움체"/>
                <a:ea typeface="돋움체"/>
              </a:rPr>
              <a:t>    </a:t>
            </a:r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}</a:t>
            </a:r>
            <a:endParaRPr lang="en-US" altLang="ko-KR" sz="1600" dirty="0">
              <a:solidFill>
                <a:srgbClr val="000000"/>
              </a:solidFill>
              <a:latin typeface="돋움체"/>
              <a:ea typeface="돋움체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97230" y="1280160"/>
            <a:ext cx="15634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>
                <a:solidFill>
                  <a:prstClr val="black"/>
                </a:solidFill>
              </a:rPr>
              <a:t>Ex_Canvas</a:t>
            </a:r>
            <a:endParaRPr lang="en-US" altLang="ko-KR" b="1" dirty="0" smtClean="0">
              <a:solidFill>
                <a:prstClr val="black"/>
              </a:solidFill>
            </a:endParaRPr>
          </a:p>
          <a:p>
            <a:r>
              <a:rPr lang="en-US" altLang="ko-KR" dirty="0" smtClean="0">
                <a:solidFill>
                  <a:prstClr val="black"/>
                </a:solidFill>
              </a:rPr>
              <a:t>/</a:t>
            </a:r>
            <a:r>
              <a:rPr lang="en-US" altLang="ko-KR" dirty="0" err="1" smtClean="0">
                <a:solidFill>
                  <a:prstClr val="black"/>
                </a:solidFill>
              </a:rPr>
              <a:t>src</a:t>
            </a:r>
            <a:r>
              <a:rPr lang="en-US" altLang="ko-KR" dirty="0" smtClean="0">
                <a:solidFill>
                  <a:prstClr val="black"/>
                </a:solidFill>
              </a:rPr>
              <a:t>/Act1.java</a:t>
            </a:r>
            <a:endParaRPr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9589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25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Shader</a:t>
            </a:r>
            <a:endParaRPr lang="ko-KR" alt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7412" y="1537715"/>
            <a:ext cx="4407916" cy="4715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399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26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Shader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97230" y="1926491"/>
            <a:ext cx="6545382" cy="403187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600" dirty="0" smtClean="0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    protected </a:t>
            </a:r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class </a:t>
            </a:r>
            <a:r>
              <a:rPr lang="en-US" altLang="ko-KR" sz="1600" dirty="0" err="1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CanvasView</a:t>
            </a:r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 extends View {</a:t>
            </a:r>
          </a:p>
          <a:p>
            <a:r>
              <a:rPr lang="en-US" altLang="ko-KR" sz="1600" dirty="0" smtClean="0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        public </a:t>
            </a:r>
            <a:r>
              <a:rPr lang="en-US" altLang="ko-KR" sz="1600" dirty="0" err="1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CanvasView</a:t>
            </a:r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(Context context) {</a:t>
            </a:r>
          </a:p>
          <a:p>
            <a:r>
              <a:rPr lang="en-US" altLang="ko-KR" sz="1600" dirty="0" smtClean="0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            super(context</a:t>
            </a:r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600" dirty="0" smtClean="0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        }</a:t>
            </a:r>
            <a:endParaRPr lang="en-US" altLang="ko-KR" sz="1600" dirty="0">
              <a:solidFill>
                <a:schemeClr val="bg1">
                  <a:lumMod val="50000"/>
                </a:schemeClr>
              </a:solidFill>
              <a:latin typeface="돋움체"/>
              <a:ea typeface="돋움체"/>
            </a:endParaRPr>
          </a:p>
          <a:p>
            <a:endParaRPr lang="ko-KR" altLang="en-US" sz="1600" dirty="0">
              <a:latin typeface="돋움체"/>
              <a:ea typeface="돋움체"/>
            </a:endParaRPr>
          </a:p>
          <a:p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600" dirty="0">
                <a:solidFill>
                  <a:srgbClr val="7F0055"/>
                </a:solidFill>
                <a:latin typeface="돋움체"/>
                <a:ea typeface="돋움체"/>
              </a:rPr>
              <a:t>public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600" dirty="0">
                <a:solidFill>
                  <a:srgbClr val="7F0055"/>
                </a:solidFill>
                <a:latin typeface="돋움체"/>
                <a:ea typeface="돋움체"/>
              </a:rPr>
              <a:t>void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onDraw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(Canvas canvas) {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canvas.drawColor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Color.</a:t>
            </a:r>
            <a:r>
              <a:rPr lang="en-US" altLang="ko-KR" sz="1600" dirty="0" err="1">
                <a:solidFill>
                  <a:srgbClr val="0000C0"/>
                </a:solidFill>
                <a:latin typeface="돋움체"/>
                <a:ea typeface="돋움체"/>
              </a:rPr>
              <a:t>LTGRAY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           Paint 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paint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= </a:t>
            </a:r>
            <a:r>
              <a:rPr lang="en-US" altLang="ko-KR" sz="1600" dirty="0">
                <a:solidFill>
                  <a:srgbClr val="7F0055"/>
                </a:solidFill>
                <a:latin typeface="돋움체"/>
                <a:ea typeface="돋움체"/>
              </a:rPr>
              <a:t>new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Paint(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Paint.</a:t>
            </a:r>
            <a:r>
              <a:rPr lang="en-US" altLang="ko-KR" sz="1600" dirty="0" err="1">
                <a:solidFill>
                  <a:srgbClr val="0000C0"/>
                </a:solidFill>
                <a:latin typeface="돋움체"/>
                <a:ea typeface="돋움체"/>
              </a:rPr>
              <a:t>ANTI_ALIAS_FLAG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ko-KR" altLang="en-US" sz="16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paint.setShader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( </a:t>
            </a:r>
            <a:r>
              <a:rPr lang="en-US" altLang="ko-KR" sz="1600" dirty="0">
                <a:solidFill>
                  <a:srgbClr val="7F0055"/>
                </a:solidFill>
                <a:latin typeface="돋움체"/>
                <a:ea typeface="돋움체"/>
              </a:rPr>
              <a:t>new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600" b="1" dirty="0" err="1">
                <a:solidFill>
                  <a:srgbClr val="000000"/>
                </a:solidFill>
                <a:latin typeface="돋움체"/>
                <a:ea typeface="돋움체"/>
              </a:rPr>
              <a:t>RadialGradient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(80,80, 70,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Color.</a:t>
            </a:r>
            <a:r>
              <a:rPr lang="en-US" altLang="ko-KR" sz="1600" dirty="0" err="1">
                <a:solidFill>
                  <a:srgbClr val="0000C0"/>
                </a:solidFill>
                <a:latin typeface="돋움체"/>
                <a:ea typeface="돋움체"/>
              </a:rPr>
              <a:t>BLUE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, 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Color.</a:t>
            </a:r>
            <a:r>
              <a:rPr lang="en-US" altLang="ko-KR" sz="1600" dirty="0" err="1">
                <a:solidFill>
                  <a:srgbClr val="0000C0"/>
                </a:solidFill>
                <a:latin typeface="돋움체"/>
                <a:ea typeface="돋움체"/>
              </a:rPr>
              <a:t>WHITE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, </a:t>
            </a:r>
            <a:r>
              <a:rPr lang="en-US" altLang="ko-KR" sz="1600" dirty="0" err="1" smtClean="0">
                <a:solidFill>
                  <a:srgbClr val="000000"/>
                </a:solidFill>
                <a:latin typeface="돋움체"/>
                <a:ea typeface="돋움체"/>
              </a:rPr>
              <a:t>Shader.TileMode.</a:t>
            </a:r>
            <a:r>
              <a:rPr lang="en-US" altLang="ko-KR" sz="1600" dirty="0" err="1" smtClean="0">
                <a:solidFill>
                  <a:srgbClr val="0000C0"/>
                </a:solidFill>
                <a:latin typeface="돋움체"/>
                <a:ea typeface="돋움체"/>
              </a:rPr>
              <a:t>CLAMP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) );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canvas.drawCircle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(80,80, 70, paint);</a:t>
            </a:r>
          </a:p>
          <a:p>
            <a:endParaRPr lang="ko-KR" altLang="en-US" sz="1600" dirty="0">
              <a:latin typeface="돋움체"/>
              <a:ea typeface="돋움체"/>
            </a:endParaRPr>
          </a:p>
          <a:p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paint.setShader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( </a:t>
            </a:r>
            <a:r>
              <a:rPr lang="en-US" altLang="ko-KR" sz="1600" dirty="0">
                <a:solidFill>
                  <a:srgbClr val="7F0055"/>
                </a:solidFill>
                <a:latin typeface="돋움체"/>
                <a:ea typeface="돋움체"/>
              </a:rPr>
              <a:t>new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RadialGradient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(230,80, 70,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Color.</a:t>
            </a:r>
            <a:r>
              <a:rPr lang="en-US" altLang="ko-KR" sz="1600" dirty="0" err="1">
                <a:solidFill>
                  <a:srgbClr val="0000C0"/>
                </a:solidFill>
                <a:latin typeface="돋움체"/>
                <a:ea typeface="돋움체"/>
              </a:rPr>
              <a:t>BLUE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, 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Color.</a:t>
            </a:r>
            <a:r>
              <a:rPr lang="en-US" altLang="ko-KR" sz="1600" dirty="0" err="1">
                <a:solidFill>
                  <a:srgbClr val="0000C0"/>
                </a:solidFill>
                <a:latin typeface="돋움체"/>
                <a:ea typeface="돋움체"/>
              </a:rPr>
              <a:t>WHITE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, </a:t>
            </a:r>
            <a:r>
              <a:rPr lang="en-US" altLang="ko-KR" sz="1600" dirty="0" err="1" smtClean="0">
                <a:solidFill>
                  <a:srgbClr val="000000"/>
                </a:solidFill>
                <a:latin typeface="돋움체"/>
                <a:ea typeface="돋움체"/>
              </a:rPr>
              <a:t>Shader.TileMode.</a:t>
            </a:r>
            <a:r>
              <a:rPr lang="en-US" altLang="ko-KR" sz="1600" dirty="0" err="1" smtClean="0">
                <a:solidFill>
                  <a:srgbClr val="0000C0"/>
                </a:solidFill>
                <a:latin typeface="돋움체"/>
                <a:ea typeface="돋움체"/>
              </a:rPr>
              <a:t>CLAMP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) );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canvas.drawCircle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(230,80, 70, paint</a:t>
            </a:r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  <a:endParaRPr lang="en-US" altLang="ko-KR" sz="1600" dirty="0">
              <a:solidFill>
                <a:srgbClr val="000000"/>
              </a:solidFill>
              <a:latin typeface="돋움체"/>
              <a:ea typeface="돋움체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97230" y="1280160"/>
            <a:ext cx="15634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>
                <a:solidFill>
                  <a:prstClr val="black"/>
                </a:solidFill>
              </a:rPr>
              <a:t>Ex_Canvas</a:t>
            </a:r>
            <a:endParaRPr lang="en-US" altLang="ko-KR" b="1" dirty="0" smtClean="0">
              <a:solidFill>
                <a:prstClr val="black"/>
              </a:solidFill>
            </a:endParaRPr>
          </a:p>
          <a:p>
            <a:r>
              <a:rPr lang="en-US" altLang="ko-KR" dirty="0" smtClean="0">
                <a:solidFill>
                  <a:prstClr val="black"/>
                </a:solidFill>
              </a:rPr>
              <a:t>/</a:t>
            </a:r>
            <a:r>
              <a:rPr lang="en-US" altLang="ko-KR" dirty="0" err="1" smtClean="0">
                <a:solidFill>
                  <a:prstClr val="black"/>
                </a:solidFill>
              </a:rPr>
              <a:t>src</a:t>
            </a:r>
            <a:r>
              <a:rPr lang="en-US" altLang="ko-KR" dirty="0" smtClean="0">
                <a:solidFill>
                  <a:prstClr val="black"/>
                </a:solidFill>
              </a:rPr>
              <a:t>/Act1.java</a:t>
            </a:r>
            <a:endParaRPr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030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27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Shader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97230" y="1926491"/>
            <a:ext cx="6340197" cy="403187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endParaRPr lang="ko-KR" altLang="en-US" sz="1600" dirty="0">
              <a:latin typeface="돋움체"/>
              <a:ea typeface="돋움체"/>
            </a:endParaRPr>
          </a:p>
          <a:p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600" dirty="0" err="1">
                <a:solidFill>
                  <a:srgbClr val="7F0055"/>
                </a:solidFill>
                <a:latin typeface="돋움체"/>
                <a:ea typeface="돋움체"/>
              </a:rPr>
              <a:t>int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[] 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color_list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=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               { 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Color.</a:t>
            </a:r>
            <a:r>
              <a:rPr lang="en-US" altLang="ko-KR" sz="1600" dirty="0" err="1">
                <a:solidFill>
                  <a:srgbClr val="0000C0"/>
                </a:solidFill>
                <a:latin typeface="돋움체"/>
                <a:ea typeface="돋움체"/>
              </a:rPr>
              <a:t>RED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, 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Color.</a:t>
            </a:r>
            <a:r>
              <a:rPr lang="en-US" altLang="ko-KR" sz="1600" dirty="0" err="1">
                <a:solidFill>
                  <a:srgbClr val="0000C0"/>
                </a:solidFill>
                <a:latin typeface="돋움체"/>
                <a:ea typeface="돋움체"/>
              </a:rPr>
              <a:t>GREEN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, 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Color.</a:t>
            </a:r>
            <a:r>
              <a:rPr lang="en-US" altLang="ko-KR" sz="1600" dirty="0" err="1">
                <a:solidFill>
                  <a:srgbClr val="0000C0"/>
                </a:solidFill>
                <a:latin typeface="돋움체"/>
                <a:ea typeface="돋움체"/>
              </a:rPr>
              <a:t>BLUE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,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                 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Color.</a:t>
            </a:r>
            <a:r>
              <a:rPr lang="en-US" altLang="ko-KR" sz="1600" dirty="0" err="1">
                <a:solidFill>
                  <a:srgbClr val="0000C0"/>
                </a:solidFill>
                <a:latin typeface="돋움체"/>
                <a:ea typeface="돋움체"/>
              </a:rPr>
              <a:t>YELLOW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, 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Color.</a:t>
            </a:r>
            <a:r>
              <a:rPr lang="en-US" altLang="ko-KR" sz="1600" dirty="0" err="1">
                <a:solidFill>
                  <a:srgbClr val="0000C0"/>
                </a:solidFill>
                <a:latin typeface="돋움체"/>
                <a:ea typeface="돋움체"/>
              </a:rPr>
              <a:t>WHITE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};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600" dirty="0">
                <a:solidFill>
                  <a:srgbClr val="7F0055"/>
                </a:solidFill>
                <a:latin typeface="돋움체"/>
                <a:ea typeface="돋움체"/>
              </a:rPr>
              <a:t>float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[] 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pos_list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= 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               { 0.0f, 0.1f, 0.6f, 0.9f, 1.0f };</a:t>
            </a:r>
          </a:p>
          <a:p>
            <a:r>
              <a:rPr lang="ko-KR" altLang="en-US" sz="16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paint.setShader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( </a:t>
            </a:r>
            <a:r>
              <a:rPr lang="en-US" altLang="ko-KR" sz="1600" dirty="0">
                <a:solidFill>
                  <a:srgbClr val="7F0055"/>
                </a:solidFill>
                <a:latin typeface="돋움체"/>
                <a:ea typeface="돋움체"/>
              </a:rPr>
              <a:t>new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RadialGradient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(80,230, 70,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color_list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, </a:t>
            </a:r>
            <a:r>
              <a:rPr lang="en-US" altLang="ko-KR" sz="1600" dirty="0">
                <a:solidFill>
                  <a:srgbClr val="7F0055"/>
                </a:solidFill>
                <a:latin typeface="돋움체"/>
                <a:ea typeface="돋움체"/>
              </a:rPr>
              <a:t>null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, </a:t>
            </a:r>
            <a:r>
              <a:rPr lang="en-US" altLang="ko-KR" sz="1600" dirty="0" err="1" smtClean="0">
                <a:solidFill>
                  <a:srgbClr val="000000"/>
                </a:solidFill>
                <a:latin typeface="돋움체"/>
                <a:ea typeface="돋움체"/>
              </a:rPr>
              <a:t>Shader.TileMode.</a:t>
            </a:r>
            <a:r>
              <a:rPr lang="en-US" altLang="ko-KR" sz="1600" dirty="0" err="1" smtClean="0">
                <a:solidFill>
                  <a:srgbClr val="0000C0"/>
                </a:solidFill>
                <a:latin typeface="돋움체"/>
                <a:ea typeface="돋움체"/>
              </a:rPr>
              <a:t>CLAMP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) );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canvas.drawCircle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(80,230, 70, paint);</a:t>
            </a:r>
          </a:p>
          <a:p>
            <a:r>
              <a:rPr lang="ko-KR" altLang="en-US" sz="16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paint.setShader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( </a:t>
            </a:r>
            <a:r>
              <a:rPr lang="en-US" altLang="ko-KR" sz="1600" dirty="0">
                <a:solidFill>
                  <a:srgbClr val="7F0055"/>
                </a:solidFill>
                <a:latin typeface="돋움체"/>
                <a:ea typeface="돋움체"/>
              </a:rPr>
              <a:t>new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RadialGradient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(230,230, 70,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color_list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, 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pos_list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, </a:t>
            </a:r>
            <a:r>
              <a:rPr lang="en-US" altLang="ko-KR" sz="1600" dirty="0" err="1" smtClean="0">
                <a:solidFill>
                  <a:srgbClr val="000000"/>
                </a:solidFill>
                <a:latin typeface="돋움체"/>
                <a:ea typeface="돋움체"/>
              </a:rPr>
              <a:t>Shader.TileMode.</a:t>
            </a:r>
            <a:r>
              <a:rPr lang="en-US" altLang="ko-KR" sz="1600" dirty="0" err="1" smtClean="0">
                <a:solidFill>
                  <a:srgbClr val="0000C0"/>
                </a:solidFill>
                <a:latin typeface="돋움체"/>
                <a:ea typeface="돋움체"/>
              </a:rPr>
              <a:t>CLAMP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) );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canvas.drawCircle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(230,230, 70, paint);</a:t>
            </a:r>
          </a:p>
          <a:p>
            <a:r>
              <a:rPr lang="ko-KR" altLang="en-US" sz="1600" dirty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}</a:t>
            </a:r>
          </a:p>
          <a:p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    </a:t>
            </a:r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7230" y="1280160"/>
            <a:ext cx="15634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>
                <a:solidFill>
                  <a:prstClr val="black"/>
                </a:solidFill>
              </a:rPr>
              <a:t>Ex_Canvas</a:t>
            </a:r>
            <a:endParaRPr lang="en-US" altLang="ko-KR" b="1" dirty="0" smtClean="0">
              <a:solidFill>
                <a:prstClr val="black"/>
              </a:solidFill>
            </a:endParaRPr>
          </a:p>
          <a:p>
            <a:r>
              <a:rPr lang="en-US" altLang="ko-KR" dirty="0" smtClean="0">
                <a:solidFill>
                  <a:prstClr val="black"/>
                </a:solidFill>
              </a:rPr>
              <a:t>/</a:t>
            </a:r>
            <a:r>
              <a:rPr lang="en-US" altLang="ko-KR" dirty="0" err="1" smtClean="0">
                <a:solidFill>
                  <a:prstClr val="black"/>
                </a:solidFill>
              </a:rPr>
              <a:t>src</a:t>
            </a:r>
            <a:r>
              <a:rPr lang="en-US" altLang="ko-KR" dirty="0" smtClean="0">
                <a:solidFill>
                  <a:prstClr val="black"/>
                </a:solidFill>
              </a:rPr>
              <a:t>/Act1.java</a:t>
            </a:r>
            <a:endParaRPr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8593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28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Shader</a:t>
            </a:r>
            <a:endParaRPr lang="ko-KR" alt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3047" y="1631188"/>
            <a:ext cx="4156219" cy="4172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653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29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Shader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97230" y="1926491"/>
            <a:ext cx="7545655" cy="483209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</a:t>
            </a:r>
            <a:r>
              <a:rPr lang="en-US" altLang="ko-KR" sz="1400" dirty="0" smtClean="0">
                <a:solidFill>
                  <a:srgbClr val="7F0055"/>
                </a:solidFill>
                <a:latin typeface="돋움체"/>
                <a:ea typeface="돋움체"/>
              </a:rPr>
              <a:t>public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>
                <a:solidFill>
                  <a:srgbClr val="7F0055"/>
                </a:solidFill>
                <a:latin typeface="돋움체"/>
                <a:ea typeface="돋움체"/>
              </a:rPr>
              <a:t>void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onDraw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(Canvas canvas) {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canvas.drawColor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Color.</a:t>
            </a:r>
            <a:r>
              <a:rPr lang="en-US" altLang="ko-KR" sz="1400" dirty="0" err="1">
                <a:solidFill>
                  <a:srgbClr val="0000C0"/>
                </a:solidFill>
                <a:latin typeface="돋움체"/>
                <a:ea typeface="돋움체"/>
              </a:rPr>
              <a:t>LTGRAY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        Paint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paint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= </a:t>
            </a:r>
            <a:r>
              <a:rPr lang="en-US" altLang="ko-KR" sz="1400" dirty="0">
                <a:solidFill>
                  <a:srgbClr val="7F0055"/>
                </a:solidFill>
                <a:latin typeface="돋움체"/>
                <a:ea typeface="돋움체"/>
              </a:rPr>
              <a:t>new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Paint(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Paint.</a:t>
            </a:r>
            <a:r>
              <a:rPr lang="en-US" altLang="ko-KR" sz="1400" dirty="0" err="1">
                <a:solidFill>
                  <a:srgbClr val="0000C0"/>
                </a:solidFill>
                <a:latin typeface="돋움체"/>
                <a:ea typeface="돋움체"/>
              </a:rPr>
              <a:t>ANTI_ALIAS_FLAG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ko-KR" altLang="en-US" sz="14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paint.setShader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 </a:t>
            </a:r>
            <a:r>
              <a:rPr lang="en-US" altLang="ko-KR" sz="1400" dirty="0">
                <a:solidFill>
                  <a:srgbClr val="7F0055"/>
                </a:solidFill>
                <a:latin typeface="돋움체"/>
                <a:ea typeface="돋움체"/>
              </a:rPr>
              <a:t>new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b="1" dirty="0" err="1">
                <a:solidFill>
                  <a:srgbClr val="000000"/>
                </a:solidFill>
                <a:latin typeface="돋움체"/>
                <a:ea typeface="돋움체"/>
              </a:rPr>
              <a:t>SweepGradient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(80,80,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Color.</a:t>
            </a:r>
            <a:r>
              <a:rPr lang="en-US" altLang="ko-KR" sz="1400" dirty="0" err="1">
                <a:solidFill>
                  <a:srgbClr val="0000C0"/>
                </a:solidFill>
                <a:latin typeface="돋움체"/>
                <a:ea typeface="돋움체"/>
              </a:rPr>
              <a:t>BLUE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,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Color.</a:t>
            </a:r>
            <a:r>
              <a:rPr lang="en-US" altLang="ko-KR" sz="1400" dirty="0" err="1">
                <a:solidFill>
                  <a:srgbClr val="0000C0"/>
                </a:solidFill>
                <a:latin typeface="돋움체"/>
                <a:ea typeface="돋움체"/>
              </a:rPr>
              <a:t>WHITE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) );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canvas.drawCircle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(80,80, 70, paint);</a:t>
            </a:r>
          </a:p>
          <a:p>
            <a:endParaRPr lang="ko-KR" altLang="en-US" sz="1400" dirty="0">
              <a:latin typeface="돋움체"/>
              <a:ea typeface="돋움체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paint.setShader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 </a:t>
            </a:r>
            <a:r>
              <a:rPr lang="en-US" altLang="ko-KR" sz="1400" dirty="0">
                <a:solidFill>
                  <a:srgbClr val="7F0055"/>
                </a:solidFill>
                <a:latin typeface="돋움체"/>
                <a:ea typeface="돋움체"/>
              </a:rPr>
              <a:t>new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SweepGradient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(230,80,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Color.</a:t>
            </a:r>
            <a:r>
              <a:rPr lang="en-US" altLang="ko-KR" sz="1400" dirty="0" err="1">
                <a:solidFill>
                  <a:srgbClr val="0000C0"/>
                </a:solidFill>
                <a:latin typeface="돋움체"/>
                <a:ea typeface="돋움체"/>
              </a:rPr>
              <a:t>BLUE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,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Color.</a:t>
            </a:r>
            <a:r>
              <a:rPr lang="en-US" altLang="ko-KR" sz="1400" dirty="0" err="1">
                <a:solidFill>
                  <a:srgbClr val="0000C0"/>
                </a:solidFill>
                <a:latin typeface="돋움체"/>
                <a:ea typeface="돋움체"/>
              </a:rPr>
              <a:t>WHITE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) );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canvas.drawCircle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(230,80, 70, paint);</a:t>
            </a:r>
          </a:p>
          <a:p>
            <a:endParaRPr lang="ko-KR" altLang="en-US" sz="1400" dirty="0">
              <a:latin typeface="돋움체"/>
              <a:ea typeface="돋움체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 err="1">
                <a:solidFill>
                  <a:srgbClr val="7F0055"/>
                </a:solidFill>
                <a:latin typeface="돋움체"/>
                <a:ea typeface="돋움체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[]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color_list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=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            {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Color.</a:t>
            </a:r>
            <a:r>
              <a:rPr lang="en-US" altLang="ko-KR" sz="1400" dirty="0" err="1">
                <a:solidFill>
                  <a:srgbClr val="0000C0"/>
                </a:solidFill>
                <a:latin typeface="돋움체"/>
                <a:ea typeface="돋움체"/>
              </a:rPr>
              <a:t>RED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,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Color.</a:t>
            </a:r>
            <a:r>
              <a:rPr lang="en-US" altLang="ko-KR" sz="1400" dirty="0" err="1">
                <a:solidFill>
                  <a:srgbClr val="0000C0"/>
                </a:solidFill>
                <a:latin typeface="돋움체"/>
                <a:ea typeface="돋움체"/>
              </a:rPr>
              <a:t>GREEN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,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Color.</a:t>
            </a:r>
            <a:r>
              <a:rPr lang="en-US" altLang="ko-KR" sz="1400" dirty="0" err="1">
                <a:solidFill>
                  <a:srgbClr val="0000C0"/>
                </a:solidFill>
                <a:latin typeface="돋움체"/>
                <a:ea typeface="돋움체"/>
              </a:rPr>
              <a:t>BLUE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,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             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Color.</a:t>
            </a:r>
            <a:r>
              <a:rPr lang="en-US" altLang="ko-KR" sz="1400" dirty="0" err="1">
                <a:solidFill>
                  <a:srgbClr val="0000C0"/>
                </a:solidFill>
                <a:latin typeface="돋움체"/>
                <a:ea typeface="돋움체"/>
              </a:rPr>
              <a:t>YELLOW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,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Color.</a:t>
            </a:r>
            <a:r>
              <a:rPr lang="en-US" altLang="ko-KR" sz="1400" dirty="0" err="1">
                <a:solidFill>
                  <a:srgbClr val="0000C0"/>
                </a:solidFill>
                <a:latin typeface="돋움체"/>
                <a:ea typeface="돋움체"/>
              </a:rPr>
              <a:t>WHITE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};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>
                <a:solidFill>
                  <a:srgbClr val="7F0055"/>
                </a:solidFill>
                <a:latin typeface="돋움체"/>
                <a:ea typeface="돋움체"/>
              </a:rPr>
              <a:t>float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[]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pos_list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=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            { 0.0f, 0.1f, 0.6f, 0.9f, 1.0f };</a:t>
            </a:r>
          </a:p>
          <a:p>
            <a:r>
              <a:rPr lang="ko-KR" altLang="en-US" sz="14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paint.setShader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 </a:t>
            </a:r>
            <a:r>
              <a:rPr lang="en-US" altLang="ko-KR" sz="1400" dirty="0">
                <a:solidFill>
                  <a:srgbClr val="7F0055"/>
                </a:solidFill>
                <a:latin typeface="돋움체"/>
                <a:ea typeface="돋움체"/>
              </a:rPr>
              <a:t>new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SweepGradient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(80,230,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color_list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, </a:t>
            </a:r>
            <a:r>
              <a:rPr lang="en-US" altLang="ko-KR" sz="1400" dirty="0">
                <a:solidFill>
                  <a:srgbClr val="7F0055"/>
                </a:solidFill>
                <a:latin typeface="돋움체"/>
                <a:ea typeface="돋움체"/>
              </a:rPr>
              <a:t>null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) );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canvas.drawCircle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(80,230, 70, paint);</a:t>
            </a:r>
          </a:p>
          <a:p>
            <a:r>
              <a:rPr lang="ko-KR" altLang="en-US" sz="14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paint.setShader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 </a:t>
            </a:r>
            <a:r>
              <a:rPr lang="en-US" altLang="ko-KR" sz="1400" dirty="0">
                <a:solidFill>
                  <a:srgbClr val="7F0055"/>
                </a:solidFill>
                <a:latin typeface="돋움체"/>
                <a:ea typeface="돋움체"/>
              </a:rPr>
              <a:t>new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SweepGradient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(230,230,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color_list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,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pos_list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) );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canvas.drawCircle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(230,230, 70, paint);</a:t>
            </a:r>
          </a:p>
          <a:p>
            <a:r>
              <a:rPr lang="ko-KR" altLang="en-US" sz="1400" dirty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}</a:t>
            </a:r>
            <a:endParaRPr lang="en-US" altLang="ko-KR" sz="1400" dirty="0">
              <a:solidFill>
                <a:schemeClr val="tx1">
                  <a:lumMod val="50000"/>
                  <a:lumOff val="50000"/>
                </a:schemeClr>
              </a:solidFill>
              <a:latin typeface="돋움체"/>
              <a:ea typeface="돋움체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97230" y="1280160"/>
            <a:ext cx="15634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>
                <a:solidFill>
                  <a:prstClr val="black"/>
                </a:solidFill>
              </a:rPr>
              <a:t>Ex_Canvas</a:t>
            </a:r>
            <a:endParaRPr lang="en-US" altLang="ko-KR" b="1" dirty="0" smtClean="0">
              <a:solidFill>
                <a:prstClr val="black"/>
              </a:solidFill>
            </a:endParaRPr>
          </a:p>
          <a:p>
            <a:r>
              <a:rPr lang="en-US" altLang="ko-KR" dirty="0" smtClean="0">
                <a:solidFill>
                  <a:prstClr val="black"/>
                </a:solidFill>
              </a:rPr>
              <a:t>/</a:t>
            </a:r>
            <a:r>
              <a:rPr lang="en-US" altLang="ko-KR" dirty="0" err="1" smtClean="0">
                <a:solidFill>
                  <a:prstClr val="black"/>
                </a:solidFill>
              </a:rPr>
              <a:t>src</a:t>
            </a:r>
            <a:r>
              <a:rPr lang="en-US" altLang="ko-KR" dirty="0" smtClean="0">
                <a:solidFill>
                  <a:prstClr val="black"/>
                </a:solidFill>
              </a:rPr>
              <a:t>/Act1.java</a:t>
            </a:r>
            <a:endParaRPr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6750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30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Shader</a:t>
            </a:r>
            <a:endParaRPr lang="ko-KR" alt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8240" y="1499104"/>
            <a:ext cx="4287520" cy="4665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1291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31</a:t>
            </a:fld>
            <a:endParaRPr lang="ko-KR" altLang="en-US"/>
          </a:p>
        </p:txBody>
      </p:sp>
      <p:pic>
        <p:nvPicPr>
          <p:cNvPr id="6146" name="Picture 2" descr="http://www.smartnbiz.co.kr/biz/userfiles/2011/2011-01-27/1292946066_android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6189" y="651914"/>
            <a:ext cx="6832878" cy="5633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3824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xecutive">
  <a:themeElements>
    <a:clrScheme name="Executive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Executive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xecutiv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Executive</Template>
  <TotalTime>39849</TotalTime>
  <Words>1729</Words>
  <Application>Microsoft Office PowerPoint</Application>
  <PresentationFormat>화면 슬라이드 쇼(4:3)</PresentationFormat>
  <Paragraphs>467</Paragraphs>
  <Slides>31</Slides>
  <Notes>31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31</vt:i4>
      </vt:variant>
    </vt:vector>
  </HeadingPairs>
  <TitlesOfParts>
    <vt:vector size="42" baseType="lpstr">
      <vt:lpstr>HY중고딕</vt:lpstr>
      <vt:lpstr>돋움체</vt:lpstr>
      <vt:lpstr>맑은 고딕</vt:lpstr>
      <vt:lpstr>Arial</vt:lpstr>
      <vt:lpstr>Calibri</vt:lpstr>
      <vt:lpstr>Century Gothic</vt:lpstr>
      <vt:lpstr>Consolas</vt:lpstr>
      <vt:lpstr>Courier New</vt:lpstr>
      <vt:lpstr>Palatino Linotype</vt:lpstr>
      <vt:lpstr>Times New Roman</vt:lpstr>
      <vt:lpstr>Executive</vt:lpstr>
      <vt:lpstr>그래픽(2D)</vt:lpstr>
      <vt:lpstr>Graphics</vt:lpstr>
      <vt:lpstr>Example #10_4</vt:lpstr>
      <vt:lpstr>New Project</vt:lpstr>
      <vt:lpstr>Canvas</vt:lpstr>
      <vt:lpstr>Canvas</vt:lpstr>
      <vt:lpstr>Canvas</vt:lpstr>
      <vt:lpstr>Canvas</vt:lpstr>
      <vt:lpstr>Canvas</vt:lpstr>
      <vt:lpstr>Canvas</vt:lpstr>
      <vt:lpstr>Canvas</vt:lpstr>
      <vt:lpstr>Text</vt:lpstr>
      <vt:lpstr>Text</vt:lpstr>
      <vt:lpstr>Text</vt:lpstr>
      <vt:lpstr>Text</vt:lpstr>
      <vt:lpstr>Text</vt:lpstr>
      <vt:lpstr>Text</vt:lpstr>
      <vt:lpstr>Bitmap</vt:lpstr>
      <vt:lpstr>Bitmap</vt:lpstr>
      <vt:lpstr>Path</vt:lpstr>
      <vt:lpstr>Path</vt:lpstr>
      <vt:lpstr>Shader</vt:lpstr>
      <vt:lpstr>Shader</vt:lpstr>
      <vt:lpstr>Shader</vt:lpstr>
      <vt:lpstr>Shader</vt:lpstr>
      <vt:lpstr>Shader</vt:lpstr>
      <vt:lpstr>Shader</vt:lpstr>
      <vt:lpstr>Shader</vt:lpstr>
      <vt:lpstr>Shader</vt:lpstr>
      <vt:lpstr>Shader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Sketching and Composing Widget for 3D Manipulation</dc:title>
  <dc:creator>Seonho</dc:creator>
  <cp:lastModifiedBy>정기숙</cp:lastModifiedBy>
  <cp:revision>1888</cp:revision>
  <cp:lastPrinted>2011-04-25T22:15:32Z</cp:lastPrinted>
  <dcterms:created xsi:type="dcterms:W3CDTF">2010-10-12T07:50:15Z</dcterms:created>
  <dcterms:modified xsi:type="dcterms:W3CDTF">2017-11-28T04:49:53Z</dcterms:modified>
</cp:coreProperties>
</file>