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26"/>
  </p:notesMasterIdLst>
  <p:sldIdLst>
    <p:sldId id="256" r:id="rId2"/>
    <p:sldId id="303" r:id="rId3"/>
    <p:sldId id="309" r:id="rId4"/>
    <p:sldId id="370" r:id="rId5"/>
    <p:sldId id="371" r:id="rId6"/>
    <p:sldId id="372" r:id="rId7"/>
    <p:sldId id="320" r:id="rId8"/>
    <p:sldId id="375" r:id="rId9"/>
    <p:sldId id="374" r:id="rId10"/>
    <p:sldId id="373" r:id="rId11"/>
    <p:sldId id="376" r:id="rId12"/>
    <p:sldId id="377" r:id="rId13"/>
    <p:sldId id="378" r:id="rId14"/>
    <p:sldId id="379" r:id="rId15"/>
    <p:sldId id="380" r:id="rId16"/>
    <p:sldId id="382" r:id="rId17"/>
    <p:sldId id="383" r:id="rId18"/>
    <p:sldId id="384" r:id="rId19"/>
    <p:sldId id="391" r:id="rId20"/>
    <p:sldId id="389" r:id="rId21"/>
    <p:sldId id="386" r:id="rId22"/>
    <p:sldId id="387" r:id="rId23"/>
    <p:sldId id="388" r:id="rId24"/>
    <p:sldId id="294" r:id="rId25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00FF"/>
    <a:srgbClr val="FF66FF"/>
    <a:srgbClr val="F7F7F7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70934" autoAdjust="0"/>
  </p:normalViewPr>
  <p:slideViewPr>
    <p:cSldViewPr snapToGrid="0">
      <p:cViewPr varScale="1">
        <p:scale>
          <a:sx n="94" d="100"/>
          <a:sy n="94" d="100"/>
        </p:scale>
        <p:origin x="-114" y="-30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55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418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12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Activity B</a:t>
            </a:r>
            <a:r>
              <a:rPr lang="ko-KR" altLang="en-US" dirty="0" smtClean="0"/>
              <a:t>가 반투명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일 경우에는 화면을 가리더라도 </a:t>
            </a:r>
            <a:r>
              <a:rPr lang="en-US" altLang="ko-KR" dirty="0" smtClean="0"/>
              <a:t>Activity A</a:t>
            </a:r>
            <a:r>
              <a:rPr lang="ko-KR" altLang="en-US" dirty="0" smtClean="0"/>
              <a:t>가 </a:t>
            </a:r>
            <a:r>
              <a:rPr lang="en-US" altLang="ko-KR" dirty="0" err="1" smtClean="0"/>
              <a:t>onStop</a:t>
            </a:r>
            <a:r>
              <a:rPr lang="ko-KR" altLang="en-US" dirty="0" smtClean="0"/>
              <a:t>까지 가지 않음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529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906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232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095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0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fragment_a</a:t>
            </a:r>
            <a:r>
              <a:rPr lang="ko-KR" altLang="en-US" sz="10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0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res/layout/fragment_a.xml</a:t>
            </a:r>
            <a:r>
              <a:rPr lang="ko-KR" altLang="en-US" sz="1000" b="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000" b="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endParaRPr lang="en-US" altLang="ko-KR" sz="1000" b="0" baseline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000" b="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typed public static class </a:t>
            </a:r>
            <a:r>
              <a:rPr lang="en-US" altLang="ko-KR" sz="1000" b="0" baseline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</a:t>
            </a:r>
            <a:r>
              <a:rPr lang="en-US" altLang="ko-KR" sz="1000" b="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ko-KR" altLang="en-US" sz="1000" b="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000" b="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Modifier ‘static’ not allowed here</a:t>
            </a:r>
            <a:endParaRPr lang="ko-KR" altLang="en-US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982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717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072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액티비티</a:t>
            </a:r>
            <a:r>
              <a:rPr lang="ko-KR" altLang="en-US" dirty="0" smtClean="0"/>
              <a:t> 안에서 </a:t>
            </a:r>
            <a:r>
              <a:rPr lang="en-US" altLang="ko-KR" dirty="0" err="1" smtClean="0"/>
              <a:t>Fragment</a:t>
            </a:r>
            <a:r>
              <a:rPr lang="en-US" altLang="ko-KR" baseline="0" dirty="0" err="1" smtClean="0"/>
              <a:t>Manager</a:t>
            </a:r>
            <a:r>
              <a:rPr lang="ko-KR" altLang="en-US" baseline="0" dirty="0" smtClean="0"/>
              <a:t>를 얻으려면 </a:t>
            </a:r>
            <a:r>
              <a:rPr lang="en-US" altLang="ko-KR" baseline="0" dirty="0" err="1" smtClean="0"/>
              <a:t>getFragmentManager</a:t>
            </a:r>
            <a:r>
              <a:rPr lang="en-US" altLang="ko-KR" baseline="0" dirty="0" smtClean="0"/>
              <a:t>()</a:t>
            </a:r>
            <a:r>
              <a:rPr lang="ko-KR" altLang="en-US" baseline="0" dirty="0" smtClean="0"/>
              <a:t>를 호출한다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그리고 </a:t>
            </a:r>
            <a:r>
              <a:rPr lang="en-US" altLang="ko-KR" baseline="0" dirty="0" err="1" smtClean="0"/>
              <a:t>FragmentTransaction</a:t>
            </a:r>
            <a:r>
              <a:rPr lang="ko-KR" altLang="en-US" baseline="0" dirty="0" smtClean="0"/>
              <a:t>을 생성하기 위해 </a:t>
            </a:r>
            <a:r>
              <a:rPr lang="en-US" altLang="ko-KR" baseline="0" dirty="0" err="1" smtClean="0"/>
              <a:t>beginTransaction</a:t>
            </a:r>
            <a:r>
              <a:rPr lang="en-US" altLang="ko-KR" baseline="0" dirty="0" smtClean="0"/>
              <a:t>()</a:t>
            </a:r>
            <a:r>
              <a:rPr lang="ko-KR" altLang="en-US" baseline="0" dirty="0" smtClean="0"/>
              <a:t>을 호출한 후에 </a:t>
            </a:r>
            <a:r>
              <a:rPr lang="en-US" altLang="ko-KR" baseline="0" dirty="0" smtClean="0"/>
              <a:t>add()</a:t>
            </a:r>
            <a:r>
              <a:rPr lang="ko-KR" altLang="en-US" baseline="0" dirty="0" smtClean="0"/>
              <a:t>를 호출하여서 </a:t>
            </a:r>
            <a:r>
              <a:rPr lang="ko-KR" altLang="en-US" baseline="0" dirty="0" err="1" smtClean="0"/>
              <a:t>프래그먼트를</a:t>
            </a:r>
            <a:r>
              <a:rPr lang="ko-KR" altLang="en-US" baseline="0" dirty="0" smtClean="0"/>
              <a:t> 추가하면 된다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동일한 </a:t>
            </a:r>
            <a:r>
              <a:rPr lang="en-US" altLang="ko-KR" baseline="0" dirty="0" err="1" smtClean="0"/>
              <a:t>FragmentTranscation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객체를 이용하여 여러 개의 </a:t>
            </a:r>
            <a:r>
              <a:rPr lang="ko-KR" altLang="en-US" baseline="0" dirty="0" err="1" smtClean="0"/>
              <a:t>프래그먼트</a:t>
            </a:r>
            <a:r>
              <a:rPr lang="ko-KR" altLang="en-US" baseline="0" dirty="0" smtClean="0"/>
              <a:t> 트랜잭션을 처리할 수 있다</a:t>
            </a:r>
            <a:r>
              <a:rPr lang="en-US" altLang="ko-KR" baseline="0" dirty="0" smtClean="0"/>
              <a:t>.</a:t>
            </a:r>
            <a:r>
              <a:rPr lang="ko-KR" altLang="en-US" baseline="0" dirty="0" smtClean="0"/>
              <a:t> 변경 사항들을 기록하려면 </a:t>
            </a:r>
            <a:r>
              <a:rPr lang="en-US" altLang="ko-KR" baseline="0" dirty="0" smtClean="0"/>
              <a:t>commit() </a:t>
            </a:r>
            <a:r>
              <a:rPr lang="ko-KR" altLang="en-US" baseline="0" dirty="0" err="1" smtClean="0"/>
              <a:t>메소드를</a:t>
            </a:r>
            <a:r>
              <a:rPr lang="ko-KR" altLang="en-US" baseline="0" dirty="0" smtClean="0"/>
              <a:t> 호출한다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340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365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에러 경우 해당하는 </a:t>
            </a:r>
            <a:r>
              <a:rPr lang="en-US" altLang="ko-KR" dirty="0" smtClean="0"/>
              <a:t>import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MainActivity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FragmentA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en-US" altLang="ko-KR" baseline="0" dirty="0" err="1" smtClean="0"/>
              <a:t>FragmentB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전부다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(</a:t>
            </a:r>
            <a:r>
              <a:rPr lang="ko-KR" altLang="en-US" baseline="0" dirty="0" smtClean="0"/>
              <a:t>테스트 시 적용한 </a:t>
            </a:r>
            <a:r>
              <a:rPr lang="en-US" altLang="ko-KR" baseline="0" dirty="0" smtClean="0"/>
              <a:t>import)</a:t>
            </a:r>
          </a:p>
          <a:p>
            <a:r>
              <a:rPr lang="en-US" altLang="ko-KR" baseline="0" dirty="0" smtClean="0"/>
              <a:t>Import </a:t>
            </a:r>
            <a:r>
              <a:rPr lang="en-US" altLang="ko-KR" baseline="0" dirty="0" err="1" smtClean="0"/>
              <a:t>android.app.Fragment</a:t>
            </a:r>
            <a:r>
              <a:rPr lang="en-US" altLang="ko-KR" baseline="0" dirty="0" smtClean="0"/>
              <a:t>;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Import </a:t>
            </a:r>
            <a:r>
              <a:rPr lang="en-US" altLang="ko-KR" baseline="0" dirty="0" err="1" smtClean="0"/>
              <a:t>android.app.FragmentManager</a:t>
            </a:r>
            <a:r>
              <a:rPr lang="en-US" altLang="ko-KR" baseline="0" dirty="0" smtClean="0"/>
              <a:t>;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Import </a:t>
            </a:r>
            <a:r>
              <a:rPr lang="en-US" altLang="ko-KR" baseline="0" dirty="0" err="1" smtClean="0"/>
              <a:t>android.app.FragmentTransaction</a:t>
            </a:r>
            <a:r>
              <a:rPr lang="en-US" altLang="ko-KR" baseline="0" dirty="0" smtClean="0"/>
              <a:t>;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70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139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err="1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프래그먼트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Fragment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프래그먼트란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err="1" smtClean="0"/>
              <a:t>안드로이드</a:t>
            </a:r>
            <a:r>
              <a:rPr lang="ko-KR" altLang="en-US" dirty="0" smtClean="0"/>
              <a:t> 버전 </a:t>
            </a:r>
            <a:r>
              <a:rPr lang="en-US" altLang="ko-KR" dirty="0" smtClean="0"/>
              <a:t>3.0</a:t>
            </a:r>
            <a:r>
              <a:rPr lang="ko-KR" altLang="en-US" dirty="0" smtClean="0"/>
              <a:t>부터 도입된 기능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액티비티</a:t>
            </a:r>
            <a:r>
              <a:rPr lang="ko-KR" altLang="en-US" dirty="0" smtClean="0"/>
              <a:t> 안에 위치할 수 있는 사용자 인터페이스의 하나의 조각이라 할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액티비티의</a:t>
            </a:r>
            <a:r>
              <a:rPr lang="ko-KR" altLang="en-US" dirty="0" smtClean="0"/>
              <a:t> 사용자 인터페이스를 여러 개의 조각으로 나눌 수 있고 이 조각을 </a:t>
            </a:r>
            <a:r>
              <a:rPr lang="ko-KR" altLang="en-US" dirty="0" err="1" smtClean="0"/>
              <a:t>프래그먼트라고</a:t>
            </a:r>
            <a:r>
              <a:rPr lang="ko-KR" altLang="en-US" dirty="0" smtClean="0"/>
              <a:t>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서브 </a:t>
            </a:r>
            <a:r>
              <a:rPr lang="ko-KR" altLang="en-US" dirty="0" err="1" smtClean="0"/>
              <a:t>액티비티라고</a:t>
            </a:r>
            <a:r>
              <a:rPr lang="ko-KR" altLang="en-US" dirty="0" smtClean="0"/>
              <a:t> 생각하여도 좋음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사용 이유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태블릿이</a:t>
            </a:r>
            <a:r>
              <a:rPr lang="ko-KR" altLang="en-US" dirty="0" smtClean="0"/>
              <a:t> 등장하면서 큰 화면을 </a:t>
            </a:r>
            <a:r>
              <a:rPr lang="ko-KR" altLang="en-US" dirty="0" err="1" smtClean="0"/>
              <a:t>액티비티</a:t>
            </a:r>
            <a:r>
              <a:rPr lang="ko-KR" altLang="en-US" dirty="0" smtClean="0"/>
              <a:t> 혼자서 전부 사용하기 힘듦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액티비티는</a:t>
            </a:r>
            <a:r>
              <a:rPr lang="ko-KR" altLang="en-US" dirty="0" smtClean="0"/>
              <a:t> 일반적으로 하나의 레이아웃만을 가지기 때문에 동적으로 레이아웃을 변경하기는 상당히 어려</a:t>
            </a:r>
            <a:r>
              <a:rPr lang="ko-KR" altLang="en-US" dirty="0"/>
              <a:t>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화면이 작은 장치에서는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하나의 </a:t>
            </a:r>
            <a:r>
              <a:rPr lang="ko-KR" altLang="en-US" dirty="0" err="1" smtClean="0"/>
              <a:t>프래그먼트만</a:t>
            </a:r>
            <a:r>
              <a:rPr lang="ko-KR" altLang="en-US" dirty="0" smtClean="0"/>
              <a:t> 사용하는 것이 적절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한편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태블릿</a:t>
            </a:r>
            <a:r>
              <a:rPr lang="ko-KR" altLang="en-US" dirty="0" smtClean="0"/>
              <a:t> 같은 큰 화면에서는 보다 많은 정보를 사용자에게 보여주기 위하여 화면 안에 </a:t>
            </a:r>
            <a:r>
              <a:rPr lang="ko-KR" altLang="en-US" dirty="0" err="1" smtClean="0"/>
              <a:t>프래그먼트를</a:t>
            </a:r>
            <a:r>
              <a:rPr lang="ko-KR" altLang="en-US" dirty="0" smtClean="0"/>
              <a:t> 여러 개를 배치할 수 있음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2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Fragment 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4361792"/>
            <a:ext cx="8229600" cy="2280746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태블릿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화면이 크기 때문에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개의 </a:t>
            </a:r>
            <a:r>
              <a:rPr lang="ko-KR" altLang="en-US" dirty="0" err="1" smtClean="0"/>
              <a:t>프래그먼트로</a:t>
            </a:r>
            <a:r>
              <a:rPr lang="ko-KR" altLang="en-US" dirty="0" smtClean="0"/>
              <a:t> 정의된 </a:t>
            </a:r>
            <a:r>
              <a:rPr lang="en-US" altLang="ko-KR" dirty="0" smtClean="0"/>
              <a:t>UI</a:t>
            </a:r>
            <a:r>
              <a:rPr lang="ko-KR" altLang="en-US" dirty="0" smtClean="0"/>
              <a:t>가 하나의 </a:t>
            </a:r>
            <a:r>
              <a:rPr lang="ko-KR" altLang="en-US" dirty="0" err="1" smtClean="0"/>
              <a:t>액티비티로</a:t>
            </a:r>
            <a:r>
              <a:rPr lang="ko-KR" altLang="en-US" dirty="0" smtClean="0"/>
              <a:t> 합쳐짐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스마트폰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화면이 작기 때문에 별도의 </a:t>
            </a:r>
            <a:r>
              <a:rPr lang="ko-KR" altLang="en-US" dirty="0" err="1" smtClean="0"/>
              <a:t>액티비티로</a:t>
            </a:r>
            <a:r>
              <a:rPr lang="ko-KR" altLang="en-US" dirty="0" smtClean="0"/>
              <a:t> 분할됨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185" y="1307689"/>
            <a:ext cx="5385629" cy="3054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4814" y="3794175"/>
            <a:ext cx="1879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출처</a:t>
            </a:r>
            <a:endParaRPr lang="en-US" altLang="ko-K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developer.android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.com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00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800" dirty="0" smtClean="0"/>
              <a:t>특징</a:t>
            </a:r>
            <a:endParaRPr lang="ko-KR" altLang="en-US" sz="4800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000" dirty="0" smtClean="0"/>
              <a:t>자신만의 레이아웃을 가지고 있음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자신만의 </a:t>
            </a:r>
            <a:r>
              <a:rPr lang="en-US" altLang="ko-KR" sz="2000" dirty="0" smtClean="0"/>
              <a:t>life cycle </a:t>
            </a:r>
            <a:r>
              <a:rPr lang="ko-KR" altLang="en-US" sz="2000" dirty="0" err="1" smtClean="0"/>
              <a:t>콜백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메소드를</a:t>
            </a:r>
            <a:r>
              <a:rPr lang="ko-KR" altLang="en-US" sz="2000" dirty="0" smtClean="0"/>
              <a:t> 가질 수 있음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ko-KR" altLang="en-US" sz="2000" dirty="0" err="1" smtClean="0"/>
              <a:t>액티비티가</a:t>
            </a:r>
            <a:r>
              <a:rPr lang="ko-KR" altLang="en-US" sz="2000" dirty="0" smtClean="0"/>
              <a:t> 실행될 때 </a:t>
            </a:r>
            <a:r>
              <a:rPr lang="ko-KR" altLang="en-US" sz="2000" dirty="0" err="1" smtClean="0"/>
              <a:t>프래그먼트를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액티비티에</a:t>
            </a:r>
            <a:r>
              <a:rPr lang="ko-KR" altLang="en-US" sz="2000" dirty="0" smtClean="0"/>
              <a:t> 추가하거나 삭제할 수 있음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하나의 </a:t>
            </a:r>
            <a:r>
              <a:rPr lang="ko-KR" altLang="en-US" sz="2000" dirty="0" err="1" smtClean="0"/>
              <a:t>액티비티</a:t>
            </a:r>
            <a:r>
              <a:rPr lang="ko-KR" altLang="en-US" sz="2000" dirty="0" smtClean="0"/>
              <a:t> 안에 여러 개의 </a:t>
            </a:r>
            <a:r>
              <a:rPr lang="ko-KR" altLang="en-US" sz="2000" dirty="0" err="1" smtClean="0"/>
              <a:t>프래그먼트를</a:t>
            </a:r>
            <a:r>
              <a:rPr lang="ko-KR" altLang="en-US" sz="2000" dirty="0" smtClean="0"/>
              <a:t> 결합하여 </a:t>
            </a:r>
            <a:r>
              <a:rPr lang="en-US" altLang="ko-KR" sz="2000" dirty="0" smtClean="0"/>
              <a:t>multi-pane UI</a:t>
            </a:r>
            <a:r>
              <a:rPr lang="ko-KR" altLang="en-US" sz="2000" dirty="0" smtClean="0"/>
              <a:t>를 구축할 수 있음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하나의 </a:t>
            </a:r>
            <a:r>
              <a:rPr lang="ko-KR" altLang="en-US" sz="2000" dirty="0" err="1" smtClean="0"/>
              <a:t>프래그먼트를</a:t>
            </a:r>
            <a:r>
              <a:rPr lang="ko-KR" altLang="en-US" sz="2000" dirty="0" smtClean="0"/>
              <a:t> 여러 </a:t>
            </a:r>
            <a:r>
              <a:rPr lang="ko-KR" altLang="en-US" sz="2000" dirty="0" err="1" smtClean="0"/>
              <a:t>액티비티에서</a:t>
            </a:r>
            <a:r>
              <a:rPr lang="ko-KR" altLang="en-US" sz="2000" dirty="0" smtClean="0"/>
              <a:t> 재사용할 수 있음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ko-KR" altLang="en-US" sz="2000" dirty="0" err="1" smtClean="0"/>
              <a:t>프래그먼트의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life cycle</a:t>
            </a:r>
            <a:r>
              <a:rPr lang="ko-KR" altLang="en-US" sz="2000" dirty="0" smtClean="0"/>
              <a:t>은 호스트 </a:t>
            </a:r>
            <a:r>
              <a:rPr lang="ko-KR" altLang="en-US" sz="2000" dirty="0" err="1" smtClean="0"/>
              <a:t>액티비티의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life cycle</a:t>
            </a:r>
            <a:r>
              <a:rPr lang="ko-KR" altLang="en-US" sz="2000" dirty="0" smtClean="0"/>
              <a:t>과 연관됨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예를 들어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액티비티가</a:t>
            </a:r>
            <a:r>
              <a:rPr lang="ko-KR" altLang="en-US" sz="2000" dirty="0" smtClean="0"/>
              <a:t> 정지되면 그 안의 모든 </a:t>
            </a:r>
            <a:r>
              <a:rPr lang="ko-KR" altLang="en-US" sz="2000" dirty="0" err="1" smtClean="0"/>
              <a:t>프래그먼트도</a:t>
            </a:r>
            <a:r>
              <a:rPr lang="ko-KR" altLang="en-US" sz="2000" dirty="0" smtClean="0"/>
              <a:t> 정지됨</a:t>
            </a:r>
            <a:endParaRPr lang="en-US" altLang="ko-KR" sz="2000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04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Fragment Life Cycle</a:t>
            </a:r>
            <a:endParaRPr lang="ko-KR" altLang="en-US" dirty="0"/>
          </a:p>
        </p:txBody>
      </p:sp>
      <p:sp>
        <p:nvSpPr>
          <p:cNvPr id="5" name="순서도: 수행의 시작/종료 4"/>
          <p:cNvSpPr/>
          <p:nvPr/>
        </p:nvSpPr>
        <p:spPr>
          <a:xfrm>
            <a:off x="1260822" y="1249680"/>
            <a:ext cx="1853184" cy="560832"/>
          </a:xfrm>
          <a:prstGeom prst="flowChartTerminator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8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Fragment is added</a:t>
            </a:r>
            <a:endParaRPr lang="ko-KR" altLang="en-US" sz="1400" dirty="0"/>
          </a:p>
        </p:txBody>
      </p:sp>
      <p:sp>
        <p:nvSpPr>
          <p:cNvPr id="6" name="순서도: 처리 5"/>
          <p:cNvSpPr/>
          <p:nvPr/>
        </p:nvSpPr>
        <p:spPr>
          <a:xfrm>
            <a:off x="1260822" y="2619670"/>
            <a:ext cx="1853184" cy="402336"/>
          </a:xfrm>
          <a:prstGeom prst="flowChartProcess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onCreate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7" name="순서도: 처리 6"/>
          <p:cNvSpPr/>
          <p:nvPr/>
        </p:nvSpPr>
        <p:spPr>
          <a:xfrm>
            <a:off x="1260821" y="4436911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onStart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8" name="순서도: 처리 7"/>
          <p:cNvSpPr/>
          <p:nvPr/>
        </p:nvSpPr>
        <p:spPr>
          <a:xfrm>
            <a:off x="1260821" y="5042658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onResume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3" name="순서도: 수행의 시작/종료 12"/>
          <p:cNvSpPr/>
          <p:nvPr/>
        </p:nvSpPr>
        <p:spPr>
          <a:xfrm>
            <a:off x="5645524" y="1249680"/>
            <a:ext cx="1853184" cy="560832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Fragment is active</a:t>
            </a:r>
            <a:endParaRPr lang="ko-KR" altLang="en-US" sz="1400" dirty="0"/>
          </a:p>
        </p:txBody>
      </p:sp>
      <p:sp>
        <p:nvSpPr>
          <p:cNvPr id="17" name="순서도: 처리 16"/>
          <p:cNvSpPr/>
          <p:nvPr/>
        </p:nvSpPr>
        <p:spPr>
          <a:xfrm>
            <a:off x="5645524" y="5687356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onDetach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8" name="순서도: 처리 17"/>
          <p:cNvSpPr/>
          <p:nvPr/>
        </p:nvSpPr>
        <p:spPr>
          <a:xfrm>
            <a:off x="5645524" y="4363128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onDestroyView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0" name="순서도: 처리 19"/>
          <p:cNvSpPr/>
          <p:nvPr/>
        </p:nvSpPr>
        <p:spPr>
          <a:xfrm>
            <a:off x="5645524" y="3210074"/>
            <a:ext cx="1853184" cy="402336"/>
          </a:xfrm>
          <a:prstGeom prst="flowChartProcess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onPause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1" name="순서도: 처리 20"/>
          <p:cNvSpPr/>
          <p:nvPr/>
        </p:nvSpPr>
        <p:spPr>
          <a:xfrm>
            <a:off x="5645524" y="3786601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onStop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2" name="순서도: 처리 21"/>
          <p:cNvSpPr/>
          <p:nvPr/>
        </p:nvSpPr>
        <p:spPr>
          <a:xfrm>
            <a:off x="5645524" y="4939655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onDestroy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3" name="순서도: 수행의 시작/종료 22"/>
          <p:cNvSpPr/>
          <p:nvPr/>
        </p:nvSpPr>
        <p:spPr>
          <a:xfrm>
            <a:off x="5645524" y="6224016"/>
            <a:ext cx="1853184" cy="560832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Fragment is destroyed</a:t>
            </a:r>
            <a:endParaRPr lang="ko-KR" altLang="en-US" sz="1400" dirty="0"/>
          </a:p>
        </p:txBody>
      </p:sp>
      <p:cxnSp>
        <p:nvCxnSpPr>
          <p:cNvPr id="26" name="직선 화살표 연결선 25"/>
          <p:cNvCxnSpPr>
            <a:stCxn id="5" idx="2"/>
            <a:endCxn id="51" idx="0"/>
          </p:cNvCxnSpPr>
          <p:nvPr/>
        </p:nvCxnSpPr>
        <p:spPr>
          <a:xfrm>
            <a:off x="2187414" y="1810512"/>
            <a:ext cx="0" cy="2034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2"/>
            <a:endCxn id="57" idx="0"/>
          </p:cNvCxnSpPr>
          <p:nvPr/>
        </p:nvCxnSpPr>
        <p:spPr>
          <a:xfrm flipH="1">
            <a:off x="2187413" y="3022006"/>
            <a:ext cx="1" cy="2034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7" idx="2"/>
            <a:endCxn id="8" idx="0"/>
          </p:cNvCxnSpPr>
          <p:nvPr/>
        </p:nvCxnSpPr>
        <p:spPr>
          <a:xfrm>
            <a:off x="2187413" y="4839247"/>
            <a:ext cx="0" cy="2034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6036089" y="2954950"/>
            <a:ext cx="0" cy="2551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17" idx="2"/>
            <a:endCxn id="23" idx="0"/>
          </p:cNvCxnSpPr>
          <p:nvPr/>
        </p:nvCxnSpPr>
        <p:spPr>
          <a:xfrm>
            <a:off x="6572116" y="6089692"/>
            <a:ext cx="0" cy="1343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>
            <a:off x="6025574" y="3612410"/>
            <a:ext cx="0" cy="1741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순서도: 처리 50"/>
          <p:cNvSpPr/>
          <p:nvPr/>
        </p:nvSpPr>
        <p:spPr>
          <a:xfrm>
            <a:off x="1260822" y="2013923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onAttach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cxnSp>
        <p:nvCxnSpPr>
          <p:cNvPr id="53" name="직선 화살표 연결선 52"/>
          <p:cNvCxnSpPr>
            <a:stCxn id="51" idx="2"/>
            <a:endCxn id="6" idx="0"/>
          </p:cNvCxnSpPr>
          <p:nvPr/>
        </p:nvCxnSpPr>
        <p:spPr>
          <a:xfrm>
            <a:off x="2187414" y="2416259"/>
            <a:ext cx="0" cy="2034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순서도: 처리 56"/>
          <p:cNvSpPr/>
          <p:nvPr/>
        </p:nvSpPr>
        <p:spPr>
          <a:xfrm>
            <a:off x="1260821" y="3225417"/>
            <a:ext cx="1853184" cy="402336"/>
          </a:xfrm>
          <a:prstGeom prst="flowChartProcess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onCreateView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cxnSp>
        <p:nvCxnSpPr>
          <p:cNvPr id="59" name="직선 화살표 연결선 58"/>
          <p:cNvCxnSpPr>
            <a:stCxn id="57" idx="2"/>
            <a:endCxn id="61" idx="0"/>
          </p:cNvCxnSpPr>
          <p:nvPr/>
        </p:nvCxnSpPr>
        <p:spPr>
          <a:xfrm>
            <a:off x="2187413" y="3627753"/>
            <a:ext cx="0" cy="2034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처리 60"/>
          <p:cNvSpPr/>
          <p:nvPr/>
        </p:nvSpPr>
        <p:spPr>
          <a:xfrm>
            <a:off x="1260821" y="383116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onActivityCreated</a:t>
            </a:r>
            <a:r>
              <a:rPr lang="en-US" altLang="ko-KR" sz="1400" dirty="0" smtClean="0"/>
              <a:t>()</a:t>
            </a:r>
            <a:endParaRPr lang="ko-KR" altLang="en-US" sz="1400" dirty="0"/>
          </a:p>
        </p:txBody>
      </p:sp>
      <p:cxnSp>
        <p:nvCxnSpPr>
          <p:cNvPr id="63" name="직선 화살표 연결선 62"/>
          <p:cNvCxnSpPr>
            <a:stCxn id="61" idx="2"/>
            <a:endCxn id="7" idx="0"/>
          </p:cNvCxnSpPr>
          <p:nvPr/>
        </p:nvCxnSpPr>
        <p:spPr>
          <a:xfrm>
            <a:off x="2187413" y="4233500"/>
            <a:ext cx="0" cy="2034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15237" y="6442820"/>
            <a:ext cx="2269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출처 </a:t>
            </a:r>
            <a:r>
              <a:rPr lang="en-US" altLang="ko-K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developer.android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.com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863253" y="2071797"/>
            <a:ext cx="1545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navigates backward or fragment is removed/replaced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924726" y="2035035"/>
            <a:ext cx="1545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fragment is added to the back stack, then removed/replaced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7081869" y="2954950"/>
            <a:ext cx="0" cy="2551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/>
          <p:nvPr/>
        </p:nvCxnSpPr>
        <p:spPr>
          <a:xfrm>
            <a:off x="7081869" y="3621342"/>
            <a:ext cx="0" cy="1741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/>
          <p:nvPr/>
        </p:nvCxnSpPr>
        <p:spPr>
          <a:xfrm>
            <a:off x="6030834" y="4185216"/>
            <a:ext cx="0" cy="1741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/>
          <p:nvPr/>
        </p:nvCxnSpPr>
        <p:spPr>
          <a:xfrm>
            <a:off x="7087129" y="4194148"/>
            <a:ext cx="0" cy="1741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/>
          <p:nvPr/>
        </p:nvCxnSpPr>
        <p:spPr>
          <a:xfrm>
            <a:off x="6036092" y="4768541"/>
            <a:ext cx="0" cy="1741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/>
          <p:nvPr/>
        </p:nvCxnSpPr>
        <p:spPr>
          <a:xfrm>
            <a:off x="7092387" y="4777473"/>
            <a:ext cx="0" cy="1741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/>
          <p:nvPr/>
        </p:nvCxnSpPr>
        <p:spPr>
          <a:xfrm flipH="1">
            <a:off x="7092387" y="5357898"/>
            <a:ext cx="3162" cy="3294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/>
          <p:cNvCxnSpPr/>
          <p:nvPr/>
        </p:nvCxnSpPr>
        <p:spPr>
          <a:xfrm>
            <a:off x="6041347" y="1772539"/>
            <a:ext cx="0" cy="29925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/>
          <p:cNvCxnSpPr/>
          <p:nvPr/>
        </p:nvCxnSpPr>
        <p:spPr>
          <a:xfrm>
            <a:off x="7097635" y="1788306"/>
            <a:ext cx="0" cy="299258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602532" y="4335205"/>
            <a:ext cx="1545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fragment returns to the layout from the back stack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2" name="그룹 161"/>
          <p:cNvGrpSpPr/>
          <p:nvPr/>
        </p:nvGrpSpPr>
        <p:grpSpPr>
          <a:xfrm>
            <a:off x="4375042" y="5289312"/>
            <a:ext cx="1661047" cy="233315"/>
            <a:chOff x="4375042" y="5289312"/>
            <a:chExt cx="1661047" cy="23331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036089" y="5341991"/>
              <a:ext cx="0" cy="180636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 flipH="1">
              <a:off x="4375042" y="5522627"/>
              <a:ext cx="1650533" cy="0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>
              <a:stCxn id="128" idx="2"/>
            </p:cNvCxnSpPr>
            <p:nvPr/>
          </p:nvCxnSpPr>
          <p:spPr>
            <a:xfrm>
              <a:off x="4375042" y="5289312"/>
              <a:ext cx="0" cy="233315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꺾인 연결선 148"/>
          <p:cNvCxnSpPr>
            <a:stCxn id="128" idx="0"/>
            <a:endCxn id="57" idx="3"/>
          </p:cNvCxnSpPr>
          <p:nvPr/>
        </p:nvCxnSpPr>
        <p:spPr>
          <a:xfrm rot="16200000" flipV="1">
            <a:off x="3290214" y="3250376"/>
            <a:ext cx="908620" cy="126103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그룹 160"/>
          <p:cNvGrpSpPr/>
          <p:nvPr/>
        </p:nvGrpSpPr>
        <p:grpSpPr>
          <a:xfrm>
            <a:off x="2187413" y="1530096"/>
            <a:ext cx="3458111" cy="4282126"/>
            <a:chOff x="2187413" y="1530096"/>
            <a:chExt cx="3458111" cy="4282126"/>
          </a:xfrm>
        </p:grpSpPr>
        <p:cxnSp>
          <p:nvCxnSpPr>
            <p:cNvPr id="151" name="직선 연결선 150"/>
            <p:cNvCxnSpPr>
              <a:stCxn id="8" idx="2"/>
            </p:cNvCxnSpPr>
            <p:nvPr/>
          </p:nvCxnSpPr>
          <p:spPr>
            <a:xfrm>
              <a:off x="2187413" y="5444994"/>
              <a:ext cx="0" cy="367227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>
              <a:off x="2187413" y="5812221"/>
              <a:ext cx="1144366" cy="0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 flipH="1" flipV="1">
              <a:off x="3331777" y="1530096"/>
              <a:ext cx="2" cy="4282126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>
              <a:endCxn id="13" idx="1"/>
            </p:cNvCxnSpPr>
            <p:nvPr/>
          </p:nvCxnSpPr>
          <p:spPr>
            <a:xfrm>
              <a:off x="3331777" y="1530096"/>
              <a:ext cx="2313747" cy="0"/>
            </a:xfrm>
            <a:prstGeom prst="line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857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Fragment Life Cycle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반드시 구현하여야 하는 </a:t>
            </a:r>
            <a:r>
              <a:rPr lang="ko-KR" altLang="en-US" dirty="0" err="1" smtClean="0"/>
              <a:t>콜백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메소드</a:t>
            </a:r>
            <a:endParaRPr lang="en-US" altLang="ko-KR" dirty="0" smtClean="0"/>
          </a:p>
          <a:p>
            <a:pPr lvl="1"/>
            <a:r>
              <a:rPr lang="en-US" altLang="ko-KR" dirty="0" err="1" smtClean="0">
                <a:solidFill>
                  <a:srgbClr val="C00000"/>
                </a:solidFill>
              </a:rPr>
              <a:t>onCreate</a:t>
            </a:r>
            <a:r>
              <a:rPr lang="en-US" altLang="ko-KR" dirty="0" smtClean="0">
                <a:solidFill>
                  <a:srgbClr val="C00000"/>
                </a:solidFill>
              </a:rPr>
              <a:t>() </a:t>
            </a:r>
            <a:r>
              <a:rPr lang="en-US" altLang="ko-KR" dirty="0" smtClean="0">
                <a:solidFill>
                  <a:srgbClr val="00B0F0"/>
                </a:solidFill>
              </a:rPr>
              <a:t>– </a:t>
            </a:r>
            <a:r>
              <a:rPr lang="ko-KR" altLang="en-US" dirty="0" err="1" smtClean="0">
                <a:solidFill>
                  <a:srgbClr val="00B0F0"/>
                </a:solidFill>
              </a:rPr>
              <a:t>프래그먼트가</a:t>
            </a:r>
            <a:r>
              <a:rPr lang="ko-KR" altLang="en-US" dirty="0" smtClean="0">
                <a:solidFill>
                  <a:srgbClr val="00B0F0"/>
                </a:solidFill>
              </a:rPr>
              <a:t> 생성될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호출된다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프래그먼트가</a:t>
            </a:r>
            <a:r>
              <a:rPr lang="ko-KR" altLang="en-US" dirty="0" smtClean="0"/>
              <a:t> 중지되거나 정지되거나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</a:t>
            </a:r>
            <a:r>
              <a:rPr lang="ko-KR" altLang="en-US" dirty="0" err="1" smtClean="0"/>
              <a:t>재시작할</a:t>
            </a:r>
            <a:r>
              <a:rPr lang="ko-KR" altLang="en-US" dirty="0"/>
              <a:t> </a:t>
            </a:r>
            <a:r>
              <a:rPr lang="ko-KR" altLang="en-US" dirty="0" smtClean="0"/>
              <a:t>때에도 유지하고 싶은 필수적인 </a:t>
            </a:r>
            <a:r>
              <a:rPr lang="ko-KR" altLang="en-US" dirty="0" err="1" smtClean="0"/>
              <a:t>프래그먼트의</a:t>
            </a:r>
            <a:r>
              <a:rPr lang="ko-KR" altLang="en-US" dirty="0" smtClean="0"/>
              <a:t> 컴포넌트들을 초기화한다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err="1" smtClean="0">
                <a:solidFill>
                  <a:srgbClr val="C00000"/>
                </a:solidFill>
              </a:rPr>
              <a:t>onCreateView</a:t>
            </a:r>
            <a:r>
              <a:rPr lang="en-US" altLang="ko-KR" dirty="0" smtClean="0">
                <a:solidFill>
                  <a:srgbClr val="C00000"/>
                </a:solidFill>
              </a:rPr>
              <a:t>()</a:t>
            </a:r>
            <a:r>
              <a:rPr lang="en-US" altLang="ko-KR" dirty="0" smtClean="0">
                <a:solidFill>
                  <a:srgbClr val="00B0F0"/>
                </a:solidFill>
              </a:rPr>
              <a:t> – </a:t>
            </a:r>
            <a:r>
              <a:rPr lang="ko-KR" altLang="en-US" dirty="0" err="1" smtClean="0">
                <a:solidFill>
                  <a:srgbClr val="00B0F0"/>
                </a:solidFill>
              </a:rPr>
              <a:t>프래그먼트가</a:t>
            </a:r>
            <a:r>
              <a:rPr lang="ko-KR" altLang="en-US" dirty="0" smtClean="0">
                <a:solidFill>
                  <a:srgbClr val="00B0F0"/>
                </a:solidFill>
              </a:rPr>
              <a:t> 자신의 </a:t>
            </a:r>
            <a:r>
              <a:rPr lang="en-US" altLang="ko-KR" dirty="0" smtClean="0">
                <a:solidFill>
                  <a:srgbClr val="00B0F0"/>
                </a:solidFill>
              </a:rPr>
              <a:t>UI</a:t>
            </a:r>
            <a:r>
              <a:rPr lang="ko-KR" altLang="en-US" dirty="0" smtClean="0">
                <a:solidFill>
                  <a:srgbClr val="00B0F0"/>
                </a:solidFill>
              </a:rPr>
              <a:t>를 그려야 할 때 </a:t>
            </a:r>
            <a:r>
              <a:rPr lang="ko-KR" altLang="en-US" dirty="0" smtClean="0"/>
              <a:t>호출된다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</a:t>
            </a:r>
            <a:r>
              <a:rPr lang="ko-KR" altLang="en-US" dirty="0" err="1" smtClean="0"/>
              <a:t>메소드는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프래그먼트</a:t>
            </a:r>
            <a:r>
              <a:rPr lang="ko-KR" altLang="en-US" dirty="0" smtClean="0"/>
              <a:t> 레이아웃의 루트가 되는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반환하여야 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만약 </a:t>
            </a:r>
            <a:r>
              <a:rPr lang="ko-KR" altLang="en-US" dirty="0" err="1" smtClean="0"/>
              <a:t>프래그먼트가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UI</a:t>
            </a:r>
            <a:r>
              <a:rPr lang="ko-KR" altLang="en-US" dirty="0" smtClean="0"/>
              <a:t>를 가지지 않으면 </a:t>
            </a:r>
            <a:r>
              <a:rPr lang="en-US" altLang="ko-KR" dirty="0" smtClean="0"/>
              <a:t>null</a:t>
            </a:r>
            <a:r>
              <a:rPr lang="ko-KR" altLang="en-US" dirty="0" smtClean="0"/>
              <a:t>을 반환한다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err="1" smtClean="0">
                <a:solidFill>
                  <a:srgbClr val="C00000"/>
                </a:solidFill>
              </a:rPr>
              <a:t>onPause</a:t>
            </a:r>
            <a:r>
              <a:rPr lang="en-US" altLang="ko-KR" dirty="0" smtClean="0">
                <a:solidFill>
                  <a:srgbClr val="C00000"/>
                </a:solidFill>
              </a:rPr>
              <a:t>()</a:t>
            </a:r>
            <a:r>
              <a:rPr lang="en-US" altLang="ko-KR" dirty="0" smtClean="0">
                <a:solidFill>
                  <a:srgbClr val="00B0F0"/>
                </a:solidFill>
              </a:rPr>
              <a:t> – </a:t>
            </a:r>
            <a:r>
              <a:rPr lang="ko-KR" altLang="en-US" dirty="0" smtClean="0">
                <a:solidFill>
                  <a:srgbClr val="00B0F0"/>
                </a:solidFill>
              </a:rPr>
              <a:t>사용자가 </a:t>
            </a:r>
            <a:r>
              <a:rPr lang="ko-KR" altLang="en-US" dirty="0" err="1" smtClean="0">
                <a:solidFill>
                  <a:srgbClr val="00B0F0"/>
                </a:solidFill>
              </a:rPr>
              <a:t>프래그먼트를</a:t>
            </a:r>
            <a:r>
              <a:rPr lang="ko-KR" altLang="en-US" dirty="0" smtClean="0">
                <a:solidFill>
                  <a:srgbClr val="00B0F0"/>
                </a:solidFill>
              </a:rPr>
              <a:t> 떠나려고 할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시스템에 의하여 호출된다</a:t>
            </a:r>
            <a:r>
              <a:rPr lang="en-US" altLang="ko-KR" dirty="0" smtClean="0"/>
              <a:t>.</a:t>
            </a:r>
            <a:r>
              <a:rPr lang="en-US" altLang="ko-KR" dirty="0"/>
              <a:t> </a:t>
            </a:r>
            <a:r>
              <a:rPr lang="ko-KR" altLang="en-US" dirty="0" smtClean="0"/>
              <a:t>여기서는 현재의 사용자 세션을 넘어서 유지되어야 하는 변경 사항이 있는 경우에는 반드시 기록하여야 한다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6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Fragment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359877"/>
            <a:ext cx="8229600" cy="4766287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New Project</a:t>
            </a:r>
          </a:p>
          <a:p>
            <a:pPr lvl="1"/>
            <a:r>
              <a:rPr lang="en-US" altLang="ko-KR" dirty="0" smtClean="0"/>
              <a:t>Application Name 	: FragmentTest1</a:t>
            </a:r>
          </a:p>
          <a:p>
            <a:pPr lvl="1"/>
            <a:r>
              <a:rPr lang="en-US" altLang="ko-KR" dirty="0" smtClean="0"/>
              <a:t>Activity Name	: </a:t>
            </a:r>
            <a:r>
              <a:rPr lang="en-US" altLang="ko-KR" dirty="0" err="1" smtClean="0"/>
              <a:t>MainActivity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Layout Name	: activity_main.xml</a:t>
            </a:r>
          </a:p>
          <a:p>
            <a:r>
              <a:rPr lang="en-US" altLang="ko-KR" dirty="0" smtClean="0"/>
              <a:t>java</a:t>
            </a:r>
            <a:r>
              <a:rPr lang="ko-KR" altLang="en-US" dirty="0" smtClean="0"/>
              <a:t> 폴더 아래에 </a:t>
            </a:r>
            <a:r>
              <a:rPr lang="en-US" altLang="ko-KR" dirty="0" smtClean="0"/>
              <a:t>Fragment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: FragmentA.java </a:t>
            </a:r>
            <a:r>
              <a:rPr lang="ko-KR" altLang="en-US" dirty="0" smtClean="0"/>
              <a:t>생성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43" y="3133490"/>
            <a:ext cx="5177426" cy="362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6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Fragment </a:t>
            </a:r>
            <a:r>
              <a:rPr lang="ko-KR" altLang="en-US" dirty="0"/>
              <a:t>생성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java</a:t>
            </a:r>
            <a:r>
              <a:rPr lang="ko-KR" altLang="en-US" dirty="0"/>
              <a:t>폴더 아래에 </a:t>
            </a:r>
            <a:r>
              <a:rPr lang="en-US" altLang="ko-KR" dirty="0"/>
              <a:t>FragmentA.java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 smtClean="0"/>
              <a:t>[Fragment Name]</a:t>
            </a:r>
            <a:r>
              <a:rPr lang="ko-KR" altLang="en-US" dirty="0" smtClean="0"/>
              <a:t>을 </a:t>
            </a:r>
            <a:r>
              <a:rPr lang="en-US" altLang="ko-KR" dirty="0" err="1" smtClean="0"/>
              <a:t>FragmentA</a:t>
            </a:r>
            <a:r>
              <a:rPr lang="ko-KR" altLang="en-US" dirty="0" smtClean="0"/>
              <a:t>로 설정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[Fragment Layout name]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fragment_a</a:t>
            </a:r>
            <a:r>
              <a:rPr lang="ko-KR" altLang="en-US" dirty="0" smtClean="0"/>
              <a:t>로 설정</a:t>
            </a:r>
            <a:endParaRPr lang="en-US" altLang="ko-KR" dirty="0"/>
          </a:p>
          <a:p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2548433" y="2636184"/>
            <a:ext cx="5189141" cy="3982119"/>
            <a:chOff x="2548433" y="2636184"/>
            <a:chExt cx="5189141" cy="398211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8433" y="2636184"/>
              <a:ext cx="4686868" cy="3982119"/>
            </a:xfrm>
            <a:prstGeom prst="rect">
              <a:avLst/>
            </a:prstGeom>
          </p:spPr>
        </p:pic>
        <p:sp>
          <p:nvSpPr>
            <p:cNvPr id="11" name="Rectangle 4"/>
            <p:cNvSpPr/>
            <p:nvPr/>
          </p:nvSpPr>
          <p:spPr>
            <a:xfrm>
              <a:off x="5190832" y="4446089"/>
              <a:ext cx="1483056" cy="3821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44063" y="4916718"/>
              <a:ext cx="239351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rgbClr val="FF0000"/>
                  </a:solidFill>
                </a:rPr>
                <a:t>※ </a:t>
              </a:r>
              <a:r>
                <a:rPr lang="ko-KR" altLang="en-US" b="1" dirty="0" smtClean="0">
                  <a:solidFill>
                    <a:srgbClr val="FF0000"/>
                  </a:solidFill>
                </a:rPr>
                <a:t>체크 해제 할 것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259132" y="4273700"/>
              <a:ext cx="1281686" cy="138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143357" y="4230443"/>
              <a:ext cx="14064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 smtClean="0"/>
                <a:t>fragment_a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2236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Fragment </a:t>
            </a:r>
            <a:r>
              <a:rPr lang="ko-KR" altLang="en-US" dirty="0"/>
              <a:t>생성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FragmentA.java</a:t>
            </a:r>
          </a:p>
          <a:p>
            <a:pPr lvl="1"/>
            <a:r>
              <a:rPr lang="ko-KR" altLang="en-US" dirty="0" err="1" smtClean="0"/>
              <a:t>프래그먼트는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onCreatedView</a:t>
            </a:r>
            <a:r>
              <a:rPr lang="en-US" altLang="ko-KR" dirty="0" smtClean="0"/>
              <a:t>() </a:t>
            </a:r>
            <a:r>
              <a:rPr lang="ko-KR" altLang="en-US" dirty="0" err="1" smtClean="0"/>
              <a:t>콜백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메소트를</a:t>
            </a:r>
            <a:r>
              <a:rPr lang="ko-KR" altLang="en-US" dirty="0" smtClean="0"/>
              <a:t> </a:t>
            </a:r>
            <a:r>
              <a:rPr lang="ko-KR" altLang="en-US" dirty="0"/>
              <a:t>사</a:t>
            </a:r>
            <a:r>
              <a:rPr lang="ko-KR" altLang="en-US" dirty="0" smtClean="0"/>
              <a:t>용하여 레이아웃을 설정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err="1" smtClean="0"/>
              <a:t>액티비티와</a:t>
            </a:r>
            <a:r>
              <a:rPr lang="ko-KR" altLang="en-US" dirty="0" smtClean="0"/>
              <a:t> 마찬가지로</a:t>
            </a:r>
            <a:r>
              <a:rPr lang="en-US" altLang="ko-KR" dirty="0" smtClean="0"/>
              <a:t>, </a:t>
            </a:r>
          </a:p>
          <a:p>
            <a:pPr marL="457200" lvl="1" indent="0">
              <a:buNone/>
            </a:pPr>
            <a:r>
              <a:rPr lang="en-US" altLang="ko-KR" dirty="0" smtClean="0"/>
              <a:t>	</a:t>
            </a:r>
            <a:r>
              <a:rPr lang="ko-KR" altLang="en-US" dirty="0" err="1" smtClean="0"/>
              <a:t>프래그먼트가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액티비티에</a:t>
            </a:r>
            <a:r>
              <a:rPr lang="ko-KR" altLang="en-US" dirty="0" smtClean="0"/>
              <a:t> 추가되거나 제거될 때</a:t>
            </a:r>
            <a:r>
              <a:rPr lang="en-US" altLang="ko-KR" dirty="0" smtClean="0"/>
              <a:t>, </a:t>
            </a:r>
          </a:p>
          <a:p>
            <a:pPr marL="457200" lvl="1" indent="0">
              <a:buNone/>
            </a:pPr>
            <a:r>
              <a:rPr lang="en-US" altLang="ko-KR" dirty="0" smtClean="0"/>
              <a:t>	</a:t>
            </a:r>
            <a:r>
              <a:rPr lang="ko-KR" altLang="en-US" dirty="0" err="1" smtClean="0"/>
              <a:t>프래그먼트의</a:t>
            </a:r>
            <a:r>
              <a:rPr lang="ko-KR" altLang="en-US" dirty="0" smtClean="0"/>
              <a:t> 상태를 관리하려면 </a:t>
            </a:r>
            <a:r>
              <a:rPr lang="en-US" altLang="ko-KR" dirty="0" smtClean="0"/>
              <a:t>life cycle </a:t>
            </a:r>
            <a:r>
              <a:rPr lang="ko-KR" altLang="en-US" dirty="0" err="1" smtClean="0"/>
              <a:t>콜백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메소드를</a:t>
            </a:r>
            <a:r>
              <a:rPr lang="ko-KR" altLang="en-US" dirty="0" smtClean="0"/>
              <a:t> 구현하여야 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98152" y="2470903"/>
            <a:ext cx="8393448" cy="237624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vert="horz" wrap="squar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Fragment</a:t>
            </a:r>
            <a:r>
              <a:rPr kumimoji="0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Fragment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6666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666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@Override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View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onCreateView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LayoutInflater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inflater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ViewGroup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container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                 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Bundle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savedInstanceState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Inflate the layout for this fragment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inflater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inflate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ko-KR" sz="1600" dirty="0" err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fragment_a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container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ko-KR" altLang="ko-KR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0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Fragment </a:t>
            </a:r>
            <a:r>
              <a:rPr lang="ko-KR" altLang="en-US" dirty="0"/>
              <a:t>생성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프래그먼트의</a:t>
            </a:r>
            <a:r>
              <a:rPr lang="ko-KR" altLang="en-US" dirty="0" smtClean="0"/>
              <a:t> 레이아웃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res/layout/fragment_a.xml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70280" y="2431449"/>
            <a:ext cx="7056120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FrameLayout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"http://schemas.android.com/tools"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:context=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"com.example.owner.fragmenttest1.FragmentA"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:background=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"#ffff00"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&lt;!-- </a:t>
            </a:r>
            <a:r>
              <a:rPr kumimoji="1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0073B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TODO: Update blank fragment layout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--&gt;</a:t>
            </a:r>
            <a:b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TextView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"wrap_content"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"wrap_content"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"Fragment A"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:textSize=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"30sp"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:textStyle=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"italic"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FrameLayout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048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Fragment </a:t>
            </a:r>
            <a:r>
              <a:rPr lang="ko-KR" altLang="en-US" dirty="0"/>
              <a:t>생성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프래그먼트를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액티비티에</a:t>
            </a:r>
            <a:r>
              <a:rPr lang="ko-KR" altLang="en-US" dirty="0" smtClean="0"/>
              <a:t>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res/layout/activity_main.xml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44880" y="2279960"/>
            <a:ext cx="7426960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&lt;?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 version=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"1.0"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encoding=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"utf-8"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?&gt;</a:t>
            </a:r>
            <a:b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android.support.constraint.ConstraintLayout</a:t>
            </a:r>
            <a:r>
              <a:rPr kumimoji="1" lang="en-US" altLang="ko-KR" sz="1400" b="1" i="0" u="none" strike="noStrike" cap="none" normalizeH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b="1" dirty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 </a:t>
            </a:r>
            <a:r>
              <a:rPr kumimoji="1" lang="en-US" altLang="ko-KR" sz="1400" b="1" dirty="0" smtClean="0">
                <a:solidFill>
                  <a:srgbClr val="000080"/>
                </a:solidFill>
                <a:latin typeface="굴림체" pitchFamily="49" charset="-127"/>
                <a:ea typeface="굴림체" pitchFamily="49" charset="-127"/>
                <a:cs typeface="굴림" pitchFamily="50" charset="-127"/>
              </a:rPr>
              <a:t>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app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"http://schemas.android.com/apk/res-auto"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"http://schemas.android.com/tools"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:context=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"com.example.owner.fragmenttest1.MainActivity"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fragment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"@+id/fragment1"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:name=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"com.example.owner.fragmenttest1.FragmentA"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app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:layout_constraintBottom_toBottomOf=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app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:layout_constraintLeft_toLeftOf=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app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:layout_constraintRight_toRightOf=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app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:layout_constraintTop_toTopOf=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"parent"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android.support.constraint.ConstraintLayout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57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Fragment </a:t>
            </a:r>
            <a:r>
              <a:rPr lang="ko-KR" altLang="en-US" dirty="0"/>
              <a:t>생성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실행결과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678" y="1778000"/>
            <a:ext cx="2593647" cy="471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76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 smtClean="0"/>
              <a:t>제어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en-US" altLang="ko-KR" dirty="0" smtClean="0"/>
              <a:t>&lt;fragment&gt; </a:t>
            </a:r>
            <a:r>
              <a:rPr lang="ko-KR" altLang="en-US" dirty="0" smtClean="0"/>
              <a:t>요소를 이용하여 </a:t>
            </a:r>
            <a:r>
              <a:rPr lang="ko-KR" altLang="en-US" dirty="0" err="1" smtClean="0"/>
              <a:t>액티비티의</a:t>
            </a:r>
            <a:r>
              <a:rPr lang="ko-KR" altLang="en-US" dirty="0" smtClean="0"/>
              <a:t> 레이아웃 파일에 </a:t>
            </a:r>
            <a:r>
              <a:rPr lang="ko-KR" altLang="en-US" dirty="0" err="1" smtClean="0"/>
              <a:t>프래그먼트를</a:t>
            </a:r>
            <a:r>
              <a:rPr lang="ko-KR" altLang="en-US" dirty="0" smtClean="0"/>
              <a:t> 추가하는 방법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실행 시간에 </a:t>
            </a:r>
            <a:r>
              <a:rPr lang="ko-KR" altLang="en-US" dirty="0" err="1" smtClean="0"/>
              <a:t>프래그먼트를</a:t>
            </a:r>
            <a:r>
              <a:rPr lang="ko-KR" altLang="en-US" dirty="0" smtClean="0"/>
              <a:t> 동적으로 교체 불가능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>
                <a:solidFill>
                  <a:srgbClr val="00B0F0"/>
                </a:solidFill>
              </a:rPr>
              <a:t>액티비티</a:t>
            </a:r>
            <a:r>
              <a:rPr lang="ko-KR" altLang="en-US" dirty="0" smtClean="0">
                <a:solidFill>
                  <a:srgbClr val="00B0F0"/>
                </a:solidFill>
              </a:rPr>
              <a:t> 실행 중에 </a:t>
            </a:r>
            <a:r>
              <a:rPr lang="ko-KR" altLang="en-US" dirty="0" err="1" smtClean="0">
                <a:solidFill>
                  <a:srgbClr val="00B0F0"/>
                </a:solidFill>
              </a:rPr>
              <a:t>프래그먼트를</a:t>
            </a:r>
            <a:r>
              <a:rPr lang="ko-KR" altLang="en-US" dirty="0" smtClean="0">
                <a:solidFill>
                  <a:srgbClr val="00B0F0"/>
                </a:solidFill>
              </a:rPr>
              <a:t> 변경</a:t>
            </a:r>
            <a:r>
              <a:rPr lang="ko-KR" altLang="en-US" dirty="0" smtClean="0"/>
              <a:t>하려면 </a:t>
            </a:r>
            <a:r>
              <a:rPr lang="ko-KR" altLang="en-US" dirty="0" smtClean="0">
                <a:solidFill>
                  <a:srgbClr val="00B0F0"/>
                </a:solidFill>
              </a:rPr>
              <a:t>코드로 </a:t>
            </a:r>
            <a:r>
              <a:rPr lang="ko-KR" altLang="en-US" dirty="0" err="1" smtClean="0">
                <a:solidFill>
                  <a:srgbClr val="00B0F0"/>
                </a:solidFill>
              </a:rPr>
              <a:t>프래그먼트를</a:t>
            </a:r>
            <a:r>
              <a:rPr lang="ko-KR" altLang="en-US" dirty="0" smtClean="0">
                <a:solidFill>
                  <a:srgbClr val="00B0F0"/>
                </a:solidFill>
              </a:rPr>
              <a:t> 제어</a:t>
            </a:r>
            <a:r>
              <a:rPr lang="ko-KR" altLang="en-US" dirty="0" smtClean="0"/>
              <a:t>하여야 함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42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 smtClean="0"/>
              <a:t>제어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FragmentManager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클래스를 이용하여 </a:t>
            </a:r>
            <a:r>
              <a:rPr lang="en-US" altLang="ko-KR" dirty="0" err="1" smtClean="0"/>
              <a:t>FragmentTransaction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객체를 생성</a:t>
            </a:r>
            <a:endParaRPr lang="en-US" altLang="ko-KR" dirty="0" smtClean="0"/>
          </a:p>
          <a:p>
            <a:r>
              <a:rPr lang="ko-KR" altLang="en-US" dirty="0" err="1" smtClean="0">
                <a:solidFill>
                  <a:srgbClr val="00B0F0"/>
                </a:solidFill>
              </a:rPr>
              <a:t>액티비티</a:t>
            </a:r>
            <a:r>
              <a:rPr lang="ko-KR" altLang="en-US" dirty="0" err="1" smtClean="0"/>
              <a:t>의</a:t>
            </a:r>
            <a:r>
              <a:rPr lang="ko-KR" altLang="en-US" dirty="0" smtClean="0"/>
              <a:t> </a:t>
            </a:r>
            <a:r>
              <a:rPr lang="en-US" altLang="ko-KR" dirty="0" err="1" smtClean="0">
                <a:solidFill>
                  <a:srgbClr val="00B0F0"/>
                </a:solidFill>
              </a:rPr>
              <a:t>onCreate</a:t>
            </a:r>
            <a:r>
              <a:rPr lang="en-US" altLang="ko-KR" dirty="0" smtClean="0">
                <a:solidFill>
                  <a:srgbClr val="00B0F0"/>
                </a:solidFill>
              </a:rPr>
              <a:t>() </a:t>
            </a:r>
            <a:r>
              <a:rPr lang="ko-KR" altLang="en-US" dirty="0" err="1" smtClean="0"/>
              <a:t>메소드에</a:t>
            </a:r>
            <a:r>
              <a:rPr lang="ko-KR" altLang="en-US" dirty="0" err="1"/>
              <a:t>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프래그먼트를</a:t>
            </a:r>
            <a:r>
              <a:rPr lang="ko-KR" altLang="en-US" dirty="0" smtClean="0"/>
              <a:t> 코드로 추가하여야 함</a:t>
            </a:r>
            <a:endParaRPr lang="en-US" altLang="ko-KR" dirty="0" smtClean="0"/>
          </a:p>
          <a:p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69168" y="3303427"/>
            <a:ext cx="8271641" cy="147732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FragmentA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= 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FragmentA();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FragmentManager fm = getFragmentManager();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FragmentTransaction fragmentTransaction = fm.beginTransaction();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fragmentTransaction.add(R.id.</a:t>
            </a:r>
            <a:r>
              <a:rPr kumimoji="0" lang="ko-KR" altLang="ko-KR" b="1" i="1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fragment_container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fragmentTransaction.commit();</a:t>
            </a:r>
            <a:endParaRPr kumimoji="0" lang="ko-KR" altLang="ko-KR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85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 smtClean="0"/>
              <a:t>제어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259840"/>
            <a:ext cx="8229600" cy="4866324"/>
          </a:xfrm>
        </p:spPr>
        <p:txBody>
          <a:bodyPr>
            <a:normAutofit/>
          </a:bodyPr>
          <a:lstStyle/>
          <a:p>
            <a:r>
              <a:rPr lang="en-US" altLang="ko-KR" dirty="0"/>
              <a:t>New Project</a:t>
            </a:r>
          </a:p>
          <a:p>
            <a:pPr lvl="1"/>
            <a:r>
              <a:rPr lang="en-US" altLang="ko-KR" dirty="0"/>
              <a:t>Application Name 	: </a:t>
            </a:r>
            <a:r>
              <a:rPr lang="en-US" altLang="ko-KR" dirty="0" smtClean="0"/>
              <a:t>FragmentTest2</a:t>
            </a:r>
            <a:endParaRPr lang="en-US" altLang="ko-KR" dirty="0"/>
          </a:p>
          <a:p>
            <a:pPr lvl="1"/>
            <a:r>
              <a:rPr lang="en-US" altLang="ko-KR" dirty="0"/>
              <a:t>Activity Name	: </a:t>
            </a:r>
            <a:r>
              <a:rPr lang="en-US" altLang="ko-KR" dirty="0" err="1"/>
              <a:t>MainActivity</a:t>
            </a:r>
            <a:endParaRPr lang="en-US" altLang="ko-KR" dirty="0"/>
          </a:p>
          <a:p>
            <a:pPr lvl="1"/>
            <a:r>
              <a:rPr lang="en-US" altLang="ko-KR" dirty="0"/>
              <a:t>Layout Name	: activity_main.xml</a:t>
            </a:r>
          </a:p>
          <a:p>
            <a:r>
              <a:rPr lang="en-US" altLang="ko-KR" dirty="0" smtClean="0"/>
              <a:t>Fragment </a:t>
            </a:r>
            <a:r>
              <a:rPr lang="ko-KR" altLang="en-US" dirty="0" smtClean="0"/>
              <a:t>추가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FragmentA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FragmentB</a:t>
            </a:r>
            <a:r>
              <a:rPr lang="en-US" altLang="ko-KR" dirty="0" smtClean="0"/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80417" y="3041465"/>
            <a:ext cx="7557271" cy="1883799"/>
          </a:xfrm>
          <a:prstGeom prst="rect">
            <a:avLst/>
          </a:prstGeom>
          <a:solidFill>
            <a:srgbClr val="F7F7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Fragment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Fragment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@Override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View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onCreateView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LayoutInflater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inflater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ViewGroup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container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                 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Bundle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savedInstanceState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Inflate the layout for this fragment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inflater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inflate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ko-KR" sz="1400" dirty="0" err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fragment_a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container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80416" y="4925264"/>
            <a:ext cx="7557271" cy="1883799"/>
          </a:xfrm>
          <a:prstGeom prst="rect">
            <a:avLst/>
          </a:prstGeom>
          <a:solidFill>
            <a:srgbClr val="F7F7F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Fragment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Fragment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@Override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View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onCreateView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LayoutInflater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inflater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ViewGroup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container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                     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Bundle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savedInstanceState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Inflate the layout for this fragment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inflater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inflate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ko-KR" sz="1400" dirty="0" err="1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fragment_b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container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/>
              <a:t>제어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FragmentA</a:t>
            </a:r>
            <a:r>
              <a:rPr lang="ko-KR" altLang="en-US" dirty="0" smtClean="0"/>
              <a:t> 레이아웃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res/layout/fragment_a.xml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158240" y="2359284"/>
            <a:ext cx="6604000" cy="3754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FrameLayout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"http://schemas.android.com/tools"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:context=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"com.example.owner.fragmenttest2.FragmentA"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:background=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"#ffff00"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&lt;!-- </a:t>
            </a:r>
            <a:r>
              <a:rPr kumimoji="1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0073B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TODO: Update blank fragment layout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--&gt;</a:t>
            </a:r>
            <a:b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TextView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:gravity=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"center"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"Fragment A" 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:textSize=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"30sp"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:textStyle=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"bold"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FrameLayout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1879600" y="5191760"/>
            <a:ext cx="229616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4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en-US" altLang="ko-KR" dirty="0" smtClean="0"/>
              <a:t>Fragment </a:t>
            </a:r>
            <a:r>
              <a:rPr lang="ko-KR" altLang="en-US" dirty="0"/>
              <a:t>제어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FragmentB</a:t>
            </a:r>
            <a:r>
              <a:rPr lang="ko-KR" altLang="en-US" dirty="0" smtClean="0"/>
              <a:t> 레이아웃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res/layout/fragment_b.xml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066800" y="2461407"/>
            <a:ext cx="6929120" cy="3754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FrameLayout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"http://schemas.android.com/tools"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:context=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"com.example.owner.fragmenttest2.FragmentB"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:background=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"#00ffff"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&lt;!-- </a:t>
            </a:r>
            <a:r>
              <a:rPr kumimoji="1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0073B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TODO: Update blank fragment layout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--&gt;</a:t>
            </a:r>
            <a:b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TextView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        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:gravity=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"center"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"Fragment B"        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:textSize=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"30sp"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:textStyle=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"italic"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FrameLayout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1869440" y="5303520"/>
            <a:ext cx="229616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80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/>
              <a:t>제어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액티비티</a:t>
            </a:r>
            <a:r>
              <a:rPr lang="ko-KR" altLang="en-US" dirty="0" smtClean="0"/>
              <a:t> 레이아웃 작성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프래그먼트가</a:t>
            </a:r>
            <a:r>
              <a:rPr lang="ko-KR" altLang="en-US" dirty="0" smtClean="0"/>
              <a:t> 들어가는 컨테이너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가져야 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res/layout/activity_main.xml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160" y="2649220"/>
            <a:ext cx="5587999" cy="40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687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/>
              <a:t>제어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90320" y="1392510"/>
            <a:ext cx="6614160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&lt;?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 version=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"1.0"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encoding=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"utf-8"</a:t>
            </a:r>
            <a: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?&gt;</a:t>
            </a:r>
            <a:b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:orientation=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"vertical"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&lt;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"wrap_content"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:orientation=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"horizontal"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&lt;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Button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"@+id/button1"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"0sp"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:layout_weight=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:onClick=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"selectFragment"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</a:t>
            </a:r>
            <a:r>
              <a:rPr kumimoji="1" lang="ko-KR" sz="12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프래그먼트</a:t>
            </a:r>
            <a:r>
              <a:rPr kumimoji="1" 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A"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&lt;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Button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"@+id/button2"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"0sp"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:layout_weight=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:onClick=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"selectFragment"</a:t>
            </a:r>
            <a:b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:text=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</a:t>
            </a:r>
            <a:r>
              <a:rPr kumimoji="1" lang="ko-KR" sz="12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프래그먼트</a:t>
            </a:r>
            <a:r>
              <a:rPr kumimoji="1" 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B"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&lt;/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endParaRPr kumimoji="1" lang="ko-KR" altLang="ko-K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225040" y="4541521"/>
            <a:ext cx="237236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225040" y="3820161"/>
            <a:ext cx="193040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225040" y="6014721"/>
            <a:ext cx="237236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225040" y="5293361"/>
            <a:ext cx="193040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89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/>
              <a:t>제어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09040" y="1940860"/>
            <a:ext cx="6614160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fragment_container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:orientation=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"horizontal"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&gt;&lt;/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endParaRPr kumimoji="1" lang="ko-KR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011680" y="2407920"/>
            <a:ext cx="3210560" cy="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22240" y="1983452"/>
            <a:ext cx="2296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B0F0"/>
                </a:solidFill>
              </a:rPr>
              <a:t>Properties </a:t>
            </a:r>
            <a:r>
              <a:rPr lang="ko-KR" altLang="en-US" sz="1600" dirty="0" smtClean="0">
                <a:solidFill>
                  <a:srgbClr val="00B0F0"/>
                </a:solidFill>
              </a:rPr>
              <a:t> 창의 </a:t>
            </a:r>
            <a:r>
              <a:rPr lang="en-US" altLang="ko-KR" sz="1600" dirty="0" smtClean="0">
                <a:solidFill>
                  <a:srgbClr val="00B0F0"/>
                </a:solidFill>
              </a:rPr>
              <a:t>ID</a:t>
            </a:r>
            <a:r>
              <a:rPr lang="ko-KR" altLang="en-US" sz="1600" dirty="0" smtClean="0">
                <a:solidFill>
                  <a:srgbClr val="00B0F0"/>
                </a:solidFill>
              </a:rPr>
              <a:t>속성에서 추가해보자</a:t>
            </a:r>
            <a:r>
              <a:rPr lang="en-US" altLang="ko-KR" sz="1600" dirty="0" smtClean="0">
                <a:solidFill>
                  <a:srgbClr val="00B0F0"/>
                </a:solidFill>
              </a:rPr>
              <a:t>!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5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en-US" altLang="ko-KR" dirty="0"/>
              <a:t>fragment </a:t>
            </a:r>
            <a:r>
              <a:rPr lang="ko-KR" altLang="en-US" dirty="0"/>
              <a:t>제어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MainActivity.java </a:t>
            </a:r>
            <a:r>
              <a:rPr lang="ko-KR" altLang="en-US" dirty="0" smtClean="0"/>
              <a:t>파일 수정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onCraete</a:t>
            </a:r>
            <a:r>
              <a:rPr lang="en-US" altLang="ko-KR" dirty="0" smtClean="0"/>
              <a:t>() </a:t>
            </a:r>
            <a:r>
              <a:rPr lang="ko-KR" altLang="en-US" dirty="0" err="1" smtClean="0"/>
              <a:t>메소드</a:t>
            </a:r>
            <a:r>
              <a:rPr lang="ko-KR" altLang="en-US" dirty="0" smtClean="0"/>
              <a:t> 안에 코드 추가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2262713"/>
            <a:ext cx="9143999" cy="372409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MainActivity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AppCompatActivity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activity_main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fragment_container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!=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null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if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(savedInstanceState !=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null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return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FragmentA firstFragment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FragmentA();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firstFragment.setArguments(getIntent().getExtras());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getFragmentManager().beginTransaction().add(R.id.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fragment_container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firstFragment).commit();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8731" y="2836924"/>
            <a:ext cx="344454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이전 상태에서 복구되는 경우 </a:t>
            </a:r>
            <a:r>
              <a:rPr lang="ko-KR" altLang="en-US" sz="1400" b="1" dirty="0" err="1" smtClean="0"/>
              <a:t>프래그먼트를</a:t>
            </a:r>
            <a:r>
              <a:rPr lang="ko-KR" altLang="en-US" sz="1400" b="1" dirty="0" smtClean="0"/>
              <a:t> 새로 생성할 필요 없음</a:t>
            </a:r>
            <a:endParaRPr lang="ko-KR" altLang="en-US" sz="1400" b="1" dirty="0"/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4855779" y="3363310"/>
            <a:ext cx="704193" cy="199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28593" y="3662210"/>
            <a:ext cx="3444547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실행 중에 </a:t>
            </a:r>
            <a:r>
              <a:rPr lang="en-US" altLang="ko-KR" sz="1400" b="1" dirty="0" err="1" smtClean="0"/>
              <a:t>LinearLayout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컨테이너에 추가되었기 때문에 </a:t>
            </a:r>
            <a:r>
              <a:rPr lang="ko-KR" altLang="en-US" sz="1400" b="1" dirty="0" err="1" smtClean="0"/>
              <a:t>액티비티는</a:t>
            </a:r>
            <a:r>
              <a:rPr lang="ko-KR" altLang="en-US" sz="1400" b="1" dirty="0" smtClean="0"/>
              <a:t> 이 </a:t>
            </a:r>
            <a:r>
              <a:rPr lang="ko-KR" altLang="en-US" sz="1400" b="1" dirty="0" err="1" smtClean="0"/>
              <a:t>프래그먼트를</a:t>
            </a:r>
            <a:r>
              <a:rPr lang="ko-KR" altLang="en-US" sz="1400" b="1" dirty="0" smtClean="0"/>
              <a:t> 제거하거나 다른 것으로 교체 가능</a:t>
            </a:r>
            <a:endParaRPr lang="ko-KR" altLang="en-US" sz="1400" b="1" dirty="0"/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4724400" y="4179050"/>
            <a:ext cx="704193" cy="199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53" y="5608524"/>
            <a:ext cx="74495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err="1" smtClean="0"/>
              <a:t>프래그먼트</a:t>
            </a:r>
            <a:r>
              <a:rPr lang="ko-KR" altLang="en-US" sz="1400" b="1" dirty="0" smtClean="0"/>
              <a:t> 매니저 객체를 얻어서 트랜잭션을 시작하고 컨테이너에 </a:t>
            </a:r>
            <a:r>
              <a:rPr lang="en-US" altLang="ko-KR" sz="1400" b="1" dirty="0" err="1" smtClean="0"/>
              <a:t>firstFragment</a:t>
            </a:r>
            <a:r>
              <a:rPr lang="ko-KR" altLang="en-US" sz="1400" b="1" dirty="0" smtClean="0"/>
              <a:t>를 추가함</a:t>
            </a:r>
            <a:endParaRPr lang="ko-KR" altLang="en-US" sz="1400" b="1" dirty="0"/>
          </a:p>
        </p:txBody>
      </p:sp>
      <p:cxnSp>
        <p:nvCxnSpPr>
          <p:cNvPr id="13" name="직선 화살표 연결선 12"/>
          <p:cNvCxnSpPr>
            <a:stCxn id="12" idx="0"/>
          </p:cNvCxnSpPr>
          <p:nvPr/>
        </p:nvCxnSpPr>
        <p:spPr>
          <a:xfrm flipH="1" flipV="1">
            <a:off x="4582510" y="5132941"/>
            <a:ext cx="6408" cy="4755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/>
          <p:nvPr/>
        </p:nvSpPr>
        <p:spPr>
          <a:xfrm>
            <a:off x="1042828" y="4821404"/>
            <a:ext cx="7922496" cy="311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209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2400" y="2243361"/>
            <a:ext cx="8952853" cy="360098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selectFragment(View view)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Fragment fr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null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switch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(view.getId())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case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fr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FragmentA();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case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button2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: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fr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new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FragmentB();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FragmentManager fm = getFragmentManager();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FragmentTransaction fragmentTransaction = fm.beginTransaction();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fragmentTransaction.replace(R.id.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fragment_container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, fr);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fragmentTransaction.addToBackStack(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null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    fragmentTransaction.commit();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anose="020B0609000101010101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  <a:cs typeface="Consolas" panose="020B0609020204030204" pitchFamily="49" charset="0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en-US" altLang="ko-KR" dirty="0"/>
              <a:t>F</a:t>
            </a:r>
            <a:r>
              <a:rPr lang="en-US" altLang="ko-KR" dirty="0" smtClean="0"/>
              <a:t>ragment </a:t>
            </a:r>
            <a:r>
              <a:rPr lang="ko-KR" altLang="en-US" dirty="0"/>
              <a:t>제어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MainActivity.java </a:t>
            </a:r>
            <a:r>
              <a:rPr lang="ko-KR" altLang="en-US" dirty="0" smtClean="0"/>
              <a:t>파일 수정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selectFragment</a:t>
            </a:r>
            <a:r>
              <a:rPr lang="en-US" altLang="ko-KR" dirty="0" smtClean="0"/>
              <a:t>() </a:t>
            </a:r>
            <a:r>
              <a:rPr lang="ko-KR" altLang="en-US" dirty="0" err="1" smtClean="0"/>
              <a:t>메소드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633285" y="2514279"/>
            <a:ext cx="55107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에러 발생할 경우 각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소스파일의</a:t>
            </a:r>
            <a:r>
              <a:rPr lang="en-US" altLang="ko-KR" sz="1400" b="1" dirty="0" smtClean="0"/>
              <a:t> import</a:t>
            </a:r>
            <a:r>
              <a:rPr lang="ko-KR" altLang="en-US" sz="1400" b="1" dirty="0" smtClean="0"/>
              <a:t>에서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android.support.v4.app.Fragment</a:t>
            </a:r>
            <a:r>
              <a:rPr lang="ko-KR" altLang="en-US" sz="1400" b="1" dirty="0" smtClean="0"/>
              <a:t>를 </a:t>
            </a:r>
            <a:r>
              <a:rPr lang="en-US" altLang="ko-KR" sz="1400" b="1" dirty="0" err="1" smtClean="0">
                <a:solidFill>
                  <a:srgbClr val="00B0F0"/>
                </a:solidFill>
              </a:rPr>
              <a:t>android.app.Fragment</a:t>
            </a:r>
            <a:r>
              <a:rPr lang="ko-KR" altLang="en-US" sz="1400" b="1" dirty="0" smtClean="0"/>
              <a:t>로 변경 </a:t>
            </a:r>
            <a:endParaRPr lang="ko-KR" altLang="en-US" sz="1400" b="1" dirty="0"/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3520966" y="3029057"/>
            <a:ext cx="777766" cy="2793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1999" y="3336881"/>
            <a:ext cx="372476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err="1" smtClean="0"/>
              <a:t>프래그먼트를</a:t>
            </a:r>
            <a:r>
              <a:rPr lang="ko-KR" altLang="en-US" sz="1400" b="1" dirty="0" smtClean="0"/>
              <a:t> 교체하는 절차는 </a:t>
            </a:r>
            <a:r>
              <a:rPr lang="ko-KR" altLang="en-US" sz="1400" b="1" dirty="0" err="1" smtClean="0"/>
              <a:t>프래그먼트를</a:t>
            </a:r>
            <a:r>
              <a:rPr lang="ko-KR" altLang="en-US" sz="1400" b="1" dirty="0" smtClean="0"/>
              <a:t> 추가하는 절차와 비슷하다</a:t>
            </a:r>
            <a:r>
              <a:rPr lang="en-US" altLang="ko-KR" sz="1400" b="1" dirty="0" smtClean="0"/>
              <a:t>. </a:t>
            </a:r>
            <a:r>
              <a:rPr lang="ko-KR" altLang="en-US" sz="1400" b="1" dirty="0" smtClean="0"/>
              <a:t>하지만 </a:t>
            </a:r>
            <a:r>
              <a:rPr lang="en-US" altLang="ko-KR" sz="1400" b="1" dirty="0" smtClean="0"/>
              <a:t>add() </a:t>
            </a:r>
            <a:r>
              <a:rPr lang="ko-KR" altLang="en-US" sz="1400" b="1" dirty="0" smtClean="0"/>
              <a:t>대신 </a:t>
            </a:r>
            <a:r>
              <a:rPr lang="en-US" altLang="ko-KR" sz="1400" b="1" dirty="0" smtClean="0"/>
              <a:t>replace() </a:t>
            </a:r>
            <a:r>
              <a:rPr lang="ko-KR" altLang="en-US" sz="1400" b="1" dirty="0" err="1" smtClean="0"/>
              <a:t>메소</a:t>
            </a:r>
            <a:r>
              <a:rPr lang="ko-KR" altLang="en-US" sz="1400" b="1" dirty="0" err="1"/>
              <a:t>드</a:t>
            </a:r>
            <a:r>
              <a:rPr lang="ko-KR" altLang="en-US" sz="1400" b="1" dirty="0" err="1" smtClean="0"/>
              <a:t>를</a:t>
            </a:r>
            <a:r>
              <a:rPr lang="ko-KR" altLang="en-US" sz="1400" b="1" dirty="0" smtClean="0"/>
              <a:t> 사용함</a:t>
            </a:r>
            <a:endParaRPr lang="ko-KR" altLang="en-US" sz="1400" b="1" dirty="0"/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5486400" y="4075545"/>
            <a:ext cx="567559" cy="368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7235" y="5870243"/>
            <a:ext cx="744953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err="1" smtClean="0"/>
              <a:t>프래그먼트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트랜젝션을</a:t>
            </a:r>
            <a:r>
              <a:rPr lang="ko-KR" altLang="en-US" sz="1400" b="1" dirty="0" smtClean="0"/>
              <a:t> 수행할 때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사용자가 뒤로 돌아가거나 취소할 수 있도록 허용하는 것이 적절하다</a:t>
            </a:r>
            <a:r>
              <a:rPr lang="en-US" altLang="ko-KR" sz="1400" b="1" dirty="0" smtClean="0"/>
              <a:t>. </a:t>
            </a:r>
            <a:r>
              <a:rPr lang="ko-KR" altLang="en-US" sz="1400" b="1" dirty="0" smtClean="0"/>
              <a:t>사용자가 뒤로 이동할 수 있게 하려면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트랜잭션의 </a:t>
            </a:r>
            <a:r>
              <a:rPr lang="en-US" altLang="ko-KR" sz="1400" b="1" dirty="0" smtClean="0"/>
              <a:t>commit()</a:t>
            </a:r>
            <a:r>
              <a:rPr lang="ko-KR" altLang="en-US" sz="1400" b="1" dirty="0" smtClean="0"/>
              <a:t>을 호출하기 전에 </a:t>
            </a:r>
            <a:r>
              <a:rPr lang="en-US" altLang="ko-KR" sz="1400" b="1" dirty="0" err="1" smtClean="0"/>
              <a:t>addToBackStack</a:t>
            </a:r>
            <a:r>
              <a:rPr lang="en-US" altLang="ko-KR" sz="1400" b="1" dirty="0" smtClean="0"/>
              <a:t>()</a:t>
            </a:r>
            <a:r>
              <a:rPr lang="ko-KR" altLang="en-US" sz="1400" b="1" dirty="0" smtClean="0"/>
              <a:t>을 호출한다</a:t>
            </a:r>
            <a:r>
              <a:rPr lang="en-US" altLang="ko-KR" sz="1400" b="1" dirty="0" smtClean="0"/>
              <a:t>.</a:t>
            </a:r>
            <a:endParaRPr lang="ko-KR" altLang="en-US" sz="1400" b="1" dirty="0"/>
          </a:p>
        </p:txBody>
      </p:sp>
      <p:cxnSp>
        <p:nvCxnSpPr>
          <p:cNvPr id="13" name="직선 화살표 연결선 12"/>
          <p:cNvCxnSpPr>
            <a:stCxn id="12" idx="0"/>
          </p:cNvCxnSpPr>
          <p:nvPr/>
        </p:nvCxnSpPr>
        <p:spPr>
          <a:xfrm flipH="1" flipV="1">
            <a:off x="4151586" y="5210381"/>
            <a:ext cx="420414" cy="6598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/>
          <p:nvPr/>
        </p:nvSpPr>
        <p:spPr>
          <a:xfrm>
            <a:off x="992686" y="4443253"/>
            <a:ext cx="5544748" cy="955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992686" y="5210381"/>
            <a:ext cx="3579314" cy="0"/>
          </a:xfrm>
          <a:prstGeom prst="line">
            <a:avLst/>
          </a:prstGeom>
          <a:ln w="222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74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동적 </a:t>
            </a:r>
            <a:r>
              <a:rPr lang="en-US" altLang="ko-KR" dirty="0" smtClean="0"/>
              <a:t>fragment </a:t>
            </a:r>
            <a:r>
              <a:rPr lang="ko-KR" altLang="en-US" dirty="0" smtClean="0"/>
              <a:t>제어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실행결과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192" y="1666240"/>
            <a:ext cx="2712493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76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41122</TotalTime>
  <Words>850</Words>
  <Application>Microsoft Office PowerPoint</Application>
  <PresentationFormat>화면 슬라이드 쇼(4:3)</PresentationFormat>
  <Paragraphs>223</Paragraphs>
  <Slides>24</Slides>
  <Notes>14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Executive</vt:lpstr>
      <vt:lpstr>프래그먼트</vt:lpstr>
      <vt:lpstr>Fragment</vt:lpstr>
      <vt:lpstr>Fragment example</vt:lpstr>
      <vt:lpstr>특징</vt:lpstr>
      <vt:lpstr>Fragment Life Cycle</vt:lpstr>
      <vt:lpstr>Fragment Life Cycle</vt:lpstr>
      <vt:lpstr>Fragment 생성</vt:lpstr>
      <vt:lpstr>Fragment 생성</vt:lpstr>
      <vt:lpstr>Fragment 생성</vt:lpstr>
      <vt:lpstr>Fragment 생성</vt:lpstr>
      <vt:lpstr>Fragment 생성</vt:lpstr>
      <vt:lpstr>Fragment 생성</vt:lpstr>
      <vt:lpstr>동적 Fragment 제어</vt:lpstr>
      <vt:lpstr>동적 Fragment 제어</vt:lpstr>
      <vt:lpstr>동적 Fragment 제어</vt:lpstr>
      <vt:lpstr>동적 Fragment 제어</vt:lpstr>
      <vt:lpstr>동적 Fragment 제어</vt:lpstr>
      <vt:lpstr>동적 Fragment 제어</vt:lpstr>
      <vt:lpstr>동적 Fragment 제어</vt:lpstr>
      <vt:lpstr>동적 Fragment 제어</vt:lpstr>
      <vt:lpstr>동적 fragment 제어</vt:lpstr>
      <vt:lpstr>동적 Fragment 제어</vt:lpstr>
      <vt:lpstr>동적 fragment 제어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1925</cp:revision>
  <cp:lastPrinted>2011-03-01T18:43:48Z</cp:lastPrinted>
  <dcterms:created xsi:type="dcterms:W3CDTF">2010-10-12T07:50:15Z</dcterms:created>
  <dcterms:modified xsi:type="dcterms:W3CDTF">2017-09-19T04:15:48Z</dcterms:modified>
</cp:coreProperties>
</file>