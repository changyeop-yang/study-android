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23"/>
  </p:notesMasterIdLst>
  <p:sldIdLst>
    <p:sldId id="256" r:id="rId2"/>
    <p:sldId id="375" r:id="rId3"/>
    <p:sldId id="427" r:id="rId4"/>
    <p:sldId id="369" r:id="rId5"/>
    <p:sldId id="370" r:id="rId6"/>
    <p:sldId id="372" r:id="rId7"/>
    <p:sldId id="371" r:id="rId8"/>
    <p:sldId id="373" r:id="rId9"/>
    <p:sldId id="374" r:id="rId10"/>
    <p:sldId id="466" r:id="rId11"/>
    <p:sldId id="428" r:id="rId12"/>
    <p:sldId id="467" r:id="rId13"/>
    <p:sldId id="468" r:id="rId14"/>
    <p:sldId id="469" r:id="rId15"/>
    <p:sldId id="470" r:id="rId16"/>
    <p:sldId id="430" r:id="rId17"/>
    <p:sldId id="431" r:id="rId18"/>
    <p:sldId id="432" r:id="rId19"/>
    <p:sldId id="433" r:id="rId20"/>
    <p:sldId id="471" r:id="rId21"/>
    <p:sldId id="294" r:id="rId22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FF"/>
    <a:srgbClr val="005BE2"/>
    <a:srgbClr val="004CBC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8" autoAdjust="0"/>
    <p:restoredTop sz="76140" autoAdjust="0"/>
  </p:normalViewPr>
  <p:slideViewPr>
    <p:cSldViewPr snapToGrid="0">
      <p:cViewPr varScale="1">
        <p:scale>
          <a:sx n="67" d="100"/>
          <a:sy n="67" d="100"/>
        </p:scale>
        <p:origin x="1349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20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97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977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기기나 </a:t>
            </a:r>
            <a:r>
              <a:rPr lang="en-US" altLang="ko-KR" dirty="0" err="1" smtClean="0"/>
              <a:t>sdk</a:t>
            </a:r>
            <a:r>
              <a:rPr lang="en-US" altLang="ko-KR" dirty="0" smtClean="0"/>
              <a:t> </a:t>
            </a:r>
            <a:r>
              <a:rPr lang="ko-KR" altLang="en-US" smtClean="0"/>
              <a:t>버전에 </a:t>
            </a:r>
            <a:r>
              <a:rPr lang="ko-KR" altLang="en-US" dirty="0" smtClean="0"/>
              <a:t>따라 다름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526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6869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3768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2822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62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690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27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Application name 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Sensor</a:t>
            </a:r>
            <a:r>
              <a:rPr lang="ko-KR" altLang="en-US" dirty="0" smtClean="0"/>
              <a:t>로 생성</a:t>
            </a:r>
            <a:endParaRPr lang="en-US" altLang="ko-KR" dirty="0" smtClean="0"/>
          </a:p>
          <a:p>
            <a:r>
              <a:rPr lang="en-US" altLang="ko-KR" dirty="0" smtClean="0"/>
              <a:t>Lollipop (5.1) </a:t>
            </a:r>
            <a:r>
              <a:rPr lang="ko-KR" altLang="en-US" dirty="0" smtClean="0"/>
              <a:t>기준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214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21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21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278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SensorListener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생성</a:t>
            </a:r>
            <a:endParaRPr lang="en-US" altLang="ko-KR" dirty="0" smtClean="0"/>
          </a:p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 smtClean="0"/>
              <a:t>Lollipop (5.1) </a:t>
            </a:r>
            <a:r>
              <a:rPr lang="ko-KR" altLang="en-US" dirty="0" smtClean="0"/>
              <a:t>기준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214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179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619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2923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422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왼쪽은 </a:t>
            </a:r>
            <a:r>
              <a:rPr lang="en-US" altLang="ko-KR" dirty="0" smtClean="0"/>
              <a:t>15</a:t>
            </a:r>
            <a:r>
              <a:rPr lang="ko-KR" altLang="en-US" dirty="0" smtClean="0"/>
              <a:t>년 자료</a:t>
            </a:r>
            <a:endParaRPr lang="en-US" altLang="ko-KR" dirty="0" smtClean="0"/>
          </a:p>
          <a:p>
            <a:r>
              <a:rPr lang="ko-KR" altLang="en-US" dirty="0" smtClean="0"/>
              <a:t>오른쪽은 </a:t>
            </a:r>
            <a:r>
              <a:rPr lang="en-US" altLang="ko-KR" dirty="0" smtClean="0"/>
              <a:t>16</a:t>
            </a:r>
            <a:r>
              <a:rPr lang="ko-KR" altLang="en-US" dirty="0" smtClean="0"/>
              <a:t>년 자료</a:t>
            </a:r>
            <a:endParaRPr lang="en-US" altLang="ko-KR" dirty="0" smtClean="0"/>
          </a:p>
          <a:p>
            <a:r>
              <a:rPr lang="ko-KR" altLang="en-US" dirty="0" smtClean="0"/>
              <a:t>차이점</a:t>
            </a:r>
            <a:r>
              <a:rPr lang="ko-KR" altLang="en-US" baseline="0" dirty="0" smtClean="0"/>
              <a:t> </a:t>
            </a:r>
            <a:r>
              <a:rPr lang="en-US" altLang="ko-KR" baseline="0" dirty="0" smtClean="0"/>
              <a:t>= </a:t>
            </a:r>
            <a:r>
              <a:rPr lang="ko-KR" altLang="en-US" baseline="0" dirty="0" smtClean="0"/>
              <a:t>왼쪽 </a:t>
            </a:r>
            <a:r>
              <a:rPr lang="en-US" altLang="ko-KR" baseline="0" dirty="0" smtClean="0"/>
              <a:t>: </a:t>
            </a:r>
            <a:r>
              <a:rPr lang="ko-KR" altLang="en-US" baseline="0" dirty="0" smtClean="0"/>
              <a:t>기기를 꽂아서 데이터 출력</a:t>
            </a:r>
            <a:r>
              <a:rPr lang="ko-KR" altLang="en-US" baseline="0" dirty="0"/>
              <a:t> </a:t>
            </a:r>
            <a:r>
              <a:rPr lang="en-US" altLang="ko-KR" baseline="0" dirty="0" smtClean="0"/>
              <a:t>// </a:t>
            </a:r>
            <a:r>
              <a:rPr lang="ko-KR" altLang="en-US" baseline="0" dirty="0" smtClean="0"/>
              <a:t>오른쪽 </a:t>
            </a:r>
            <a:r>
              <a:rPr lang="en-US" altLang="ko-KR" baseline="0" dirty="0" smtClean="0"/>
              <a:t>: </a:t>
            </a:r>
            <a:r>
              <a:rPr lang="ko-KR" altLang="en-US" baseline="0" smtClean="0"/>
              <a:t>에뮬레이터로 데이터 출력</a:t>
            </a:r>
            <a:endParaRPr lang="en-US" altLang="ko-KR" baseline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42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148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668811"/>
            <a:chOff x="983729" y="101774"/>
            <a:chExt cx="1474704" cy="668811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4257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  <a:p>
              <a:pPr>
                <a:lnSpc>
                  <a:spcPts val="1300"/>
                </a:lnSpc>
              </a:pP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  <a:p>
              <a:endParaRPr lang="ko-KR" alt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센서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 dirty="0"/>
          </a:p>
          <a:p>
            <a:r>
              <a:rPr lang="en-US" altLang="ko-KR" dirty="0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Sensors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SensorManager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기기에서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 가능한 센서의 정보를 확인하고 해당 센서에 </a:t>
            </a:r>
            <a:r>
              <a:rPr lang="ko-KR" altLang="en-US" dirty="0" err="1" smtClean="0"/>
              <a:t>리스너</a:t>
            </a:r>
            <a:r>
              <a:rPr lang="ko-KR" altLang="en-US" dirty="0" smtClean="0"/>
              <a:t> 부착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getSensorList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</a:t>
            </a:r>
            <a:r>
              <a:rPr lang="en-US" altLang="ko-KR" dirty="0"/>
              <a:t>type)</a:t>
            </a:r>
          </a:p>
          <a:p>
            <a:pPr lvl="1"/>
            <a:r>
              <a:rPr lang="en-US" altLang="ko-KR" dirty="0" err="1" smtClean="0"/>
              <a:t>registerListener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SensorEventListener</a:t>
            </a:r>
            <a:r>
              <a:rPr lang="en-US" altLang="ko-KR" dirty="0" smtClean="0"/>
              <a:t> </a:t>
            </a:r>
            <a:r>
              <a:rPr lang="en-US" altLang="ko-KR" dirty="0"/>
              <a:t>listener, Sensor </a:t>
            </a:r>
            <a:r>
              <a:rPr lang="en-US" altLang="ko-KR" dirty="0" err="1"/>
              <a:t>sensor</a:t>
            </a:r>
            <a:r>
              <a:rPr lang="en-US" altLang="ko-KR" dirty="0"/>
              <a:t>, </a:t>
            </a:r>
            <a:r>
              <a:rPr lang="en-US" altLang="ko-KR" dirty="0" err="1"/>
              <a:t>int</a:t>
            </a:r>
            <a:r>
              <a:rPr lang="en-US" altLang="ko-KR" dirty="0"/>
              <a:t> rate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/>
          </a:p>
          <a:p>
            <a:r>
              <a:rPr lang="en-US" altLang="ko-KR" dirty="0" smtClean="0"/>
              <a:t>Sensor</a:t>
            </a:r>
          </a:p>
          <a:p>
            <a:pPr lvl="1"/>
            <a:r>
              <a:rPr lang="ko-KR" altLang="en-US" dirty="0" smtClean="0"/>
              <a:t>센서의 정보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이름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종류</a:t>
            </a:r>
            <a:r>
              <a:rPr lang="en-US" altLang="ko-KR" dirty="0" smtClean="0"/>
              <a:t>, </a:t>
            </a:r>
            <a:r>
              <a:rPr lang="ko-KR" altLang="en-US" dirty="0" smtClean="0"/>
              <a:t>범위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정밀도 등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안드로이드는</a:t>
            </a:r>
            <a:r>
              <a:rPr lang="ko-KR" altLang="en-US" dirty="0" smtClean="0"/>
              <a:t> 동일한 센서를 목적에 따라 여러 개 부착하여 사용 가능</a:t>
            </a:r>
            <a:endParaRPr lang="en-US" altLang="ko-KR" dirty="0" smtClean="0"/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2764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SensorManager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SensorManager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</a:t>
            </a:r>
            <a:r>
              <a:rPr lang="ko-KR" altLang="en-US" dirty="0"/>
              <a:t>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List&lt;Sensor&gt; </a:t>
            </a:r>
            <a:r>
              <a:rPr lang="en-US" altLang="ko-KR" b="1" dirty="0" err="1" smtClean="0"/>
              <a:t>getSensorList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type): </a:t>
            </a:r>
            <a:r>
              <a:rPr lang="ko-KR" altLang="en-US" dirty="0" smtClean="0"/>
              <a:t>센서 목록 조사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Sensor </a:t>
            </a:r>
            <a:r>
              <a:rPr lang="en-US" altLang="ko-KR" b="1" dirty="0" err="1" smtClean="0"/>
              <a:t>getDefaultSensor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type): </a:t>
            </a:r>
            <a:r>
              <a:rPr lang="ko-KR" altLang="en-US" dirty="0" smtClean="0"/>
              <a:t>특정 타입에 대한 대표 센서 획득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boolean</a:t>
            </a:r>
            <a:r>
              <a:rPr lang="en-US" altLang="ko-KR" dirty="0" smtClean="0"/>
              <a:t> </a:t>
            </a:r>
            <a:r>
              <a:rPr lang="en-US" altLang="ko-KR" b="1" dirty="0" err="1" smtClean="0"/>
              <a:t>registerListener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SensorEventListener</a:t>
            </a:r>
            <a:r>
              <a:rPr lang="en-US" altLang="ko-KR" dirty="0" smtClean="0"/>
              <a:t> listener, Sensor s, </a:t>
            </a:r>
            <a:r>
              <a:rPr lang="en-US" altLang="ko-KR" dirty="0" err="1" smtClean="0"/>
              <a:t>int</a:t>
            </a:r>
            <a:r>
              <a:rPr lang="en-US" altLang="ko-KR" dirty="0" smtClean="0"/>
              <a:t> rate [, Handler  h])</a:t>
            </a:r>
          </a:p>
          <a:p>
            <a:pPr lvl="2"/>
            <a:r>
              <a:rPr lang="ko-KR" altLang="en-US" dirty="0" smtClean="0"/>
              <a:t>센서리스너</a:t>
            </a:r>
            <a:r>
              <a:rPr lang="en-US" altLang="ko-KR" dirty="0" smtClean="0"/>
              <a:t>(</a:t>
            </a:r>
            <a:r>
              <a:rPr lang="en-US" altLang="ko-KR" dirty="0" err="1"/>
              <a:t>onSensorChanged</a:t>
            </a:r>
            <a:r>
              <a:rPr lang="en-US" altLang="ko-KR" dirty="0"/>
              <a:t> </a:t>
            </a:r>
            <a:r>
              <a:rPr lang="ko-KR" altLang="en-US" dirty="0"/>
              <a:t>메서드 </a:t>
            </a:r>
            <a:r>
              <a:rPr lang="ko-KR" altLang="en-US" dirty="0" smtClean="0"/>
              <a:t>구현</a:t>
            </a:r>
            <a:r>
              <a:rPr lang="en-US" altLang="ko-KR" dirty="0" smtClean="0"/>
              <a:t>)</a:t>
            </a:r>
            <a:r>
              <a:rPr lang="ko-KR" altLang="en-US" dirty="0" smtClean="0"/>
              <a:t> 등록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SENSOR_DELAY_UI: UI </a:t>
            </a:r>
            <a:r>
              <a:rPr lang="ko-KR" altLang="en-US" dirty="0" smtClean="0"/>
              <a:t>갱신에 필요한 정도의 주기</a:t>
            </a:r>
            <a:endParaRPr lang="en-US" altLang="ko-KR" dirty="0" smtClean="0"/>
          </a:p>
          <a:p>
            <a:pPr lvl="2"/>
            <a:r>
              <a:rPr lang="en-US" altLang="ko-KR" dirty="0" smtClean="0"/>
              <a:t>SENSOR_DELAY_NORMAL</a:t>
            </a:r>
          </a:p>
          <a:p>
            <a:pPr lvl="2"/>
            <a:r>
              <a:rPr lang="en-US" altLang="ko-KR" dirty="0" smtClean="0"/>
              <a:t>SENSOR_DELAY_GAME</a:t>
            </a:r>
          </a:p>
          <a:p>
            <a:pPr lvl="2"/>
            <a:r>
              <a:rPr lang="en-US" altLang="ko-KR" dirty="0" smtClean="0"/>
              <a:t>SENSOR_DELAY_FASTEST</a:t>
            </a:r>
          </a:p>
          <a:p>
            <a:pPr lvl="1"/>
            <a:r>
              <a:rPr lang="en-US" altLang="ko-KR" dirty="0" smtClean="0"/>
              <a:t>void </a:t>
            </a:r>
            <a:r>
              <a:rPr lang="en-US" altLang="ko-KR" b="1" dirty="0" err="1" smtClean="0"/>
              <a:t>unregisterListener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SensorEventListener</a:t>
            </a:r>
            <a:r>
              <a:rPr lang="en-US" altLang="ko-KR" dirty="0" smtClean="0"/>
              <a:t> listener [, Sensor sensor]): </a:t>
            </a:r>
            <a:r>
              <a:rPr lang="ko-KR" altLang="en-US" dirty="0" smtClean="0"/>
              <a:t>해제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SensorEvent</a:t>
            </a:r>
            <a:r>
              <a:rPr lang="en-US" altLang="ko-KR" dirty="0" smtClean="0"/>
              <a:t> </a:t>
            </a:r>
            <a:r>
              <a:rPr lang="ko-KR" altLang="en-US" dirty="0" smtClean="0"/>
              <a:t>객체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int</a:t>
            </a:r>
            <a:r>
              <a:rPr lang="en-US" altLang="ko-KR" dirty="0" smtClean="0"/>
              <a:t> accuracy(</a:t>
            </a:r>
            <a:r>
              <a:rPr lang="ko-KR" altLang="en-US" dirty="0" smtClean="0"/>
              <a:t>정확도</a:t>
            </a:r>
            <a:r>
              <a:rPr lang="en-US" altLang="ko-KR" dirty="0" smtClean="0"/>
              <a:t>), Sensor </a:t>
            </a:r>
            <a:r>
              <a:rPr lang="en-US" altLang="ko-KR" dirty="0" err="1" smtClean="0"/>
              <a:t>sensor</a:t>
            </a:r>
            <a:r>
              <a:rPr lang="en-US" altLang="ko-KR" dirty="0" smtClean="0"/>
              <a:t>, long timestamp, float[] </a:t>
            </a:r>
            <a:r>
              <a:rPr lang="en-US" altLang="ko-KR" b="1" dirty="0" smtClean="0"/>
              <a:t>values</a:t>
            </a:r>
            <a:r>
              <a:rPr lang="en-US" altLang="ko-KR" dirty="0" smtClean="0"/>
              <a:t> (</a:t>
            </a:r>
            <a:r>
              <a:rPr lang="ko-KR" altLang="en-US" dirty="0" smtClean="0"/>
              <a:t>센서값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r>
              <a:rPr lang="en-US" altLang="ko-KR" dirty="0" err="1"/>
              <a:t>SensorManager</a:t>
            </a:r>
            <a:r>
              <a:rPr lang="en-US" altLang="ko-KR" dirty="0"/>
              <a:t> </a:t>
            </a:r>
            <a:r>
              <a:rPr lang="ko-KR" altLang="en-US" dirty="0"/>
              <a:t>객체 획득</a:t>
            </a:r>
            <a:endParaRPr lang="en-US" altLang="ko-KR" dirty="0"/>
          </a:p>
          <a:p>
            <a:pPr lvl="1"/>
            <a:r>
              <a:rPr lang="en-US" altLang="ko-KR" dirty="0"/>
              <a:t>(</a:t>
            </a:r>
            <a:r>
              <a:rPr lang="en-US" altLang="ko-KR" dirty="0" err="1"/>
              <a:t>SensorManager</a:t>
            </a:r>
            <a:r>
              <a:rPr lang="en-US" altLang="ko-KR" dirty="0"/>
              <a:t>) </a:t>
            </a:r>
            <a:r>
              <a:rPr lang="en-US" altLang="ko-KR" dirty="0" err="1"/>
              <a:t>getSystemService</a:t>
            </a:r>
            <a:r>
              <a:rPr lang="en-US" altLang="ko-KR" dirty="0"/>
              <a:t>(</a:t>
            </a:r>
            <a:r>
              <a:rPr lang="en-US" altLang="ko-KR" dirty="0" err="1"/>
              <a:t>Context.SENSOR_SERVICE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65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Sensors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smtClean="0"/>
              <a:t>사용</a:t>
            </a:r>
            <a:r>
              <a:rPr lang="en-US" altLang="ko-KR" dirty="0"/>
              <a:t> </a:t>
            </a:r>
            <a:r>
              <a:rPr lang="ko-KR" altLang="en-US" dirty="0" smtClean="0"/>
              <a:t>가능한 센서의 종류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357043"/>
              </p:ext>
            </p:extLst>
          </p:nvPr>
        </p:nvGraphicFramePr>
        <p:xfrm>
          <a:off x="907056" y="2024962"/>
          <a:ext cx="7322544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4096"/>
                <a:gridCol w="3558448"/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상수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종류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TYPE_ACCELEROMETER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가속도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TYPE_MAGNETIC_FIELD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자기장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TYPE_ORIENTATION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회전 방향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TYPE_GYROSCOPE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err="1" smtClean="0"/>
                        <a:t>자이로스코프</a:t>
                      </a:r>
                      <a:endParaRPr lang="ko-KR" altLang="en-US" dirty="0" smtClean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TYPE_LIGHT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조도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TYPE_PRESSURE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압력 감지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TYPE_TEMPERATURE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온도</a:t>
                      </a:r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TYPE_PROXIMITY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근접 거리계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TYPE_GRAVITY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중력 측정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TYPE_LINEAR_ACCELERATION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선형 가속도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TYPE_ROTATION_VECTOR 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smtClean="0"/>
                        <a:t>회전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657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Accelerometer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가속도 센서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X, Y, Z </a:t>
            </a:r>
            <a:r>
              <a:rPr lang="ko-KR" altLang="en-US" dirty="0" smtClean="0"/>
              <a:t>축으로 가속도 값 인식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단위는 </a:t>
            </a:r>
            <a:r>
              <a:rPr lang="en-US" altLang="ko-KR" dirty="0" smtClean="0"/>
              <a:t>(m/s</a:t>
            </a:r>
            <a:r>
              <a:rPr lang="en-US" altLang="ko-KR" baseline="30000" dirty="0" smtClean="0"/>
              <a:t>2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테이블 위에 평평하게 놓여 있을 때는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z</a:t>
            </a:r>
            <a:r>
              <a:rPr lang="ko-KR" altLang="en-US" dirty="0" smtClean="0"/>
              <a:t>축 방향으로 </a:t>
            </a:r>
            <a:r>
              <a:rPr lang="en-US" altLang="ko-KR" dirty="0"/>
              <a:t>-</a:t>
            </a:r>
            <a:r>
              <a:rPr lang="en-US" altLang="ko-KR" dirty="0" smtClean="0"/>
              <a:t>STANDARD_GRAVITY </a:t>
            </a:r>
            <a:r>
              <a:rPr lang="ko-KR" altLang="en-US" dirty="0" smtClean="0"/>
              <a:t>값</a:t>
            </a:r>
            <a:r>
              <a:rPr lang="en-US" altLang="ko-KR" dirty="0" smtClean="0"/>
              <a:t>(-9.8 m/s</a:t>
            </a:r>
            <a:r>
              <a:rPr lang="en-US" altLang="ko-KR" baseline="30000" dirty="0" smtClean="0"/>
              <a:t>2</a:t>
            </a:r>
            <a:r>
              <a:rPr lang="en-US" altLang="ko-KR" dirty="0" smtClean="0"/>
              <a:t>)</a:t>
            </a:r>
            <a:r>
              <a:rPr lang="ko-KR" altLang="en-US" dirty="0" smtClean="0"/>
              <a:t>를 출력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축의 방향으로 이동하였을 때 가해지는 가속도계 값은 반대의 부호를 가짐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18437" name="Picture 5" descr="E:\UserData\tinywolf\Pictures\android-phon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53"/>
          <a:stretch/>
        </p:blipFill>
        <p:spPr bwMode="auto">
          <a:xfrm>
            <a:off x="1517806" y="4038392"/>
            <a:ext cx="1089651" cy="21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 descr="E:\UserData\tinywolf\Pictures\android-phon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4" r="44742"/>
          <a:stretch/>
        </p:blipFill>
        <p:spPr bwMode="auto">
          <a:xfrm>
            <a:off x="4245468" y="4038392"/>
            <a:ext cx="260921" cy="21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/>
          <p:cNvCxnSpPr/>
          <p:nvPr/>
        </p:nvCxnSpPr>
        <p:spPr>
          <a:xfrm>
            <a:off x="864437" y="5090780"/>
            <a:ext cx="230252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2062631" y="3575684"/>
            <a:ext cx="0" cy="28864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/>
          <p:nvPr/>
        </p:nvCxnSpPr>
        <p:spPr>
          <a:xfrm>
            <a:off x="3702725" y="5090780"/>
            <a:ext cx="1244906" cy="0"/>
          </a:xfrm>
          <a:prstGeom prst="straightConnector1">
            <a:avLst/>
          </a:prstGeom>
          <a:ln>
            <a:headEnd type="arrow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12993" y="525888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+X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864437" y="52588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</a:t>
            </a:r>
            <a:r>
              <a:rPr lang="en-US" altLang="ko-KR" dirty="0" smtClean="0"/>
              <a:t>X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191959" y="357568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+Y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2191959" y="614316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</a:t>
            </a:r>
            <a:r>
              <a:rPr lang="en-US" altLang="ko-KR" dirty="0" smtClean="0"/>
              <a:t>Y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4585343" y="525888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-Z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3673489" y="525888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+</a:t>
            </a:r>
            <a:r>
              <a:rPr lang="en-US" altLang="ko-KR" dirty="0" smtClean="0"/>
              <a:t>Z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7265601" y="1889394"/>
            <a:ext cx="476943" cy="473725"/>
          </a:xfrm>
          <a:prstGeom prst="ellipse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/>
          <p:cNvCxnSpPr>
            <a:stCxn id="23" idx="6"/>
          </p:cNvCxnSpPr>
          <p:nvPr/>
        </p:nvCxnSpPr>
        <p:spPr>
          <a:xfrm flipV="1">
            <a:off x="7742544" y="2126256"/>
            <a:ext cx="845081" cy="1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5" name="오른쪽 화살표 34"/>
          <p:cNvSpPr/>
          <p:nvPr/>
        </p:nvSpPr>
        <p:spPr>
          <a:xfrm flipH="1">
            <a:off x="6961916" y="1955494"/>
            <a:ext cx="503573" cy="341523"/>
          </a:xfrm>
          <a:prstGeom prst="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7845374" y="1616940"/>
            <a:ext cx="10567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이동 방향</a:t>
            </a:r>
            <a:endParaRPr lang="ko-KR" alt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5462232" y="1616940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가속도계 값의 방향</a:t>
            </a:r>
            <a:endParaRPr lang="ko-KR" altLang="en-US" sz="1600" dirty="0"/>
          </a:p>
        </p:txBody>
      </p:sp>
      <p:sp>
        <p:nvSpPr>
          <p:cNvPr id="42" name="TextBox 41"/>
          <p:cNvSpPr txBox="1"/>
          <p:nvPr/>
        </p:nvSpPr>
        <p:spPr>
          <a:xfrm>
            <a:off x="6744890" y="2363119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mtClean="0"/>
              <a:t>관성의 힘 작용</a:t>
            </a:r>
            <a:endParaRPr lang="ko-KR" altLang="en-US" sz="1600" dirty="0"/>
          </a:p>
        </p:txBody>
      </p:sp>
      <p:pic>
        <p:nvPicPr>
          <p:cNvPr id="14338" name="Picture 2" descr="http://media.yetihq.com/uploads/device_axes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69105" y="3375780"/>
            <a:ext cx="2906544" cy="30807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32393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Magnetic </a:t>
            </a:r>
            <a:r>
              <a:rPr lang="en-US" altLang="ko-KR" dirty="0"/>
              <a:t>field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자기</a:t>
            </a:r>
            <a:r>
              <a:rPr lang="ko-KR" altLang="en-US" dirty="0"/>
              <a:t>장</a:t>
            </a:r>
            <a:r>
              <a:rPr lang="ko-KR" altLang="en-US" dirty="0" smtClean="0"/>
              <a:t> 센서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X, Y, -Z </a:t>
            </a:r>
            <a:r>
              <a:rPr lang="ko-KR" altLang="en-US" dirty="0" smtClean="0"/>
              <a:t>축 주변의 </a:t>
            </a:r>
            <a:r>
              <a:rPr lang="ko-KR" altLang="en-US" dirty="0" err="1" smtClean="0"/>
              <a:t>자기량</a:t>
            </a:r>
            <a:r>
              <a:rPr lang="ko-KR" altLang="en-US" dirty="0" smtClean="0"/>
              <a:t> 측정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단위는 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uT</a:t>
            </a:r>
            <a:r>
              <a:rPr lang="en-US" altLang="ko-KR" dirty="0" smtClean="0"/>
              <a:t>, </a:t>
            </a:r>
            <a:r>
              <a:rPr lang="en-US" altLang="ko-KR" dirty="0"/>
              <a:t>micro-Tesla</a:t>
            </a:r>
            <a:r>
              <a:rPr lang="en-US" altLang="ko-KR" dirty="0" smtClean="0"/>
              <a:t>)</a:t>
            </a:r>
          </a:p>
          <a:p>
            <a:pPr lvl="1"/>
            <a:r>
              <a:rPr lang="en-US" altLang="ko-KR" dirty="0" smtClean="0"/>
              <a:t>Z</a:t>
            </a:r>
            <a:r>
              <a:rPr lang="ko-KR" altLang="en-US" dirty="0" smtClean="0"/>
              <a:t>축의 값이 역방향인 것에 주의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지구의 자기장 측정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영구자석 주위의 자기장 측정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전류가 흐르는 전선의 자기장 측정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원통 코일의 자기장 측정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17" name="Picture 5" descr="E:\UserData\tinywolf\Pictures\android-phon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53"/>
          <a:stretch/>
        </p:blipFill>
        <p:spPr bwMode="auto">
          <a:xfrm>
            <a:off x="5377990" y="1933616"/>
            <a:ext cx="1089651" cy="21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5" descr="E:\UserData\tinywolf\Pictures\android-phon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4" r="44742"/>
          <a:stretch/>
        </p:blipFill>
        <p:spPr bwMode="auto">
          <a:xfrm>
            <a:off x="7635880" y="3779209"/>
            <a:ext cx="260921" cy="21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직선 화살표 연결선 19"/>
          <p:cNvCxnSpPr/>
          <p:nvPr/>
        </p:nvCxnSpPr>
        <p:spPr>
          <a:xfrm>
            <a:off x="4724621" y="2986004"/>
            <a:ext cx="230252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V="1">
            <a:off x="5922815" y="1470908"/>
            <a:ext cx="0" cy="28864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7182347" y="4831597"/>
            <a:ext cx="1244906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73177" y="315411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+X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724621" y="315411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</a:t>
            </a:r>
            <a:r>
              <a:rPr lang="en-US" altLang="ko-KR" dirty="0" smtClean="0"/>
              <a:t>X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6052143" y="1470908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+Y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6052143" y="40383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-</a:t>
            </a:r>
            <a:r>
              <a:rPr lang="en-US" altLang="ko-KR" dirty="0" smtClean="0"/>
              <a:t>Y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061354" y="499970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-Z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011755" y="499970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+Z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28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Orientation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방향 센서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X, Y, Z </a:t>
            </a:r>
            <a:r>
              <a:rPr lang="ko-KR" altLang="en-US" dirty="0" smtClean="0"/>
              <a:t>축 기준의 회전 방향 인식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단위는 </a:t>
            </a:r>
            <a:r>
              <a:rPr lang="en-US" altLang="ko-KR" dirty="0" smtClean="0"/>
              <a:t>(</a:t>
            </a:r>
            <a:r>
              <a:rPr lang="ko-KR" altLang="en-US" dirty="0" smtClean="0"/>
              <a:t>각도 </a:t>
            </a:r>
            <a:r>
              <a:rPr lang="en-US" altLang="ko-KR" dirty="0" smtClean="0"/>
              <a:t>degree)</a:t>
            </a:r>
          </a:p>
          <a:p>
            <a:pPr lvl="1"/>
            <a:r>
              <a:rPr lang="en-US" altLang="ko-KR" dirty="0" smtClean="0"/>
              <a:t>values[0] = Z</a:t>
            </a:r>
            <a:r>
              <a:rPr lang="ko-KR" altLang="en-US" dirty="0" smtClean="0"/>
              <a:t>축 회전 </a:t>
            </a:r>
            <a:r>
              <a:rPr lang="en-US" altLang="ko-KR" dirty="0" smtClean="0"/>
              <a:t>(0 ~ 360)</a:t>
            </a:r>
            <a:br>
              <a:rPr lang="en-US" altLang="ko-KR" dirty="0" smtClean="0"/>
            </a:br>
            <a:r>
              <a:rPr lang="en-US" altLang="ko-KR" dirty="0" smtClean="0"/>
              <a:t>0 = </a:t>
            </a:r>
            <a:r>
              <a:rPr lang="ko-KR" altLang="en-US" dirty="0" smtClean="0"/>
              <a:t>북</a:t>
            </a:r>
            <a:r>
              <a:rPr lang="en-US" altLang="ko-KR" dirty="0" smtClean="0"/>
              <a:t>, 90 = </a:t>
            </a:r>
            <a:r>
              <a:rPr lang="ko-KR" altLang="en-US" dirty="0" smtClean="0"/>
              <a:t>동</a:t>
            </a:r>
            <a:r>
              <a:rPr lang="en-US" altLang="ko-KR" dirty="0" smtClean="0"/>
              <a:t>, 180 = </a:t>
            </a:r>
            <a:r>
              <a:rPr lang="ko-KR" altLang="en-US" dirty="0" smtClean="0"/>
              <a:t>남</a:t>
            </a:r>
            <a:r>
              <a:rPr lang="en-US" altLang="ko-KR" dirty="0" smtClean="0"/>
              <a:t>, 270 = </a:t>
            </a:r>
            <a:r>
              <a:rPr lang="ko-KR" altLang="en-US" dirty="0" smtClean="0"/>
              <a:t>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values[1] = X</a:t>
            </a:r>
            <a:r>
              <a:rPr lang="ko-KR" altLang="en-US" dirty="0" smtClean="0"/>
              <a:t>축 회전 </a:t>
            </a:r>
            <a:r>
              <a:rPr lang="en-US" altLang="ko-KR" dirty="0" smtClean="0"/>
              <a:t>(-180 ~ 180)</a:t>
            </a:r>
            <a:br>
              <a:rPr lang="en-US" altLang="ko-KR" dirty="0" smtClean="0"/>
            </a:br>
            <a:r>
              <a:rPr lang="en-US" altLang="ko-KR" dirty="0" smtClean="0"/>
              <a:t>0 = </a:t>
            </a:r>
            <a:r>
              <a:rPr lang="ko-KR" altLang="en-US" dirty="0" smtClean="0"/>
              <a:t>바닥에 </a:t>
            </a:r>
            <a:r>
              <a:rPr lang="ko-KR" altLang="en-US" dirty="0"/>
              <a:t>눕</a:t>
            </a:r>
            <a:r>
              <a:rPr lang="ko-KR" altLang="en-US" dirty="0" smtClean="0"/>
              <a:t>힌 상태</a:t>
            </a:r>
            <a:r>
              <a:rPr lang="en-US" altLang="ko-KR" dirty="0" smtClean="0"/>
              <a:t>, -90 = </a:t>
            </a:r>
            <a:r>
              <a:rPr lang="ko-KR" altLang="en-US" dirty="0" smtClean="0"/>
              <a:t>똑바로 세운 상태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values[2] = Y</a:t>
            </a:r>
            <a:r>
              <a:rPr lang="ko-KR" altLang="en-US" dirty="0" smtClean="0"/>
              <a:t>축 회전 </a:t>
            </a:r>
            <a:r>
              <a:rPr lang="en-US" altLang="ko-KR" dirty="0" smtClean="0"/>
              <a:t>(-90 ~ 90)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 smtClean="0"/>
              <a:t>기기에 방향 센서가 없더라도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가상 센서가 작동하여 값을 얻을 수 있음</a:t>
            </a:r>
            <a:endParaRPr lang="en-US" altLang="ko-KR" dirty="0"/>
          </a:p>
          <a:p>
            <a:pPr lvl="2"/>
            <a:r>
              <a:rPr lang="en-US" altLang="ko-KR" dirty="0" smtClean="0"/>
              <a:t>X,Y </a:t>
            </a:r>
            <a:r>
              <a:rPr lang="ko-KR" altLang="en-US" dirty="0" smtClean="0"/>
              <a:t>축은 가속도 센서의 값으로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Z</a:t>
            </a:r>
            <a:r>
              <a:rPr lang="ko-KR" altLang="en-US" dirty="0" smtClean="0"/>
              <a:t>축은 자기장 센서의 값으로 보정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pic>
        <p:nvPicPr>
          <p:cNvPr id="18437" name="Picture 5" descr="E:\UserData\tinywolf\Pictures\android-phon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053"/>
          <a:stretch/>
        </p:blipFill>
        <p:spPr bwMode="auto">
          <a:xfrm>
            <a:off x="6034996" y="3804679"/>
            <a:ext cx="1089651" cy="21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5" descr="E:\UserData\tinywolf\Pictures\android-phon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974" r="44742"/>
          <a:stretch/>
        </p:blipFill>
        <p:spPr bwMode="auto">
          <a:xfrm>
            <a:off x="7810047" y="1669877"/>
            <a:ext cx="260921" cy="210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7230183" y="502517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X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709149" y="3341971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Y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185922" y="289037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Z</a:t>
            </a:r>
            <a:endParaRPr lang="ko-KR" altLang="en-US" dirty="0"/>
          </a:p>
        </p:txBody>
      </p:sp>
      <p:sp>
        <p:nvSpPr>
          <p:cNvPr id="5" name="원호 4"/>
          <p:cNvSpPr/>
          <p:nvPr/>
        </p:nvSpPr>
        <p:spPr>
          <a:xfrm>
            <a:off x="7468318" y="2238167"/>
            <a:ext cx="246221" cy="968196"/>
          </a:xfrm>
          <a:prstGeom prst="arc">
            <a:avLst>
              <a:gd name="adj1" fmla="val 3895525"/>
              <a:gd name="adj2" fmla="val 17573699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7356514" y="2722265"/>
            <a:ext cx="124490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직선 화살표 연결선 6"/>
          <p:cNvCxnSpPr/>
          <p:nvPr/>
        </p:nvCxnSpPr>
        <p:spPr>
          <a:xfrm>
            <a:off x="5381627" y="4857067"/>
            <a:ext cx="2302526" cy="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8" name="원호 37"/>
          <p:cNvSpPr/>
          <p:nvPr/>
        </p:nvSpPr>
        <p:spPr>
          <a:xfrm rot="5400000">
            <a:off x="6456710" y="5611817"/>
            <a:ext cx="246221" cy="968196"/>
          </a:xfrm>
          <a:prstGeom prst="arc">
            <a:avLst>
              <a:gd name="adj1" fmla="val 3895525"/>
              <a:gd name="adj2" fmla="val 17573699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6579821" y="3341971"/>
            <a:ext cx="0" cy="2886418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7" name="원호 36"/>
          <p:cNvSpPr/>
          <p:nvPr/>
        </p:nvSpPr>
        <p:spPr>
          <a:xfrm>
            <a:off x="5542554" y="4372969"/>
            <a:ext cx="246221" cy="968196"/>
          </a:xfrm>
          <a:prstGeom prst="arc">
            <a:avLst>
              <a:gd name="adj1" fmla="val 3895525"/>
              <a:gd name="adj2" fmla="val 17573699"/>
            </a:avLst>
          </a:prstGeom>
          <a:ln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469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Gyroscope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자이로스코프</a:t>
            </a:r>
            <a:r>
              <a:rPr lang="ko-KR" altLang="en-US" dirty="0" smtClean="0"/>
              <a:t> 센서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정밀한 자세 제어 </a:t>
            </a:r>
            <a:r>
              <a:rPr lang="en-US" altLang="ko-KR" dirty="0" smtClean="0"/>
              <a:t>(6</a:t>
            </a:r>
            <a:r>
              <a:rPr lang="ko-KR" altLang="en-US" dirty="0" smtClean="0"/>
              <a:t>축</a:t>
            </a:r>
            <a:r>
              <a:rPr lang="en-US" altLang="ko-KR" dirty="0" smtClean="0"/>
              <a:t>, 9</a:t>
            </a:r>
            <a:r>
              <a:rPr lang="ko-KR" altLang="en-US" dirty="0" smtClean="0"/>
              <a:t>축</a:t>
            </a:r>
            <a:r>
              <a:rPr lang="en-US" altLang="ko-KR" dirty="0" smtClean="0"/>
              <a:t>, 16</a:t>
            </a:r>
            <a:r>
              <a:rPr lang="ko-KR" altLang="en-US" dirty="0" smtClean="0"/>
              <a:t>축 등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기울기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방향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회전량을</a:t>
            </a:r>
            <a:r>
              <a:rPr lang="ko-KR" altLang="en-US" dirty="0" smtClean="0"/>
              <a:t> 정밀하게 측정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pic>
        <p:nvPicPr>
          <p:cNvPr id="19458" name="Picture 2" descr="F:\Downloads\Gyroscope_wheel_animation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056" y="3432175"/>
            <a:ext cx="3048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9" name="Picture 3" descr="F:\Downloads\Gyroscope_operation.gif"/>
          <p:cNvPicPr>
            <a:picLocks noChangeAspect="1"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291" y="314642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683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Etc.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484672"/>
            <a:ext cx="8229600" cy="5114432"/>
          </a:xfrm>
        </p:spPr>
        <p:txBody>
          <a:bodyPr/>
          <a:lstStyle/>
          <a:p>
            <a:r>
              <a:rPr lang="ko-KR" altLang="en-US" dirty="0" smtClean="0"/>
              <a:t>조도 센서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외부의 밝기를 측정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화면 밝기를 자동 조절하기 위해 주로 사용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압력 센서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아직 지원하는 기기가 없음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기압</a:t>
            </a:r>
            <a:r>
              <a:rPr lang="en-US" altLang="ko-KR" dirty="0"/>
              <a:t> </a:t>
            </a:r>
            <a:r>
              <a:rPr lang="ko-KR" altLang="en-US" dirty="0" smtClean="0"/>
              <a:t>혹은 손가락의 압력 등을 대상으로 입력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온도 센서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내부 온도 측정에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외부 온도 측정용 센서도 추가 가능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r>
              <a:rPr lang="ko-KR" altLang="en-US" dirty="0" smtClean="0"/>
              <a:t>근접 센서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스마트폰에</a:t>
            </a:r>
            <a:r>
              <a:rPr lang="ko-KR" altLang="en-US" dirty="0" smtClean="0"/>
              <a:t> 얼굴을 접근하면 조명과 버튼의 상태를 바꿀 때 주로 사용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209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Sensor Manager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Sensors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682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SensorManager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SensorTest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7728" y="2049867"/>
            <a:ext cx="4136069" cy="156966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600" dirty="0" err="1" smtClean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600" dirty="0" smtClean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endParaRPr lang="ko-KR" altLang="en-US" sz="16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 smtClean="0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6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"@+id/Text1"</a:t>
            </a:r>
          </a:p>
          <a:p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 smtClean="0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6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"hello"</a:t>
            </a:r>
          </a:p>
          <a:p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 smtClean="0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6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16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 </a:t>
            </a:r>
          </a:p>
          <a:p>
            <a:r>
              <a:rPr lang="en-US" altLang="ko-KR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 smtClean="0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6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600" i="1" dirty="0" err="1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6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 </a:t>
            </a:r>
          </a:p>
          <a:p>
            <a:r>
              <a:rPr lang="ko-KR" altLang="en-US" sz="16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</a:p>
        </p:txBody>
      </p:sp>
      <p:pic>
        <p:nvPicPr>
          <p:cNvPr id="2050" name="Picture 2" descr="C:\Users\GIBBS\Desktop\Screenshot_147904786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1000" y="1432560"/>
            <a:ext cx="2733750" cy="48600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3934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SensorManager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230" y="1164048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SensorTest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795865"/>
            <a:ext cx="7996100" cy="48320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 class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AppCompatActivity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{</a:t>
            </a:r>
          </a:p>
          <a:p>
            <a:endParaRPr lang="en-US" altLang="ko-K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(Bundle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super.onCreate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setContentView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R.layout.activity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_</a:t>
            </a:r>
            <a:r>
              <a:rPr lang="en-US" altLang="ko-KR" sz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String output = </a:t>
            </a:r>
            <a:r>
              <a:rPr lang="en-US" altLang="ko-KR" sz="1400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""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sensors = 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sz="14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getSystemService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SENSOR_SERVICE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List&lt;Sensor&gt;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listSensor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</a:t>
            </a:r>
            <a:r>
              <a:rPr lang="en-US" altLang="ko-KR" sz="14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getSensorList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sz="1400" u="sng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TYPE_ALL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endParaRPr lang="ko-KR" altLang="en-US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output =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"count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listSensor.size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"\n\n"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endParaRPr lang="ko-KR" altLang="en-US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for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(Sensor s :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listSensor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output += (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"name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s.getName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</a:t>
            </a:r>
            <a:r>
              <a:rPr lang="en-US" altLang="ko-KR" sz="14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ttype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s.getType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</a:t>
            </a:r>
            <a:r>
              <a:rPr lang="en-US" altLang="ko-KR" sz="14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tvender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s.getVendor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</a:t>
            </a:r>
            <a:r>
              <a:rPr lang="en-US" altLang="ko-KR" sz="14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tversion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s.getVersion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</a:t>
            </a:r>
            <a:r>
              <a:rPr lang="en-US" altLang="ko-KR" sz="14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tpower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s.getPower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</a:t>
            </a:r>
            <a:r>
              <a:rPr lang="en-US" altLang="ko-KR" sz="14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tres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s.getResolution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</a:t>
            </a:r>
            <a:r>
              <a:rPr lang="en-US" altLang="ko-KR" sz="1400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trange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s.getMaximumRange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+ </a:t>
            </a:r>
            <a:r>
              <a:rPr lang="en-US" altLang="ko-KR" sz="14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"\n\n"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ko-KR" altLang="en-US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endParaRPr lang="ko-KR" altLang="en-US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txt 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=(</a:t>
            </a:r>
            <a:r>
              <a:rPr lang="en-US" altLang="ko-KR" sz="14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sz="1400" dirty="0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Text1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txt.setText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(output);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  <p:sp>
        <p:nvSpPr>
          <p:cNvPr id="8" name="Rectangle 4"/>
          <p:cNvSpPr/>
          <p:nvPr/>
        </p:nvSpPr>
        <p:spPr>
          <a:xfrm>
            <a:off x="1080204" y="3184510"/>
            <a:ext cx="7613126" cy="44406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496326" y="2784610"/>
            <a:ext cx="4168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 smtClean="0"/>
              <a:t>SensorManager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객체 획득 및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센서 목록 획득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9203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SensorManager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71581" y="1268233"/>
            <a:ext cx="24705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에뮬레이터 화면 </a:t>
            </a:r>
            <a:r>
              <a:rPr lang="en-US" altLang="ko-KR" sz="1600" dirty="0" smtClean="0"/>
              <a:t>(API 23)</a:t>
            </a:r>
            <a:endParaRPr lang="ko-KR" altLang="en-US" sz="1600" dirty="0"/>
          </a:p>
        </p:txBody>
      </p:sp>
      <p:pic>
        <p:nvPicPr>
          <p:cNvPr id="1026" name="Picture 2" descr="C:\Users\GIBBS\Desktop\Screenshot_147904621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581" y="1700031"/>
            <a:ext cx="3026900" cy="466266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157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SensorEventListener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Sensors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95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SensorManager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3199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SensorListener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/res/layout/activity_main.xml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7230" y="1932753"/>
            <a:ext cx="4496744" cy="47089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TableLayout</a:t>
            </a:r>
            <a:endParaRPr lang="en-US" altLang="ko-KR" sz="1500" dirty="0">
              <a:solidFill>
                <a:schemeClr val="accent5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500" i="1" dirty="0" err="1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500" i="1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500" i="1" dirty="0" err="1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 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  <a:endParaRPr lang="ko-KR" altLang="en-US" sz="1500" dirty="0">
              <a:solidFill>
                <a:schemeClr val="accent5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&lt;</a:t>
            </a:r>
            <a:r>
              <a:rPr lang="en-US" altLang="ko-KR" sz="1500" dirty="0" err="1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 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&lt;</a:t>
            </a:r>
            <a:r>
              <a:rPr lang="en-US" altLang="ko-KR" sz="1500" dirty="0" err="1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500" dirty="0" err="1" smtClean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ko-KR" altLang="en-US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방향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</a:t>
            </a:r>
            <a:r>
              <a:rPr lang="en-US" altLang="ko-KR" sz="1500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en-US" altLang="ko-KR" sz="15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&lt;</a:t>
            </a:r>
            <a:r>
              <a:rPr lang="en-US" altLang="ko-KR" sz="1500" dirty="0" err="1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500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id/editText1“ </a:t>
            </a:r>
            <a:r>
              <a:rPr lang="ko-KR" altLang="en-US" sz="15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en-US" sz="1500" dirty="0">
              <a:solidFill>
                <a:schemeClr val="accent5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&lt;/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 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5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</a:t>
            </a:r>
            <a:r>
              <a:rPr lang="ko-KR" altLang="en-US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중력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</a:t>
            </a:r>
            <a:r>
              <a:rPr lang="en-US" altLang="ko-KR" sz="1500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500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id/editText2“ </a:t>
            </a:r>
            <a:r>
              <a:rPr lang="ko-KR" altLang="en-US" sz="15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en-US" sz="1500" dirty="0">
              <a:solidFill>
                <a:schemeClr val="accent5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&lt;/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 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5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＂</a:t>
            </a:r>
            <a:r>
              <a:rPr lang="ko-KR" altLang="en-US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가속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 </a:t>
            </a:r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500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id/editText3“ </a:t>
            </a:r>
            <a:r>
              <a:rPr lang="ko-KR" altLang="en-US" sz="15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en-US" sz="1500" dirty="0">
              <a:solidFill>
                <a:schemeClr val="accent5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&lt;/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 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500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＂</a:t>
            </a:r>
            <a:r>
              <a:rPr lang="ko-KR" altLang="en-US" sz="1500" i="1" dirty="0" err="1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자이로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 </a:t>
            </a:r>
            <a:r>
              <a:rPr lang="en-US" altLang="ko-KR" sz="15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&lt;</a:t>
            </a:r>
            <a:r>
              <a:rPr lang="en-US" altLang="ko-KR" sz="1500" dirty="0" err="1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500" dirty="0" err="1">
                <a:solidFill>
                  <a:srgbClr val="7030A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500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500" i="1" dirty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</a:t>
            </a:r>
            <a:r>
              <a:rPr lang="en-US" altLang="ko-KR" sz="1500" i="1" dirty="0" smtClean="0">
                <a:solidFill>
                  <a:srgbClr val="00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id/editText4“ </a:t>
            </a:r>
            <a:r>
              <a:rPr lang="ko-KR" altLang="en-US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/&gt;</a:t>
            </a:r>
            <a:endParaRPr lang="ko-KR" altLang="en-US" sz="1500" dirty="0">
              <a:solidFill>
                <a:schemeClr val="accent5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&lt;/</a:t>
            </a:r>
            <a:r>
              <a:rPr lang="en-US" altLang="ko-KR" sz="1500" dirty="0" err="1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TableRow</a:t>
            </a:r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500" dirty="0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500" dirty="0" err="1" smtClean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TableLayout</a:t>
            </a:r>
            <a:r>
              <a:rPr lang="en-US" altLang="ko-KR" sz="1500" dirty="0">
                <a:solidFill>
                  <a:schemeClr val="accent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</p:txBody>
      </p:sp>
      <p:pic>
        <p:nvPicPr>
          <p:cNvPr id="3074" name="Picture 2" descr="C:\Users\GIBBS\Desktop\Screenshot_147904914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0750" y="1421734"/>
            <a:ext cx="2936250" cy="52200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266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SensorEventListener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8084264" cy="440120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400" dirty="0" smtClean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@Override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onPause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.onPause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</a:p>
          <a:p>
            <a:endParaRPr lang="ko-KR" altLang="en-US" sz="14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sensors = (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getSystemService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</a:t>
            </a:r>
            <a:r>
              <a:rPr lang="en-US" altLang="ko-KR" sz="14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SENSOR_SERVICE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unregisterListener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mSensorListener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}</a:t>
            </a:r>
          </a:p>
          <a:p>
            <a:endParaRPr lang="ko-KR" altLang="en-US" sz="14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 smtClean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@</a:t>
            </a:r>
            <a:r>
              <a:rPr lang="en-US" altLang="ko-KR" sz="1400" dirty="0">
                <a:solidFill>
                  <a:srgbClr val="646464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Override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protected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onResume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{</a:t>
            </a:r>
          </a:p>
          <a:p>
            <a:r>
              <a:rPr lang="en-US" altLang="ko-KR" sz="140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.onResume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();</a:t>
            </a:r>
          </a:p>
          <a:p>
            <a:endParaRPr lang="ko-KR" altLang="en-US" sz="14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40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delay =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SensorManager.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SENSOR_DELAY_UI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sensors = 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getSystemService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Context.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SENSOR_SERVICE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</a:t>
            </a:r>
            <a:r>
              <a:rPr lang="en-US" altLang="ko-KR" sz="1400" b="1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registerListener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mSensorListener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</a:t>
            </a:r>
            <a:r>
              <a:rPr lang="en-US" altLang="ko-KR" sz="1400" b="1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getDefaultSensor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sz="14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TYPE_ORIENTATION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delay);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sensors.registerListener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mSensorListener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sensors.getDefaultSensor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sz="14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TYPE_GRAVITY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delay);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sensors.registerListener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mSensorListener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sensors.getDefaultSensor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sz="14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TYPE_ACCELEROMETER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 </a:t>
            </a:r>
            <a:r>
              <a:rPr lang="en-US" altLang="ko-KR" sz="14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delay</a:t>
            </a:r>
            <a:r>
              <a:rPr lang="en-US" altLang="ko-KR" sz="14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en-US" altLang="ko-KR" sz="14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SensorListener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16484" y="2818503"/>
            <a:ext cx="7532216" cy="51636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457538" y="2464616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센서리스너 등록해제</a:t>
            </a:r>
            <a:endParaRPr lang="ko-KR" alt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1116356" y="4993343"/>
            <a:ext cx="7336715" cy="4059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859515" y="5437802"/>
            <a:ext cx="1672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센서리스너 등록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2985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SensorEventListener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57529" y="5241327"/>
            <a:ext cx="1672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센서리스너 구현</a:t>
            </a:r>
            <a:endParaRPr lang="ko-KR" alt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33951" y="1937661"/>
            <a:ext cx="7576113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sensors.registerListener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mSensorListener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sensors.getDefaultSensor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sz="1600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TYPE_GYROSCOPE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), 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delay);</a:t>
            </a:r>
          </a:p>
          <a:p>
            <a:endParaRPr lang="en-US" altLang="ko-KR" sz="1600" dirty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}</a:t>
            </a:r>
            <a:endParaRPr lang="ko-KR" altLang="en-US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SensorEventListener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mSensorListener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SensorEventListener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onAccuracyChanged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(Sensor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</a:t>
            </a:r>
            <a:r>
              <a:rPr lang="en-US" altLang="ko-KR" sz="1600" dirty="0" err="1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accuracy) {</a:t>
            </a:r>
          </a:p>
          <a:p>
            <a:r>
              <a:rPr lang="ko-KR" altLang="en-US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endParaRPr lang="ko-KR" altLang="en-US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onSensorChanged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SensorEvent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event) {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event.</a:t>
            </a:r>
            <a:r>
              <a:rPr lang="en-US" altLang="ko-KR" sz="16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accuracy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==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SensorManager.</a:t>
            </a:r>
            <a:r>
              <a:rPr lang="en-US" altLang="ko-KR" sz="16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SENSOR_STATUS_UNRELIABLE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return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endParaRPr lang="ko-KR" altLang="en-US" sz="16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String output = </a:t>
            </a:r>
            <a:r>
              <a:rPr lang="en-US" altLang="ko-KR" sz="160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""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60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float</a:t>
            </a:r>
            <a:r>
              <a:rPr lang="en-US" altLang="ko-KR" sz="16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[] v = </a:t>
            </a:r>
            <a:r>
              <a:rPr lang="en-US" altLang="ko-KR" sz="160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event.</a:t>
            </a:r>
            <a:r>
              <a:rPr lang="en-US" altLang="ko-KR" sz="160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values</a:t>
            </a:r>
            <a:r>
              <a:rPr lang="en-US" altLang="ko-KR" sz="16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en-US" altLang="ko-KR" sz="1600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5058" y="2971804"/>
            <a:ext cx="7229485" cy="2438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Rectangle 8"/>
          <p:cNvSpPr/>
          <p:nvPr/>
        </p:nvSpPr>
        <p:spPr>
          <a:xfrm>
            <a:off x="1033970" y="3849620"/>
            <a:ext cx="7010573" cy="1560983"/>
          </a:xfrm>
          <a:prstGeom prst="rect">
            <a:avLst/>
          </a:prstGeom>
          <a:noFill/>
          <a:ln w="2222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654145" y="3511066"/>
            <a:ext cx="23903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센서값에 대한 처리 구현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97230" y="1280160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SensorListener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012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18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SensorEventListener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6962162" cy="48013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ko-KR" altLang="en-US" sz="14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ko-KR" altLang="en-US" sz="14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switch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event.</a:t>
            </a:r>
            <a:r>
              <a:rPr lang="en-US" altLang="ko-KR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.getType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()) {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</a:t>
            </a:r>
            <a:r>
              <a:rPr lang="en-US" altLang="ko-KR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case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TYPE_ORIENTATION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output 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+=</a:t>
            </a:r>
            <a:endParaRPr lang="en-US" altLang="ko-KR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azimuth:"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v[0]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pitch:"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v[1]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roll:"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v[2] +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txt1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=(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editText1</a:t>
            </a:r>
            <a:r>
              <a:rPr lang="en-US" altLang="ko-KR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txt1.setText(output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en-US" altLang="ko-KR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            </a:t>
            </a:r>
          </a:p>
          <a:p>
            <a:r>
              <a:rPr lang="en-US" altLang="ko-KR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case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dirty="0" err="1" smtClean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TYPE_GRAVITY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  <a:endParaRPr lang="en-US" altLang="ko-KR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   output 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+=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X:"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 v[0]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Y:"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 v[1]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Z:"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 v[2] +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 </a:t>
            </a:r>
            <a:endParaRPr lang="en-US" altLang="ko-KR" dirty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txt2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=(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editText2);</a:t>
            </a:r>
            <a:endParaRPr lang="en-US" altLang="ko-KR" i="1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txt2.setText(output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en-US" altLang="ko-KR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56713" y="1587937"/>
            <a:ext cx="2903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각 타입의 센서값에 대한 처리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SensorListener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53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19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SensorEventListener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97230" y="1926491"/>
            <a:ext cx="7000634" cy="480131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case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TYPE_ACCELEROMETER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output += </a:t>
            </a:r>
            <a:endParaRPr lang="en-US" altLang="ko-KR" dirty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      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  X:"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v[0]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Y:"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v[1]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Z:"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v[2] +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txt3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=(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i="1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editText3);</a:t>
            </a: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txt3.setText(output);</a:t>
            </a:r>
            <a:endParaRPr lang="en-US" altLang="ko-KR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en-US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case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Sensor.</a:t>
            </a:r>
            <a:r>
              <a:rPr lang="en-US" altLang="ko-KR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TYPE_GYROSCOPE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output += </a:t>
            </a:r>
            <a:endParaRPr lang="en-US" altLang="ko-KR" dirty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      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  X:"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v[0] +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      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  Y:"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v[1] 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+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       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  Z:"</a:t>
            </a:r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+ v[2] + </a:t>
            </a:r>
            <a:r>
              <a:rPr lang="en-US" altLang="ko-KR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"\n</a:t>
            </a:r>
            <a:r>
              <a:rPr lang="en-US" altLang="ko-KR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 </a:t>
            </a:r>
            <a:r>
              <a:rPr lang="en-US" altLang="ko-KR" dirty="0" err="1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txt4 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=(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</a:t>
            </a:r>
            <a:r>
              <a:rPr lang="en-US" altLang="ko-KR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i="1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editText4);</a:t>
            </a:r>
            <a:endParaRPr lang="en-US" altLang="ko-KR" i="1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txt4.setText(output</a:t>
            </a:r>
            <a:r>
              <a:rPr lang="en-US" altLang="ko-KR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en-US" altLang="ko-KR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     </a:t>
            </a:r>
            <a:r>
              <a:rPr lang="en-US" altLang="ko-KR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r>
              <a:rPr lang="en-US" altLang="ko-KR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}}};</a:t>
            </a:r>
            <a:endParaRPr lang="en-US" altLang="ko-KR" dirty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56713" y="1587937"/>
            <a:ext cx="29033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각 타입의 센서값에 대한 처리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19868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 smtClean="0">
                <a:solidFill>
                  <a:prstClr val="black"/>
                </a:solidFill>
              </a:rPr>
              <a:t>SensorListener</a:t>
            </a:r>
            <a:endParaRPr lang="en-US" altLang="ko-KR" b="1" dirty="0">
              <a:solidFill>
                <a:prstClr val="black"/>
              </a:solidFill>
            </a:endParaRPr>
          </a:p>
          <a:p>
            <a:r>
              <a:rPr lang="en-US" altLang="ko-KR" dirty="0" smtClean="0">
                <a:solidFill>
                  <a:prstClr val="black"/>
                </a:solidFill>
              </a:rPr>
              <a:t>MainActivity.java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30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SensorEventListener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497" b="42370"/>
          <a:stretch/>
        </p:blipFill>
        <p:spPr>
          <a:xfrm>
            <a:off x="810490" y="1654464"/>
            <a:ext cx="7718187" cy="430991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098" name="Picture 2" descr="C:\Users\GIBBS\Desktop\Screenshot_1479050887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4752" y="1654464"/>
            <a:ext cx="2423925" cy="4309200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86647" y="6003862"/>
            <a:ext cx="15183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 smtClean="0"/>
              <a:t>갤럭시</a:t>
            </a:r>
            <a:r>
              <a:rPr lang="ko-KR" altLang="en-US" sz="1600" dirty="0" smtClean="0"/>
              <a:t> 탭 화면</a:t>
            </a:r>
            <a:endParaRPr lang="ko-KR" alt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050062" y="6021508"/>
            <a:ext cx="16722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 smtClean="0"/>
              <a:t>애뮬레이터</a:t>
            </a:r>
            <a:r>
              <a:rPr lang="ko-KR" altLang="en-US" sz="1600" dirty="0" smtClean="0"/>
              <a:t> 화면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3960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21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8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44797</TotalTime>
  <Words>967</Words>
  <Application>Microsoft Office PowerPoint</Application>
  <PresentationFormat>화면 슬라이드 쇼(4:3)</PresentationFormat>
  <Paragraphs>320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30" baseType="lpstr">
      <vt:lpstr>Arial Unicode MS</vt:lpstr>
      <vt:lpstr>HY중고딕</vt:lpstr>
      <vt:lpstr>맑은 고딕</vt:lpstr>
      <vt:lpstr>Arial</vt:lpstr>
      <vt:lpstr>Calibri</vt:lpstr>
      <vt:lpstr>Century Gothic</vt:lpstr>
      <vt:lpstr>Courier New</vt:lpstr>
      <vt:lpstr>Palatino Linotype</vt:lpstr>
      <vt:lpstr>Executive</vt:lpstr>
      <vt:lpstr>센서</vt:lpstr>
      <vt:lpstr>Android Sensors</vt:lpstr>
      <vt:lpstr>SensorManager</vt:lpstr>
      <vt:lpstr>Android Sensors</vt:lpstr>
      <vt:lpstr>Accelerometer</vt:lpstr>
      <vt:lpstr>Magnetic field</vt:lpstr>
      <vt:lpstr>Orientation</vt:lpstr>
      <vt:lpstr>Gyroscope</vt:lpstr>
      <vt:lpstr>Etc.</vt:lpstr>
      <vt:lpstr>Sensor Manager</vt:lpstr>
      <vt:lpstr>SensorManager</vt:lpstr>
      <vt:lpstr>SensorManager</vt:lpstr>
      <vt:lpstr>SensorManager</vt:lpstr>
      <vt:lpstr>SensorEventListener</vt:lpstr>
      <vt:lpstr>SensorManager</vt:lpstr>
      <vt:lpstr>SensorEventListener</vt:lpstr>
      <vt:lpstr>SensorEventListener</vt:lpstr>
      <vt:lpstr>SensorEventListener</vt:lpstr>
      <vt:lpstr>SensorEventListener</vt:lpstr>
      <vt:lpstr>SensorEventListener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정기숙</cp:lastModifiedBy>
  <cp:revision>2172</cp:revision>
  <cp:lastPrinted>2011-04-25T22:15:32Z</cp:lastPrinted>
  <dcterms:created xsi:type="dcterms:W3CDTF">2010-10-12T07:50:15Z</dcterms:created>
  <dcterms:modified xsi:type="dcterms:W3CDTF">2017-11-28T04:50:42Z</dcterms:modified>
</cp:coreProperties>
</file>