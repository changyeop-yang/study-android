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42"/>
  </p:notesMasterIdLst>
  <p:sldIdLst>
    <p:sldId id="256" r:id="rId2"/>
    <p:sldId id="421" r:id="rId3"/>
    <p:sldId id="335" r:id="rId4"/>
    <p:sldId id="336" r:id="rId5"/>
    <p:sldId id="329" r:id="rId6"/>
    <p:sldId id="332" r:id="rId7"/>
    <p:sldId id="333" r:id="rId8"/>
    <p:sldId id="346" r:id="rId9"/>
    <p:sldId id="334" r:id="rId10"/>
    <p:sldId id="340" r:id="rId11"/>
    <p:sldId id="341" r:id="rId12"/>
    <p:sldId id="339" r:id="rId13"/>
    <p:sldId id="342" r:id="rId14"/>
    <p:sldId id="343" r:id="rId15"/>
    <p:sldId id="345" r:id="rId16"/>
    <p:sldId id="429" r:id="rId17"/>
    <p:sldId id="430" r:id="rId18"/>
    <p:sldId id="422" r:id="rId19"/>
    <p:sldId id="423" r:id="rId20"/>
    <p:sldId id="424" r:id="rId21"/>
    <p:sldId id="425" r:id="rId22"/>
    <p:sldId id="426" r:id="rId23"/>
    <p:sldId id="427" r:id="rId24"/>
    <p:sldId id="428" r:id="rId25"/>
    <p:sldId id="355" r:id="rId26"/>
    <p:sldId id="399" r:id="rId27"/>
    <p:sldId id="401" r:id="rId28"/>
    <p:sldId id="403" r:id="rId29"/>
    <p:sldId id="404" r:id="rId30"/>
    <p:sldId id="405" r:id="rId31"/>
    <p:sldId id="406" r:id="rId32"/>
    <p:sldId id="407" r:id="rId33"/>
    <p:sldId id="418" r:id="rId34"/>
    <p:sldId id="409" r:id="rId35"/>
    <p:sldId id="410" r:id="rId36"/>
    <p:sldId id="411" r:id="rId37"/>
    <p:sldId id="412" r:id="rId38"/>
    <p:sldId id="413" r:id="rId39"/>
    <p:sldId id="420" r:id="rId40"/>
    <p:sldId id="294" r:id="rId41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BC"/>
    <a:srgbClr val="005BE2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9" autoAdjust="0"/>
    <p:restoredTop sz="95723" autoAdjust="0"/>
  </p:normalViewPr>
  <p:slideViewPr>
    <p:cSldViewPr snapToGrid="0">
      <p:cViewPr>
        <p:scale>
          <a:sx n="100" d="100"/>
          <a:sy n="100" d="100"/>
        </p:scale>
        <p:origin x="222" y="-26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2017-10-24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382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630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052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659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041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152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292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164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896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2389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741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350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3352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053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5000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4681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5217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3575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5718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330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8699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0788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8481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803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2017-10-24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2017-10-24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2017-10-24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2017-10-24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2017-10-24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2017-10-24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2017-10-24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59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sql/" TargetMode="External"/><Relationship Id="rId2" Type="http://schemas.openxmlformats.org/officeDocument/2006/relationships/hyperlink" Target="http://www.sqlite.org/lang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데이터베이스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 저장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기</a:t>
            </a:r>
            <a:r>
              <a:rPr lang="ko-KR" altLang="en-US" dirty="0"/>
              <a:t>본</a:t>
            </a:r>
            <a:r>
              <a:rPr lang="ko-KR" altLang="en-US" dirty="0" smtClean="0"/>
              <a:t> 저장소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리소스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내부 저장소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캐시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외부 저장소</a:t>
            </a:r>
            <a:r>
              <a:rPr lang="en-US" altLang="ko-KR" dirty="0" smtClean="0"/>
              <a:t>(SD Card)</a:t>
            </a:r>
          </a:p>
          <a:p>
            <a:pPr lvl="1"/>
            <a:r>
              <a:rPr lang="ko-KR" altLang="en-US" dirty="0" smtClean="0"/>
              <a:t>어플리케이션 설정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b="1" dirty="0" smtClean="0"/>
              <a:t>데이터베이스</a:t>
            </a:r>
            <a:endParaRPr lang="en-US" altLang="ko-KR" b="1" dirty="0" smtClean="0"/>
          </a:p>
          <a:p>
            <a:pPr lvl="1"/>
            <a:r>
              <a:rPr lang="en-US" altLang="ko-KR" b="1" dirty="0" smtClean="0"/>
              <a:t>SQLite</a:t>
            </a:r>
          </a:p>
          <a:p>
            <a:pPr lvl="1"/>
            <a:r>
              <a:rPr lang="en-US" altLang="ko-KR" b="1" dirty="0" smtClean="0"/>
              <a:t>File </a:t>
            </a:r>
            <a:r>
              <a:rPr lang="ko-KR" altLang="en-US" b="1" dirty="0" smtClean="0"/>
              <a:t>기반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데이터베이스</a:t>
            </a:r>
            <a:endParaRPr lang="en-US" altLang="ko-KR" b="1" dirty="0" smtClean="0"/>
          </a:p>
          <a:p>
            <a:pPr lvl="1"/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80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데이터베이</a:t>
            </a:r>
            <a:r>
              <a:rPr lang="ko-KR" altLang="en-US" dirty="0"/>
              <a:t>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정</a:t>
            </a:r>
            <a:r>
              <a:rPr lang="ko-KR" altLang="en-US" dirty="0"/>
              <a:t>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 </a:t>
            </a:r>
            <a:r>
              <a:rPr lang="en-US" altLang="ko-KR" dirty="0" smtClean="0"/>
              <a:t>= </a:t>
            </a:r>
            <a:r>
              <a:rPr lang="ko-KR" altLang="en-US" dirty="0" smtClean="0"/>
              <a:t>사용 가능한 모든 정보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데이터베이스 </a:t>
            </a:r>
            <a:r>
              <a:rPr lang="en-US" altLang="ko-KR" dirty="0" smtClean="0"/>
              <a:t>= </a:t>
            </a:r>
            <a:r>
              <a:rPr lang="ko-KR" altLang="en-US" dirty="0" smtClean="0"/>
              <a:t>데이터의 모음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사용 목적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효율적인 관리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손쉬운 검색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err="1" smtClean="0"/>
              <a:t>관계형</a:t>
            </a:r>
            <a:r>
              <a:rPr lang="ko-KR" altLang="en-US" dirty="0" smtClean="0"/>
              <a:t> 데이터베이스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테이블을 재구성하지 않더라도 데이터에 접근하거나 조합이 가능</a:t>
            </a:r>
          </a:p>
          <a:p>
            <a:pPr lvl="1"/>
            <a:r>
              <a:rPr lang="ko-KR" altLang="en-US" dirty="0" smtClean="0"/>
              <a:t>문자열 </a:t>
            </a:r>
            <a:r>
              <a:rPr lang="en-US" altLang="ko-KR" dirty="0" smtClean="0"/>
              <a:t>SQL </a:t>
            </a:r>
            <a:r>
              <a:rPr lang="ko-KR" altLang="en-US" dirty="0" err="1" smtClean="0"/>
              <a:t>쿼리문에</a:t>
            </a:r>
            <a:r>
              <a:rPr lang="ko-KR" altLang="en-US" dirty="0" smtClean="0"/>
              <a:t> 의해 관리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데이터베이스 시스템과 응용프로그램이 서로 독립적으로 동작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35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데이터베이</a:t>
            </a:r>
            <a:r>
              <a:rPr lang="ko-KR" altLang="en-US" dirty="0"/>
              <a:t>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용어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Database: </a:t>
            </a:r>
            <a:r>
              <a:rPr lang="ko-KR" altLang="en-US" dirty="0" smtClean="0"/>
              <a:t>데이터를 담은 테이블의 모음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Table: </a:t>
            </a:r>
            <a:r>
              <a:rPr lang="ko-KR" altLang="en-US" dirty="0" smtClean="0"/>
              <a:t>데이터의 집합</a:t>
            </a:r>
            <a:r>
              <a:rPr lang="en-US" altLang="ko-KR" dirty="0" smtClean="0"/>
              <a:t>, Field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Record</a:t>
            </a:r>
            <a:r>
              <a:rPr lang="ko-KR" altLang="en-US" dirty="0" smtClean="0"/>
              <a:t>로 구성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Field (Column): </a:t>
            </a:r>
            <a:r>
              <a:rPr lang="ko-KR" altLang="en-US" dirty="0" smtClean="0"/>
              <a:t>항목을 표현하는 열 </a:t>
            </a:r>
            <a:r>
              <a:rPr lang="en-US" altLang="ko-KR" dirty="0" smtClean="0"/>
              <a:t>(ex. 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학번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성적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Record (Row): </a:t>
            </a:r>
            <a:r>
              <a:rPr lang="ko-KR" altLang="en-US" dirty="0" smtClean="0"/>
              <a:t>하나의 정보단위</a:t>
            </a:r>
            <a:r>
              <a:rPr lang="en-US" altLang="ko-KR" dirty="0" smtClean="0"/>
              <a:t>, Field</a:t>
            </a:r>
            <a:r>
              <a:rPr lang="ko-KR" altLang="en-US" dirty="0" smtClean="0"/>
              <a:t>에 해당하는 값을 가진 데이터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Primary key: </a:t>
            </a:r>
            <a:r>
              <a:rPr lang="ko-KR" altLang="en-US" dirty="0" smtClean="0"/>
              <a:t>서로 다른 </a:t>
            </a:r>
            <a:r>
              <a:rPr lang="en-US" altLang="ko-KR" dirty="0" smtClean="0"/>
              <a:t>Record</a:t>
            </a:r>
            <a:r>
              <a:rPr lang="ko-KR" altLang="en-US" dirty="0" smtClean="0"/>
              <a:t>와 구분이 가능한 </a:t>
            </a:r>
            <a:r>
              <a:rPr lang="en-US" altLang="ko-KR" dirty="0" smtClean="0"/>
              <a:t>Field, </a:t>
            </a:r>
            <a:r>
              <a:rPr lang="ko-KR" altLang="en-US" dirty="0" smtClean="0"/>
              <a:t>중복 </a:t>
            </a:r>
            <a:r>
              <a:rPr lang="en-US" altLang="ko-KR" dirty="0" smtClean="0"/>
              <a:t>X, null </a:t>
            </a:r>
            <a:r>
              <a:rPr lang="ko-KR" altLang="en-US" dirty="0" smtClean="0"/>
              <a:t>불가</a:t>
            </a:r>
            <a:r>
              <a:rPr lang="en-US" altLang="ko-KR" dirty="0" smtClean="0"/>
              <a:t>, Table </a:t>
            </a:r>
            <a:r>
              <a:rPr lang="ko-KR" altLang="en-US" dirty="0" smtClean="0"/>
              <a:t>당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Unique key: </a:t>
            </a:r>
            <a:r>
              <a:rPr lang="ko-KR" altLang="en-US" dirty="0" smtClean="0"/>
              <a:t>서로 중복되지 않는 </a:t>
            </a:r>
            <a:r>
              <a:rPr lang="en-US" altLang="ko-KR" dirty="0" smtClean="0"/>
              <a:t>Field, </a:t>
            </a:r>
            <a:r>
              <a:rPr lang="ko-KR" altLang="en-US" dirty="0" smtClean="0"/>
              <a:t>중복 </a:t>
            </a:r>
            <a:r>
              <a:rPr lang="en-US" altLang="ko-KR" dirty="0" smtClean="0"/>
              <a:t>X, null </a:t>
            </a:r>
            <a:r>
              <a:rPr lang="ko-KR" altLang="en-US" dirty="0" smtClean="0"/>
              <a:t>가능 </a:t>
            </a:r>
            <a:r>
              <a:rPr lang="en-US" altLang="ko-KR" dirty="0" smtClean="0"/>
              <a:t>(1</a:t>
            </a:r>
            <a:r>
              <a:rPr lang="ko-KR" altLang="en-US" dirty="0" smtClean="0"/>
              <a:t>개의 레코드만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/>
          </a:p>
          <a:p>
            <a:r>
              <a:rPr lang="en-US" altLang="ko-KR" dirty="0" smtClean="0"/>
              <a:t>DB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DBMS</a:t>
            </a:r>
          </a:p>
          <a:p>
            <a:pPr lvl="1"/>
            <a:r>
              <a:rPr lang="en-US" altLang="ko-KR" dirty="0" smtClean="0"/>
              <a:t>Database: </a:t>
            </a:r>
            <a:r>
              <a:rPr lang="ko-KR" altLang="en-US" dirty="0" smtClean="0"/>
              <a:t>데이터의 집합체</a:t>
            </a:r>
            <a:endParaRPr lang="en-US" altLang="ko-KR" dirty="0" smtClean="0"/>
          </a:p>
          <a:p>
            <a:pPr lvl="1"/>
            <a:r>
              <a:rPr lang="en-US" altLang="ko-KR" dirty="0"/>
              <a:t>Database Management </a:t>
            </a:r>
            <a:r>
              <a:rPr lang="en-US" altLang="ko-KR" dirty="0" smtClean="0"/>
              <a:t>System: </a:t>
            </a:r>
            <a:r>
              <a:rPr lang="ko-KR" altLang="en-US" dirty="0" smtClean="0"/>
              <a:t>데이터베이스를 관리하는 관리 도구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MS SQL, MySQL, Oracle, SQLite 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15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SQLite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소</a:t>
            </a:r>
            <a:r>
              <a:rPr lang="ko-KR" altLang="en-US" dirty="0"/>
              <a:t>개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리처드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힙이</a:t>
            </a:r>
            <a:r>
              <a:rPr lang="ko-KR" altLang="en-US" dirty="0" smtClean="0"/>
              <a:t> </a:t>
            </a:r>
            <a:r>
              <a:rPr lang="en-US" altLang="ko-KR" dirty="0" smtClean="0"/>
              <a:t>2000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8</a:t>
            </a:r>
            <a:r>
              <a:rPr lang="ko-KR" altLang="en-US" dirty="0" smtClean="0"/>
              <a:t>월에 개발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 </a:t>
            </a:r>
            <a:r>
              <a:rPr lang="ko-KR" altLang="en-US" dirty="0" smtClean="0"/>
              <a:t>언어로 제작</a:t>
            </a:r>
            <a:r>
              <a:rPr lang="en-US" altLang="ko-KR" dirty="0" smtClean="0"/>
              <a:t>, Cross-platform </a:t>
            </a:r>
            <a:r>
              <a:rPr lang="ko-KR" altLang="en-US" dirty="0" smtClean="0"/>
              <a:t>지원</a:t>
            </a:r>
            <a:endParaRPr lang="en-US" altLang="ko-KR" dirty="0" smtClean="0"/>
          </a:p>
          <a:p>
            <a:pPr lvl="1"/>
            <a:r>
              <a:rPr lang="ko-KR" altLang="en-US" dirty="0"/>
              <a:t>파일 </a:t>
            </a:r>
            <a:r>
              <a:rPr lang="ko-KR" altLang="en-US" dirty="0" smtClean="0"/>
              <a:t>기반 </a:t>
            </a:r>
            <a:r>
              <a:rPr lang="en-US" altLang="ko-KR" dirty="0" smtClean="0"/>
              <a:t>Embedded RDBMS</a:t>
            </a:r>
          </a:p>
          <a:p>
            <a:pPr lvl="1"/>
            <a:r>
              <a:rPr lang="ko-KR" altLang="en-US" dirty="0" smtClean="0"/>
              <a:t>제작자가 저작권을 포기한 공개 라이선스</a:t>
            </a:r>
            <a:endParaRPr lang="en-US" altLang="ko-KR" dirty="0" smtClean="0"/>
          </a:p>
          <a:p>
            <a:pPr lvl="1"/>
            <a:r>
              <a:rPr lang="en-US" altLang="ko-KR" b="1" dirty="0" smtClean="0">
                <a:solidFill>
                  <a:srgbClr val="004CBC"/>
                </a:solidFill>
              </a:rPr>
              <a:t>Android SDK</a:t>
            </a:r>
            <a:r>
              <a:rPr lang="ko-KR" altLang="en-US" b="1" dirty="0" smtClean="0">
                <a:solidFill>
                  <a:srgbClr val="004CBC"/>
                </a:solidFill>
              </a:rPr>
              <a:t>에 이미 설치 되어 있음</a:t>
            </a:r>
            <a:endParaRPr lang="en-US" altLang="ko-KR" b="1" dirty="0" smtClean="0">
              <a:solidFill>
                <a:srgbClr val="004CBC"/>
              </a:solidFill>
            </a:endParaRPr>
          </a:p>
          <a:p>
            <a:pPr lvl="1"/>
            <a:endParaRPr lang="en-US" altLang="ko-KR" b="1" dirty="0">
              <a:solidFill>
                <a:srgbClr val="004CBC"/>
              </a:solidFill>
            </a:endParaRPr>
          </a:p>
          <a:p>
            <a:r>
              <a:rPr lang="ko-KR" altLang="en-US" dirty="0" smtClean="0"/>
              <a:t>특징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데이터의 저장소가 단순 파일이므로 별도의 서버 없이도 간편하게 관리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실제 실행 모듈이 </a:t>
            </a:r>
            <a:r>
              <a:rPr lang="en-US" altLang="ko-KR" dirty="0" smtClean="0"/>
              <a:t>300KB </a:t>
            </a:r>
            <a:r>
              <a:rPr lang="ko-KR" altLang="en-US" dirty="0" smtClean="0"/>
              <a:t>이내</a:t>
            </a:r>
            <a:r>
              <a:rPr lang="en-US" altLang="ko-KR" dirty="0" smtClean="0"/>
              <a:t> (</a:t>
            </a:r>
            <a:r>
              <a:rPr lang="ko-KR" altLang="en-US" dirty="0" smtClean="0"/>
              <a:t>최적화 할 경우 </a:t>
            </a:r>
            <a:r>
              <a:rPr lang="en-US" altLang="ko-KR" dirty="0" smtClean="0"/>
              <a:t>180KB</a:t>
            </a:r>
            <a:r>
              <a:rPr lang="ko-KR" altLang="en-US" dirty="0" smtClean="0"/>
              <a:t>까지도 가능</a:t>
            </a:r>
            <a:r>
              <a:rPr lang="en-US" altLang="ko-KR" dirty="0"/>
              <a:t>)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크로스 플랫폼 지원하는 </a:t>
            </a:r>
            <a:r>
              <a:rPr lang="ko-KR" altLang="en-US" dirty="0" err="1"/>
              <a:t>초경량</a:t>
            </a:r>
            <a:r>
              <a:rPr lang="ko-KR" altLang="en-US" dirty="0"/>
              <a:t> </a:t>
            </a:r>
            <a:r>
              <a:rPr lang="en-US" altLang="ko-KR" dirty="0" smtClean="0"/>
              <a:t>RDBMS</a:t>
            </a:r>
            <a:r>
              <a:rPr lang="ko-KR" altLang="en-US" dirty="0" smtClean="0"/>
              <a:t>로 많은 </a:t>
            </a:r>
            <a:r>
              <a:rPr lang="ko-KR" altLang="en-US" dirty="0" err="1" smtClean="0"/>
              <a:t>임베디드</a:t>
            </a:r>
            <a:r>
              <a:rPr lang="ko-KR" altLang="en-US" dirty="0" smtClean="0"/>
              <a:t> 기기에 사용됨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iPhone, </a:t>
            </a:r>
            <a:r>
              <a:rPr lang="en-US" altLang="ko-KR" dirty="0" err="1" smtClean="0"/>
              <a:t>Maemo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LiMo</a:t>
            </a:r>
            <a:r>
              <a:rPr lang="en-US" altLang="ko-KR" dirty="0" smtClean="0"/>
              <a:t> </a:t>
            </a:r>
            <a:r>
              <a:rPr lang="ko-KR" altLang="en-US" dirty="0" smtClean="0"/>
              <a:t>등에 사용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대다수 고급형 </a:t>
            </a:r>
            <a:r>
              <a:rPr lang="en-US" altLang="ko-KR" dirty="0" smtClean="0"/>
              <a:t>MP3P</a:t>
            </a:r>
            <a:r>
              <a:rPr lang="ko-KR" altLang="en-US" dirty="0" smtClean="0"/>
              <a:t>에도 채용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대형 </a:t>
            </a:r>
            <a:r>
              <a:rPr lang="en-US" altLang="ko-KR" dirty="0" smtClean="0"/>
              <a:t>RDBMS</a:t>
            </a:r>
            <a:r>
              <a:rPr lang="ko-KR" altLang="en-US" dirty="0" smtClean="0"/>
              <a:t>에 비해 비교적 간단한 처리 방식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쿼리문을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처리할 수 있는 파일 라이브러리로 취급되기도 함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7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SQLite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android.database.sqlite</a:t>
            </a:r>
            <a:r>
              <a:rPr lang="en-US" altLang="ko-KR" dirty="0" smtClean="0"/>
              <a:t> </a:t>
            </a:r>
            <a:r>
              <a:rPr lang="ko-KR" altLang="en-US" dirty="0" smtClean="0"/>
              <a:t>패키지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696838"/>
              </p:ext>
            </p:extLst>
          </p:nvPr>
        </p:nvGraphicFramePr>
        <p:xfrm>
          <a:off x="906780" y="2162810"/>
          <a:ext cx="7459980" cy="350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060"/>
                <a:gridCol w="5074920"/>
              </a:tblGrid>
              <a:tr h="5013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클래스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01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SQLiteOpenHelper</a:t>
                      </a:r>
                      <a:endParaRPr lang="ko-KR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DB </a:t>
                      </a:r>
                      <a:r>
                        <a:rPr lang="ko-KR" altLang="en-US" dirty="0" smtClean="0"/>
                        <a:t>생성과 버전 관리 도우미</a:t>
                      </a:r>
                    </a:p>
                  </a:txBody>
                  <a:tcPr anchor="ctr"/>
                </a:tc>
              </a:tr>
              <a:tr h="5013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SQLiteDatabase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데이터베이스 관리 및 접근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013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SQLiteCursor</a:t>
                      </a:r>
                      <a:endParaRPr lang="ko-KR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쿼리를 실행하고 반환된 </a:t>
                      </a:r>
                      <a:r>
                        <a:rPr lang="ko-KR" altLang="en-US" dirty="0" err="1" smtClean="0"/>
                        <a:t>결과셋에</a:t>
                      </a:r>
                      <a:r>
                        <a:rPr lang="ko-KR" altLang="en-US" dirty="0" smtClean="0"/>
                        <a:t> 대한 커서</a:t>
                      </a:r>
                    </a:p>
                  </a:txBody>
                  <a:tcPr anchor="ctr"/>
                </a:tc>
              </a:tr>
              <a:tr h="5013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SQLiteQuery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쿼리 </a:t>
                      </a:r>
                      <a:r>
                        <a:rPr lang="ko-KR" altLang="en-US" dirty="0" err="1" smtClean="0"/>
                        <a:t>결과셋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013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SQLiteQueryBuilder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쿼리 </a:t>
                      </a:r>
                      <a:r>
                        <a:rPr lang="ko-KR" altLang="en-US" dirty="0" err="1" smtClean="0"/>
                        <a:t>실행기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013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SQLiteStatement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미리 </a:t>
                      </a:r>
                      <a:r>
                        <a:rPr lang="ko-KR" altLang="en-US" dirty="0" err="1" smtClean="0"/>
                        <a:t>컴파일된</a:t>
                      </a:r>
                      <a:r>
                        <a:rPr lang="ko-KR" altLang="en-US" dirty="0" smtClean="0"/>
                        <a:t> 쿼리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12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SQLite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작업 절차</a:t>
            </a:r>
            <a:endParaRPr lang="en-US" altLang="ko-KR" dirty="0" smtClean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 smtClean="0"/>
              <a:t>데이터베이스</a:t>
            </a:r>
            <a:r>
              <a:rPr lang="en-US" altLang="ko-KR" dirty="0" smtClean="0"/>
              <a:t> </a:t>
            </a:r>
            <a:r>
              <a:rPr lang="ko-KR" altLang="en-US" dirty="0" smtClean="0"/>
              <a:t>열기</a:t>
            </a:r>
            <a:endParaRPr lang="en-US" altLang="ko-KR" dirty="0" smtClean="0"/>
          </a:p>
          <a:p>
            <a:pPr marL="1200150" lvl="2" indent="-342900"/>
            <a:r>
              <a:rPr lang="en-US" altLang="ko-KR" dirty="0" err="1" smtClean="0"/>
              <a:t>openDatabase</a:t>
            </a:r>
            <a:r>
              <a:rPr lang="en-US" altLang="ko-KR" dirty="0" smtClean="0"/>
              <a:t> , </a:t>
            </a:r>
            <a:r>
              <a:rPr lang="en-US" altLang="ko-KR" dirty="0" err="1" smtClean="0"/>
              <a:t>openOrCreateDatabase</a:t>
            </a:r>
            <a:endParaRPr lang="en-US" altLang="ko-KR" dirty="0" smtClean="0"/>
          </a:p>
          <a:p>
            <a:pPr marL="1200150" lvl="2" indent="-342900"/>
            <a:r>
              <a:rPr lang="en-US" altLang="ko-KR" dirty="0" err="1" smtClean="0"/>
              <a:t>SQLiteOpenHelper</a:t>
            </a:r>
            <a:r>
              <a:rPr lang="ko-KR" altLang="en-US" dirty="0" smtClean="0"/>
              <a:t>를 이용한 방법</a:t>
            </a:r>
            <a:endParaRPr lang="en-US" altLang="ko-KR" dirty="0" smtClean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 smtClean="0"/>
              <a:t>테이</a:t>
            </a:r>
            <a:r>
              <a:rPr lang="ko-KR" altLang="en-US" dirty="0"/>
              <a:t>블</a:t>
            </a:r>
            <a:r>
              <a:rPr lang="ko-KR" altLang="en-US" dirty="0" smtClean="0"/>
              <a:t>이 없다면 새로 생성</a:t>
            </a:r>
            <a:endParaRPr lang="en-US" altLang="ko-KR" dirty="0" smtClean="0"/>
          </a:p>
          <a:p>
            <a:pPr marL="1200150" lvl="2" indent="-342900"/>
            <a:r>
              <a:rPr lang="en-US" altLang="ko-KR" dirty="0" err="1" smtClean="0"/>
              <a:t>execSQL</a:t>
            </a:r>
            <a:endParaRPr lang="en-US" altLang="ko-KR" dirty="0" smtClean="0"/>
          </a:p>
          <a:p>
            <a:pPr marL="1200150" lvl="2" indent="-342900"/>
            <a:r>
              <a:rPr lang="en-US" altLang="ko-KR" dirty="0" smtClean="0"/>
              <a:t>SQL “CREATE TABLE …”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 smtClean="0"/>
              <a:t>레코드 추가</a:t>
            </a:r>
            <a:r>
              <a:rPr lang="en-US" altLang="ko-KR" dirty="0" smtClean="0"/>
              <a:t>/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/</a:t>
            </a:r>
            <a:r>
              <a:rPr lang="ko-KR" altLang="en-US" dirty="0" smtClean="0"/>
              <a:t>삭제</a:t>
            </a:r>
            <a:endParaRPr lang="en-US" altLang="ko-KR" dirty="0" smtClean="0"/>
          </a:p>
          <a:p>
            <a:pPr marL="1200150" lvl="2" indent="-342900"/>
            <a:r>
              <a:rPr lang="en-US" altLang="ko-KR" dirty="0" smtClean="0"/>
              <a:t>insert, replace, delete, </a:t>
            </a:r>
            <a:r>
              <a:rPr lang="en-US" altLang="ko-KR" dirty="0" err="1" smtClean="0"/>
              <a:t>execSQL</a:t>
            </a:r>
            <a:endParaRPr lang="en-US" altLang="ko-KR" dirty="0"/>
          </a:p>
          <a:p>
            <a:pPr marL="1200150" lvl="2" indent="-342900"/>
            <a:r>
              <a:rPr lang="en-US" altLang="ko-KR" dirty="0"/>
              <a:t>SQL </a:t>
            </a:r>
            <a:r>
              <a:rPr lang="en-US" altLang="ko-KR" dirty="0" smtClean="0"/>
              <a:t>“INSERT …”, “UPDATE …”, “DELETE …”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 smtClean="0"/>
              <a:t>조건 검색</a:t>
            </a:r>
            <a:endParaRPr lang="en-US" altLang="ko-KR" dirty="0" smtClean="0"/>
          </a:p>
          <a:p>
            <a:pPr marL="1200150" lvl="2" indent="-342900"/>
            <a:r>
              <a:rPr lang="en-US" altLang="ko-KR" dirty="0"/>
              <a:t>query, </a:t>
            </a:r>
            <a:r>
              <a:rPr lang="en-US" altLang="ko-KR" dirty="0" err="1"/>
              <a:t>rawQuery</a:t>
            </a:r>
            <a:endParaRPr lang="en-US" altLang="ko-KR" dirty="0"/>
          </a:p>
          <a:p>
            <a:pPr marL="1200150" lvl="2" indent="-342900"/>
            <a:r>
              <a:rPr lang="en-US" altLang="ko-KR" dirty="0"/>
              <a:t>SQL </a:t>
            </a:r>
            <a:r>
              <a:rPr lang="en-US" altLang="ko-KR" dirty="0" smtClean="0"/>
              <a:t>“SELECT </a:t>
            </a:r>
            <a:r>
              <a:rPr lang="en-US" altLang="ko-KR" dirty="0"/>
              <a:t>…”</a:t>
            </a:r>
            <a:endParaRPr lang="en-US" altLang="ko-KR" dirty="0" smtClean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 smtClean="0"/>
              <a:t>데이터베이스 닫기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close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81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SQLite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smtClean="0"/>
              <a:t>데이터 형식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그 외의 형식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Boolean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1byte INTEGER </a:t>
            </a:r>
            <a:r>
              <a:rPr lang="ko-KR" altLang="en-US" dirty="0" smtClean="0"/>
              <a:t>형식을 사용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Date &amp; Time, </a:t>
            </a:r>
            <a:r>
              <a:rPr lang="ko-KR" altLang="en-US" dirty="0" smtClean="0"/>
              <a:t>상황에 따라 </a:t>
            </a:r>
            <a:r>
              <a:rPr lang="en-US" altLang="ko-KR" dirty="0" smtClean="0"/>
              <a:t>TEXT, REAL, INTEGER</a:t>
            </a:r>
            <a:r>
              <a:rPr lang="ko-KR" altLang="en-US" dirty="0" smtClean="0"/>
              <a:t>의 형식으로 사용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TEXT: ISO8601</a:t>
            </a:r>
            <a:r>
              <a:rPr lang="ko-KR" altLang="en-US" dirty="0"/>
              <a:t> </a:t>
            </a:r>
            <a:r>
              <a:rPr lang="ko-KR" altLang="en-US" dirty="0" smtClean="0"/>
              <a:t>형식의 문자열 </a:t>
            </a:r>
            <a:r>
              <a:rPr lang="en-US" altLang="ko-KR" dirty="0" smtClean="0"/>
              <a:t>(“YYYY-MM-DD HH:MM:SS.SSS”)</a:t>
            </a:r>
          </a:p>
          <a:p>
            <a:pPr lvl="2"/>
            <a:r>
              <a:rPr lang="en-US" altLang="ko-KR" dirty="0" smtClean="0"/>
              <a:t>REAL: Julian day numbers, B.C. 4714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24</a:t>
            </a:r>
            <a:r>
              <a:rPr lang="ko-KR" altLang="en-US" dirty="0" smtClean="0"/>
              <a:t>일 정</a:t>
            </a:r>
            <a:r>
              <a:rPr lang="ko-KR" altLang="en-US" dirty="0"/>
              <a:t>오</a:t>
            </a:r>
            <a:r>
              <a:rPr lang="ko-KR" altLang="en-US" dirty="0" smtClean="0"/>
              <a:t>를 기준으로 증가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INTEGER: Unix </a:t>
            </a:r>
            <a:r>
              <a:rPr lang="ko-KR" altLang="en-US" dirty="0" smtClean="0"/>
              <a:t>시간</a:t>
            </a:r>
            <a:r>
              <a:rPr lang="en-US" altLang="ko-KR" dirty="0" smtClean="0"/>
              <a:t>, 1970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</a:t>
            </a:r>
            <a:r>
              <a:rPr lang="en-US" altLang="ko-KR" dirty="0" smtClean="0"/>
              <a:t>0</a:t>
            </a:r>
            <a:r>
              <a:rPr lang="ko-KR" altLang="en-US" dirty="0" smtClean="0"/>
              <a:t>시부터 계산된 초시간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126742"/>
              </p:ext>
            </p:extLst>
          </p:nvPr>
        </p:nvGraphicFramePr>
        <p:xfrm>
          <a:off x="883920" y="1934210"/>
          <a:ext cx="715137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270"/>
                <a:gridCol w="537210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형식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내용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NULL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아무런 값이 없음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INTEGER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정수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값의 크기에 따라 </a:t>
                      </a:r>
                      <a:r>
                        <a:rPr lang="en-US" altLang="ko-KR" dirty="0" smtClean="0"/>
                        <a:t>1~8byte</a:t>
                      </a:r>
                      <a:r>
                        <a:rPr lang="ko-KR" altLang="en-US" dirty="0" smtClean="0"/>
                        <a:t>로 저장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REAL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실수</a:t>
                      </a:r>
                      <a:r>
                        <a:rPr lang="en-US" altLang="ko-KR" dirty="0" smtClean="0"/>
                        <a:t>, 8byte</a:t>
                      </a:r>
                      <a:r>
                        <a:rPr lang="en-US" altLang="ko-KR" baseline="0" dirty="0" smtClean="0"/>
                        <a:t> IEEE </a:t>
                      </a:r>
                      <a:r>
                        <a:rPr lang="ko-KR" altLang="en-US" baseline="0" dirty="0" smtClean="0"/>
                        <a:t>실수 형식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TEXT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문자열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err="1" smtClean="0"/>
                        <a:t>안드로이드에서는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UTF-8</a:t>
                      </a:r>
                      <a:r>
                        <a:rPr lang="ko-KR" altLang="en-US" dirty="0" smtClean="0"/>
                        <a:t>로 저장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BLOB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바이트 배열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27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Structured Query </a:t>
            </a:r>
            <a:r>
              <a:rPr lang="en-US" altLang="ko-KR" dirty="0" smtClean="0"/>
              <a:t>Language</a:t>
            </a:r>
          </a:p>
          <a:p>
            <a:pPr lvl="1"/>
            <a:r>
              <a:rPr lang="en-US" altLang="ko-KR" dirty="0" smtClean="0"/>
              <a:t>IBM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1970</a:t>
            </a:r>
            <a:r>
              <a:rPr lang="ko-KR" altLang="en-US" dirty="0" smtClean="0"/>
              <a:t>년대 초 시스템 </a:t>
            </a:r>
            <a:r>
              <a:rPr lang="en-US" altLang="ko-KR" dirty="0" smtClean="0"/>
              <a:t>R</a:t>
            </a:r>
            <a:r>
              <a:rPr lang="ko-KR" altLang="en-US" dirty="0" smtClean="0"/>
              <a:t>에 저장된 데이터를 조작</a:t>
            </a:r>
            <a:r>
              <a:rPr lang="en-US" altLang="ko-KR" dirty="0" smtClean="0"/>
              <a:t>/</a:t>
            </a:r>
            <a:r>
              <a:rPr lang="ko-KR" altLang="en-US" dirty="0" smtClean="0"/>
              <a:t>수정하기 위해 고안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구조화된 질의 언어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ANSI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ISO </a:t>
            </a:r>
            <a:r>
              <a:rPr lang="ko-KR" altLang="en-US" dirty="0" smtClean="0"/>
              <a:t>표준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비절차적 언어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데이터 레코드의 관리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SELECT, INSERT, UPDATE, DELETE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테이블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데이터베이스 관리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CREATE, ALTER, DROP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560320" y="5781526"/>
            <a:ext cx="4057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참고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http://</a:t>
            </a:r>
            <a:r>
              <a:rPr lang="en-US" altLang="ko-KR" dirty="0" smtClean="0">
                <a:hlinkClick r:id="rId2"/>
              </a:rPr>
              <a:t>www.sqlite.org/lang.html</a:t>
            </a:r>
            <a:endParaRPr lang="en-US" altLang="ko-KR" dirty="0" smtClean="0"/>
          </a:p>
          <a:p>
            <a:r>
              <a:rPr lang="en-US" altLang="ko-KR" dirty="0"/>
              <a:t>          </a:t>
            </a:r>
            <a:r>
              <a:rPr lang="en-US" altLang="ko-KR" dirty="0">
                <a:hlinkClick r:id="rId3"/>
              </a:rPr>
              <a:t>http://www.w3schools.com/sql</a:t>
            </a:r>
            <a:r>
              <a:rPr lang="en-US" altLang="ko-KR" dirty="0" smtClean="0">
                <a:hlinkClick r:id="rId3"/>
              </a:rPr>
              <a:t>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945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SQL: CREATE TABLE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/>
              <a:t>테이블 생성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CREATE TABLE [IF NOT EXISTS] {</a:t>
            </a:r>
            <a:r>
              <a:rPr lang="ko-KR" altLang="en-US" dirty="0" smtClean="0"/>
              <a:t>테이블 이름</a:t>
            </a:r>
            <a:r>
              <a:rPr lang="en-US" altLang="ko-KR" dirty="0" smtClean="0"/>
              <a:t>} (</a:t>
            </a:r>
            <a:br>
              <a:rPr lang="en-US" altLang="ko-KR" dirty="0" smtClean="0"/>
            </a:br>
            <a:r>
              <a:rPr lang="en-US" altLang="ko-KR" dirty="0" smtClean="0"/>
              <a:t>	{</a:t>
            </a:r>
            <a:r>
              <a:rPr lang="ko-KR" altLang="en-US" dirty="0" err="1" smtClean="0"/>
              <a:t>컬럼이름</a:t>
            </a:r>
            <a:r>
              <a:rPr lang="ko-KR" altLang="en-US" dirty="0" smtClean="0"/>
              <a:t> 데이터형식 </a:t>
            </a:r>
            <a:r>
              <a:rPr lang="en-US" altLang="ko-KR" dirty="0" smtClean="0"/>
              <a:t>[</a:t>
            </a:r>
            <a:r>
              <a:rPr lang="en-US" altLang="ko-KR" dirty="0"/>
              <a:t>PRIMARY </a:t>
            </a:r>
            <a:r>
              <a:rPr lang="en-US" altLang="ko-KR" dirty="0" smtClean="0"/>
              <a:t>KEY] [UNIQUE]</a:t>
            </a:r>
            <a:r>
              <a:rPr lang="ko-KR" altLang="en-US" dirty="0" smtClean="0"/>
              <a:t> </a:t>
            </a:r>
            <a:r>
              <a:rPr lang="en-US" altLang="ko-KR" dirty="0" smtClean="0"/>
              <a:t>[NOT NULL] [DEFAULT {</a:t>
            </a:r>
            <a:r>
              <a:rPr lang="ko-KR" altLang="en-US" dirty="0" smtClean="0"/>
              <a:t>값</a:t>
            </a:r>
            <a:r>
              <a:rPr lang="en-US" altLang="ko-KR" dirty="0" smtClean="0"/>
              <a:t>}]},</a:t>
            </a:r>
            <a:r>
              <a:rPr lang="ko-KR" altLang="en-US" baseline="30000" dirty="0" smtClean="0"/>
              <a:t>목록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	[</a:t>
            </a:r>
            <a:r>
              <a:rPr lang="en-US" altLang="ko-KR" dirty="0"/>
              <a:t>PRIMARY </a:t>
            </a:r>
            <a:r>
              <a:rPr lang="en-US" altLang="ko-KR" dirty="0" smtClean="0"/>
              <a:t>KEY ({</a:t>
            </a:r>
            <a:r>
              <a:rPr lang="ko-KR" altLang="en-US" dirty="0" err="1" smtClean="0"/>
              <a:t>컬럼이름</a:t>
            </a:r>
            <a:r>
              <a:rPr lang="en-US" altLang="ko-KR" dirty="0" smtClean="0"/>
              <a:t>})], [UNIQUE ({</a:t>
            </a:r>
            <a:r>
              <a:rPr lang="ko-KR" altLang="en-US" dirty="0" err="1" smtClean="0"/>
              <a:t>컬럼이름</a:t>
            </a:r>
            <a:r>
              <a:rPr lang="en-US" altLang="ko-KR" dirty="0" smtClean="0"/>
              <a:t>},</a:t>
            </a:r>
            <a:r>
              <a:rPr lang="ko-KR" altLang="en-US" baseline="30000" dirty="0" smtClean="0"/>
              <a:t>목록</a:t>
            </a:r>
            <a:r>
              <a:rPr lang="en-US" altLang="ko-KR" dirty="0" smtClean="0"/>
              <a:t>)]</a:t>
            </a:r>
            <a:br>
              <a:rPr lang="en-US" altLang="ko-KR" dirty="0" smtClean="0"/>
            </a:br>
            <a:r>
              <a:rPr lang="en-US" altLang="ko-KR" dirty="0" smtClean="0"/>
              <a:t>);</a:t>
            </a:r>
          </a:p>
          <a:p>
            <a:pPr lvl="1"/>
            <a:r>
              <a:rPr lang="ko-KR" altLang="en-US" dirty="0" smtClean="0"/>
              <a:t>주어진 구조의 테이블을 새로 생성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예제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CREATE TABLE man (</a:t>
            </a:r>
            <a:br>
              <a:rPr lang="en-US" altLang="ko-KR" dirty="0" smtClean="0"/>
            </a:br>
            <a:r>
              <a:rPr lang="en-US" altLang="ko-KR" dirty="0" smtClean="0"/>
              <a:t>	name TEXT, height INTEGER NOT NULL, money INTEGER DEFAULT 0</a:t>
            </a:r>
            <a:br>
              <a:rPr lang="en-US" altLang="ko-KR" dirty="0" smtClean="0"/>
            </a:b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CREATE TABLE </a:t>
            </a:r>
            <a:r>
              <a:rPr lang="en-US" altLang="ko-KR" dirty="0" smtClean="0"/>
              <a:t>train (</a:t>
            </a:r>
            <a:br>
              <a:rPr lang="en-US" altLang="ko-KR" dirty="0" smtClean="0"/>
            </a:br>
            <a:r>
              <a:rPr lang="en-US" altLang="ko-KR" dirty="0" smtClean="0"/>
              <a:t>	number INTEGER PRIMARY </a:t>
            </a:r>
            <a:r>
              <a:rPr lang="en-US" altLang="ko-KR" smtClean="0"/>
              <a:t>KEY AUTOINCREMENT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en-US" altLang="ko-KR" dirty="0" smtClean="0"/>
              <a:t>	name TEXT, </a:t>
            </a:r>
            <a:r>
              <a:rPr lang="en-US" altLang="ko-KR" dirty="0" err="1" smtClean="0"/>
              <a:t>start_time</a:t>
            </a:r>
            <a:r>
              <a:rPr lang="en-US" altLang="ko-KR" dirty="0" smtClean="0"/>
              <a:t> INTEGER, </a:t>
            </a:r>
            <a:r>
              <a:rPr lang="en-US" altLang="ko-KR" dirty="0" err="1" smtClean="0"/>
              <a:t>arrive_time</a:t>
            </a:r>
            <a:r>
              <a:rPr lang="en-US" altLang="ko-KR" dirty="0" smtClean="0"/>
              <a:t> INTEGER,</a:t>
            </a:r>
            <a:br>
              <a:rPr lang="en-US" altLang="ko-KR" dirty="0" smtClean="0"/>
            </a:br>
            <a:r>
              <a:rPr lang="en-US" altLang="ko-KR" dirty="0" smtClean="0"/>
              <a:t>	UNIQUE (</a:t>
            </a:r>
            <a:r>
              <a:rPr lang="en-US" altLang="ko-KR" dirty="0" err="1" smtClean="0"/>
              <a:t>start_time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arrive_time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);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04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SQL: SELECT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데이터 검색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SELECT [DISTINCT] {</a:t>
            </a:r>
            <a:r>
              <a:rPr lang="ko-KR" altLang="en-US" dirty="0" err="1" smtClean="0"/>
              <a:t>컬럼이름</a:t>
            </a:r>
            <a:r>
              <a:rPr lang="en-US" altLang="ko-KR" dirty="0" smtClean="0"/>
              <a:t>},</a:t>
            </a:r>
            <a:r>
              <a:rPr lang="ko-KR" altLang="en-US" baseline="30000" dirty="0" smtClean="0"/>
              <a:t>목록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FROM {</a:t>
            </a:r>
            <a:r>
              <a:rPr lang="ko-KR" altLang="en-US" dirty="0" smtClean="0"/>
              <a:t>테이블</a:t>
            </a:r>
            <a:r>
              <a:rPr lang="en-US" altLang="ko-KR" dirty="0" smtClean="0"/>
              <a:t>}</a:t>
            </a:r>
            <a:br>
              <a:rPr lang="en-US" altLang="ko-KR" dirty="0" smtClean="0"/>
            </a:br>
            <a:r>
              <a:rPr lang="en-US" altLang="ko-KR" dirty="0" smtClean="0"/>
              <a:t>[WHERE {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}]</a:t>
            </a:r>
            <a:br>
              <a:rPr lang="en-US" altLang="ko-KR" dirty="0" smtClean="0"/>
            </a:br>
            <a:r>
              <a:rPr lang="en-US" altLang="ko-KR" dirty="0" smtClean="0"/>
              <a:t>[ORDER BY {</a:t>
            </a:r>
            <a:r>
              <a:rPr lang="ko-KR" altLang="en-US" dirty="0" err="1" smtClean="0"/>
              <a:t>컬럼</a:t>
            </a:r>
            <a:r>
              <a:rPr lang="en-US" altLang="ko-KR" dirty="0" smtClean="0"/>
              <a:t>} [ASC | DESC]];</a:t>
            </a:r>
          </a:p>
          <a:p>
            <a:pPr lvl="1"/>
            <a:r>
              <a:rPr lang="ko-KR" altLang="en-US" dirty="0" smtClean="0"/>
              <a:t>선택된 테이블에서 데이터를 조건에 맞게 검색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예제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SELECT * FROM customer;</a:t>
            </a:r>
          </a:p>
          <a:p>
            <a:pPr lvl="1"/>
            <a:r>
              <a:rPr lang="en-US" altLang="ko-KR" dirty="0" smtClean="0"/>
              <a:t>SELECT name, price FROM product</a:t>
            </a:r>
            <a:r>
              <a:rPr lang="en-US" altLang="ko-KR" dirty="0"/>
              <a:t> ORDER BY </a:t>
            </a:r>
            <a:r>
              <a:rPr lang="en-US" altLang="ko-KR" dirty="0" smtClean="0"/>
              <a:t>price;</a:t>
            </a:r>
          </a:p>
          <a:p>
            <a:pPr lvl="1"/>
            <a:r>
              <a:rPr lang="en-US" altLang="ko-KR" dirty="0" smtClean="0"/>
              <a:t>SELECT DISTINCT size FROM photo;</a:t>
            </a:r>
          </a:p>
          <a:p>
            <a:pPr lvl="1"/>
            <a:r>
              <a:rPr lang="en-US" altLang="ko-KR" dirty="0" smtClean="0"/>
              <a:t>SELECT * FROM man WHERE height &gt;= 180;</a:t>
            </a:r>
          </a:p>
          <a:p>
            <a:pPr lvl="1"/>
            <a:r>
              <a:rPr lang="en-US" altLang="ko-KR" dirty="0" smtClean="0"/>
              <a:t>SELECT count(*) FROM student WHERE grade=‘F’ AND year&lt;=2;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904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SQL: INSERT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데이터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INSERT INTO {</a:t>
            </a:r>
            <a:r>
              <a:rPr lang="ko-KR" altLang="en-US" dirty="0" smtClean="0"/>
              <a:t>테이블</a:t>
            </a:r>
            <a:r>
              <a:rPr lang="en-US" altLang="ko-KR" dirty="0" smtClean="0"/>
              <a:t>} (</a:t>
            </a:r>
            <a:br>
              <a:rPr lang="en-US" altLang="ko-KR" dirty="0" smtClean="0"/>
            </a:br>
            <a:r>
              <a:rPr lang="en-US" altLang="ko-KR" dirty="0" smtClean="0"/>
              <a:t>	{</a:t>
            </a:r>
            <a:r>
              <a:rPr lang="ko-KR" altLang="en-US" dirty="0" err="1" smtClean="0"/>
              <a:t>컬럼이름</a:t>
            </a:r>
            <a:r>
              <a:rPr lang="en-US" altLang="ko-KR" dirty="0" smtClean="0"/>
              <a:t>},</a:t>
            </a:r>
            <a:r>
              <a:rPr lang="ko-KR" altLang="en-US" baseline="30000" dirty="0" smtClean="0"/>
              <a:t>목록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) VALUES (</a:t>
            </a:r>
            <a:br>
              <a:rPr lang="en-US" altLang="ko-KR" dirty="0" smtClean="0"/>
            </a:br>
            <a:r>
              <a:rPr lang="en-US" altLang="ko-KR" dirty="0" smtClean="0"/>
              <a:t>	{</a:t>
            </a:r>
            <a:r>
              <a:rPr lang="ko-KR" altLang="en-US" dirty="0" smtClean="0"/>
              <a:t>값</a:t>
            </a:r>
            <a:r>
              <a:rPr lang="en-US" altLang="ko-KR" dirty="0" smtClean="0"/>
              <a:t>},</a:t>
            </a:r>
            <a:r>
              <a:rPr lang="ko-KR" altLang="en-US" baseline="30000" dirty="0" smtClean="0"/>
              <a:t>목록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);</a:t>
            </a:r>
          </a:p>
          <a:p>
            <a:pPr lvl="1"/>
            <a:r>
              <a:rPr lang="ko-KR" altLang="en-US" dirty="0" smtClean="0"/>
              <a:t>선택된 테이블에 데이터 레코드를 추가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예제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INSERT INTO man ( name, height ) VALUES ( ‘</a:t>
            </a:r>
            <a:r>
              <a:rPr lang="ko-KR" altLang="en-US" dirty="0" smtClean="0"/>
              <a:t>홍길동</a:t>
            </a:r>
            <a:r>
              <a:rPr lang="en-US" altLang="ko-KR" dirty="0" smtClean="0"/>
              <a:t>’, 170 );</a:t>
            </a:r>
          </a:p>
          <a:p>
            <a:pPr lvl="1"/>
            <a:r>
              <a:rPr lang="en-US" altLang="ko-KR" dirty="0" smtClean="0"/>
              <a:t>INSERT INTO score ( name, math, </a:t>
            </a:r>
            <a:r>
              <a:rPr lang="en-US" altLang="ko-KR" dirty="0" err="1" smtClean="0"/>
              <a:t>english</a:t>
            </a:r>
            <a:r>
              <a:rPr lang="en-US" altLang="ko-KR" dirty="0" smtClean="0"/>
              <a:t> ) VALUES ( ‘</a:t>
            </a:r>
            <a:r>
              <a:rPr lang="ko-KR" altLang="en-US" dirty="0" smtClean="0"/>
              <a:t>홍길동</a:t>
            </a:r>
            <a:r>
              <a:rPr lang="en-US" altLang="ko-KR" dirty="0" smtClean="0"/>
              <a:t>’, 78, 64 );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15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SQL: UPDATE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데이터 수</a:t>
            </a:r>
            <a:r>
              <a:rPr lang="ko-KR" altLang="en-US" dirty="0"/>
              <a:t>정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UPDATE {</a:t>
            </a:r>
            <a:r>
              <a:rPr lang="ko-KR" altLang="en-US" dirty="0" smtClean="0"/>
              <a:t>테이블</a:t>
            </a:r>
            <a:r>
              <a:rPr lang="en-US" altLang="ko-KR" dirty="0" smtClean="0"/>
              <a:t>}</a:t>
            </a:r>
            <a:br>
              <a:rPr lang="en-US" altLang="ko-KR" dirty="0" smtClean="0"/>
            </a:br>
            <a:r>
              <a:rPr lang="en-US" altLang="ko-KR" dirty="0" smtClean="0"/>
              <a:t>SET {</a:t>
            </a:r>
            <a:r>
              <a:rPr lang="ko-KR" altLang="en-US" dirty="0" err="1" smtClean="0"/>
              <a:t>컬럼이름</a:t>
            </a:r>
            <a:r>
              <a:rPr lang="en-US" altLang="ko-KR" dirty="0" smtClean="0"/>
              <a:t>}={</a:t>
            </a:r>
            <a:r>
              <a:rPr lang="ko-KR" altLang="en-US" dirty="0" smtClean="0"/>
              <a:t>값</a:t>
            </a:r>
            <a:r>
              <a:rPr lang="en-US" altLang="ko-KR" dirty="0" smtClean="0"/>
              <a:t>},</a:t>
            </a:r>
            <a:r>
              <a:rPr lang="ko-KR" altLang="en-US" baseline="30000" dirty="0" smtClean="0"/>
              <a:t>목록</a:t>
            </a:r>
            <a:r>
              <a:rPr lang="en-US" altLang="ko-KR" dirty="0" smtClean="0"/>
              <a:t> </a:t>
            </a:r>
            <a:br>
              <a:rPr lang="en-US" altLang="ko-KR" dirty="0" smtClean="0"/>
            </a:br>
            <a:r>
              <a:rPr lang="en-US" altLang="ko-KR" dirty="0" smtClean="0"/>
              <a:t>WHERE {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};</a:t>
            </a:r>
          </a:p>
          <a:p>
            <a:pPr lvl="1"/>
            <a:r>
              <a:rPr lang="ko-KR" altLang="en-US" dirty="0" smtClean="0"/>
              <a:t>데이터 레코드의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특정 </a:t>
            </a:r>
            <a:r>
              <a:rPr lang="ko-KR" altLang="en-US" dirty="0" err="1" smtClean="0"/>
              <a:t>컬럼을</a:t>
            </a:r>
            <a:r>
              <a:rPr lang="ko-KR" altLang="en-US" dirty="0" smtClean="0"/>
              <a:t> 수정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예제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UPDATE </a:t>
            </a:r>
            <a:r>
              <a:rPr lang="en-US" altLang="ko-KR" dirty="0"/>
              <a:t>man </a:t>
            </a:r>
            <a:r>
              <a:rPr lang="en-US" altLang="ko-KR" dirty="0" smtClean="0"/>
              <a:t>SET height=180 WHERE name=‘</a:t>
            </a:r>
            <a:r>
              <a:rPr lang="ko-KR" altLang="en-US" dirty="0" smtClean="0"/>
              <a:t>홍길동</a:t>
            </a:r>
            <a:r>
              <a:rPr lang="en-US" altLang="ko-KR" dirty="0" smtClean="0"/>
              <a:t>’;</a:t>
            </a:r>
            <a:endParaRPr lang="en-US" altLang="ko-KR" dirty="0"/>
          </a:p>
          <a:p>
            <a:pPr lvl="1"/>
            <a:r>
              <a:rPr lang="en-US" altLang="ko-KR" dirty="0" smtClean="0"/>
              <a:t>UPDATE score SET math = math + 10;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59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SQL: DELETE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데이터 삭</a:t>
            </a:r>
            <a:r>
              <a:rPr lang="ko-KR" altLang="en-US" dirty="0"/>
              <a:t>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DELETE FROM {</a:t>
            </a:r>
            <a:r>
              <a:rPr lang="ko-KR" altLang="en-US" dirty="0" smtClean="0"/>
              <a:t>테이블</a:t>
            </a:r>
            <a:r>
              <a:rPr lang="en-US" altLang="ko-KR" dirty="0" smtClean="0"/>
              <a:t>}</a:t>
            </a:r>
            <a:br>
              <a:rPr lang="en-US" altLang="ko-KR" dirty="0" smtClean="0"/>
            </a:br>
            <a:r>
              <a:rPr lang="en-US" altLang="ko-KR" dirty="0" smtClean="0"/>
              <a:t>WHERE {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};</a:t>
            </a:r>
          </a:p>
          <a:p>
            <a:pPr lvl="1"/>
            <a:r>
              <a:rPr lang="ko-KR" altLang="en-US" dirty="0" smtClean="0"/>
              <a:t>특정 조건의 레코드를 삭제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예제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DELETE FROM </a:t>
            </a:r>
            <a:r>
              <a:rPr lang="en-US" altLang="ko-KR" dirty="0"/>
              <a:t>man </a:t>
            </a:r>
            <a:r>
              <a:rPr lang="en-US" altLang="ko-KR" dirty="0" smtClean="0"/>
              <a:t>WHERE height &lt; 180;</a:t>
            </a:r>
            <a:endParaRPr lang="en-US" altLang="ko-KR" dirty="0"/>
          </a:p>
          <a:p>
            <a:pPr lvl="1"/>
            <a:r>
              <a:rPr lang="en-US" altLang="ko-KR" dirty="0" smtClean="0"/>
              <a:t>DELETE FROM score WHERE name=‘</a:t>
            </a:r>
            <a:r>
              <a:rPr lang="ko-KR" altLang="en-US" dirty="0"/>
              <a:t>배</a:t>
            </a:r>
            <a:r>
              <a:rPr lang="ko-KR" altLang="en-US" dirty="0" smtClean="0"/>
              <a:t>철수</a:t>
            </a:r>
            <a:r>
              <a:rPr lang="en-US" altLang="ko-KR" dirty="0" smtClean="0"/>
              <a:t>’;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26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관리 도구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GUI DB Browser   </a:t>
            </a:r>
            <a:r>
              <a:rPr lang="en-US" altLang="ko-KR" sz="1800" dirty="0" smtClean="0">
                <a:solidFill>
                  <a:srgbClr val="004CBC"/>
                </a:solidFill>
              </a:rPr>
              <a:t>(Download: http</a:t>
            </a:r>
            <a:r>
              <a:rPr lang="en-US" altLang="ko-KR" sz="1800" dirty="0">
                <a:solidFill>
                  <a:srgbClr val="004CBC"/>
                </a:solidFill>
              </a:rPr>
              <a:t>://sqlitebrowser.org</a:t>
            </a:r>
            <a:r>
              <a:rPr lang="en-US" altLang="ko-KR" sz="1800" dirty="0" smtClean="0">
                <a:solidFill>
                  <a:srgbClr val="004CBC"/>
                </a:solidFill>
              </a:rPr>
              <a:t>/)</a:t>
            </a:r>
          </a:p>
          <a:p>
            <a:pPr lvl="1"/>
            <a:r>
              <a:rPr lang="en-US" altLang="ko-KR" dirty="0" smtClean="0"/>
              <a:t>SQLite Database Browser </a:t>
            </a:r>
          </a:p>
          <a:p>
            <a:pPr lvl="1"/>
            <a:r>
              <a:rPr lang="ko-KR" altLang="en-US" dirty="0" smtClean="0"/>
              <a:t>에뮬레이터의 </a:t>
            </a:r>
            <a:r>
              <a:rPr lang="en-US" altLang="ko-KR" dirty="0" err="1" smtClean="0"/>
              <a:t>db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파일을 복사하여 </a:t>
            </a:r>
            <a:r>
              <a:rPr lang="en-US" altLang="ko-KR" dirty="0" smtClean="0"/>
              <a:t>GUI </a:t>
            </a:r>
            <a:r>
              <a:rPr lang="ko-KR" altLang="en-US" dirty="0" smtClean="0"/>
              <a:t>도구를 사용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446" y="2559966"/>
            <a:ext cx="5975497" cy="3936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651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SQLite shell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SQLite </a:t>
            </a:r>
            <a:r>
              <a:rPr lang="ko-KR" altLang="en-US" dirty="0" smtClean="0"/>
              <a:t>실습을 위한 </a:t>
            </a:r>
            <a:r>
              <a:rPr lang="en-US" altLang="ko-KR" dirty="0" smtClean="0"/>
              <a:t>Cygwin </a:t>
            </a:r>
            <a:r>
              <a:rPr lang="ko-KR" altLang="en-US" dirty="0" smtClean="0"/>
              <a:t>다운로드</a:t>
            </a:r>
            <a:r>
              <a:rPr lang="en-US" altLang="ko-KR" dirty="0" smtClean="0"/>
              <a:t>(</a:t>
            </a:r>
            <a:r>
              <a:rPr lang="en-US" altLang="ko-KR" sz="1800" dirty="0">
                <a:solidFill>
                  <a:srgbClr val="0070C0"/>
                </a:solidFill>
              </a:rPr>
              <a:t>https://</a:t>
            </a:r>
            <a:r>
              <a:rPr lang="en-US" altLang="ko-KR" sz="1800" dirty="0" smtClean="0">
                <a:solidFill>
                  <a:srgbClr val="0070C0"/>
                </a:solidFill>
              </a:rPr>
              <a:t>cygwin.com/install.html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Window</a:t>
            </a:r>
            <a:r>
              <a:rPr lang="ko-KR" altLang="en-US" dirty="0" smtClean="0"/>
              <a:t>의 버전에 따라 </a:t>
            </a:r>
            <a:r>
              <a:rPr lang="ko-KR" altLang="en-US" dirty="0" err="1" smtClean="0"/>
              <a:t>설치파일</a:t>
            </a:r>
            <a:r>
              <a:rPr lang="ko-KR" altLang="en-US" dirty="0" smtClean="0"/>
              <a:t> 다운로드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05" y="2708525"/>
            <a:ext cx="5909934" cy="308464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876" y="3610444"/>
            <a:ext cx="4133325" cy="3107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674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SQLite shell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Package </a:t>
            </a:r>
            <a:r>
              <a:rPr lang="ko-KR" altLang="en-US" dirty="0" smtClean="0"/>
              <a:t>설치 화면에서 </a:t>
            </a:r>
            <a:r>
              <a:rPr lang="en-US" altLang="ko-KR" dirty="0" smtClean="0"/>
              <a:t>sqlite3</a:t>
            </a:r>
            <a:r>
              <a:rPr lang="ko-KR" altLang="en-US" dirty="0" smtClean="0"/>
              <a:t>를 검색한 후 하위 항목에서 </a:t>
            </a:r>
            <a:r>
              <a:rPr lang="en-US" altLang="ko-KR" dirty="0" smtClean="0"/>
              <a:t>Database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Install</a:t>
            </a:r>
            <a:r>
              <a:rPr lang="ko-KR" altLang="en-US" dirty="0" smtClean="0"/>
              <a:t>로 변경하여 설치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766" y="2323641"/>
            <a:ext cx="5434602" cy="4346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355926" y="3560781"/>
            <a:ext cx="537883" cy="182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9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SQLite shell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DB</a:t>
            </a:r>
            <a:r>
              <a:rPr lang="ko-KR" altLang="en-US" dirty="0" smtClean="0"/>
              <a:t> 생성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Cygwin terminal </a:t>
            </a:r>
            <a:r>
              <a:rPr lang="ko-KR" altLang="en-US" dirty="0" smtClean="0"/>
              <a:t>열기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최초 디렉토리 주소는 </a:t>
            </a:r>
            <a:r>
              <a:rPr lang="en-US" altLang="ko-KR" dirty="0" smtClean="0">
                <a:solidFill>
                  <a:srgbClr val="0070C0"/>
                </a:solidFill>
              </a:rPr>
              <a:t>C:/cygwin64/home/computername/</a:t>
            </a:r>
          </a:p>
          <a:p>
            <a:pPr lvl="1"/>
            <a:r>
              <a:rPr lang="ko-KR" altLang="en-US" dirty="0" smtClean="0"/>
              <a:t>데이터베이스를 만들기 원하는 주소로 이동하여 데이터베이스 생성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sqlite3 </a:t>
            </a:r>
            <a:r>
              <a:rPr lang="en-US" altLang="ko-KR" dirty="0" err="1" smtClean="0"/>
              <a:t>DBNAME.db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612" y="3052762"/>
            <a:ext cx="5438775" cy="3486150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1930238" y="3774652"/>
            <a:ext cx="110252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103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426" y="2976061"/>
            <a:ext cx="5495925" cy="3505200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SQL: CREATE TABLE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23474" y="1680210"/>
            <a:ext cx="6497054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dirty="0" smtClean="0"/>
              <a:t>CREATE TABLE people (</a:t>
            </a:r>
          </a:p>
          <a:p>
            <a:r>
              <a:rPr lang="en-US" altLang="ko-KR" dirty="0" smtClean="0"/>
              <a:t>code INTEGER PRIMARY KEY AUTOINCREMENT,</a:t>
            </a:r>
          </a:p>
          <a:p>
            <a:r>
              <a:rPr lang="en-US" altLang="ko-KR" dirty="0" smtClean="0"/>
              <a:t>name TEXT, age INTEGER);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1525426" y="4071832"/>
            <a:ext cx="5361149" cy="48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05709" y="4573874"/>
            <a:ext cx="5400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TABLE</a:t>
            </a:r>
            <a:r>
              <a:rPr lang="ko-KR" altLang="en-US" sz="1200" dirty="0" smtClean="0">
                <a:solidFill>
                  <a:schemeClr val="bg1"/>
                </a:solidFill>
              </a:rPr>
              <a:t>을 생성하면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sdcard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디렉토리에</a:t>
            </a:r>
            <a:r>
              <a:rPr lang="ko-KR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test.db</a:t>
            </a:r>
            <a:r>
              <a:rPr lang="ko-KR" altLang="en-US" sz="1200" dirty="0" smtClean="0">
                <a:solidFill>
                  <a:schemeClr val="bg1"/>
                </a:solidFill>
              </a:rPr>
              <a:t>가 생성된 것을 확인 할 수 있다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25426" y="5356287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.tables -&gt; table </a:t>
            </a:r>
            <a:r>
              <a:rPr lang="ko-KR" altLang="en-US" sz="1200" dirty="0" smtClean="0"/>
              <a:t>내용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확인</a:t>
            </a:r>
            <a:endParaRPr lang="en-US" altLang="ko-KR" sz="1200" dirty="0" smtClean="0"/>
          </a:p>
          <a:p>
            <a:r>
              <a:rPr lang="en-US" altLang="ko-KR" sz="1200" dirty="0" smtClean="0"/>
              <a:t>people </a:t>
            </a:r>
            <a:r>
              <a:rPr lang="ko-KR" altLang="en-US" sz="1200" dirty="0" smtClean="0"/>
              <a:t>테이블이 생성된 것을 확인 할 수 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cxnSp>
        <p:nvCxnSpPr>
          <p:cNvPr id="15" name="직선 연결선 14"/>
          <p:cNvCxnSpPr/>
          <p:nvPr/>
        </p:nvCxnSpPr>
        <p:spPr>
          <a:xfrm flipV="1">
            <a:off x="1525426" y="4200525"/>
            <a:ext cx="789149" cy="73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525426" y="4945178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.tables -&gt; table </a:t>
            </a:r>
            <a:r>
              <a:rPr lang="ko-KR" altLang="en-US" sz="1200" dirty="0" smtClean="0">
                <a:solidFill>
                  <a:schemeClr val="bg1"/>
                </a:solidFill>
              </a:rPr>
              <a:t>내용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확인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people </a:t>
            </a:r>
            <a:r>
              <a:rPr lang="ko-KR" altLang="en-US" sz="1200" dirty="0" smtClean="0">
                <a:solidFill>
                  <a:schemeClr val="bg1"/>
                </a:solidFill>
              </a:rPr>
              <a:t>테이블이 생성된 것을 확인 할 수 있다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89842" y="3461354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err="1" smtClean="0">
                <a:solidFill>
                  <a:schemeClr val="bg1"/>
                </a:solidFill>
              </a:rPr>
              <a:t>test.db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0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933" y="2832896"/>
            <a:ext cx="5619750" cy="352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SQL: INSERT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5302" y="1761490"/>
            <a:ext cx="8411312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INSERT INTO </a:t>
            </a:r>
            <a:r>
              <a:rPr lang="en-US" altLang="ko-KR" dirty="0" smtClean="0"/>
              <a:t>people </a:t>
            </a:r>
            <a:r>
              <a:rPr lang="en-US" altLang="ko-KR" dirty="0"/>
              <a:t>(name, age) VALUES </a:t>
            </a:r>
            <a:r>
              <a:rPr lang="en-US" altLang="ko-KR" dirty="0" smtClean="0"/>
              <a:t>(‘</a:t>
            </a:r>
            <a:r>
              <a:rPr lang="ko-KR" altLang="en-US" dirty="0" smtClean="0"/>
              <a:t>본인이름</a:t>
            </a:r>
            <a:r>
              <a:rPr lang="en-US" altLang="ko-KR" dirty="0" smtClean="0"/>
              <a:t>’, ‘</a:t>
            </a:r>
            <a:r>
              <a:rPr lang="ko-KR" altLang="en-US" dirty="0" smtClean="0"/>
              <a:t>나이</a:t>
            </a:r>
            <a:r>
              <a:rPr lang="en-US" altLang="ko-KR" dirty="0" smtClean="0"/>
              <a:t>(INTEGER)’);</a:t>
            </a:r>
            <a:endParaRPr lang="en-US" altLang="ko-KR" dirty="0"/>
          </a:p>
          <a:p>
            <a:r>
              <a:rPr lang="en-US" altLang="ko-KR" dirty="0" smtClean="0"/>
              <a:t>INSERT </a:t>
            </a:r>
            <a:r>
              <a:rPr lang="en-US" altLang="ko-KR" dirty="0"/>
              <a:t>INTO people (name, age) VALUES </a:t>
            </a:r>
            <a:r>
              <a:rPr lang="en-US" altLang="ko-KR" dirty="0" smtClean="0"/>
              <a:t>(‘</a:t>
            </a:r>
            <a:r>
              <a:rPr lang="ko-KR" altLang="en-US" dirty="0" smtClean="0"/>
              <a:t>친구이름</a:t>
            </a:r>
            <a:r>
              <a:rPr lang="en-US" altLang="ko-KR" dirty="0"/>
              <a:t>', ‘</a:t>
            </a:r>
            <a:r>
              <a:rPr lang="ko-KR" altLang="en-US" dirty="0"/>
              <a:t>나이</a:t>
            </a:r>
            <a:r>
              <a:rPr lang="en-US" altLang="ko-KR" dirty="0"/>
              <a:t>(INTEGER)’);</a:t>
            </a:r>
            <a:endParaRPr lang="en-US" altLang="ko-KR" dirty="0" smtClean="0"/>
          </a:p>
          <a:p>
            <a:r>
              <a:rPr lang="en-US" altLang="ko-KR" dirty="0"/>
              <a:t>INSERT INTO people (name, age) VALUES </a:t>
            </a:r>
            <a:r>
              <a:rPr lang="en-US" altLang="ko-KR" dirty="0" smtClean="0"/>
              <a:t>(‘</a:t>
            </a:r>
            <a:r>
              <a:rPr lang="ko-KR" altLang="en-US" dirty="0" smtClean="0"/>
              <a:t>친구이름</a:t>
            </a:r>
            <a:r>
              <a:rPr lang="en-US" altLang="ko-KR" dirty="0"/>
              <a:t>', ‘</a:t>
            </a:r>
            <a:r>
              <a:rPr lang="ko-KR" altLang="en-US" dirty="0"/>
              <a:t>나이</a:t>
            </a:r>
            <a:r>
              <a:rPr lang="en-US" altLang="ko-KR" dirty="0"/>
              <a:t>(INTEGER</a:t>
            </a:r>
            <a:r>
              <a:rPr lang="en-US" altLang="ko-KR" dirty="0" smtClean="0"/>
              <a:t>)’);</a:t>
            </a:r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1762125" y="4324846"/>
            <a:ext cx="3752850" cy="42495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349643" y="3332348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err="1" smtClean="0">
                <a:solidFill>
                  <a:schemeClr val="bg1"/>
                </a:solidFill>
              </a:rPr>
              <a:t>test.db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79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350" y="4794756"/>
            <a:ext cx="6861783" cy="60483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211" y="3114770"/>
            <a:ext cx="3664031" cy="1116657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SQL: SELECT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394619" y="1680210"/>
            <a:ext cx="4520789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SELECT * FROM people;</a:t>
            </a:r>
          </a:p>
          <a:p>
            <a:r>
              <a:rPr lang="en-US" altLang="ko-KR" dirty="0" smtClean="0"/>
              <a:t>SELECT * FROM people WHERE age &lt; 24;</a:t>
            </a:r>
          </a:p>
          <a:p>
            <a:r>
              <a:rPr lang="en-US" altLang="ko-KR" dirty="0" smtClean="0"/>
              <a:t>SELECT name FROM people;</a:t>
            </a: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25" r="68000"/>
          <a:stretch/>
        </p:blipFill>
        <p:spPr>
          <a:xfrm>
            <a:off x="4572000" y="3114770"/>
            <a:ext cx="3689496" cy="1126087"/>
          </a:xfrm>
          <a:prstGeom prst="rect">
            <a:avLst/>
          </a:prstGeom>
        </p:spPr>
      </p:pic>
      <p:cxnSp>
        <p:nvCxnSpPr>
          <p:cNvPr id="11" name="직선 연결선 10"/>
          <p:cNvCxnSpPr/>
          <p:nvPr/>
        </p:nvCxnSpPr>
        <p:spPr>
          <a:xfrm>
            <a:off x="1633756" y="3362854"/>
            <a:ext cx="28024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4572000" y="3357827"/>
            <a:ext cx="33693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005350" y="5097175"/>
            <a:ext cx="666880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6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840" y="2333179"/>
            <a:ext cx="5619750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SQL: UPDATE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55754" y="1695212"/>
            <a:ext cx="523624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UPDATE people SET age=29 </a:t>
            </a:r>
            <a:r>
              <a:rPr lang="en-US" altLang="ko-KR" dirty="0"/>
              <a:t>WHERE name</a:t>
            </a:r>
            <a:r>
              <a:rPr lang="en-US" altLang="ko-KR" dirty="0" smtClean="0"/>
              <a:t>=‘me';</a:t>
            </a:r>
            <a:endParaRPr lang="en-US" altLang="ko-KR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2319480" y="5385940"/>
            <a:ext cx="29714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1772496" y="5645600"/>
            <a:ext cx="58116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336572" y="2793963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err="1" smtClean="0">
                <a:solidFill>
                  <a:schemeClr val="bg1"/>
                </a:solidFill>
              </a:rPr>
              <a:t>test.db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55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468" y="2175642"/>
            <a:ext cx="5657850" cy="429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SQL: DELETE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03622" y="1695212"/>
            <a:ext cx="468192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DELETE FROM people WHERE name=‘we’;</a:t>
            </a:r>
            <a:endParaRPr lang="en-US" altLang="ko-KR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2394538" y="5646864"/>
            <a:ext cx="269315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55376" y="5244917"/>
            <a:ext cx="2427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people </a:t>
            </a:r>
            <a:r>
              <a:rPr lang="ko-KR" altLang="en-US" sz="1200" dirty="0" smtClean="0"/>
              <a:t>테이블에서 </a:t>
            </a:r>
            <a:r>
              <a:rPr lang="en-US" altLang="ko-KR" sz="1200" dirty="0" smtClean="0"/>
              <a:t>‘we’</a:t>
            </a:r>
            <a:r>
              <a:rPr lang="ko-KR" altLang="en-US" sz="1200" dirty="0" smtClean="0"/>
              <a:t>가 삭제됨</a:t>
            </a:r>
            <a:endParaRPr lang="ko-KR" altLang="en-US" sz="1200" dirty="0"/>
          </a:p>
        </p:txBody>
      </p:sp>
      <p:sp>
        <p:nvSpPr>
          <p:cNvPr id="10" name="직사각형 9"/>
          <p:cNvSpPr/>
          <p:nvPr/>
        </p:nvSpPr>
        <p:spPr>
          <a:xfrm>
            <a:off x="1890358" y="5800058"/>
            <a:ext cx="736823" cy="299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659913" y="5914358"/>
            <a:ext cx="2427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people </a:t>
            </a:r>
            <a:r>
              <a:rPr lang="ko-KR" altLang="en-US" sz="1200" dirty="0" smtClean="0">
                <a:solidFill>
                  <a:schemeClr val="bg1"/>
                </a:solidFill>
              </a:rPr>
              <a:t>테이블에서 </a:t>
            </a:r>
            <a:r>
              <a:rPr lang="en-US" altLang="ko-KR" sz="1200" dirty="0" smtClean="0">
                <a:solidFill>
                  <a:schemeClr val="bg1"/>
                </a:solidFill>
              </a:rPr>
              <a:t>‘we’</a:t>
            </a:r>
            <a:r>
              <a:rPr lang="ko-KR" altLang="en-US" sz="1200" dirty="0" smtClean="0">
                <a:solidFill>
                  <a:schemeClr val="bg1"/>
                </a:solidFill>
              </a:rPr>
              <a:t>가 삭제됨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5778" y="2646917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err="1" smtClean="0">
                <a:solidFill>
                  <a:schemeClr val="bg1"/>
                </a:solidFill>
              </a:rPr>
              <a:t>test.db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72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SQLite</a:t>
            </a:r>
            <a:endParaRPr lang="ko-KR" altLang="en-US" dirty="0"/>
          </a:p>
        </p:txBody>
      </p:sp>
      <p:sp>
        <p:nvSpPr>
          <p:cNvPr id="11" name="내용 개체 틀 5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Db </a:t>
            </a:r>
            <a:r>
              <a:rPr lang="ko-KR" altLang="en-US" dirty="0" smtClean="0"/>
              <a:t>파일 생성 완료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.exit </a:t>
            </a:r>
            <a:r>
              <a:rPr lang="ko-KR" altLang="en-US" dirty="0" smtClean="0"/>
              <a:t>후 파일 생성 확인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691" y="2376668"/>
            <a:ext cx="5876925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직선 연결선 11"/>
          <p:cNvCxnSpPr/>
          <p:nvPr/>
        </p:nvCxnSpPr>
        <p:spPr>
          <a:xfrm>
            <a:off x="5559867" y="5149096"/>
            <a:ext cx="81500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09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SQLite Database Browser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60376" y="1273730"/>
            <a:ext cx="5548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Database Browser</a:t>
            </a:r>
            <a:r>
              <a:rPr lang="ko-KR" altLang="en-US" dirty="0" smtClean="0"/>
              <a:t>로 해당 </a:t>
            </a:r>
            <a:r>
              <a:rPr lang="en-US" altLang="ko-KR" dirty="0" smtClean="0"/>
              <a:t>Database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data</a:t>
            </a:r>
            <a:r>
              <a:rPr lang="ko-KR" altLang="en-US" dirty="0" smtClean="0"/>
              <a:t> 확인 가능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042" y="1787767"/>
            <a:ext cx="7783571" cy="4510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2455317" y="2207315"/>
            <a:ext cx="1159252" cy="2971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614567" y="1982981"/>
            <a:ext cx="4052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C:\</a:t>
            </a:r>
            <a:r>
              <a:rPr lang="en-US" altLang="ko-KR" dirty="0" smtClean="0">
                <a:solidFill>
                  <a:srgbClr val="FF0000"/>
                </a:solidFill>
              </a:rPr>
              <a:t>cygwin64\home\computer_name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20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TitleAct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000452"/>
            <a:ext cx="31991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Ex7_DatabaseSave</a:t>
            </a:r>
          </a:p>
          <a:p>
            <a:r>
              <a:rPr lang="en-US" altLang="ko-KR" dirty="0" err="1" smtClean="0"/>
              <a:t>EmptyActivity</a:t>
            </a:r>
            <a:endParaRPr lang="en-US" altLang="ko-KR" dirty="0" smtClean="0"/>
          </a:p>
          <a:p>
            <a:r>
              <a:rPr lang="en-US" altLang="ko-KR" dirty="0" smtClean="0"/>
              <a:t>/res/layout/activity_main.xml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65528" y="1926491"/>
            <a:ext cx="3038011" cy="24622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sz="11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"@+id/button1"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"SELECT"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showListAct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1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"@+id/button2"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"INSERT"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showInsAct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 smtClean="0">
                <a:solidFill>
                  <a:srgbClr val="008080"/>
                </a:solidFill>
                <a:latin typeface="맑은 고딕"/>
              </a:rPr>
              <a:t>/&gt;</a:t>
            </a:r>
            <a:endParaRPr lang="en-US" altLang="ko-KR" sz="1100" dirty="0">
              <a:solidFill>
                <a:srgbClr val="00808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30" y="4389750"/>
            <a:ext cx="2426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/MainActivity.java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74676" y="4747568"/>
            <a:ext cx="3781805" cy="14465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1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/>
                <a:ea typeface="돋움체"/>
              </a:rPr>
              <a:t>showListAct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Intent 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i = </a:t>
            </a:r>
            <a:r>
              <a:rPr lang="en-US" altLang="ko-KR" sz="11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 Intent(</a:t>
            </a:r>
            <a:r>
              <a:rPr lang="en-US" altLang="ko-KR" sz="11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100" dirty="0" err="1">
                <a:solidFill>
                  <a:srgbClr val="000000"/>
                </a:solidFill>
                <a:latin typeface="돋움체"/>
                <a:ea typeface="돋움체"/>
              </a:rPr>
              <a:t>ListAct.</a:t>
            </a:r>
            <a:r>
              <a:rPr lang="en-US" altLang="ko-KR" sz="1100" dirty="0" err="1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/>
                <a:ea typeface="돋움체"/>
              </a:rPr>
              <a:t>startActivity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(i);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ko-KR" altLang="en-US" sz="1100" dirty="0">
              <a:latin typeface="돋움체"/>
              <a:ea typeface="돋움체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1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1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/>
                <a:ea typeface="돋움체"/>
              </a:rPr>
              <a:t>showInsAct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Intent i = </a:t>
            </a:r>
            <a:r>
              <a:rPr lang="en-US" altLang="ko-KR" sz="11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 Intent(</a:t>
            </a:r>
            <a:r>
              <a:rPr lang="en-US" altLang="ko-KR" sz="11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100" dirty="0" err="1">
                <a:solidFill>
                  <a:srgbClr val="000000"/>
                </a:solidFill>
                <a:latin typeface="돋움체"/>
                <a:ea typeface="돋움체"/>
              </a:rPr>
              <a:t>InsAct.</a:t>
            </a:r>
            <a:r>
              <a:rPr lang="en-US" altLang="ko-KR" sz="1100" dirty="0" err="1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/>
                <a:ea typeface="돋움체"/>
              </a:rPr>
              <a:t>startActivity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(i);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1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1055" y="6242664"/>
            <a:ext cx="3467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 smtClean="0"/>
              <a:t>인텐트를</a:t>
            </a:r>
            <a:r>
              <a:rPr lang="ko-KR" altLang="en-US" sz="1600" dirty="0" smtClean="0"/>
              <a:t> 사용하여 각 </a:t>
            </a:r>
            <a:r>
              <a:rPr lang="ko-KR" altLang="en-US" sz="1600" dirty="0" err="1" smtClean="0"/>
              <a:t>액티비티</a:t>
            </a:r>
            <a:r>
              <a:rPr lang="ko-KR" altLang="en-US" sz="1600" dirty="0" smtClean="0"/>
              <a:t> 호출</a:t>
            </a:r>
            <a:endParaRPr lang="ko-KR" altLang="en-US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981" y="1307689"/>
            <a:ext cx="3138151" cy="497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14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ListAct</a:t>
            </a:r>
            <a:r>
              <a:rPr lang="en-US" altLang="ko-KR" dirty="0" smtClean="0"/>
              <a:t>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97230" y="1280160"/>
            <a:ext cx="2369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Ex7_DatabaseSave</a:t>
            </a:r>
          </a:p>
          <a:p>
            <a:r>
              <a:rPr lang="en-US" altLang="ko-KR" b="1" dirty="0" smtClean="0"/>
              <a:t>Empty </a:t>
            </a:r>
            <a:r>
              <a:rPr lang="en-US" altLang="ko-KR" b="1" dirty="0" smtClean="0"/>
              <a:t>Activity </a:t>
            </a:r>
            <a:r>
              <a:rPr lang="ko-KR" altLang="en-US" b="1" dirty="0" smtClean="0"/>
              <a:t>추가</a:t>
            </a:r>
            <a:endParaRPr lang="en-US" altLang="ko-KR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41" y="2091591"/>
            <a:ext cx="4039941" cy="2645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2282" y="1926491"/>
            <a:ext cx="4951718" cy="421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029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28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ListAct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985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Ex7_DatabaseSave</a:t>
            </a:r>
            <a:endParaRPr lang="en-US" altLang="ko-KR" b="1" dirty="0"/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smtClean="0">
                <a:solidFill>
                  <a:prstClr val="black"/>
                </a:solidFill>
              </a:rPr>
              <a:t>res/layout/activity_list.xml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5470728" cy="4616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&lt;?xml version=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"1.0" encoding="utf-8"?&gt;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xmlns:android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"http://schemas.android.com/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apk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/res/android"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android:orientation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"vertical"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</a:t>
            </a:r>
            <a:r>
              <a:rPr lang="ko-KR" alt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400" dirty="0" err="1">
                <a:solidFill>
                  <a:srgbClr val="3F7F7F"/>
                </a:solidFill>
                <a:latin typeface="맑은 고딕"/>
              </a:rPr>
              <a:t>ListView</a:t>
            </a:r>
            <a:endParaRPr lang="en-US" altLang="ko-KR" sz="14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400" dirty="0">
                <a:latin typeface="맑은 고딕"/>
              </a:rPr>
              <a:t>  </a:t>
            </a:r>
            <a:r>
              <a:rPr lang="en-US" altLang="ko-KR" sz="1400" dirty="0" smtClean="0">
                <a:latin typeface="맑은 고딕"/>
              </a:rPr>
              <a:t>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 smtClean="0">
                <a:solidFill>
                  <a:srgbClr val="2A00FF"/>
                </a:solidFill>
                <a:latin typeface="맑은 고딕"/>
              </a:rPr>
              <a:t>"@+id/</a:t>
            </a:r>
            <a:r>
              <a:rPr lang="en-US" altLang="ko-KR" sz="1400" b="1" i="1" dirty="0" err="1" smtClean="0">
                <a:solidFill>
                  <a:srgbClr val="2A00FF"/>
                </a:solidFill>
                <a:latin typeface="맑은 고딕"/>
              </a:rPr>
              <a:t>android:list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400" dirty="0" smtClean="0">
                <a:latin typeface="맑은 고딕"/>
              </a:rPr>
              <a:t>    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400" dirty="0" err="1">
                <a:solidFill>
                  <a:srgbClr val="3F7F7F"/>
                </a:solidFill>
                <a:latin typeface="맑은 고딕"/>
              </a:rPr>
              <a:t>TextView</a:t>
            </a:r>
            <a:endParaRPr lang="en-US" altLang="ko-KR" sz="14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400" dirty="0">
                <a:latin typeface="맑은 고딕"/>
              </a:rPr>
              <a:t>    </a:t>
            </a:r>
            <a:r>
              <a:rPr lang="en-US" altLang="ko-KR" sz="1400" dirty="0" smtClean="0">
                <a:latin typeface="맑은 고딕"/>
              </a:rPr>
              <a:t>    </a:t>
            </a:r>
            <a:r>
              <a:rPr lang="en-US" altLang="ko-KR" sz="14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 smtClean="0">
                <a:solidFill>
                  <a:srgbClr val="2A00FF"/>
                </a:solidFill>
                <a:latin typeface="맑은 고딕"/>
              </a:rPr>
              <a:t>"@+id/</a:t>
            </a:r>
            <a:r>
              <a:rPr lang="en-US" altLang="ko-KR" sz="1400" b="1" i="1" dirty="0" err="1" smtClean="0">
                <a:solidFill>
                  <a:srgbClr val="2A00FF"/>
                </a:solidFill>
                <a:latin typeface="맑은 고딕"/>
              </a:rPr>
              <a:t>android:empty</a:t>
            </a:r>
            <a:r>
              <a:rPr lang="en-US" altLang="ko-KR" sz="1400" b="1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400" i="1" dirty="0">
                <a:solidFill>
                  <a:srgbClr val="2A00FF"/>
                </a:solidFill>
                <a:latin typeface="맑은 고딕"/>
              </a:rPr>
              <a:t>데이터가 없습니다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."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android:textSize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smtClean="0">
                <a:solidFill>
                  <a:srgbClr val="2A00FF"/>
                </a:solidFill>
                <a:latin typeface="맑은 고딕"/>
              </a:rPr>
              <a:t>20dp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android:gravity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"center"</a:t>
            </a:r>
          </a:p>
          <a:p>
            <a:r>
              <a:rPr lang="ko-KR" altLang="en-US" sz="1400" dirty="0" smtClean="0">
                <a:latin typeface="맑은 고딕"/>
              </a:rPr>
              <a:t>        </a:t>
            </a:r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&lt;/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1801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29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ListAct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1451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Ex7_DatabaseSave</a:t>
            </a:r>
            <a:endParaRPr lang="en-US" altLang="ko-KR" b="1" dirty="0"/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/ListAct.java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28" y="1926491"/>
            <a:ext cx="4942379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ListAct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extends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ListActivity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3F5FBF"/>
                </a:solidFill>
                <a:latin typeface="돋움체"/>
                <a:ea typeface="돋움체"/>
              </a:rPr>
              <a:t>    /** </a:t>
            </a:r>
            <a:r>
              <a:rPr lang="en-US" altLang="ko-KR" sz="1400" dirty="0">
                <a:solidFill>
                  <a:srgbClr val="3F5FBF"/>
                </a:solidFill>
                <a:latin typeface="돋움체"/>
                <a:ea typeface="돋움체"/>
              </a:rPr>
              <a:t>Called when the activity is first created. */</a:t>
            </a:r>
          </a:p>
          <a:p>
            <a:r>
              <a:rPr lang="en-US" altLang="ko-KR" sz="1400" dirty="0" smtClean="0">
                <a:solidFill>
                  <a:srgbClr val="646464"/>
                </a:solidFill>
                <a:latin typeface="돋움체"/>
                <a:ea typeface="돋움체"/>
              </a:rPr>
              <a:t>    @</a:t>
            </a:r>
            <a:r>
              <a:rPr lang="en-US" altLang="ko-KR" sz="14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onCreate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(Bundle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err="1" smtClean="0">
                <a:solidFill>
                  <a:srgbClr val="7F0055"/>
                </a:solidFill>
                <a:latin typeface="돋움체"/>
                <a:ea typeface="돋움체"/>
              </a:rPr>
              <a:t>super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.onCreate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R.layout.</a:t>
            </a:r>
            <a:r>
              <a:rPr lang="en-US" altLang="ko-KR" sz="1400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activity_list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i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loadDB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646464"/>
                </a:solidFill>
                <a:latin typeface="돋움체"/>
                <a:ea typeface="돋움체"/>
              </a:rPr>
              <a:t>    @</a:t>
            </a:r>
            <a:r>
              <a:rPr lang="en-US" altLang="ko-KR" sz="14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onResume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7F0055"/>
                </a:solidFill>
                <a:latin typeface="돋움체"/>
                <a:ea typeface="돋움체"/>
              </a:rPr>
              <a:t>super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.onResume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loadDB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</a:p>
          <a:p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144616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30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ListAct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1451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Ex7_DatabaseSave</a:t>
            </a:r>
            <a:endParaRPr lang="en-US" altLang="ko-KR" b="1" dirty="0"/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/ListAct.java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28" y="1926491"/>
            <a:ext cx="6280887" cy="50783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loadDB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SQLiteDatabase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db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openOrCreateDatabase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돋움체"/>
                <a:ea typeface="돋움체"/>
              </a:rPr>
              <a:t>test.db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SQLiteDatabase.</a:t>
            </a:r>
            <a:r>
              <a:rPr lang="en-US" altLang="ko-KR" sz="1200" i="1" dirty="0" err="1">
                <a:solidFill>
                  <a:srgbClr val="0000C0"/>
                </a:solidFill>
                <a:latin typeface="돋움체"/>
                <a:ea typeface="돋움체"/>
              </a:rPr>
              <a:t>CREATE_IF_NECESSARY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db.</a:t>
            </a:r>
            <a:r>
              <a:rPr lang="en-US" altLang="ko-KR" sz="12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execSQL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"CREATE TABLE </a:t>
            </a:r>
            <a:r>
              <a:rPr lang="en-US" altLang="ko-KR" sz="1200" b="1" dirty="0">
                <a:solidFill>
                  <a:srgbClr val="2A00FF"/>
                </a:solidFill>
                <a:latin typeface="돋움체"/>
                <a:ea typeface="돋움체"/>
              </a:rPr>
              <a:t>IF NOT EXISTS 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people "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 +</a:t>
            </a:r>
          </a:p>
          <a:p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            "(</a:t>
            </a:r>
            <a:r>
              <a:rPr lang="en-US" altLang="ko-KR" sz="1200" b="1" dirty="0" smtClean="0">
                <a:solidFill>
                  <a:srgbClr val="2A00FF"/>
                </a:solidFill>
                <a:latin typeface="돋움체"/>
                <a:ea typeface="돋움체"/>
              </a:rPr>
              <a:t>_</a:t>
            </a:r>
            <a:r>
              <a:rPr lang="en-US" altLang="ko-KR" sz="1200" b="1" dirty="0">
                <a:solidFill>
                  <a:srgbClr val="2A00FF"/>
                </a:solidFill>
                <a:latin typeface="돋움체"/>
                <a:ea typeface="돋움체"/>
              </a:rPr>
              <a:t>id INTEGER PRIMARY KEY AUTOINCREMENT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, name TEXT, age INTEGER);"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Cursor c 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db.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rawQuery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"SELECT * FROM 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people;"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startManagingCursor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(c);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ListAdapter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adapt 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SimpleCursorAdapter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android.R.layout.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simple_list_item_2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c,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String[] {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돋움체"/>
                <a:ea typeface="돋움체"/>
              </a:rPr>
              <a:t>name"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  <a:r>
              <a:rPr lang="en-US" altLang="ko-KR" sz="1200" dirty="0" err="1">
                <a:solidFill>
                  <a:srgbClr val="2A00FF"/>
                </a:solidFill>
                <a:latin typeface="돋움체"/>
                <a:ea typeface="돋움체"/>
              </a:rPr>
              <a:t>"age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[] {android.R.id.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text1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,android.R.id.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text2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}, 0</a:t>
            </a:r>
          </a:p>
          <a:p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       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setListAdapter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(adapt);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db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!=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db.close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3082888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31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InsAct</a:t>
            </a:r>
            <a:r>
              <a:rPr lang="en-US" altLang="ko-KR" dirty="0" smtClean="0"/>
              <a:t>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9779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Ex7_DatabaseSave</a:t>
            </a:r>
            <a:endParaRPr lang="en-US" altLang="ko-KR" b="1" dirty="0"/>
          </a:p>
          <a:p>
            <a:r>
              <a:rPr lang="en-US" altLang="ko-KR" dirty="0" smtClean="0">
                <a:solidFill>
                  <a:prstClr val="black"/>
                </a:solidFill>
              </a:rPr>
              <a:t>Empty Activity </a:t>
            </a:r>
            <a:r>
              <a:rPr lang="ko-KR" altLang="en-US" dirty="0" smtClean="0">
                <a:solidFill>
                  <a:prstClr val="black"/>
                </a:solidFill>
              </a:rPr>
              <a:t>추가</a:t>
            </a:r>
            <a:endParaRPr lang="en-US" altLang="ko-KR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</a:t>
            </a:r>
            <a:r>
              <a:rPr lang="en-US" altLang="ko-KR" dirty="0" smtClean="0">
                <a:solidFill>
                  <a:prstClr val="black"/>
                </a:solidFill>
              </a:rPr>
              <a:t>activity_ins</a:t>
            </a:r>
            <a:r>
              <a:rPr lang="en-US" altLang="ko-KR" dirty="0" smtClean="0">
                <a:solidFill>
                  <a:prstClr val="black"/>
                </a:solidFill>
              </a:rPr>
              <a:t>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2243991"/>
            <a:ext cx="3805657" cy="41857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sz="1400" dirty="0" err="1">
                <a:solidFill>
                  <a:srgbClr val="3F7F7F"/>
                </a:solidFill>
                <a:latin typeface="맑은 고딕"/>
              </a:rPr>
              <a:t>EditText</a:t>
            </a:r>
            <a:endParaRPr lang="en-US" altLang="ko-KR" sz="14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400" dirty="0">
                <a:latin typeface="맑은 고딕"/>
              </a:rPr>
              <a:t>    </a:t>
            </a:r>
            <a:r>
              <a:rPr lang="en-US" altLang="ko-KR" sz="1400" dirty="0" smtClean="0">
                <a:latin typeface="맑은 고딕"/>
              </a:rPr>
              <a:t>    </a:t>
            </a:r>
            <a:r>
              <a:rPr lang="en-US" altLang="ko-KR" sz="14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"@+id/editText1"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4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 smtClean="0">
                <a:solidFill>
                  <a:srgbClr val="2A00FF"/>
                </a:solidFill>
                <a:latin typeface="맑은 고딕"/>
              </a:rPr>
              <a:t>＂name"</a:t>
            </a:r>
            <a:endParaRPr lang="en-US" altLang="ko-KR" sz="1400" i="1" dirty="0">
              <a:solidFill>
                <a:srgbClr val="2A00FF"/>
              </a:solidFill>
              <a:latin typeface="맑은 고딕"/>
            </a:endParaRP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400" dirty="0" smtClean="0">
                <a:latin typeface="맑은 고딕"/>
              </a:rPr>
              <a:t>    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400" dirty="0" err="1">
                <a:solidFill>
                  <a:srgbClr val="3F7F7F"/>
                </a:solidFill>
                <a:latin typeface="맑은 고딕"/>
              </a:rPr>
              <a:t>EditText</a:t>
            </a:r>
            <a:endParaRPr lang="en-US" altLang="ko-KR" sz="14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400" dirty="0">
                <a:latin typeface="맑은 고딕"/>
              </a:rPr>
              <a:t>    </a:t>
            </a:r>
            <a:r>
              <a:rPr lang="en-US" altLang="ko-KR" sz="1400" dirty="0" smtClean="0">
                <a:latin typeface="맑은 고딕"/>
              </a:rPr>
              <a:t>    </a:t>
            </a:r>
            <a:r>
              <a:rPr lang="en-US" altLang="ko-KR" sz="14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"@+id/editText2"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4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 smtClean="0">
                <a:solidFill>
                  <a:srgbClr val="2A00FF"/>
                </a:solidFill>
                <a:latin typeface="맑은 고딕"/>
              </a:rPr>
              <a:t>“age"</a:t>
            </a:r>
            <a:endParaRPr lang="en-US" altLang="ko-KR" sz="1400" i="1" dirty="0">
              <a:solidFill>
                <a:srgbClr val="2A00FF"/>
              </a:solidFill>
              <a:latin typeface="맑은 고딕"/>
            </a:endParaRP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400" dirty="0" smtClean="0">
                <a:latin typeface="맑은 고딕"/>
              </a:rPr>
              <a:t>    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"@+id/button1"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4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 smtClean="0">
                <a:solidFill>
                  <a:srgbClr val="2A00FF"/>
                </a:solidFill>
                <a:latin typeface="맑은 고딕"/>
              </a:rPr>
              <a:t>“save"</a:t>
            </a:r>
            <a:endParaRPr lang="en-US" altLang="ko-KR" sz="1400" i="1" dirty="0">
              <a:solidFill>
                <a:srgbClr val="2A00FF"/>
              </a:solidFill>
              <a:latin typeface="맑은 고딕"/>
            </a:endParaRP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onClickButton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400" dirty="0" smtClean="0">
                <a:latin typeface="맑은 고딕"/>
              </a:rPr>
              <a:t>    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/&gt;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295" y="1781124"/>
            <a:ext cx="2884948" cy="465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3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InsAct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1451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Ex7_DatabaseSave</a:t>
            </a:r>
            <a:endParaRPr lang="en-US" altLang="ko-KR" b="1" dirty="0"/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/InsAct.java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28" y="1926491"/>
            <a:ext cx="7092006" cy="49859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InsAct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extends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/>
              <a:t>AppCompatActivity</a:t>
            </a:r>
            <a:r>
              <a:rPr lang="en-US" altLang="ko-KR" sz="1200" dirty="0"/>
              <a:t>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1200" dirty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3F5FBF"/>
                </a:solidFill>
                <a:latin typeface="돋움체"/>
                <a:ea typeface="돋움체"/>
              </a:rPr>
              <a:t>    /** </a:t>
            </a:r>
            <a:r>
              <a:rPr lang="en-US" altLang="ko-KR" sz="1200" dirty="0">
                <a:solidFill>
                  <a:srgbClr val="3F5FBF"/>
                </a:solidFill>
                <a:latin typeface="돋움체"/>
                <a:ea typeface="돋움체"/>
              </a:rPr>
              <a:t>Called when the activity is first created. */</a:t>
            </a:r>
          </a:p>
          <a:p>
            <a:r>
              <a:rPr lang="en-US" altLang="ko-KR" sz="1200" dirty="0" smtClean="0">
                <a:solidFill>
                  <a:srgbClr val="646464"/>
                </a:solidFill>
                <a:latin typeface="돋움체"/>
                <a:ea typeface="돋움체"/>
              </a:rPr>
              <a:t>    @</a:t>
            </a:r>
            <a:r>
              <a:rPr lang="en-US" altLang="ko-KR" sz="12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onCreate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(Bundle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err="1" smtClean="0">
                <a:solidFill>
                  <a:srgbClr val="7F0055"/>
                </a:solidFill>
                <a:latin typeface="돋움체"/>
                <a:ea typeface="돋움체"/>
              </a:rPr>
              <a:t>super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.onCreate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R.layout.</a:t>
            </a:r>
            <a:r>
              <a:rPr lang="en-US" altLang="ko-KR" sz="1200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activity_ins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1200" dirty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onClickButton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txt 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txt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=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editText1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String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name 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txt.getText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toString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txt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=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editText2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String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age  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txt.getText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toString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endParaRPr lang="ko-KR" altLang="en-US" sz="1200" dirty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String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sql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b="1" dirty="0">
                <a:solidFill>
                  <a:srgbClr val="2A00FF"/>
                </a:solidFill>
                <a:latin typeface="돋움체"/>
                <a:ea typeface="돋움체"/>
              </a:rPr>
              <a:t>INSERT INTO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people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2A00FF"/>
                </a:solidFill>
                <a:latin typeface="돋움체"/>
                <a:ea typeface="돋움체"/>
              </a:rPr>
              <a:t>name,age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) VALUES ('"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+ name +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"',"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+ age +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");"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SQLiteDatabase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db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openOrCreateDatabase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돋움체"/>
                <a:ea typeface="돋움체"/>
              </a:rPr>
              <a:t>test.db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SQLiteDatabase.</a:t>
            </a:r>
            <a:r>
              <a:rPr lang="en-US" altLang="ko-KR" sz="1200" b="1" i="1" dirty="0" err="1">
                <a:solidFill>
                  <a:srgbClr val="0000C0"/>
                </a:solidFill>
                <a:latin typeface="돋움체"/>
                <a:ea typeface="돋움체"/>
              </a:rPr>
              <a:t>CREATE_IF_NECESSARY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db.execSQL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sql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finish();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177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SQLite3 Database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2145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Ex7_DatabaseSave</a:t>
            </a:r>
            <a:endParaRPr lang="en-US" altLang="ko-KR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388514" y="1734483"/>
            <a:ext cx="818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  <a:latin typeface="+mn-ea"/>
              </a:rPr>
              <a:t>Insert</a:t>
            </a:r>
            <a:endParaRPr lang="ko-KR" altLang="en-US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29175" y="170656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List</a:t>
            </a:r>
            <a:endParaRPr lang="ko-KR" altLang="en-US" b="1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667" y="2188806"/>
            <a:ext cx="2742234" cy="437884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14" y="2188806"/>
            <a:ext cx="2783566" cy="437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2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SQLite3 Database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rawQuery</a:t>
            </a:r>
            <a:r>
              <a:rPr lang="en-US" altLang="ko-KR" dirty="0" smtClean="0"/>
              <a:t>()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query()</a:t>
            </a:r>
            <a:r>
              <a:rPr lang="ko-KR" altLang="en-US" dirty="0" smtClean="0"/>
              <a:t>의 차이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37260" y="2125980"/>
            <a:ext cx="653255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String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sql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"SELECT * FROM 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people 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WHERE name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=‘KNU';"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Cursor c =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db.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rawQuery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sql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" y="3124200"/>
            <a:ext cx="3416320" cy="20313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Cursor c =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db.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query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    “people"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new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String[] { 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"*"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},</a:t>
            </a:r>
          </a:p>
          <a:p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    " 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name = ?"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new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String[] { 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“KNU"</a:t>
            </a:r>
            <a:r>
              <a:rPr lang="ko-KR" altLang="en-US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},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null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);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234289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Cursor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4986466"/>
          </a:xfrm>
        </p:spPr>
        <p:txBody>
          <a:bodyPr>
            <a:normAutofit lnSpcReduction="10000"/>
          </a:bodyPr>
          <a:lstStyle/>
          <a:p>
            <a:r>
              <a:rPr lang="ko-KR" altLang="en-US" dirty="0" err="1" smtClean="0"/>
              <a:t>데이터셋에</a:t>
            </a:r>
            <a:r>
              <a:rPr lang="ko-KR" altLang="en-US" dirty="0" smtClean="0"/>
              <a:t> 접근하기 위한 참조 클래스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 smtClean="0"/>
              <a:t>Cursor </a:t>
            </a:r>
            <a:r>
              <a:rPr lang="en-US" altLang="ko-KR" dirty="0" err="1" smtClean="0"/>
              <a:t>cursor</a:t>
            </a:r>
            <a:r>
              <a:rPr lang="en-US" altLang="ko-KR" dirty="0"/>
              <a:t> </a:t>
            </a:r>
            <a:r>
              <a:rPr lang="en-US" altLang="ko-KR" dirty="0" smtClean="0"/>
              <a:t>= </a:t>
            </a:r>
            <a:r>
              <a:rPr lang="en-US" altLang="ko-KR" dirty="0" err="1" smtClean="0"/>
              <a:t>db.rawQuary</a:t>
            </a:r>
            <a:r>
              <a:rPr lang="en-US" altLang="ko-KR" dirty="0" smtClean="0"/>
              <a:t>(“SELECT * FROM people”, null);</a:t>
            </a: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dirty="0" smtClean="0"/>
              <a:t>결과 레코드간 이동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moveToFirst</a:t>
            </a:r>
            <a:r>
              <a:rPr lang="en-US" altLang="ko-KR" dirty="0" smtClean="0"/>
              <a:t>(), </a:t>
            </a:r>
            <a:r>
              <a:rPr lang="en-US" altLang="ko-KR" dirty="0" err="1" smtClean="0"/>
              <a:t>moveToNext</a:t>
            </a:r>
            <a:r>
              <a:rPr lang="en-US" altLang="ko-KR" dirty="0" smtClean="0"/>
              <a:t>(), </a:t>
            </a:r>
            <a:r>
              <a:rPr lang="en-US" altLang="ko-KR" dirty="0" err="1" smtClean="0"/>
              <a:t>moveToLast</a:t>
            </a:r>
            <a:r>
              <a:rPr lang="en-US" altLang="ko-KR" dirty="0" smtClean="0"/>
              <a:t>()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값을 가져오기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getInt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col_idx</a:t>
            </a:r>
            <a:r>
              <a:rPr lang="en-US" altLang="ko-KR" dirty="0"/>
              <a:t>), </a:t>
            </a:r>
            <a:r>
              <a:rPr lang="en-US" altLang="ko-KR" dirty="0" err="1" smtClean="0"/>
              <a:t>getDouble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 err="1"/>
              <a:t>col_idx</a:t>
            </a:r>
            <a:r>
              <a:rPr lang="en-US" altLang="ko-KR" dirty="0" smtClean="0"/>
              <a:t>), </a:t>
            </a:r>
            <a:r>
              <a:rPr lang="en-US" altLang="ko-KR" dirty="0" err="1" smtClean="0"/>
              <a:t>getString</a:t>
            </a:r>
            <a:r>
              <a:rPr lang="en-US" altLang="ko-KR" dirty="0" smtClean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col_idx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/>
          </a:p>
          <a:p>
            <a:r>
              <a:rPr lang="ko-KR" altLang="en-US" dirty="0" err="1" smtClean="0"/>
              <a:t>컬럼</a:t>
            </a:r>
            <a:r>
              <a:rPr lang="ko-KR" altLang="en-US" dirty="0" smtClean="0"/>
              <a:t> 정보 조사</a:t>
            </a:r>
            <a:endParaRPr lang="en-US" altLang="ko-KR" dirty="0" smtClean="0"/>
          </a:p>
          <a:p>
            <a:pPr lvl="1"/>
            <a:r>
              <a:rPr lang="en-US" altLang="ko-KR" dirty="0" err="1"/>
              <a:t>getColumnCount</a:t>
            </a:r>
            <a:r>
              <a:rPr lang="en-US" altLang="ko-KR" dirty="0"/>
              <a:t>(), </a:t>
            </a:r>
            <a:r>
              <a:rPr lang="en-US" altLang="ko-KR" dirty="0" err="1"/>
              <a:t>getColumnIndex</a:t>
            </a:r>
            <a:r>
              <a:rPr lang="en-US" altLang="ko-KR" dirty="0"/>
              <a:t>(String </a:t>
            </a:r>
            <a:r>
              <a:rPr lang="en-US" altLang="ko-KR" dirty="0" err="1" smtClean="0"/>
              <a:t>col_name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정리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Cursor</a:t>
            </a:r>
            <a:r>
              <a:rPr lang="ko-KR" altLang="en-US" dirty="0" smtClean="0"/>
              <a:t>는 항상 사용을 마치고 나서 </a:t>
            </a:r>
            <a:r>
              <a:rPr lang="en-US" altLang="ko-KR" dirty="0" smtClean="0"/>
              <a:t>close()</a:t>
            </a:r>
            <a:r>
              <a:rPr lang="ko-KR" altLang="en-US" dirty="0" smtClean="0"/>
              <a:t>를 호출하여 닫아줘야 함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startManagingCursor</a:t>
            </a:r>
            <a:r>
              <a:rPr lang="en-US" altLang="ko-KR" dirty="0" smtClean="0"/>
              <a:t>() </a:t>
            </a:r>
            <a:r>
              <a:rPr lang="ko-KR" altLang="en-US" dirty="0" err="1" smtClean="0"/>
              <a:t>메서드를</a:t>
            </a:r>
            <a:r>
              <a:rPr lang="ko-KR" altLang="en-US" dirty="0" smtClean="0"/>
              <a:t> 통해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Cursor</a:t>
            </a:r>
            <a:r>
              <a:rPr lang="ko-KR" altLang="en-US" dirty="0" smtClean="0"/>
              <a:t>의</a:t>
            </a:r>
            <a:r>
              <a:rPr lang="en-US" altLang="ko-KR" dirty="0"/>
              <a:t> </a:t>
            </a:r>
            <a:r>
              <a:rPr lang="ko-KR" altLang="en-US" dirty="0" smtClean="0"/>
              <a:t>정리를 하도록 위임 가능</a:t>
            </a:r>
            <a:endParaRPr lang="en-US" altLang="ko-KR" dirty="0" smtClean="0"/>
          </a:p>
          <a:p>
            <a:pPr lvl="1"/>
            <a:r>
              <a:rPr lang="en-US" altLang="ko-KR" dirty="0" err="1" smtClean="0">
                <a:solidFill>
                  <a:srgbClr val="FF0000"/>
                </a:solidFill>
              </a:rPr>
              <a:t>startManagingCursor</a:t>
            </a:r>
            <a:r>
              <a:rPr lang="en-US" altLang="ko-KR" dirty="0" smtClean="0">
                <a:solidFill>
                  <a:srgbClr val="FF0000"/>
                </a:solidFill>
              </a:rPr>
              <a:t>() </a:t>
            </a:r>
            <a:r>
              <a:rPr lang="ko-KR" altLang="en-US" dirty="0" err="1" smtClean="0">
                <a:solidFill>
                  <a:srgbClr val="FF0000"/>
                </a:solidFill>
              </a:rPr>
              <a:t>메서드는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deprecated </a:t>
            </a:r>
            <a:r>
              <a:rPr lang="ko-KR" altLang="en-US" dirty="0" smtClean="0">
                <a:solidFill>
                  <a:srgbClr val="FF0000"/>
                </a:solidFill>
              </a:rPr>
              <a:t>되었다고 하지만 사용가능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15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SQLiteOpenHelper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SQLiteDatabase</a:t>
            </a:r>
            <a:r>
              <a:rPr lang="en-US" altLang="ko-KR" dirty="0" smtClean="0"/>
              <a:t> </a:t>
            </a:r>
            <a:r>
              <a:rPr lang="ko-KR" altLang="en-US" dirty="0" smtClean="0"/>
              <a:t>관리를 손쉽게 도와주는 도우미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상황에 맞는 이벤트가 호출되는데 이를 상속하여 적절하게 구현해서 사용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36</a:t>
            </a:fld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462441"/>
              </p:ext>
            </p:extLst>
          </p:nvPr>
        </p:nvGraphicFramePr>
        <p:xfrm>
          <a:off x="986790" y="2345690"/>
          <a:ext cx="726567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970"/>
                <a:gridCol w="560070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이벤트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onCreate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DB</a:t>
                      </a:r>
                      <a:r>
                        <a:rPr lang="ko-KR" altLang="en-US" dirty="0" smtClean="0"/>
                        <a:t>가 처음 만들어질 때 호출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테이블을 만들고 초기 레코드들을 삽입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onUpgrade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DB</a:t>
                      </a:r>
                      <a:r>
                        <a:rPr lang="ko-KR" altLang="en-US" dirty="0" smtClean="0"/>
                        <a:t>를 업그레이드할 때 호출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기존의 테이블을 삭제하고 새로 만들거나</a:t>
                      </a:r>
                      <a:r>
                        <a:rPr lang="en-US" altLang="ko-KR" dirty="0" smtClean="0"/>
                        <a:t>,</a:t>
                      </a:r>
                    </a:p>
                    <a:p>
                      <a:pPr latinLnBrk="1"/>
                      <a:r>
                        <a:rPr lang="en-US" altLang="ko-KR" dirty="0" smtClean="0"/>
                        <a:t>ALTER</a:t>
                      </a:r>
                      <a:r>
                        <a:rPr lang="en-US" altLang="ko-KR" baseline="0" dirty="0" smtClean="0"/>
                        <a:t> TABLE</a:t>
                      </a:r>
                      <a:r>
                        <a:rPr lang="ko-KR" altLang="en-US" baseline="0" dirty="0" smtClean="0"/>
                        <a:t>로 스키마를 수정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onOpen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DB</a:t>
                      </a:r>
                      <a:r>
                        <a:rPr lang="ko-KR" altLang="en-US" dirty="0" smtClean="0"/>
                        <a:t>를 열 </a:t>
                      </a:r>
                      <a:r>
                        <a:rPr lang="ko-KR" altLang="en-US" smtClean="0"/>
                        <a:t>때 호출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79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SQLiteOpenHelper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DB</a:t>
            </a:r>
            <a:r>
              <a:rPr lang="ko-KR" altLang="en-US" dirty="0" smtClean="0"/>
              <a:t> 도우미 구현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77190" y="2091690"/>
            <a:ext cx="8379217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PeopleDBHelper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extends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SQLiteOpenHelper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PeopleDBHelper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(Context context) {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    super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(context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dirty="0" err="1">
                <a:solidFill>
                  <a:srgbClr val="2A00FF"/>
                </a:solidFill>
                <a:latin typeface="돋움체"/>
                <a:ea typeface="돋움체"/>
              </a:rPr>
              <a:t>test.db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 1);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dirty="0"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onCreate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SQLiteDatabase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db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db.execSQL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"CREATE TABLE 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people 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+</a:t>
            </a:r>
          </a:p>
          <a:p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            "(_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id INTEGER PRIMARY KEY AUTOINCREMENT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,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 "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+</a:t>
            </a:r>
          </a:p>
          <a:p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            "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name TEXT, age INTEGER);"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dirty="0"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onUpgrade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SQLiteDatabase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db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oldVer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newVer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db.execSQL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"DROP TABLE IF EXISTS 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people;"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onCreate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db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829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68680" y="2068829"/>
            <a:ext cx="5840060" cy="31393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7F5F"/>
                </a:solidFill>
                <a:latin typeface="돋움체"/>
                <a:ea typeface="돋움체"/>
              </a:rPr>
              <a:t>/* DB </a:t>
            </a:r>
            <a:r>
              <a:rPr lang="ko-KR" altLang="en-US" dirty="0">
                <a:solidFill>
                  <a:srgbClr val="3F7F5F"/>
                </a:solidFill>
                <a:latin typeface="돋움체"/>
                <a:ea typeface="돋움체"/>
              </a:rPr>
              <a:t>도우미 선언 *</a:t>
            </a:r>
            <a:r>
              <a:rPr lang="en-US" altLang="ko-KR" dirty="0">
                <a:solidFill>
                  <a:srgbClr val="3F7F5F"/>
                </a:solidFill>
                <a:latin typeface="돋움체"/>
                <a:ea typeface="돋움체"/>
              </a:rPr>
              <a:t>/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PeopleDBHelper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helper =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PeopleDBHelper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en-US" altLang="ko-KR" dirty="0" smtClean="0">
              <a:solidFill>
                <a:srgbClr val="3F7F5F"/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3F7F5F"/>
                </a:solidFill>
                <a:latin typeface="돋움체"/>
                <a:ea typeface="돋움체"/>
              </a:rPr>
              <a:t>/* </a:t>
            </a:r>
            <a:r>
              <a:rPr lang="ko-KR" altLang="en-US" dirty="0">
                <a:solidFill>
                  <a:srgbClr val="3F7F5F"/>
                </a:solidFill>
                <a:latin typeface="돋움체"/>
                <a:ea typeface="돋움체"/>
              </a:rPr>
              <a:t>읽기 전용 </a:t>
            </a:r>
            <a:r>
              <a:rPr lang="en-US" altLang="ko-KR" dirty="0">
                <a:solidFill>
                  <a:srgbClr val="3F7F5F"/>
                </a:solidFill>
                <a:latin typeface="돋움체"/>
                <a:ea typeface="돋움체"/>
              </a:rPr>
              <a:t>DB </a:t>
            </a:r>
            <a:r>
              <a:rPr lang="ko-KR" altLang="en-US" dirty="0">
                <a:solidFill>
                  <a:srgbClr val="3F7F5F"/>
                </a:solidFill>
                <a:latin typeface="돋움체"/>
                <a:ea typeface="돋움체"/>
              </a:rPr>
              <a:t>열기 *</a:t>
            </a:r>
            <a:r>
              <a:rPr lang="en-US" altLang="ko-KR" dirty="0">
                <a:solidFill>
                  <a:srgbClr val="3F7F5F"/>
                </a:solidFill>
                <a:latin typeface="돋움체"/>
                <a:ea typeface="돋움체"/>
              </a:rPr>
              <a:t>/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SQLiteDatabase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db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helper.getReadableDatabase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endParaRPr lang="en-US" altLang="ko-KR" dirty="0" smtClean="0">
              <a:solidFill>
                <a:srgbClr val="3F7F5F"/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3F7F5F"/>
                </a:solidFill>
                <a:latin typeface="돋움체"/>
                <a:ea typeface="돋움체"/>
              </a:rPr>
              <a:t>/* </a:t>
            </a:r>
            <a:r>
              <a:rPr lang="ko-KR" altLang="en-US" dirty="0">
                <a:solidFill>
                  <a:srgbClr val="3F7F5F"/>
                </a:solidFill>
                <a:latin typeface="돋움체"/>
                <a:ea typeface="돋움체"/>
              </a:rPr>
              <a:t>읽기</a:t>
            </a:r>
            <a:r>
              <a:rPr lang="en-US" altLang="ko-KR" dirty="0">
                <a:solidFill>
                  <a:srgbClr val="3F7F5F"/>
                </a:solidFill>
                <a:latin typeface="돋움체"/>
                <a:ea typeface="돋움체"/>
              </a:rPr>
              <a:t>/</a:t>
            </a:r>
            <a:r>
              <a:rPr lang="ko-KR" altLang="en-US" dirty="0">
                <a:solidFill>
                  <a:srgbClr val="3F7F5F"/>
                </a:solidFill>
                <a:latin typeface="돋움체"/>
                <a:ea typeface="돋움체"/>
              </a:rPr>
              <a:t>쓰기 </a:t>
            </a:r>
            <a:r>
              <a:rPr lang="en-US" altLang="ko-KR" dirty="0">
                <a:solidFill>
                  <a:srgbClr val="3F7F5F"/>
                </a:solidFill>
                <a:latin typeface="돋움체"/>
                <a:ea typeface="돋움체"/>
              </a:rPr>
              <a:t>DB </a:t>
            </a:r>
            <a:r>
              <a:rPr lang="ko-KR" altLang="en-US" dirty="0">
                <a:solidFill>
                  <a:srgbClr val="3F7F5F"/>
                </a:solidFill>
                <a:latin typeface="돋움체"/>
                <a:ea typeface="돋움체"/>
              </a:rPr>
              <a:t>열기 *</a:t>
            </a:r>
            <a:r>
              <a:rPr lang="en-US" altLang="ko-KR" dirty="0">
                <a:solidFill>
                  <a:srgbClr val="3F7F5F"/>
                </a:solidFill>
                <a:latin typeface="돋움체"/>
                <a:ea typeface="돋움체"/>
              </a:rPr>
              <a:t>/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SQLiteDatabase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db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helper.getWritableDatabase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endParaRPr lang="en-US" altLang="ko-KR" dirty="0" smtClean="0">
              <a:solidFill>
                <a:srgbClr val="3F7F5F"/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3F7F5F"/>
                </a:solidFill>
                <a:latin typeface="돋움체"/>
                <a:ea typeface="돋움체"/>
              </a:rPr>
              <a:t>/* </a:t>
            </a:r>
            <a:r>
              <a:rPr lang="ko-KR" altLang="en-US" dirty="0">
                <a:solidFill>
                  <a:srgbClr val="3F7F5F"/>
                </a:solidFill>
                <a:latin typeface="돋움체"/>
                <a:ea typeface="돋움체"/>
              </a:rPr>
              <a:t>열린 </a:t>
            </a:r>
            <a:r>
              <a:rPr lang="en-US" altLang="ko-KR" dirty="0">
                <a:solidFill>
                  <a:srgbClr val="3F7F5F"/>
                </a:solidFill>
                <a:latin typeface="돋움체"/>
                <a:ea typeface="돋움체"/>
              </a:rPr>
              <a:t>DB </a:t>
            </a:r>
            <a:r>
              <a:rPr lang="ko-KR" altLang="en-US" dirty="0">
                <a:solidFill>
                  <a:srgbClr val="3F7F5F"/>
                </a:solidFill>
                <a:latin typeface="돋움체"/>
                <a:ea typeface="돋움체"/>
              </a:rPr>
              <a:t>닫기 *</a:t>
            </a:r>
            <a:r>
              <a:rPr lang="en-US" altLang="ko-KR" dirty="0">
                <a:solidFill>
                  <a:srgbClr val="3F7F5F"/>
                </a:solidFill>
                <a:latin typeface="돋움체"/>
                <a:ea typeface="돋움체"/>
              </a:rPr>
              <a:t>/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helper.close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SQLiteOpenHelper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DB</a:t>
            </a:r>
            <a:r>
              <a:rPr lang="ko-KR" altLang="en-US" dirty="0" smtClean="0"/>
              <a:t> 도우미 사용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75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Homework #7_1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39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680"/>
          <a:stretch/>
        </p:blipFill>
        <p:spPr bwMode="auto">
          <a:xfrm>
            <a:off x="514350" y="1531562"/>
            <a:ext cx="3676650" cy="3713749"/>
          </a:xfrm>
          <a:prstGeom prst="rect">
            <a:avLst/>
          </a:prstGeom>
          <a:noFill/>
          <a:ln w="25400">
            <a:solidFill>
              <a:srgbClr val="004CB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0" name="내용 개체 틀 3"/>
          <p:cNvSpPr txBox="1">
            <a:spLocks/>
          </p:cNvSpPr>
          <p:nvPr/>
        </p:nvSpPr>
        <p:spPr>
          <a:xfrm>
            <a:off x="4203700" y="1433724"/>
            <a:ext cx="5016500" cy="525917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예제 프로그램에 </a:t>
            </a:r>
            <a:r>
              <a:rPr lang="ko-KR" altLang="en-US" b="1" dirty="0" smtClean="0">
                <a:solidFill>
                  <a:srgbClr val="004CBC"/>
                </a:solidFill>
              </a:rPr>
              <a:t>학번</a:t>
            </a:r>
            <a:r>
              <a:rPr lang="ko-KR" altLang="en-US" dirty="0" smtClean="0"/>
              <a:t> 추가</a:t>
            </a:r>
            <a:endParaRPr lang="en-US" altLang="ko-KR" dirty="0" smtClean="0"/>
          </a:p>
          <a:p>
            <a:r>
              <a:rPr lang="en-US" altLang="ko-KR" dirty="0" smtClean="0"/>
              <a:t>INSERT </a:t>
            </a:r>
          </a:p>
          <a:p>
            <a:pPr lvl="1"/>
            <a:r>
              <a:rPr lang="ko-KR" altLang="en-US" dirty="0" smtClean="0"/>
              <a:t>학번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숫자 </a:t>
            </a:r>
            <a:r>
              <a:rPr lang="en-US" altLang="ko-KR" dirty="0" smtClean="0"/>
              <a:t>10</a:t>
            </a:r>
            <a:r>
              <a:rPr lang="ko-KR" altLang="en-US" dirty="0" smtClean="0"/>
              <a:t>자리 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앞 </a:t>
            </a:r>
            <a:r>
              <a:rPr lang="en-US" altLang="ko-KR" dirty="0" smtClean="0"/>
              <a:t>4</a:t>
            </a:r>
            <a:r>
              <a:rPr lang="ko-KR" altLang="en-US" dirty="0" smtClean="0"/>
              <a:t>자리가 실제 년도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 smtClean="0"/>
              <a:t>       (</a:t>
            </a:r>
            <a:r>
              <a:rPr lang="ko-KR" altLang="en-US" dirty="0" smtClean="0"/>
              <a:t>학번 중복 허용 </a:t>
            </a:r>
            <a:r>
              <a:rPr lang="en-US" altLang="ko-KR" dirty="0" smtClean="0"/>
              <a:t>X)</a:t>
            </a:r>
          </a:p>
          <a:p>
            <a:pPr lvl="1"/>
            <a:r>
              <a:rPr lang="ko-KR" altLang="en-US" dirty="0" smtClean="0"/>
              <a:t>이름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한글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영어 글자 수 </a:t>
            </a:r>
            <a:r>
              <a:rPr lang="en-US" altLang="ko-KR" dirty="0" smtClean="0"/>
              <a:t>20</a:t>
            </a:r>
            <a:r>
              <a:rPr lang="ko-KR" altLang="en-US" dirty="0" smtClean="0"/>
              <a:t>자 이내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나이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숫자 </a:t>
            </a:r>
            <a:r>
              <a:rPr lang="en-US" altLang="ko-KR" dirty="0" smtClean="0"/>
              <a:t>200</a:t>
            </a:r>
            <a:r>
              <a:rPr lang="ko-KR" altLang="en-US" dirty="0" smtClean="0"/>
              <a:t> 이내</a:t>
            </a:r>
            <a:r>
              <a:rPr lang="en-US" altLang="ko-KR" dirty="0"/>
              <a:t> </a:t>
            </a:r>
            <a:r>
              <a:rPr lang="en-US" altLang="ko-KR" dirty="0" smtClean="0"/>
              <a:t>  &gt;&gt;  </a:t>
            </a:r>
            <a:r>
              <a:rPr lang="ko-KR" altLang="en-US" dirty="0" smtClean="0">
                <a:solidFill>
                  <a:srgbClr val="FF0000"/>
                </a:solidFill>
              </a:rPr>
              <a:t>입력 제한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400050"/>
            <a:r>
              <a:rPr lang="en-US" altLang="ko-KR" dirty="0" smtClean="0"/>
              <a:t>DELETE</a:t>
            </a:r>
          </a:p>
          <a:p>
            <a:pPr lvl="1"/>
            <a:r>
              <a:rPr lang="ko-KR" altLang="en-US" dirty="0" smtClean="0"/>
              <a:t>리스트 </a:t>
            </a:r>
            <a:r>
              <a:rPr lang="ko-KR" altLang="en-US" dirty="0" err="1" smtClean="0"/>
              <a:t>뷰를</a:t>
            </a:r>
            <a:r>
              <a:rPr lang="ko-KR" altLang="en-US" dirty="0" smtClean="0"/>
              <a:t> 추가하여 총 학생 리스트를 확인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학번을 입력 받아 </a:t>
            </a:r>
            <a:r>
              <a:rPr lang="en-US" altLang="ko-KR" dirty="0" smtClean="0"/>
              <a:t>DELETE</a:t>
            </a:r>
          </a:p>
          <a:p>
            <a:pPr marL="400050"/>
            <a:r>
              <a:rPr lang="en-US" altLang="ko-KR" dirty="0" smtClean="0"/>
              <a:t>UPDATE</a:t>
            </a:r>
          </a:p>
          <a:p>
            <a:pPr marL="800100" lvl="1"/>
            <a:r>
              <a:rPr lang="en-US" altLang="ko-KR" dirty="0" smtClean="0"/>
              <a:t>UPDATE </a:t>
            </a:r>
            <a:r>
              <a:rPr lang="ko-KR" altLang="en-US" dirty="0" smtClean="0"/>
              <a:t>기능 추가</a:t>
            </a:r>
            <a:endParaRPr lang="en-US" altLang="ko-KR" dirty="0" smtClean="0"/>
          </a:p>
          <a:p>
            <a:pPr marL="800100" lvl="1"/>
            <a:r>
              <a:rPr lang="ko-KR" altLang="en-US" dirty="0" smtClean="0"/>
              <a:t>리스트 </a:t>
            </a:r>
            <a:r>
              <a:rPr lang="ko-KR" altLang="en-US" dirty="0" err="1" smtClean="0"/>
              <a:t>뷰를</a:t>
            </a:r>
            <a:r>
              <a:rPr lang="ko-KR" altLang="en-US" dirty="0" smtClean="0"/>
              <a:t> 추가하여 총 학생 리스트를 확인</a:t>
            </a:r>
            <a:endParaRPr lang="en-US" altLang="ko-KR" dirty="0" smtClean="0"/>
          </a:p>
          <a:p>
            <a:pPr marL="800100" lvl="1"/>
            <a:r>
              <a:rPr lang="ko-KR" altLang="en-US" dirty="0" smtClean="0"/>
              <a:t>제약 조건은 </a:t>
            </a:r>
            <a:r>
              <a:rPr lang="en-US" altLang="ko-KR" dirty="0" smtClean="0"/>
              <a:t>INSERT </a:t>
            </a:r>
            <a:r>
              <a:rPr lang="ko-KR" altLang="en-US" dirty="0" smtClean="0"/>
              <a:t>와 같음</a:t>
            </a:r>
            <a:endParaRPr lang="en-US" altLang="ko-KR" dirty="0" smtClean="0"/>
          </a:p>
          <a:p>
            <a:pPr marL="800100" lvl="1"/>
            <a:r>
              <a:rPr lang="ko-KR" altLang="en-US" dirty="0" smtClean="0"/>
              <a:t>단 </a:t>
            </a:r>
            <a:r>
              <a:rPr lang="ko-KR" altLang="en-US" b="1" dirty="0" smtClean="0">
                <a:solidFill>
                  <a:srgbClr val="004CBC"/>
                </a:solidFill>
              </a:rPr>
              <a:t>학번</a:t>
            </a:r>
            <a:r>
              <a:rPr lang="ko-KR" altLang="en-US" dirty="0" smtClean="0"/>
              <a:t>은 변경 불가</a:t>
            </a:r>
            <a:endParaRPr lang="en-US" altLang="ko-KR" dirty="0" smtClean="0"/>
          </a:p>
          <a:p>
            <a:pPr marL="800100" lvl="1"/>
            <a:endParaRPr lang="en-US" altLang="ko-KR" sz="1050" dirty="0" smtClean="0"/>
          </a:p>
          <a:p>
            <a:pPr marL="400050"/>
            <a:r>
              <a:rPr lang="ko-KR" altLang="en-US" sz="1400" b="1" dirty="0" smtClean="0"/>
              <a:t>추가점수 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학생 리스트에 변경 사항이 실시간으로 </a:t>
            </a:r>
            <a:r>
              <a:rPr lang="ko-KR" altLang="en-US" sz="1400" b="1" dirty="0" smtClean="0"/>
              <a:t>반영</a:t>
            </a:r>
            <a:endParaRPr lang="en-US" altLang="ko-KR" dirty="0" smtClean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 smtClean="0"/>
          </a:p>
          <a:p>
            <a:pPr marL="0" indent="0" algn="just">
              <a:buNone/>
            </a:pPr>
            <a:endParaRPr lang="en-US" altLang="ko-KR" dirty="0" smtClean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144320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40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36731</TotalTime>
  <Words>1963</Words>
  <Application>Microsoft Office PowerPoint</Application>
  <PresentationFormat>화면 슬라이드 쇼(4:3)</PresentationFormat>
  <Paragraphs>533</Paragraphs>
  <Slides>40</Slides>
  <Notes>26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1" baseType="lpstr">
      <vt:lpstr>Executive</vt:lpstr>
      <vt:lpstr>데이터베이스</vt:lpstr>
      <vt:lpstr>데이터 저장</vt:lpstr>
      <vt:lpstr>데이터베이스</vt:lpstr>
      <vt:lpstr>데이터베이스</vt:lpstr>
      <vt:lpstr>SQLite</vt:lpstr>
      <vt:lpstr>SQLite</vt:lpstr>
      <vt:lpstr>SQLite</vt:lpstr>
      <vt:lpstr>SQLite</vt:lpstr>
      <vt:lpstr>SQL</vt:lpstr>
      <vt:lpstr>SQL: CREATE TABLE</vt:lpstr>
      <vt:lpstr>SQL: SELECT</vt:lpstr>
      <vt:lpstr>SQL: INSERT</vt:lpstr>
      <vt:lpstr>SQL: UPDATE</vt:lpstr>
      <vt:lpstr>SQL: DELETE</vt:lpstr>
      <vt:lpstr>관리 도구</vt:lpstr>
      <vt:lpstr>SQLite shell</vt:lpstr>
      <vt:lpstr>SQLite shell</vt:lpstr>
      <vt:lpstr>SQLite shell</vt:lpstr>
      <vt:lpstr>SQL: CREATE TABLE</vt:lpstr>
      <vt:lpstr>SQL: INSERT</vt:lpstr>
      <vt:lpstr>SQL: SELECT</vt:lpstr>
      <vt:lpstr>SQL: UPDATE</vt:lpstr>
      <vt:lpstr>SQL: DELETE</vt:lpstr>
      <vt:lpstr>SQLite</vt:lpstr>
      <vt:lpstr>SQLite Database Browser</vt:lpstr>
      <vt:lpstr>TitleAct</vt:lpstr>
      <vt:lpstr>ListAct 추가</vt:lpstr>
      <vt:lpstr>ListAct</vt:lpstr>
      <vt:lpstr>ListAct</vt:lpstr>
      <vt:lpstr>ListAct</vt:lpstr>
      <vt:lpstr>InsAct 추가</vt:lpstr>
      <vt:lpstr>InsAct</vt:lpstr>
      <vt:lpstr>SQLite3 Database</vt:lpstr>
      <vt:lpstr>SQLite3 Database</vt:lpstr>
      <vt:lpstr>Cursor</vt:lpstr>
      <vt:lpstr>SQLiteOpenHelper</vt:lpstr>
      <vt:lpstr>SQLiteOpenHelper</vt:lpstr>
      <vt:lpstr>SQLiteOpenHelper</vt:lpstr>
      <vt:lpstr>Homework #7_1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2031</cp:revision>
  <cp:lastPrinted>2011-04-04T23:52:48Z</cp:lastPrinted>
  <dcterms:created xsi:type="dcterms:W3CDTF">2010-10-12T07:50:15Z</dcterms:created>
  <dcterms:modified xsi:type="dcterms:W3CDTF">2017-10-24T04:36:56Z</dcterms:modified>
</cp:coreProperties>
</file>