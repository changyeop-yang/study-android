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3"/>
  </p:notesMasterIdLst>
  <p:sldIdLst>
    <p:sldId id="256" r:id="rId2"/>
    <p:sldId id="303" r:id="rId3"/>
    <p:sldId id="304" r:id="rId4"/>
    <p:sldId id="315" r:id="rId5"/>
    <p:sldId id="317" r:id="rId6"/>
    <p:sldId id="316" r:id="rId7"/>
    <p:sldId id="318" r:id="rId8"/>
    <p:sldId id="319" r:id="rId9"/>
    <p:sldId id="320" r:id="rId10"/>
    <p:sldId id="371" r:id="rId11"/>
    <p:sldId id="367" r:id="rId12"/>
    <p:sldId id="350" r:id="rId13"/>
    <p:sldId id="374" r:id="rId14"/>
    <p:sldId id="352" r:id="rId15"/>
    <p:sldId id="387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89" r:id="rId26"/>
    <p:sldId id="373" r:id="rId27"/>
    <p:sldId id="363" r:id="rId28"/>
    <p:sldId id="364" r:id="rId29"/>
    <p:sldId id="365" r:id="rId30"/>
    <p:sldId id="388" r:id="rId31"/>
    <p:sldId id="368" r:id="rId32"/>
    <p:sldId id="369" r:id="rId33"/>
    <p:sldId id="390" r:id="rId34"/>
    <p:sldId id="370" r:id="rId35"/>
    <p:sldId id="391" r:id="rId36"/>
    <p:sldId id="380" r:id="rId37"/>
    <p:sldId id="381" r:id="rId38"/>
    <p:sldId id="382" r:id="rId39"/>
    <p:sldId id="384" r:id="rId40"/>
    <p:sldId id="383" r:id="rId41"/>
    <p:sldId id="347" r:id="rId42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81896" autoAdjust="0"/>
  </p:normalViewPr>
  <p:slideViewPr>
    <p:cSldViewPr snapToGrid="0">
      <p:cViewPr>
        <p:scale>
          <a:sx n="75" d="100"/>
          <a:sy n="75" d="100"/>
        </p:scale>
        <p:origin x="936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103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81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646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495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454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국제표준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RFC</a:t>
            </a:r>
            <a:r>
              <a:rPr lang="en-US" altLang="ko-KR" baseline="0" dirty="0" smtClean="0"/>
              <a:t>2396</a:t>
            </a:r>
          </a:p>
          <a:p>
            <a:r>
              <a:rPr lang="en-US" altLang="ko-KR" baseline="0" dirty="0" smtClean="0"/>
              <a:t>Authority: </a:t>
            </a:r>
            <a:r>
              <a:rPr lang="ko-KR" altLang="en-US" baseline="0" dirty="0" smtClean="0"/>
              <a:t>주로 패키지 명을 사용</a:t>
            </a:r>
            <a:endParaRPr lang="en-US" altLang="ko-KR" baseline="0" dirty="0" smtClean="0"/>
          </a:p>
          <a:p>
            <a:r>
              <a:rPr lang="en-US" altLang="ko-KR" baseline="0" dirty="0" smtClean="0"/>
              <a:t>Path: </a:t>
            </a:r>
            <a:r>
              <a:rPr lang="ko-KR" altLang="en-US" baseline="0" dirty="0" smtClean="0"/>
              <a:t>정보의 종류를 지정하는 가상의 경로</a:t>
            </a:r>
            <a:endParaRPr lang="en-US" altLang="ko-KR" baseline="0" dirty="0" smtClean="0"/>
          </a:p>
          <a:p>
            <a:r>
              <a:rPr lang="en-US" altLang="ko-KR" baseline="0" dirty="0" smtClean="0"/>
              <a:t>Id: </a:t>
            </a:r>
            <a:r>
              <a:rPr lang="ko-KR" altLang="en-US" baseline="0" dirty="0" smtClean="0"/>
              <a:t>구체적으로 원하는 정보를 지정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전체 정보를 다 읽을때는 생략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07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Android</a:t>
            </a:r>
            <a:r>
              <a:rPr lang="en-US" altLang="ko-KR" baseline="0" dirty="0" err="1" smtClean="0"/>
              <a:t>.provider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패키지에 문서화 된 </a:t>
            </a:r>
            <a:r>
              <a:rPr lang="en-US" altLang="ko-KR" baseline="0" dirty="0" smtClean="0"/>
              <a:t>CP</a:t>
            </a:r>
            <a:r>
              <a:rPr lang="ko-KR" altLang="en-US" baseline="0" dirty="0" smtClean="0"/>
              <a:t>외에 </a:t>
            </a:r>
            <a:endParaRPr lang="en-US" altLang="ko-KR" baseline="0" dirty="0" smtClean="0"/>
          </a:p>
          <a:p>
            <a:r>
              <a:rPr lang="ko-KR" altLang="en-US" baseline="0" dirty="0" smtClean="0"/>
              <a:t>내부적으로 동작하는 </a:t>
            </a:r>
            <a:r>
              <a:rPr lang="en-US" altLang="ko-KR" baseline="0" dirty="0" smtClean="0"/>
              <a:t>CP</a:t>
            </a:r>
            <a:r>
              <a:rPr lang="ko-KR" altLang="en-US" baseline="0" dirty="0" smtClean="0"/>
              <a:t>들은 노출되어 있으나 사용하지 않을 것을 권함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633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46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5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Android:authorities</a:t>
            </a:r>
            <a:r>
              <a:rPr lang="en-US" altLang="ko-KR" dirty="0" smtClean="0"/>
              <a:t> = “</a:t>
            </a:r>
            <a:r>
              <a:rPr lang="ko-KR" altLang="en-US" dirty="0" smtClean="0"/>
              <a:t>프로젝트명</a:t>
            </a:r>
            <a:r>
              <a:rPr lang="en-US" altLang="ko-KR" dirty="0" smtClean="0"/>
              <a:t>.test” (</a:t>
            </a:r>
            <a:r>
              <a:rPr lang="ko-KR" altLang="en-US" dirty="0" smtClean="0"/>
              <a:t>초기에 작성해주면 </a:t>
            </a:r>
            <a:r>
              <a:rPr lang="en-US" altLang="ko-KR" dirty="0" smtClean="0"/>
              <a:t>Manifest</a:t>
            </a:r>
            <a:r>
              <a:rPr lang="ko-KR" altLang="en-US" dirty="0" smtClean="0"/>
              <a:t>에 자동으로 기입되어 있다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959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Android:authorities</a:t>
            </a:r>
            <a:r>
              <a:rPr lang="en-US" altLang="ko-KR" dirty="0" smtClean="0"/>
              <a:t> = “</a:t>
            </a:r>
            <a:r>
              <a:rPr lang="ko-KR" altLang="en-US" dirty="0" smtClean="0"/>
              <a:t>프로젝트명</a:t>
            </a:r>
            <a:r>
              <a:rPr lang="en-US" altLang="ko-KR" dirty="0" smtClean="0"/>
              <a:t>.test” (</a:t>
            </a:r>
            <a:r>
              <a:rPr lang="ko-KR" altLang="en-US" dirty="0" smtClean="0"/>
              <a:t>초기에 작성해주면 </a:t>
            </a:r>
            <a:r>
              <a:rPr lang="en-US" altLang="ko-KR" dirty="0" smtClean="0"/>
              <a:t>Manifest</a:t>
            </a:r>
            <a:r>
              <a:rPr lang="ko-KR" altLang="en-US" dirty="0" smtClean="0"/>
              <a:t>에 자동으로 기입되어 있다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125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초기 값들을 위와 같이 작성해보았음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081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Parse(“~//</a:t>
            </a:r>
            <a:r>
              <a:rPr lang="ko-KR" altLang="en-US" dirty="0" smtClean="0"/>
              <a:t>프로젝트명</a:t>
            </a:r>
            <a:r>
              <a:rPr lang="en-US" altLang="ko-KR" dirty="0" smtClean="0"/>
              <a:t>.test/people”);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431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addURI</a:t>
            </a:r>
            <a:r>
              <a:rPr lang="en-US" altLang="ko-KR" dirty="0" smtClean="0"/>
              <a:t>(“</a:t>
            </a:r>
            <a:r>
              <a:rPr lang="ko-KR" altLang="en-US" dirty="0" smtClean="0"/>
              <a:t>프로젝트명</a:t>
            </a:r>
            <a:r>
              <a:rPr lang="en-US" altLang="ko-KR" dirty="0" smtClean="0"/>
              <a:t>.test” ~);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792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87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기존의 </a:t>
            </a:r>
            <a:r>
              <a:rPr lang="en-US" altLang="ko-KR" dirty="0" smtClean="0"/>
              <a:t>@Override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되어있던 곳을 수정하면 된다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028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vnd</a:t>
            </a:r>
            <a:r>
              <a:rPr lang="en-US" altLang="ko-KR" dirty="0" smtClean="0"/>
              <a:t> : vendor-specific MIME type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21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614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52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120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490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560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520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Uri.parse</a:t>
            </a:r>
            <a:r>
              <a:rPr lang="en-US" altLang="ko-KR" dirty="0" smtClean="0"/>
              <a:t>()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에는 </a:t>
            </a:r>
            <a:r>
              <a:rPr lang="en-US" altLang="ko-KR" baseline="0" dirty="0" smtClean="0"/>
              <a:t>“</a:t>
            </a:r>
            <a:r>
              <a:rPr lang="en-US" altLang="ko-KR" baseline="0" dirty="0" err="1" smtClean="0"/>
              <a:t>DatabaseSave.test</a:t>
            </a:r>
            <a:r>
              <a:rPr lang="en-US" altLang="ko-KR" baseline="0" dirty="0" smtClean="0"/>
              <a:t>~” </a:t>
            </a:r>
            <a:r>
              <a:rPr lang="ko-KR" altLang="en-US" baseline="0" dirty="0" smtClean="0"/>
              <a:t>로 작성하였다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0644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7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6330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CallAct.java</a:t>
            </a:r>
            <a:r>
              <a:rPr lang="ko-KR" altLang="en-US" dirty="0" smtClean="0"/>
              <a:t>로 되어있었지만 </a:t>
            </a:r>
            <a:r>
              <a:rPr lang="en-US" altLang="ko-KR" dirty="0" smtClean="0"/>
              <a:t>MainActivity.java</a:t>
            </a:r>
            <a:r>
              <a:rPr lang="ko-KR" altLang="en-US" dirty="0" smtClean="0"/>
              <a:t>에 작성하였음 </a:t>
            </a:r>
            <a:r>
              <a:rPr lang="en-US" altLang="ko-KR" dirty="0" smtClean="0"/>
              <a:t>(Button3 </a:t>
            </a:r>
            <a:r>
              <a:rPr lang="ko-KR" altLang="en-US" dirty="0" smtClean="0"/>
              <a:t>때문에</a:t>
            </a:r>
            <a:r>
              <a:rPr lang="en-US" altLang="ko-KR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5309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CallAct.java</a:t>
            </a:r>
            <a:r>
              <a:rPr lang="ko-KR" altLang="en-US" dirty="0" smtClean="0"/>
              <a:t>로 되어있었지만 </a:t>
            </a:r>
            <a:r>
              <a:rPr lang="en-US" altLang="ko-KR" dirty="0" smtClean="0"/>
              <a:t>MainActivity.java</a:t>
            </a:r>
            <a:r>
              <a:rPr lang="ko-KR" altLang="en-US" dirty="0" smtClean="0"/>
              <a:t>에 작성하였음 </a:t>
            </a:r>
            <a:r>
              <a:rPr lang="en-US" altLang="ko-KR" dirty="0" smtClean="0"/>
              <a:t>(Button3 </a:t>
            </a:r>
            <a:r>
              <a:rPr lang="ko-KR" altLang="en-US" dirty="0" smtClean="0"/>
              <a:t>때문에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51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API 22 </a:t>
            </a:r>
            <a:r>
              <a:rPr lang="ko-KR" altLang="en-US" dirty="0" smtClean="0"/>
              <a:t>이하 버전은 </a:t>
            </a:r>
            <a:r>
              <a:rPr lang="en-US" altLang="ko-KR" dirty="0" smtClean="0"/>
              <a:t>manifest</a:t>
            </a:r>
            <a:r>
              <a:rPr lang="ko-KR" altLang="en-US" dirty="0" smtClean="0"/>
              <a:t>에 슬라이드 </a:t>
            </a:r>
            <a:r>
              <a:rPr lang="en-US" altLang="ko-KR" dirty="0" smtClean="0"/>
              <a:t>29 </a:t>
            </a:r>
            <a:r>
              <a:rPr lang="ko-KR" altLang="en-US" dirty="0" smtClean="0"/>
              <a:t>처럼 권한을 부여한다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27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예제 출처 </a:t>
            </a:r>
            <a:r>
              <a:rPr lang="en-US" altLang="ko-KR" dirty="0" smtClean="0"/>
              <a:t>: http://gun0912.tistory.com/55</a:t>
            </a:r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4963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93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438197"/>
            <a:chOff x="983729" y="101774"/>
            <a:chExt cx="1474704" cy="438197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38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training/permissions/requesting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eveloper.android.com/guide/topics/security/permissions.html#normal-dangerous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topics/security/permissions.html?hl=ko#normal-dangerou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hyperlink" Target="https://developer.android.com/reference/android/support/v4/content/ContextCompat.html#checkSelfPermission(android.content.Context, java.lang.String)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support/v4/app/ActivityCompat.html#requestPermissions(android.app.Activity, java.lang.String[], int)" TargetMode="External"/><Relationship Id="rId2" Type="http://schemas.openxmlformats.org/officeDocument/2006/relationships/hyperlink" Target="https://developer.android.com/reference/android/support/v4/app/ActivityCompat.html#shouldShowRequestPermissionRationale(android.app.Activity, java.lang.String)" TargetMode="Externa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reference/android/support/v4/app/ActivityCompat.OnRequestPermissionsResultCallback.html#onRequestPermissionsResult(int, java.lang.String[], int[])" TargetMode="Externa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err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컨텐트</a:t>
            </a:r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4800" b="1" dirty="0" err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프로바이더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 smtClean="0"/>
              <a:t>Gi</a:t>
            </a:r>
            <a:r>
              <a:rPr lang="en-US" altLang="ko-KR" dirty="0" smtClean="0"/>
              <a:t> Sook Jung, </a:t>
            </a:r>
            <a:r>
              <a:rPr lang="en-US" altLang="ko-KR" dirty="0" err="1" smtClean="0"/>
              <a:t>Ph.D</a:t>
            </a:r>
            <a:endParaRPr lang="en-US" altLang="ko-KR" dirty="0" smtClean="0"/>
          </a:p>
          <a:p>
            <a:r>
              <a:rPr lang="en-US" altLang="ko-KR" dirty="0" smtClean="0"/>
              <a:t>School 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5703570" y="3554730"/>
            <a:ext cx="2663190" cy="29375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31520" y="3554730"/>
            <a:ext cx="2651760" cy="29375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Content Provider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개념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자신의 정보를 다른 누군가에게 제공하는 것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“</a:t>
            </a:r>
            <a:r>
              <a:rPr lang="ko-KR" altLang="en-US" dirty="0" smtClean="0"/>
              <a:t>내가 이번 시험의 정답을 알고 있어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번호를 물어보면 답을 알려줄게</a:t>
            </a:r>
            <a:r>
              <a:rPr lang="en-US" altLang="ko-KR" dirty="0" smtClean="0"/>
              <a:t>”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정보의 전달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1588770" y="3749040"/>
            <a:ext cx="2183130" cy="2057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Content</a:t>
            </a:r>
          </a:p>
          <a:p>
            <a:pPr algn="ctr"/>
            <a:r>
              <a:rPr lang="en-US" altLang="ko-KR" sz="2400" dirty="0" smtClean="0"/>
              <a:t>Resolver</a:t>
            </a:r>
            <a:endParaRPr lang="ko-KR" altLang="en-US" sz="24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295900" y="3749040"/>
            <a:ext cx="2183130" cy="2057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Content</a:t>
            </a:r>
          </a:p>
          <a:p>
            <a:pPr algn="ctr"/>
            <a:r>
              <a:rPr lang="en-US" altLang="ko-KR" sz="2400" dirty="0" smtClean="0"/>
              <a:t>Provider</a:t>
            </a:r>
            <a:endParaRPr lang="ko-KR" altLang="en-US" sz="2400" dirty="0"/>
          </a:p>
        </p:txBody>
      </p:sp>
      <p:sp>
        <p:nvSpPr>
          <p:cNvPr id="8" name="오른쪽 화살표 7"/>
          <p:cNvSpPr/>
          <p:nvPr/>
        </p:nvSpPr>
        <p:spPr>
          <a:xfrm>
            <a:off x="3931920" y="4240530"/>
            <a:ext cx="1234440" cy="38862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화살표 8"/>
          <p:cNvSpPr/>
          <p:nvPr/>
        </p:nvSpPr>
        <p:spPr>
          <a:xfrm>
            <a:off x="3931920" y="4972050"/>
            <a:ext cx="1234440" cy="388620"/>
          </a:xfrm>
          <a:prstGeom prst="lef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074247" y="4000500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Query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58890" y="5233154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Cursor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31520" y="6122908"/>
            <a:ext cx="87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App A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524863" y="6122908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App 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Provider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구성 요소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Content Provider: </a:t>
            </a:r>
            <a:r>
              <a:rPr lang="ko-KR" altLang="en-US" dirty="0" smtClean="0"/>
              <a:t>데이터를 제공하는 추상화 인터페이스의 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Content Resolver: </a:t>
            </a:r>
            <a:r>
              <a:rPr lang="ko-KR" altLang="en-US" dirty="0" err="1" smtClean="0"/>
              <a:t>컨텐트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프로바이더에</a:t>
            </a:r>
            <a:r>
              <a:rPr lang="ko-KR" altLang="en-US" dirty="0" smtClean="0"/>
              <a:t> 연결할 수 있는 도구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Data Source: </a:t>
            </a:r>
            <a:r>
              <a:rPr lang="ko-KR" altLang="en-US" dirty="0" err="1" smtClean="0"/>
              <a:t>컨텐트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프로바이더가</a:t>
            </a:r>
            <a:r>
              <a:rPr lang="ko-KR" altLang="en-US" dirty="0" smtClean="0"/>
              <a:t> 실제로 제공하는 데이터 원본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194560" y="3440430"/>
            <a:ext cx="6172200" cy="29375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748790" y="3647956"/>
            <a:ext cx="2183130" cy="20574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Content</a:t>
            </a:r>
          </a:p>
          <a:p>
            <a:pPr algn="ctr"/>
            <a:r>
              <a:rPr lang="en-US" altLang="ko-KR" sz="2400" dirty="0" smtClean="0"/>
              <a:t>Provider</a:t>
            </a:r>
            <a:endParaRPr lang="ko-KR" altLang="en-US" sz="2400" dirty="0"/>
          </a:p>
        </p:txBody>
      </p:sp>
      <p:sp>
        <p:nvSpPr>
          <p:cNvPr id="18" name="오른쪽 화살표 17"/>
          <p:cNvSpPr/>
          <p:nvPr/>
        </p:nvSpPr>
        <p:spPr>
          <a:xfrm>
            <a:off x="384810" y="4139446"/>
            <a:ext cx="1234440" cy="38862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화살표 18"/>
          <p:cNvSpPr/>
          <p:nvPr/>
        </p:nvSpPr>
        <p:spPr>
          <a:xfrm>
            <a:off x="384810" y="4870966"/>
            <a:ext cx="1234440" cy="388620"/>
          </a:xfrm>
          <a:prstGeom prst="lef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27137" y="389941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Query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1780" y="5132070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Cursor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4937760" y="3664744"/>
            <a:ext cx="1954530" cy="6858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File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926455" y="4573786"/>
            <a:ext cx="1954530" cy="6858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Database</a:t>
            </a:r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5113020" y="5501402"/>
            <a:ext cx="1954530" cy="6858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Network</a:t>
            </a:r>
            <a:endParaRPr lang="ko-KR" altLang="en-US" dirty="0"/>
          </a:p>
        </p:txBody>
      </p:sp>
      <p:sp>
        <p:nvSpPr>
          <p:cNvPr id="12" name="왼쪽/오른쪽 화살표 11"/>
          <p:cNvSpPr/>
          <p:nvPr/>
        </p:nvSpPr>
        <p:spPr>
          <a:xfrm rot="21409531">
            <a:off x="3563295" y="3920281"/>
            <a:ext cx="1731647" cy="30075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왼쪽/오른쪽 화살표 24"/>
          <p:cNvSpPr/>
          <p:nvPr/>
        </p:nvSpPr>
        <p:spPr>
          <a:xfrm rot="254338">
            <a:off x="3556383" y="4676979"/>
            <a:ext cx="2737485" cy="30075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왼쪽/오른쪽 화살표 25"/>
          <p:cNvSpPr/>
          <p:nvPr/>
        </p:nvSpPr>
        <p:spPr>
          <a:xfrm rot="1112203">
            <a:off x="3501779" y="5420619"/>
            <a:ext cx="2090175" cy="30075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1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Provider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 공유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서로 다른 응용프로그램 </a:t>
            </a:r>
            <a:r>
              <a:rPr lang="ko-KR" altLang="en-US" dirty="0"/>
              <a:t>사이에 데이터를 공유하는 </a:t>
            </a:r>
            <a:r>
              <a:rPr lang="ko-KR" altLang="en-US" dirty="0" smtClean="0"/>
              <a:t>방법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데이터 추상화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컨텐트 프로바이더가 제공하는 내용과 실제 데이터는 </a:t>
            </a:r>
            <a:r>
              <a:rPr lang="en-US" altLang="ko-KR" dirty="0" smtClean="0"/>
              <a:t>1:1</a:t>
            </a:r>
            <a:r>
              <a:rPr lang="ko-KR" altLang="en-US" dirty="0" smtClean="0"/>
              <a:t>의 관계일 필요는 없음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형식이 변경되더라도 컨텐트 프로바이더가 제공하는 내용은 유지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→ </a:t>
            </a:r>
            <a:r>
              <a:rPr lang="ko-KR" altLang="en-US" dirty="0" err="1" smtClean="0"/>
              <a:t>컨텐트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리졸버를</a:t>
            </a:r>
            <a:r>
              <a:rPr lang="ko-KR" altLang="en-US" dirty="0" smtClean="0"/>
              <a:t> 사용하는 어플리케이션들을 전혀 수정할 필요 없음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데이터 보안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원하는 부분만 공개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외부 어플리케이션은 내부의 구조를 모르며 간섭하지 않음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0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Provider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정보의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어떠한 형태의 정보라도 제공 가능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URI</a:t>
            </a:r>
            <a:r>
              <a:rPr lang="ko-KR" altLang="en-US" dirty="0" smtClean="0"/>
              <a:t>의 형태로 정보의 위치를 노출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구현 절차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android.content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패키지의 </a:t>
            </a:r>
            <a:r>
              <a:rPr lang="en-US" altLang="ko-KR" dirty="0" err="1" smtClean="0"/>
              <a:t>ContentProvider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추상 클래스를 상속하여 구현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query, insert, update, delete, </a:t>
            </a:r>
            <a:r>
              <a:rPr lang="en-US" altLang="ko-KR" dirty="0" err="1" smtClean="0"/>
              <a:t>openInputStream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openOutputStream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AndroidManifest.xml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를 등록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83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</a:t>
            </a:r>
            <a:r>
              <a:rPr lang="en-US" altLang="ko-KR" dirty="0" smtClean="0"/>
              <a:t>Resolver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정보의 획득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ContentResolver</a:t>
            </a:r>
            <a:r>
              <a:rPr lang="ko-KR" altLang="en-US" dirty="0" smtClean="0"/>
              <a:t>를 통해서 </a:t>
            </a:r>
            <a:r>
              <a:rPr lang="ko-KR" altLang="en-US" dirty="0"/>
              <a:t>공유된 </a:t>
            </a:r>
            <a:r>
              <a:rPr lang="ko-KR" altLang="en-US" dirty="0" smtClean="0"/>
              <a:t>자료에 접근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데이터베이스를 사용하는 것과 유사하게 사용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사용 절차</a:t>
            </a:r>
            <a:endParaRPr lang="en-US" altLang="ko-KR" dirty="0"/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에 접근할 수 있는 권한 필요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기본으로 제공하는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들은 대부분 특정 권한이 필요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현재의 </a:t>
            </a:r>
            <a:r>
              <a:rPr lang="en-US" altLang="ko-KR" dirty="0" smtClean="0"/>
              <a:t>Context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ContentResolver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객체를 획득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ContentResolver</a:t>
            </a:r>
            <a:r>
              <a:rPr lang="ko-KR" altLang="en-US" dirty="0" smtClean="0"/>
              <a:t>를 이용하여 특정 </a:t>
            </a:r>
            <a:r>
              <a:rPr lang="en-US" altLang="ko-KR" dirty="0" smtClean="0"/>
              <a:t>Content</a:t>
            </a:r>
            <a:r>
              <a:rPr lang="ko-KR" altLang="en-US" dirty="0" smtClean="0"/>
              <a:t>를 지칭하는 </a:t>
            </a:r>
            <a:r>
              <a:rPr lang="en-US" altLang="ko-KR" dirty="0" smtClean="0"/>
              <a:t>URI</a:t>
            </a:r>
            <a:r>
              <a:rPr lang="ko-KR" altLang="en-US" dirty="0" smtClean="0"/>
              <a:t>를 통해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에게 질의를 전송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28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URI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Uniform Resource </a:t>
            </a:r>
            <a:r>
              <a:rPr lang="en-US" altLang="ko-KR" dirty="0" smtClean="0"/>
              <a:t>Identifier</a:t>
            </a:r>
          </a:p>
          <a:p>
            <a:pPr lvl="1"/>
            <a:r>
              <a:rPr lang="ko-KR" altLang="en-US" dirty="0" smtClean="0"/>
              <a:t>제공되는 정보의 위치</a:t>
            </a:r>
            <a:r>
              <a:rPr lang="en-US" altLang="ko-KR" dirty="0" smtClean="0"/>
              <a:t>, ID</a:t>
            </a:r>
          </a:p>
          <a:p>
            <a:pPr lvl="1"/>
            <a:r>
              <a:rPr lang="en-US" altLang="ko-KR" dirty="0" smtClean="0"/>
              <a:t>URI</a:t>
            </a:r>
            <a:r>
              <a:rPr lang="ko-KR" altLang="en-US" dirty="0" smtClean="0"/>
              <a:t>로 표현</a:t>
            </a:r>
            <a:r>
              <a:rPr lang="en-US" altLang="ko-KR" dirty="0" smtClean="0"/>
              <a:t>, &lt;scheme&gt;:&lt;identifier&gt;</a:t>
            </a:r>
          </a:p>
          <a:p>
            <a:pPr lvl="2"/>
            <a:r>
              <a:rPr lang="en-US" altLang="ko-KR" dirty="0" smtClean="0"/>
              <a:t>http://vr.knu.ac.kr/people/</a:t>
            </a:r>
          </a:p>
          <a:p>
            <a:pPr lvl="2"/>
            <a:r>
              <a:rPr lang="en-US" altLang="ko-KR" dirty="0" smtClean="0"/>
              <a:t>file://documents/print.pdf</a:t>
            </a:r>
          </a:p>
          <a:p>
            <a:pPr lvl="2"/>
            <a:r>
              <a:rPr lang="en-US" altLang="ko-KR" dirty="0" smtClean="0"/>
              <a:t>urn:isbn:0-486-27557-4</a:t>
            </a:r>
          </a:p>
          <a:p>
            <a:pPr lvl="2"/>
            <a:r>
              <a:rPr lang="en-US" altLang="ko-KR" dirty="0" smtClean="0"/>
              <a:t>tel:0539408695</a:t>
            </a:r>
          </a:p>
          <a:p>
            <a:pPr lvl="1"/>
            <a:endParaRPr lang="en-US" altLang="ko-KR" dirty="0" smtClean="0"/>
          </a:p>
          <a:p>
            <a:r>
              <a:rPr lang="en-US" altLang="ko-KR" dirty="0"/>
              <a:t>Content</a:t>
            </a:r>
            <a:r>
              <a:rPr lang="ko-KR" altLang="en-US" dirty="0"/>
              <a:t>의 </a:t>
            </a:r>
            <a:r>
              <a:rPr lang="en-US" altLang="ko-KR" dirty="0"/>
              <a:t>URI </a:t>
            </a:r>
            <a:r>
              <a:rPr lang="ko-KR" altLang="en-US" dirty="0"/>
              <a:t>형식</a:t>
            </a:r>
            <a:endParaRPr lang="en-US" altLang="ko-KR" dirty="0"/>
          </a:p>
          <a:p>
            <a:pPr lvl="1"/>
            <a:r>
              <a:rPr lang="en-US" altLang="ko-KR" dirty="0"/>
              <a:t>content://&lt;authority&gt;/&lt;path&gt;/&lt;id&gt;</a:t>
            </a:r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180512"/>
              </p:ext>
            </p:extLst>
          </p:nvPr>
        </p:nvGraphicFramePr>
        <p:xfrm>
          <a:off x="1329690" y="476885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452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항목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Authority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정보 제공자의 명칭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Path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정보모음의 위치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Id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특정 번호의 정보를 지칭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15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Native </a:t>
            </a:r>
            <a:r>
              <a:rPr lang="en-US" altLang="ko-KR" dirty="0" err="1"/>
              <a:t>ContentProvider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주요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URI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67326"/>
              </p:ext>
            </p:extLst>
          </p:nvPr>
        </p:nvGraphicFramePr>
        <p:xfrm>
          <a:off x="918210" y="1991360"/>
          <a:ext cx="752856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8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URI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데이터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CallLog.Calls.CONTENT_URI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통화 기록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ContactsContract.Contacts.CONTENT_URI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연락처 목록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Browser.BOOKMARKS_URI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브라우저의 </a:t>
                      </a:r>
                      <a:r>
                        <a:rPr lang="ko-KR" altLang="en-US" sz="1600" dirty="0" err="1" smtClean="0"/>
                        <a:t>북마크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Browser.SEARCHES_URI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브라우저의 검색 기록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Settings.System.CONTENT_URI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시스템 </a:t>
                      </a:r>
                      <a:r>
                        <a:rPr lang="ko-KR" altLang="en-US" sz="1600" dirty="0" err="1" smtClean="0"/>
                        <a:t>설정값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MediaStore.Image.Media.INTERNAL_CONTENT_URI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내장 미디어 이미지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MediaStore.Image.Media.EXTERNAL_CONTENT_URI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외부 미디어 이미지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MediaStore.Video.Media.INTERNAL_CONTENT_URI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내장 미디어 영상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MediaStore.Video.Media.EXTERNAL_CONTENT_URI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외부 미디어 영상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MediaStore.Audio.Media.INTERNAL_CONTENT_URI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내장 미디어 오디오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MediaStore.Audio.Media.EXTERNAL_CONTENT_URI</a:t>
                      </a:r>
                      <a:endParaRPr lang="ko-KR" altLang="en-US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외부 미디어 오디오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93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Native </a:t>
            </a:r>
            <a:r>
              <a:rPr lang="en-US" altLang="ko-KR" dirty="0" err="1" smtClean="0"/>
              <a:t>ContentProvider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문서화된 기본 </a:t>
            </a:r>
            <a:r>
              <a:rPr lang="en-US" altLang="ko-KR" dirty="0" err="1" smtClean="0"/>
              <a:t>ContentProvider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Android.provider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패키지에 포함된 클래스들 중 </a:t>
            </a:r>
            <a:r>
              <a:rPr lang="en-US" altLang="ko-KR" dirty="0" smtClean="0"/>
              <a:t>Uri </a:t>
            </a:r>
            <a:r>
              <a:rPr lang="ko-KR" altLang="en-US" dirty="0" smtClean="0"/>
              <a:t>를 담고 있는 클래스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대게 </a:t>
            </a:r>
            <a:r>
              <a:rPr lang="ko-KR" altLang="en-US" dirty="0" err="1" smtClean="0"/>
              <a:t>헬퍼</a:t>
            </a:r>
            <a:r>
              <a:rPr lang="ko-KR" altLang="en-US" dirty="0" smtClean="0"/>
              <a:t> 클래스와 함께 상수들에 대한 정의를 포함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내부적으로 동작하는 </a:t>
            </a:r>
            <a:r>
              <a:rPr lang="en-US" altLang="ko-KR" dirty="0" err="1" smtClean="0"/>
              <a:t>ContentProvider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시스템 내부의 상태를 주고 받기 위해 사용되는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들도 다수 존재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Open Source</a:t>
            </a:r>
            <a:r>
              <a:rPr lang="ko-KR" altLang="en-US" dirty="0" smtClean="0"/>
              <a:t>이기 때문에 내부적인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들도 노출된 상태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 개발자들이 필요에 따라 사용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내부 </a:t>
            </a:r>
            <a:r>
              <a:rPr lang="en-US" altLang="ko-KR" dirty="0" smtClean="0"/>
              <a:t>CP</a:t>
            </a:r>
            <a:r>
              <a:rPr lang="ko-KR" altLang="en-US" dirty="0" smtClean="0"/>
              <a:t>의 예</a:t>
            </a:r>
            <a:r>
              <a:rPr lang="en-US" altLang="ko-KR" dirty="0" smtClean="0"/>
              <a:t>: Built-in Messaging App</a:t>
            </a:r>
          </a:p>
          <a:p>
            <a:pPr lvl="1"/>
            <a:r>
              <a:rPr lang="ko-KR" altLang="en-US" dirty="0" smtClean="0"/>
              <a:t>내부적으로 사용자의 문자 기록을 표시하고 검색하는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를 포함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하지만 다음 </a:t>
            </a:r>
            <a:r>
              <a:rPr lang="ko-KR" altLang="en-US" dirty="0" err="1" smtClean="0"/>
              <a:t>릴리즈에서도</a:t>
            </a:r>
            <a:r>
              <a:rPr lang="ko-KR" altLang="en-US" dirty="0" smtClean="0"/>
              <a:t> 같은 형태로 계속 제공될 보장은 없음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혹은 단말기 제조사에서 더욱 나은 </a:t>
            </a:r>
            <a:r>
              <a:rPr lang="en-US" altLang="ko-KR" dirty="0" smtClean="0"/>
              <a:t>Messaging App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탑재할 경우 해당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가 아예 없을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가급적이면 해당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의 사용을 자제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50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주소록 </a:t>
            </a:r>
            <a:r>
              <a:rPr lang="ko-KR" altLang="en-US" dirty="0"/>
              <a:t>데이터 읽기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접근 권한 추가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err="1" smtClean="0"/>
              <a:t>ContentResolver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얻기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Query</a:t>
            </a:r>
            <a:r>
              <a:rPr lang="ko-KR" altLang="en-US" dirty="0" smtClean="0"/>
              <a:t>를 실행해서 주소록 </a:t>
            </a:r>
            <a:r>
              <a:rPr lang="en-US" altLang="ko-KR" dirty="0" err="1" smtClean="0"/>
              <a:t>ContentProvider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Cursor</a:t>
            </a:r>
            <a:r>
              <a:rPr lang="ko-KR" altLang="en-US" dirty="0" smtClean="0"/>
              <a:t> 얻기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/>
              <a:t>데이터베이스의 </a:t>
            </a:r>
            <a:r>
              <a:rPr lang="en-US" altLang="ko-KR" dirty="0"/>
              <a:t>Cursor</a:t>
            </a:r>
            <a:r>
              <a:rPr lang="ko-KR" altLang="en-US" dirty="0"/>
              <a:t>를 다루듯 데이터 읽기</a:t>
            </a:r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87147" y="2023110"/>
            <a:ext cx="7600607" cy="1077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&lt;/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activity&gt;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&lt;/application&gt;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6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600" dirty="0">
                <a:solidFill>
                  <a:srgbClr val="3F7F7F"/>
                </a:solidFill>
                <a:latin typeface="맑은 고딕"/>
              </a:rPr>
              <a:t>uses-permission </a:t>
            </a:r>
            <a:r>
              <a:rPr lang="en-US" altLang="ko-KR" sz="16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6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 err="1">
                <a:solidFill>
                  <a:srgbClr val="2A00FF"/>
                </a:solidFill>
                <a:latin typeface="맑은 고딕"/>
              </a:rPr>
              <a:t>android.permission.</a:t>
            </a:r>
            <a:r>
              <a:rPr lang="en-US" altLang="ko-KR" sz="1600" b="1" i="1" dirty="0" err="1">
                <a:solidFill>
                  <a:srgbClr val="2A00FF"/>
                </a:solidFill>
                <a:latin typeface="맑은 고딕"/>
              </a:rPr>
              <a:t>READ_CONTACTS</a:t>
            </a:r>
            <a:r>
              <a:rPr lang="en-US" altLang="ko-KR" sz="1600" b="1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600" i="1" dirty="0">
                <a:solidFill>
                  <a:srgbClr val="2A00FF"/>
                </a:solidFill>
                <a:latin typeface="맑은 고딕"/>
              </a:rPr>
              <a:t> </a:t>
            </a:r>
            <a:r>
              <a:rPr lang="en-US" altLang="ko-KR" sz="1600" i="1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&lt;/manifest&gt;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7147" y="3770114"/>
            <a:ext cx="514756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ContentResolver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cr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87147" y="4804731"/>
            <a:ext cx="760060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돋움체"/>
                <a:ea typeface="돋움체"/>
              </a:rPr>
              <a:t>Cursor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c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cr.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query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ContactsContract.Contacts.</a:t>
            </a:r>
            <a:r>
              <a:rPr lang="en-US" altLang="ko-KR" b="1" i="1" dirty="0" err="1">
                <a:solidFill>
                  <a:srgbClr val="0000C0"/>
                </a:solidFill>
                <a:latin typeface="돋움체"/>
                <a:ea typeface="돋움체"/>
              </a:rPr>
              <a:t>CONTENT_URI</a:t>
            </a:r>
            <a:r>
              <a:rPr lang="en-US" altLang="ko-KR" i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i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i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i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i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i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i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i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i="1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8" name="굽은 화살표 7"/>
          <p:cNvSpPr/>
          <p:nvPr/>
        </p:nvSpPr>
        <p:spPr>
          <a:xfrm rot="10800000">
            <a:off x="8399661" y="4999041"/>
            <a:ext cx="189574" cy="251460"/>
          </a:xfrm>
          <a:prstGeom prst="ben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86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#8.1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Content Provider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78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CP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/app/</a:t>
            </a:r>
            <a:r>
              <a:rPr lang="ko-KR" altLang="en-US" dirty="0" smtClean="0"/>
              <a:t>에 새로운 클래스를 추가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en-US" altLang="ko-KR" dirty="0" err="1" smtClean="0"/>
              <a:t>DatabaseSave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실습파일 복사사용</a:t>
            </a:r>
            <a:r>
              <a:rPr lang="en-US" altLang="ko-KR" dirty="0" smtClean="0"/>
              <a:t>)</a:t>
            </a:r>
          </a:p>
          <a:p>
            <a:r>
              <a:rPr lang="en-US" altLang="ko-KR" dirty="0" err="1" smtClean="0"/>
              <a:t>ContentProvider</a:t>
            </a:r>
            <a:r>
              <a:rPr lang="ko-KR" altLang="en-US" dirty="0" smtClean="0"/>
              <a:t>를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694" y="2731247"/>
            <a:ext cx="5760000" cy="412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5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CP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URI Authorities </a:t>
            </a:r>
            <a:r>
              <a:rPr lang="ko-KR" altLang="en-US" dirty="0" smtClean="0"/>
              <a:t>에 프로젝트명</a:t>
            </a:r>
            <a:r>
              <a:rPr lang="en-US" altLang="ko-KR" dirty="0" smtClean="0"/>
              <a:t>.test</a:t>
            </a:r>
            <a:r>
              <a:rPr lang="ko-KR" altLang="en-US" dirty="0" smtClean="0"/>
              <a:t>의 형태로 입력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074895" y="3478306"/>
            <a:ext cx="941294" cy="89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2129455"/>
            <a:ext cx="5400000" cy="45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Manifest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86502"/>
            <a:ext cx="8229600" cy="4641492"/>
          </a:xfrm>
        </p:spPr>
        <p:txBody>
          <a:bodyPr/>
          <a:lstStyle/>
          <a:p>
            <a:r>
              <a:rPr lang="en-US" altLang="ko-KR" dirty="0" smtClean="0"/>
              <a:t>Manifest</a:t>
            </a:r>
            <a:r>
              <a:rPr lang="ko-KR" altLang="en-US" dirty="0" smtClean="0"/>
              <a:t>에 아래항목 확인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AndroidManifest.xml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74" y="2605706"/>
            <a:ext cx="6818771" cy="203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CP class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31470" y="1820259"/>
            <a:ext cx="3760470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import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android.content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.*;</a:t>
            </a:r>
          </a:p>
          <a:p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import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android.database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.*;</a:t>
            </a:r>
          </a:p>
          <a:p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import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android.net.*;</a:t>
            </a: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TestDBProvider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ContentProvider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delete(Uri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selection, 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String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900" dirty="0" smtClean="0">
                <a:solidFill>
                  <a:srgbClr val="00B050"/>
                </a:solidFill>
                <a:latin typeface="돋움체"/>
                <a:ea typeface="돋움체"/>
              </a:rPr>
              <a:t>      // Implement this to handle requests to delete one or</a:t>
            </a:r>
          </a:p>
          <a:p>
            <a:r>
              <a:rPr lang="en-US" altLang="ko-KR" sz="900" dirty="0">
                <a:solidFill>
                  <a:srgbClr val="00B05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00B050"/>
                </a:solidFill>
                <a:latin typeface="돋움체"/>
                <a:ea typeface="돋움체"/>
              </a:rPr>
              <a:t>         more rows.</a:t>
            </a:r>
            <a:endParaRPr lang="en-US" altLang="ko-KR" sz="900" dirty="0">
              <a:solidFill>
                <a:srgbClr val="00B050"/>
              </a:solidFill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0;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getType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(Uri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900" dirty="0" smtClean="0">
                <a:solidFill>
                  <a:srgbClr val="3F7F5F"/>
                </a:solidFill>
                <a:latin typeface="돋움체"/>
                <a:ea typeface="돋움체"/>
              </a:rPr>
              <a:t>        </a:t>
            </a:r>
            <a:r>
              <a:rPr lang="en-US" altLang="ko-KR" sz="900" b="1" dirty="0">
                <a:solidFill>
                  <a:srgbClr val="00B0F0"/>
                </a:solidFill>
                <a:latin typeface="돋움체"/>
                <a:ea typeface="돋움체"/>
              </a:rPr>
              <a:t>// TODO: Implement this to handle requests for the </a:t>
            </a:r>
          </a:p>
          <a:p>
            <a:r>
              <a:rPr lang="en-US" altLang="ko-KR" sz="900" b="1" dirty="0">
                <a:solidFill>
                  <a:srgbClr val="00B0F0"/>
                </a:solidFill>
                <a:latin typeface="돋움체"/>
                <a:ea typeface="돋움체"/>
              </a:rPr>
              <a:t>                  MINE type of the data</a:t>
            </a:r>
          </a:p>
          <a:p>
            <a:r>
              <a:rPr lang="en-US" altLang="ko-KR" sz="900" dirty="0">
                <a:solidFill>
                  <a:srgbClr val="3F7F5F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3F7F5F"/>
                </a:solidFill>
                <a:latin typeface="돋움체"/>
                <a:ea typeface="돋움체"/>
              </a:rPr>
              <a:t>       // </a:t>
            </a:r>
            <a:r>
              <a:rPr lang="en-US" altLang="ko-KR" sz="900" dirty="0">
                <a:solidFill>
                  <a:srgbClr val="3F7F5F"/>
                </a:solidFill>
                <a:latin typeface="돋움체"/>
                <a:ea typeface="돋움체"/>
              </a:rPr>
              <a:t>at the given URI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fr-FR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fr-FR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fr-FR" altLang="ko-KR" sz="900" dirty="0">
                <a:solidFill>
                  <a:srgbClr val="000000"/>
                </a:solidFill>
                <a:latin typeface="돋움체"/>
                <a:ea typeface="돋움체"/>
              </a:rPr>
              <a:t>Uri insert(Uri </a:t>
            </a:r>
            <a:r>
              <a:rPr lang="fr-FR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uri, </a:t>
            </a:r>
            <a:r>
              <a:rPr lang="fr-FR" altLang="ko-KR" sz="900" dirty="0">
                <a:solidFill>
                  <a:srgbClr val="000000"/>
                </a:solidFill>
                <a:latin typeface="돋움체"/>
                <a:ea typeface="돋움체"/>
              </a:rPr>
              <a:t>ContentValues </a:t>
            </a:r>
            <a:r>
              <a:rPr lang="fr-FR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values) </a:t>
            </a:r>
            <a:r>
              <a:rPr lang="fr-FR" altLang="ko-KR" sz="9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900" b="1" dirty="0">
                <a:solidFill>
                  <a:srgbClr val="00B0F0"/>
                </a:solidFill>
                <a:latin typeface="돋움체"/>
                <a:ea typeface="돋움체"/>
              </a:rPr>
              <a:t> </a:t>
            </a:r>
            <a:r>
              <a:rPr lang="en-US" altLang="ko-KR" sz="900" b="1" dirty="0" smtClean="0">
                <a:solidFill>
                  <a:srgbClr val="00B0F0"/>
                </a:solidFill>
                <a:latin typeface="돋움체"/>
                <a:ea typeface="돋움체"/>
              </a:rPr>
              <a:t>       // TODO: Implement this to handle requests to insert a </a:t>
            </a:r>
          </a:p>
          <a:p>
            <a:r>
              <a:rPr lang="en-US" altLang="ko-KR" sz="900" b="1" dirty="0">
                <a:solidFill>
                  <a:srgbClr val="00B0F0"/>
                </a:solidFill>
                <a:latin typeface="돋움체"/>
                <a:ea typeface="돋움체"/>
              </a:rPr>
              <a:t> </a:t>
            </a:r>
            <a:r>
              <a:rPr lang="en-US" altLang="ko-KR" sz="900" b="1" dirty="0" smtClean="0">
                <a:solidFill>
                  <a:srgbClr val="00B0F0"/>
                </a:solidFill>
                <a:latin typeface="돋움체"/>
                <a:ea typeface="돋움체"/>
              </a:rPr>
              <a:t>                new row.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7670" y="1988657"/>
            <a:ext cx="4812030" cy="3139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900" b="1" dirty="0" smtClean="0">
                <a:solidFill>
                  <a:srgbClr val="00B0F0"/>
                </a:solidFill>
                <a:latin typeface="돋움체"/>
                <a:ea typeface="돋움체"/>
              </a:rPr>
              <a:t>        // TODO: Implement this to initialize your content provider on startup.</a:t>
            </a:r>
          </a:p>
          <a:p>
            <a:r>
              <a:rPr lang="en-US" altLang="ko-KR" sz="900" dirty="0" smtClean="0">
                <a:solidFill>
                  <a:srgbClr val="3F7F5F"/>
                </a:solidFill>
                <a:latin typeface="돋움체"/>
                <a:ea typeface="돋움체"/>
              </a:rPr>
              <a:t>        </a:t>
            </a:r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Cursor query(Uri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String[]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projection,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selection,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String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, String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sortOrder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900" b="1" dirty="0" smtClean="0">
                <a:solidFill>
                  <a:srgbClr val="00B0F0"/>
                </a:solidFill>
                <a:latin typeface="돋움체"/>
                <a:ea typeface="돋움체"/>
              </a:rPr>
              <a:t>        // TODO: Implement this to handle query requests from clients.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sz="9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update(Uri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900" dirty="0" err="1">
                <a:solidFill>
                  <a:srgbClr val="000000"/>
                </a:solidFill>
                <a:latin typeface="돋움체"/>
                <a:ea typeface="돋움체"/>
              </a:rPr>
              <a:t>ContentValues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values,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String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selection,</a:t>
            </a:r>
          </a:p>
          <a:p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String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9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900" dirty="0" smtClean="0">
                <a:solidFill>
                  <a:srgbClr val="3F7F5F"/>
                </a:solidFill>
                <a:latin typeface="돋움체"/>
                <a:ea typeface="돋움체"/>
              </a:rPr>
              <a:t>        // </a:t>
            </a:r>
            <a:r>
              <a:rPr lang="en-US" altLang="ko-KR" sz="900" dirty="0" smtClean="0">
                <a:solidFill>
                  <a:srgbClr val="7F9FBF"/>
                </a:solidFill>
                <a:latin typeface="돋움체"/>
                <a:ea typeface="돋움체"/>
              </a:rPr>
              <a:t>TODO: </a:t>
            </a:r>
            <a:r>
              <a:rPr lang="en-US" altLang="ko-KR" sz="900" dirty="0" smtClean="0">
                <a:solidFill>
                  <a:srgbClr val="3F7F5F"/>
                </a:solidFill>
                <a:latin typeface="돋움체"/>
                <a:ea typeface="돋움체"/>
              </a:rPr>
              <a:t>Implement this to handle requests to update one or more rows.</a:t>
            </a:r>
            <a:endParaRPr lang="en-US" altLang="ko-KR" sz="9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0;</a:t>
            </a:r>
          </a:p>
          <a:p>
            <a:r>
              <a:rPr lang="en-US" altLang="ko-KR" sz="9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9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900" dirty="0">
              <a:latin typeface="돋움체"/>
              <a:ea typeface="돋움체"/>
            </a:endParaRPr>
          </a:p>
          <a:p>
            <a:r>
              <a:rPr lang="en-US" altLang="ko-KR" sz="9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1" u="none" strike="noStrike" cap="none" normalizeH="0" baseline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Implement this to handle requests to delete one or more rows.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42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URI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URI </a:t>
            </a:r>
            <a:r>
              <a:rPr lang="ko-KR" altLang="en-US" dirty="0" smtClean="0"/>
              <a:t>선언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content://autority/path/id</a:t>
            </a:r>
          </a:p>
          <a:p>
            <a:pPr lvl="1"/>
            <a:r>
              <a:rPr lang="en-US" altLang="ko-KR" dirty="0" smtClean="0"/>
              <a:t>content://ex8_databasesave.test/people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10799" y="2795867"/>
            <a:ext cx="7225055" cy="3139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TestDBProvider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extends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ContentProvider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{</a:t>
            </a:r>
          </a:p>
          <a:p>
            <a:r>
              <a:rPr lang="it-IT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static</a:t>
            </a:r>
            <a:r>
              <a:rPr lang="it-IT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it-IT" altLang="ko-KR" dirty="0">
                <a:solidFill>
                  <a:srgbClr val="7F0055"/>
                </a:solidFill>
                <a:latin typeface="돋움체"/>
                <a:ea typeface="돋움체"/>
              </a:rPr>
              <a:t>final</a:t>
            </a:r>
            <a:r>
              <a:rPr lang="it-IT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it-IT" altLang="ko-KR" b="1" dirty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it-IT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it-IT" altLang="ko-KR" i="1" dirty="0">
                <a:solidFill>
                  <a:srgbClr val="0000C0"/>
                </a:solidFill>
                <a:latin typeface="돋움체"/>
                <a:ea typeface="돋움체"/>
              </a:rPr>
              <a:t>CONTENT_URI</a:t>
            </a:r>
            <a:r>
              <a:rPr lang="it-IT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it-IT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=</a:t>
            </a:r>
          </a:p>
          <a:p>
            <a:r>
              <a:rPr lang="it-IT" altLang="ko-KR" dirty="0">
                <a:solidFill>
                  <a:srgbClr val="000000"/>
                </a:solidFill>
                <a:latin typeface="돋움체"/>
                <a:ea typeface="돋움체"/>
              </a:rPr>
              <a:t>	</a:t>
            </a:r>
            <a:r>
              <a:rPr lang="it-IT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Uri.</a:t>
            </a:r>
            <a:r>
              <a:rPr lang="it-IT" altLang="ko-KR" b="1" i="1" dirty="0" smtClean="0">
                <a:solidFill>
                  <a:srgbClr val="000000"/>
                </a:solidFill>
                <a:latin typeface="돋움체"/>
                <a:ea typeface="돋움체"/>
              </a:rPr>
              <a:t>parse</a:t>
            </a:r>
            <a:r>
              <a:rPr lang="it-IT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it-IT" altLang="ko-KR" dirty="0" smtClean="0">
                <a:solidFill>
                  <a:srgbClr val="FF0000"/>
                </a:solidFill>
                <a:latin typeface="돋움체"/>
                <a:ea typeface="돋움체"/>
              </a:rPr>
              <a:t>"</a:t>
            </a:r>
            <a:r>
              <a:rPr lang="it-IT" altLang="ko-KR" dirty="0">
                <a:solidFill>
                  <a:srgbClr val="FF0000"/>
                </a:solidFill>
                <a:latin typeface="돋움체"/>
                <a:ea typeface="돋움체"/>
              </a:rPr>
              <a:t>content</a:t>
            </a:r>
            <a:r>
              <a:rPr lang="it-IT" altLang="ko-KR" dirty="0" smtClean="0">
                <a:solidFill>
                  <a:srgbClr val="FF0000"/>
                </a:solidFill>
                <a:latin typeface="돋움체"/>
                <a:ea typeface="돋움체"/>
              </a:rPr>
              <a:t>://ex8_databasesave.test/</a:t>
            </a:r>
            <a:r>
              <a:rPr lang="en-US" altLang="ko-KR" dirty="0" smtClean="0">
                <a:solidFill>
                  <a:srgbClr val="FF0000"/>
                </a:solidFill>
                <a:latin typeface="돋움체"/>
                <a:ea typeface="돋움체"/>
              </a:rPr>
              <a:t>people</a:t>
            </a:r>
            <a:r>
              <a:rPr lang="it-IT" altLang="ko-KR" dirty="0" smtClean="0">
                <a:solidFill>
                  <a:srgbClr val="FF0000"/>
                </a:solidFill>
                <a:latin typeface="돋움체"/>
                <a:ea typeface="돋움체"/>
              </a:rPr>
              <a:t>"</a:t>
            </a:r>
            <a:r>
              <a:rPr lang="it-IT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it-IT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static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final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i="1" dirty="0">
                <a:solidFill>
                  <a:srgbClr val="0000C0"/>
                </a:solidFill>
                <a:latin typeface="돋움체"/>
                <a:ea typeface="돋움체"/>
              </a:rPr>
              <a:t>GETALL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1;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static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final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2;</a:t>
            </a:r>
          </a:p>
          <a:p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delete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(…)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……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return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0;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48500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URI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UriMatcher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URI</a:t>
            </a:r>
            <a:r>
              <a:rPr lang="ko-KR" altLang="en-US" dirty="0" smtClean="0"/>
              <a:t>를 손쉽게 비교해주는 도우미 클래스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정규식이 포함된 </a:t>
            </a:r>
            <a:r>
              <a:rPr lang="en-US" altLang="ko-KR" dirty="0" smtClean="0"/>
              <a:t>URI</a:t>
            </a:r>
            <a:r>
              <a:rPr lang="ko-KR" altLang="en-US" dirty="0" smtClean="0"/>
              <a:t>를 비교하여 정수 결과를 리턴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30398" y="2561589"/>
            <a:ext cx="8013732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TestDBProvider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extends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ContentProvider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{</a:t>
            </a:r>
          </a:p>
          <a:p>
            <a:r>
              <a:rPr lang="it-IT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static </a:t>
            </a:r>
            <a:r>
              <a:rPr lang="it-IT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final Uri </a:t>
            </a:r>
            <a:r>
              <a:rPr lang="it-IT" altLang="ko-KR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CONTENT_URI</a:t>
            </a:r>
            <a:r>
              <a:rPr lang="it-IT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it-IT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</a:t>
            </a:r>
          </a:p>
          <a:p>
            <a:r>
              <a:rPr lang="it-IT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Uri.</a:t>
            </a:r>
            <a:r>
              <a:rPr lang="it-IT" altLang="ko-KR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parse</a:t>
            </a:r>
            <a:r>
              <a:rPr lang="it-IT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("content://</a:t>
            </a:r>
            <a:r>
              <a:rPr lang="it-IT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ex5_databasesave.test/people");</a:t>
            </a:r>
            <a:endParaRPr lang="it-IT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static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final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GETALL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1;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static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final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GETONE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2;</a:t>
            </a: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static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final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UriMatcher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i="1" dirty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i="1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static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i="1" dirty="0" smtClean="0">
                <a:solidFill>
                  <a:srgbClr val="0000C0"/>
                </a:solidFill>
                <a:latin typeface="돋움체"/>
                <a:ea typeface="돋움체"/>
              </a:rPr>
              <a:t>        matcher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UriMatcher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UriMatcher.</a:t>
            </a:r>
            <a:r>
              <a:rPr lang="en-US" altLang="ko-KR" i="1" dirty="0" err="1">
                <a:solidFill>
                  <a:srgbClr val="0000C0"/>
                </a:solidFill>
                <a:latin typeface="돋움체"/>
                <a:ea typeface="돋움체"/>
              </a:rPr>
              <a:t>NO_MATCH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i="1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addURI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ex8_databasesave.test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"people"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b="1" i="1" dirty="0">
                <a:solidFill>
                  <a:srgbClr val="0000C0"/>
                </a:solidFill>
                <a:latin typeface="돋움체"/>
                <a:ea typeface="돋움체"/>
              </a:rPr>
              <a:t>GETALL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i="1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addURI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ex8_databasesave.test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"people/*"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b="1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ko-KR" altLang="en-US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delete(…) {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404111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DB Open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SQLiteOpenHelper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DB</a:t>
            </a:r>
            <a:r>
              <a:rPr lang="ko-KR" altLang="en-US" dirty="0" smtClean="0"/>
              <a:t>를 손쉽게 열 수 있게 해주는 도우미 클래스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60967" y="2308859"/>
            <a:ext cx="7904728" cy="41857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matcher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.addURI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("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ex8_databasesave.test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",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“people", 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GETALL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matcher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.addURI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("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ex8_databasesave.test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",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“people/*", 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GETONE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class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TestDBHelper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SQLiteOpenHelper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TestDBHelper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(Context c)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super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 err="1">
                <a:solidFill>
                  <a:srgbClr val="2A00FF"/>
                </a:solidFill>
                <a:latin typeface="돋움체"/>
                <a:ea typeface="돋움체"/>
              </a:rPr>
              <a:t>test.db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db.execSQL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"CREATE TABLE IF NOT EXISTS 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people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"(_id INTEGER PRIMARY KEY AUTOINCREMENT, name TEXT, age INTEGER);"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onUpgrade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SQLiteDatabase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oldVer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newVer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db.execSQL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"DROP TABLE IF EXISTS 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people;"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db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}</a:t>
            </a:r>
            <a:endParaRPr lang="ko-KR" alt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9124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DB Open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onCreate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83696" y="2754630"/>
            <a:ext cx="722505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boolean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D4D4D4"/>
                </a:highlight>
                <a:latin typeface="돋움체"/>
                <a:ea typeface="돋움체"/>
              </a:rPr>
              <a:t>onCreate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D4D4D4"/>
                </a:highlight>
                <a:latin typeface="돋움체"/>
                <a:ea typeface="돋움체"/>
              </a:rPr>
              <a:t>()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TestDBHelper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helper 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TestDBHelper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getContext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helper.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getWritableDatabase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367784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MIME Type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getType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내부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데이터의 형식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DB</a:t>
            </a:r>
            <a:r>
              <a:rPr lang="ko-KR" altLang="en-US" dirty="0" smtClean="0"/>
              <a:t>에 </a:t>
            </a:r>
            <a:r>
              <a:rPr lang="ko-KR" altLang="en-US" dirty="0"/>
              <a:t>대해서는 일반적으로 아래와 </a:t>
            </a:r>
            <a:r>
              <a:rPr lang="ko-KR" altLang="en-US" dirty="0" smtClean="0"/>
              <a:t>같은 형식을 사용하도록 권고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단</a:t>
            </a:r>
            <a:r>
              <a:rPr lang="ko-KR" altLang="en-US" dirty="0"/>
              <a:t>일</a:t>
            </a:r>
            <a:r>
              <a:rPr lang="ko-KR" altLang="en-US" dirty="0" smtClean="0"/>
              <a:t> 레코드</a:t>
            </a:r>
            <a:r>
              <a:rPr lang="en-US" altLang="ko-KR" dirty="0" smtClean="0"/>
              <a:t>:	</a:t>
            </a:r>
            <a:r>
              <a:rPr lang="en-US" altLang="ko-KR" dirty="0" err="1" smtClean="0"/>
              <a:t>vnd.android.cursor.</a:t>
            </a:r>
            <a:r>
              <a:rPr lang="en-US" altLang="ko-KR" u="sng" dirty="0" err="1" smtClean="0"/>
              <a:t>item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vnd</a:t>
            </a:r>
            <a:r>
              <a:rPr lang="en-US" altLang="ko-KR" dirty="0" smtClean="0"/>
              <a:t>.&lt;</a:t>
            </a:r>
            <a:r>
              <a:rPr lang="ko-KR" altLang="en-US" dirty="0" smtClean="0"/>
              <a:t>회사명</a:t>
            </a:r>
            <a:r>
              <a:rPr lang="en-US" altLang="ko-KR" dirty="0" smtClean="0"/>
              <a:t>&gt;.&lt;</a:t>
            </a:r>
            <a:r>
              <a:rPr lang="ko-KR" altLang="en-US" dirty="0" smtClean="0"/>
              <a:t>내용형식</a:t>
            </a:r>
            <a:r>
              <a:rPr lang="en-US" altLang="ko-KR" dirty="0" smtClean="0"/>
              <a:t>&gt;</a:t>
            </a:r>
          </a:p>
          <a:p>
            <a:pPr lvl="2"/>
            <a:r>
              <a:rPr lang="ko-KR" altLang="en-US" dirty="0" smtClean="0"/>
              <a:t>복수 </a:t>
            </a:r>
            <a:r>
              <a:rPr lang="ko-KR" altLang="en-US" dirty="0" err="1" smtClean="0"/>
              <a:t>레코드셋</a:t>
            </a:r>
            <a:r>
              <a:rPr lang="en-US" altLang="ko-KR" dirty="0" smtClean="0"/>
              <a:t>:	</a:t>
            </a:r>
            <a:r>
              <a:rPr lang="en-US" altLang="ko-KR" dirty="0" err="1" smtClean="0"/>
              <a:t>vnd.android.cursor.</a:t>
            </a:r>
            <a:r>
              <a:rPr lang="en-US" altLang="ko-KR" u="sng" dirty="0" err="1" smtClean="0"/>
              <a:t>dir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vnd</a:t>
            </a:r>
            <a:r>
              <a:rPr lang="en-US" altLang="ko-KR" dirty="0"/>
              <a:t>.&lt;</a:t>
            </a:r>
            <a:r>
              <a:rPr lang="ko-KR" altLang="en-US" dirty="0"/>
              <a:t>회사명</a:t>
            </a:r>
            <a:r>
              <a:rPr lang="en-US" altLang="ko-KR" dirty="0"/>
              <a:t>&gt;.&lt;</a:t>
            </a:r>
            <a:r>
              <a:rPr lang="ko-KR" altLang="en-US" dirty="0"/>
              <a:t>내용형식</a:t>
            </a:r>
            <a:r>
              <a:rPr lang="en-US" altLang="ko-KR" dirty="0" smtClean="0"/>
              <a:t>&gt;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94164" y="3263842"/>
            <a:ext cx="6987810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 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getType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(Uri </a:t>
            </a:r>
            <a:r>
              <a:rPr lang="en-US" altLang="ko-KR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switch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.match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))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i="1" dirty="0">
                <a:solidFill>
                  <a:srgbClr val="0000C0"/>
                </a:solidFill>
                <a:latin typeface="돋움체"/>
                <a:ea typeface="돋움체"/>
              </a:rPr>
              <a:t>GETALL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    return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err="1" smtClean="0">
                <a:solidFill>
                  <a:srgbClr val="2A00FF"/>
                </a:solidFill>
                <a:latin typeface="돋움체"/>
                <a:ea typeface="돋움체"/>
              </a:rPr>
              <a:t>vnd.android.cursor.</a:t>
            </a:r>
            <a:r>
              <a:rPr lang="en-US" altLang="ko-KR" b="1" dirty="0" err="1" smtClean="0">
                <a:solidFill>
                  <a:srgbClr val="2A00FF"/>
                </a:solidFill>
                <a:latin typeface="돋움체"/>
                <a:ea typeface="돋움체"/>
              </a:rPr>
              <a:t>dir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/</a:t>
            </a:r>
            <a:r>
              <a:rPr lang="en-US" altLang="ko-KR" dirty="0" err="1" smtClean="0">
                <a:solidFill>
                  <a:srgbClr val="2A00FF"/>
                </a:solidFill>
                <a:latin typeface="돋움체"/>
                <a:ea typeface="돋움체"/>
              </a:rPr>
              <a:t>vnd.vr.people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    return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err="1" smtClean="0">
                <a:solidFill>
                  <a:srgbClr val="2A00FF"/>
                </a:solidFill>
                <a:latin typeface="돋움체"/>
                <a:ea typeface="돋움체"/>
              </a:rPr>
              <a:t>vnd.android.cursor.</a:t>
            </a:r>
            <a:r>
              <a:rPr lang="en-US" altLang="ko-KR" b="1" dirty="0" err="1" smtClean="0">
                <a:solidFill>
                  <a:srgbClr val="2A00FF"/>
                </a:solidFill>
                <a:latin typeface="돋움체"/>
                <a:ea typeface="돋움체"/>
              </a:rPr>
              <a:t>item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/</a:t>
            </a:r>
            <a:r>
              <a:rPr lang="en-US" altLang="ko-KR" dirty="0" err="1" smtClean="0">
                <a:solidFill>
                  <a:srgbClr val="2A00FF"/>
                </a:solidFill>
                <a:latin typeface="돋움체"/>
                <a:ea typeface="돋움체"/>
              </a:rPr>
              <a:t>vnd.vr.people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 return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6248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Query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14334"/>
            <a:ext cx="8229600" cy="4641492"/>
          </a:xfrm>
        </p:spPr>
        <p:txBody>
          <a:bodyPr/>
          <a:lstStyle/>
          <a:p>
            <a:r>
              <a:rPr lang="en-US" altLang="ko-KR" dirty="0"/>
              <a:t>query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에게 질의 전달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5598" y="2197160"/>
            <a:ext cx="8371202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Cursor 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query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(Uri </a:t>
            </a:r>
            <a:r>
              <a:rPr lang="en-US" altLang="ko-KR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String[]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projection,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selection,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  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String[] </a:t>
            </a:r>
            <a:r>
              <a:rPr lang="en-US" altLang="ko-KR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selectionArgs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String </a:t>
            </a:r>
            <a:r>
              <a:rPr lang="en-US" altLang="ko-KR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sortOrder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String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"SELECT * FROM 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people"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if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.match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)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== </a:t>
            </a:r>
            <a:r>
              <a:rPr lang="en-US" altLang="ko-KR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 WHERE name='"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uri.getPathSegments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().get(1);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"'"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dirty="0">
                <a:solidFill>
                  <a:srgbClr val="2A00FF"/>
                </a:solidFill>
                <a:latin typeface="돋움체"/>
                <a:ea typeface="돋움체"/>
              </a:rPr>
              <a:t>";"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Cursor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cursor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.rawQuery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sql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cursor;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351176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Insert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insert</a:t>
            </a:r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에게 내용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내용이 변경될 경우</a:t>
            </a:r>
            <a:r>
              <a:rPr lang="en-US" altLang="ko-KR" dirty="0" smtClean="0"/>
              <a:t>,</a:t>
            </a:r>
            <a:r>
              <a:rPr lang="ko-KR" altLang="en-US" dirty="0" smtClean="0"/>
              <a:t> 같은 </a:t>
            </a:r>
            <a:r>
              <a:rPr lang="ko-KR" altLang="en-US" dirty="0" err="1" smtClean="0"/>
              <a:t>컨텐트를</a:t>
            </a:r>
            <a:r>
              <a:rPr lang="ko-KR" altLang="en-US" dirty="0" smtClean="0"/>
              <a:t> 참조하는 어플리케이션들을 위해 변경을 통보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ContentResolver</a:t>
            </a:r>
            <a:r>
              <a:rPr lang="ko-KR" altLang="en-US" dirty="0" smtClean="0"/>
              <a:t>를 통해서 알림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8590" y="2926080"/>
            <a:ext cx="8725466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fr-FR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fr-FR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 </a:t>
            </a:r>
            <a:r>
              <a:rPr lang="fr-FR" altLang="ko-KR" b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insert</a:t>
            </a:r>
            <a:r>
              <a:rPr lang="fr-FR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(Uri </a:t>
            </a:r>
            <a:r>
              <a:rPr lang="fr-FR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uri, </a:t>
            </a:r>
            <a:r>
              <a:rPr lang="fr-FR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ContentValues </a:t>
            </a:r>
            <a:r>
              <a:rPr lang="fr-FR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values) </a:t>
            </a:r>
            <a:r>
              <a:rPr lang="fr-FR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long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row = 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.insert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smtClean="0">
                <a:solidFill>
                  <a:srgbClr val="2A00FF"/>
                </a:solidFill>
                <a:latin typeface="돋움체"/>
                <a:ea typeface="돋움체"/>
              </a:rPr>
              <a:t>“people"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values);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if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(row &gt; 0)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    Uri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notiuri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ContentUris.</a:t>
            </a:r>
            <a:r>
              <a:rPr lang="en-US" altLang="ko-KR" i="1" dirty="0" err="1">
                <a:solidFill>
                  <a:srgbClr val="000000"/>
                </a:solidFill>
                <a:latin typeface="돋움체"/>
                <a:ea typeface="돋움체"/>
              </a:rPr>
              <a:t>withAppendedId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i="1" dirty="0">
                <a:solidFill>
                  <a:srgbClr val="0000C0"/>
                </a:solidFill>
                <a:latin typeface="돋움체"/>
                <a:ea typeface="돋움체"/>
              </a:rPr>
              <a:t>CONTENT_URI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row);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getContext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notifyChange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notiuri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    return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notiuri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return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null;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348609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delete</a:t>
            </a:r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의 내용을 삭제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68477" y="2225710"/>
            <a:ext cx="7007046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delete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(Uri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selection,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String[]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0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switch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.match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i="1" dirty="0">
                <a:solidFill>
                  <a:srgbClr val="0000C0"/>
                </a:solidFill>
                <a:latin typeface="돋움체"/>
                <a:ea typeface="돋움체"/>
              </a:rPr>
              <a:t>GETALL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.delete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“people"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selection,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break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String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where 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"name = '"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uri.getPathSegments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().get(1)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"'"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TextUtils.isEmpty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(selection)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where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AND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selection;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.delete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“people"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where,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getContext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notifyChange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253029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Update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update</a:t>
            </a:r>
          </a:p>
          <a:p>
            <a:pPr lvl="1"/>
            <a:r>
              <a:rPr lang="en-US" altLang="ko-KR" dirty="0" err="1" smtClean="0"/>
              <a:t>ContentProvider</a:t>
            </a:r>
            <a:r>
              <a:rPr lang="ko-KR" altLang="en-US" dirty="0" smtClean="0"/>
              <a:t>의 내용을 갱</a:t>
            </a:r>
            <a:r>
              <a:rPr lang="ko-KR" altLang="en-US" dirty="0"/>
              <a:t>신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92651" y="2235758"/>
            <a:ext cx="6917278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@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update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(Uri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ContentValues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values,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String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selection,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    String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[]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0;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switch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err="1" smtClean="0">
                <a:solidFill>
                  <a:srgbClr val="0000C0"/>
                </a:solidFill>
                <a:latin typeface="돋움체"/>
                <a:ea typeface="돋움체"/>
              </a:rPr>
              <a:t>matcher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.match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i="1" dirty="0">
                <a:solidFill>
                  <a:srgbClr val="0000C0"/>
                </a:solidFill>
                <a:latin typeface="돋움체"/>
                <a:ea typeface="돋움체"/>
              </a:rPr>
              <a:t>GETALL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.update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“people"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values, selection,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case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i="1" dirty="0">
                <a:solidFill>
                  <a:srgbClr val="0000C0"/>
                </a:solidFill>
                <a:latin typeface="돋움체"/>
                <a:ea typeface="돋움체"/>
              </a:rPr>
              <a:t>GETONE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String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where 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"name = '"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uri.getPathSegments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().get(1)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"'"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TextUtils.isEmpty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(selection)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where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AND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selection;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mDB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.update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"people"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values,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where,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selectionArgs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getContext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notifyChange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uri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return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98246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76" y="1307689"/>
            <a:ext cx="2903696" cy="531828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086" y="1307689"/>
            <a:ext cx="2903696" cy="53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#8.2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Content Provider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9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Call CP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Ex8_CallCP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3627660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맑은 고딕"/>
              </a:rPr>
              <a:t>모든 목록 가져오기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EditText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"@+id/editText1"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"@+id/button2"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맑은 고딕"/>
              </a:rPr>
              <a:t>이름이 일치하는 정보 가져오기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"@+id/textView1"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200" i="1" dirty="0">
                <a:solidFill>
                  <a:srgbClr val="2A00FF"/>
                </a:solidFill>
                <a:latin typeface="맑은 고딕"/>
              </a:rPr>
              <a:t>출력 내용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/&gt;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58" y="1501854"/>
            <a:ext cx="2903696" cy="53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Call CP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Ex8_CallCP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8186857" cy="41549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onClickButton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txt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TextView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textView1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ContentResolver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cr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()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Cursor cur 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String result 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switch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v.getId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case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button1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  <a:r>
              <a:rPr lang="en-US" altLang="ko-KR" sz="12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돋움체"/>
                <a:ea typeface="돋움체"/>
              </a:rPr>
              <a:t>전부 읽기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cur =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cr.query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Uri.parse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>
                <a:solidFill>
                  <a:srgbClr val="FF0000"/>
                </a:solidFill>
                <a:latin typeface="돋움체"/>
                <a:ea typeface="돋움체"/>
              </a:rPr>
              <a:t>"content://</a:t>
            </a:r>
            <a:r>
              <a:rPr lang="en-US" altLang="ko-KR" sz="1200" b="1" dirty="0" smtClean="0">
                <a:solidFill>
                  <a:srgbClr val="FF0000"/>
                </a:solidFill>
                <a:latin typeface="돋움체"/>
                <a:ea typeface="돋움체"/>
              </a:rPr>
              <a:t>ex8_databasesave.test/people"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),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(cur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"CP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를 열 수 없습니다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이름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|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나이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\n"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while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cur.moveToNext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(1);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"|"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(2);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"\n"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(result);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02034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Call CP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Ex8_CallCP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358" y="1926491"/>
            <a:ext cx="8494633" cy="37856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altLang="ko-KR" sz="12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case</a:t>
            </a:r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button2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  <a:r>
              <a:rPr lang="en-US" altLang="ko-KR" sz="12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ko-KR" altLang="en-US" sz="1200" dirty="0">
                <a:solidFill>
                  <a:srgbClr val="3F7F5F"/>
                </a:solidFill>
                <a:latin typeface="돋움체"/>
                <a:ea typeface="돋움체"/>
              </a:rPr>
              <a:t>일치하는 이름만 읽기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name =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cur =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cr.query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Uri.parse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>
                <a:solidFill>
                  <a:srgbClr val="FF0000"/>
                </a:solidFill>
                <a:latin typeface="돋움체"/>
                <a:ea typeface="돋움체"/>
              </a:rPr>
              <a:t>"content://</a:t>
            </a:r>
            <a:r>
              <a:rPr lang="en-US" altLang="ko-KR" sz="1200" b="1" dirty="0" smtClean="0">
                <a:solidFill>
                  <a:srgbClr val="FF0000"/>
                </a:solidFill>
                <a:latin typeface="돋움체"/>
                <a:ea typeface="돋움체"/>
              </a:rPr>
              <a:t>ex8_databasesave.test/people/"</a:t>
            </a:r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+ 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name.getText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200" b="1" dirty="0" err="1">
                <a:solidFill>
                  <a:srgbClr val="000000"/>
                </a:solidFill>
                <a:latin typeface="돋움체"/>
                <a:ea typeface="돋움체"/>
              </a:rPr>
              <a:t>toString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()),</a:t>
            </a:r>
          </a:p>
          <a:p>
            <a:r>
              <a:rPr lang="en-US" altLang="ko-KR" sz="1200" b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b="1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b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(cur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"CP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를 열 수 없습니다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이름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|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나이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\n"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while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cur.moveToNext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(1);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"|"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(2);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"\n"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(result);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808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8502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661" y="1307689"/>
            <a:ext cx="2912892" cy="5335127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 flipH="1">
            <a:off x="3220625" y="2394154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263" y="1308816"/>
            <a:ext cx="2912277" cy="5334000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H="1">
            <a:off x="7222354" y="3013586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22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주소록 읽기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권한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AndroidManifest.xml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버튼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smtClean="0"/>
              <a:t>res/layout/activity_main.xml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91539" y="2306428"/>
            <a:ext cx="8094716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	…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&lt;/application&gt;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uses-permission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android:name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android.permission.READ_CONTACTS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&gt;&lt;/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uses-permission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&gt;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1245870" y="4265855"/>
            <a:ext cx="3805657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"@+id/button3"</a:t>
            </a:r>
          </a:p>
          <a:p>
            <a:r>
              <a:rPr lang="en-US" altLang="ko-KR" sz="14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ko-KR" altLang="en-US" sz="1400" i="1" dirty="0">
                <a:solidFill>
                  <a:srgbClr val="2A00FF"/>
                </a:solidFill>
                <a:latin typeface="맑은 고딕"/>
              </a:rPr>
              <a:t>주소록 보기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solidFill>
                  <a:srgbClr val="7F007F"/>
                </a:solidFill>
                <a:latin typeface="맑은 고딕"/>
              </a:rPr>
              <a:t>        </a:t>
            </a:r>
            <a:r>
              <a:rPr lang="en-US" altLang="ko-KR" sz="1400" dirty="0" err="1" smtClean="0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onClickButton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 smtClean="0">
                <a:solidFill>
                  <a:srgbClr val="008080"/>
                </a:solidFill>
                <a:latin typeface="맑은 고딕"/>
              </a:rPr>
              <a:t>        /&gt;</a:t>
            </a:r>
            <a:endParaRPr lang="en-US" altLang="ko-KR" sz="1400" dirty="0">
              <a:solidFill>
                <a:srgbClr val="00808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2295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주소록 읽기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Ex8_CallCP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28" y="1926491"/>
            <a:ext cx="8174033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case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button3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돋움체"/>
                <a:ea typeface="돋움체"/>
              </a:rPr>
              <a:t>주소록 읽기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cur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cr.query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돋움체"/>
                <a:ea typeface="돋움체"/>
              </a:rPr>
              <a:t>ContactsContract.Contacts.CONTENT_URI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(cur ==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주소록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CP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를 열 수 없습니다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."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en-US" altLang="ko-KR" sz="14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cur.getColumnIndex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ContactsContract.Contacts.</a:t>
            </a:r>
            <a:r>
              <a:rPr lang="en-US" altLang="ko-KR" sz="1400" dirty="0" err="1">
                <a:solidFill>
                  <a:srgbClr val="0000C0"/>
                </a:solidFill>
                <a:highlight>
                  <a:srgbClr val="D4D4D4"/>
                </a:highlight>
                <a:latin typeface="돋움체"/>
                <a:ea typeface="돋움체"/>
              </a:rPr>
              <a:t>_ID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colName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cur.getColumnIndex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ContactsContract.Contacts.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DISPLAY_NAME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colHasPhone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cur.getColumnIndex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ContactsContract.Contacts.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HAS_PHONE_NUMBER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result 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대표이름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|</a:t>
            </a:r>
            <a:r>
              <a:rPr lang="ko-KR" altLang="en-US" sz="1400" dirty="0" smtClean="0">
                <a:solidFill>
                  <a:srgbClr val="2A00FF"/>
                </a:solidFill>
                <a:latin typeface="돋움체"/>
                <a:ea typeface="돋움체"/>
              </a:rPr>
              <a:t>전화번호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\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while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cur.moveToNext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colName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"|"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colHasPhone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(result);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break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076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517" y="1307689"/>
            <a:ext cx="2867900" cy="5252720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 flipH="1">
            <a:off x="5830434" y="3308226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24776" y="1828800"/>
            <a:ext cx="2123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에뮬레이터의 </a:t>
            </a:r>
            <a:r>
              <a:rPr lang="en-US" altLang="ko-KR" dirty="0" smtClean="0"/>
              <a:t>Contacts </a:t>
            </a:r>
            <a:r>
              <a:rPr lang="ko-KR" altLang="en-US" dirty="0" err="1" smtClean="0"/>
              <a:t>앱을</a:t>
            </a:r>
            <a:r>
              <a:rPr lang="ko-KR" altLang="en-US" dirty="0" smtClean="0"/>
              <a:t> 실행하여 주소록 작성 후 테스트해 보기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707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7228" y="1926491"/>
            <a:ext cx="8186857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result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"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대표이름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|</a:t>
            </a:r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전화번호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\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n";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while 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cur.moveToNext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result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+=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colName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result += "|";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colHasPhone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&gt; 0)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Cursor phone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getContentResolver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().query(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ContactsContract.CommonDataKinds.Phone.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CONTENT_URI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ContactsContract.CommonDataKinds.Phone.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CONTACT_ID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+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 = 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),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colNumber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phone.getColumnIndex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ContactsContract.CommonDataKinds.Phone.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NUMBER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phone.moveToFirst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phone.getString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colNumber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finally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phone.close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result 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200" dirty="0">
                <a:solidFill>
                  <a:srgbClr val="2A00FF"/>
                </a:solidFill>
                <a:latin typeface="돋움체"/>
                <a:ea typeface="돋움체"/>
              </a:rPr>
              <a:t>없음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result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+= </a:t>
            </a:r>
            <a:r>
              <a:rPr lang="en-US" altLang="ko-KR" sz="1200" dirty="0">
                <a:solidFill>
                  <a:srgbClr val="2A00FF"/>
                </a:solidFill>
                <a:latin typeface="돋움체"/>
                <a:ea typeface="돋움체"/>
              </a:rPr>
              <a:t>"\n</a:t>
            </a:r>
            <a:r>
              <a:rPr lang="en-US" altLang="ko-KR" sz="1200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}//while</a:t>
            </a:r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txt.setText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(result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break;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주소록 읽기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Ex8_CallCP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7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120" y="1038066"/>
            <a:ext cx="2903696" cy="5318284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 flipH="1">
            <a:off x="4844914" y="3054226"/>
            <a:ext cx="226142" cy="206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58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API </a:t>
            </a:r>
            <a:r>
              <a:rPr lang="ko-KR" altLang="en-US" dirty="0" smtClean="0"/>
              <a:t>권한 관련 추가 설명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8578" y="1289397"/>
            <a:ext cx="903542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prstClr val="black"/>
                </a:solidFill>
              </a:rPr>
              <a:t>모든 안드로이드 버전에서 사용자 </a:t>
            </a:r>
            <a:r>
              <a:rPr lang="en-US" altLang="ko-KR" sz="1600" dirty="0">
                <a:solidFill>
                  <a:prstClr val="black"/>
                </a:solidFill>
              </a:rPr>
              <a:t>App</a:t>
            </a:r>
            <a:r>
              <a:rPr lang="ko-KR" altLang="en-US" sz="1600" dirty="0">
                <a:solidFill>
                  <a:prstClr val="black"/>
                </a:solidFill>
              </a:rPr>
              <a:t>은 </a:t>
            </a:r>
            <a:r>
              <a:rPr lang="en-US" altLang="ko-KR" sz="1600" dirty="0" smtClean="0">
                <a:solidFill>
                  <a:prstClr val="black"/>
                </a:solidFill>
              </a:rPr>
              <a:t>permission</a:t>
            </a:r>
            <a:r>
              <a:rPr lang="ko-KR" altLang="en-US" sz="1600" dirty="0">
                <a:solidFill>
                  <a:prstClr val="black"/>
                </a:solidFill>
              </a:rPr>
              <a:t>이 필요하다 </a:t>
            </a:r>
            <a:r>
              <a:rPr lang="en-US" altLang="ko-KR" sz="1600" dirty="0" smtClean="0">
                <a:solidFill>
                  <a:prstClr val="black"/>
                </a:solidFill>
              </a:rPr>
              <a:t>.</a:t>
            </a:r>
            <a:endParaRPr lang="ko-KR" altLang="en-US" sz="1600" dirty="0">
              <a:solidFill>
                <a:prstClr val="black"/>
              </a:solidFill>
            </a:endParaRPr>
          </a:p>
          <a:p>
            <a:r>
              <a:rPr lang="en-US" altLang="ko-KR" sz="1600" dirty="0">
                <a:solidFill>
                  <a:prstClr val="black"/>
                </a:solidFill>
              </a:rPr>
              <a:t>(</a:t>
            </a:r>
            <a:r>
              <a:rPr lang="ko-KR" altLang="en-US" sz="1600" dirty="0">
                <a:solidFill>
                  <a:prstClr val="black"/>
                </a:solidFill>
              </a:rPr>
              <a:t>두 가지의 경우에서 </a:t>
            </a:r>
            <a:r>
              <a:rPr lang="en-US" altLang="ko-KR" sz="1600" dirty="0">
                <a:solidFill>
                  <a:prstClr val="black"/>
                </a:solidFill>
              </a:rPr>
              <a:t>: normal &amp; dangerous</a:t>
            </a:r>
            <a:r>
              <a:rPr lang="en-US" altLang="ko-KR" sz="1600" dirty="0" smtClean="0">
                <a:solidFill>
                  <a:prstClr val="black"/>
                </a:solidFill>
              </a:rPr>
              <a:t>)</a:t>
            </a:r>
          </a:p>
          <a:p>
            <a:endParaRPr lang="en-US" altLang="ko-KR" sz="1600" dirty="0">
              <a:solidFill>
                <a:prstClr val="black"/>
              </a:solidFill>
            </a:endParaRPr>
          </a:p>
          <a:p>
            <a:r>
              <a:rPr lang="ko-KR" altLang="en-US" sz="1600" dirty="0">
                <a:solidFill>
                  <a:prstClr val="black"/>
                </a:solidFill>
              </a:rPr>
              <a:t>하지만</a:t>
            </a:r>
            <a:r>
              <a:rPr lang="en-US" altLang="ko-KR" sz="1600" dirty="0">
                <a:solidFill>
                  <a:prstClr val="black"/>
                </a:solidFill>
              </a:rPr>
              <a:t>, permission </a:t>
            </a:r>
            <a:r>
              <a:rPr lang="ko-KR" altLang="en-US" sz="1600" dirty="0">
                <a:solidFill>
                  <a:prstClr val="black"/>
                </a:solidFill>
              </a:rPr>
              <a:t>선언은 </a:t>
            </a:r>
            <a:r>
              <a:rPr lang="en-US" altLang="ko-KR" sz="1600" dirty="0">
                <a:solidFill>
                  <a:prstClr val="black"/>
                </a:solidFill>
              </a:rPr>
              <a:t>App</a:t>
            </a:r>
            <a:r>
              <a:rPr lang="ko-KR" altLang="en-US" sz="1600" dirty="0">
                <a:solidFill>
                  <a:prstClr val="black"/>
                </a:solidFill>
              </a:rPr>
              <a:t>의 </a:t>
            </a:r>
            <a:r>
              <a:rPr lang="en-US" altLang="ko-KR" sz="1600" dirty="0">
                <a:solidFill>
                  <a:prstClr val="black"/>
                </a:solidFill>
              </a:rPr>
              <a:t>SDK </a:t>
            </a:r>
            <a:r>
              <a:rPr lang="ko-KR" altLang="en-US" sz="1600" dirty="0">
                <a:solidFill>
                  <a:prstClr val="black"/>
                </a:solidFill>
              </a:rPr>
              <a:t>레벨과 시스템에 의존적이라 버전에 맞는 선언이 필요하다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1600" dirty="0">
              <a:solidFill>
                <a:prstClr val="black"/>
              </a:solidFill>
            </a:endParaRPr>
          </a:p>
          <a:p>
            <a:r>
              <a:rPr lang="ko-KR" altLang="en-US" sz="1600" dirty="0">
                <a:solidFill>
                  <a:prstClr val="black"/>
                </a:solidFill>
              </a:rPr>
              <a:t>안드로이드 </a:t>
            </a:r>
            <a:r>
              <a:rPr lang="en-US" altLang="ko-KR" sz="1600" dirty="0">
                <a:solidFill>
                  <a:prstClr val="black"/>
                </a:solidFill>
              </a:rPr>
              <a:t>5.1 </a:t>
            </a:r>
            <a:r>
              <a:rPr lang="ko-KR" altLang="en-US" sz="1600" dirty="0">
                <a:solidFill>
                  <a:prstClr val="black"/>
                </a:solidFill>
              </a:rPr>
              <a:t>또는 하위 버전</a:t>
            </a:r>
            <a:r>
              <a:rPr lang="en-US" altLang="ko-KR" sz="1600" dirty="0">
                <a:solidFill>
                  <a:prstClr val="black"/>
                </a:solidFill>
              </a:rPr>
              <a:t>, SDK 22 </a:t>
            </a:r>
            <a:r>
              <a:rPr lang="ko-KR" altLang="en-US" sz="1600" dirty="0">
                <a:solidFill>
                  <a:prstClr val="black"/>
                </a:solidFill>
              </a:rPr>
              <a:t>버전 또는 하위 경우 </a:t>
            </a:r>
            <a:r>
              <a:rPr lang="en-US" altLang="ko-KR" sz="1600" dirty="0">
                <a:solidFill>
                  <a:prstClr val="black"/>
                </a:solidFill>
              </a:rPr>
              <a:t>manifest</a:t>
            </a:r>
            <a:r>
              <a:rPr lang="ko-KR" altLang="en-US" sz="1600" dirty="0">
                <a:solidFill>
                  <a:prstClr val="black"/>
                </a:solidFill>
              </a:rPr>
              <a:t>에서 </a:t>
            </a:r>
            <a:r>
              <a:rPr lang="en-US" altLang="ko-KR" sz="1600" dirty="0">
                <a:solidFill>
                  <a:prstClr val="black"/>
                </a:solidFill>
              </a:rPr>
              <a:t>dangerous</a:t>
            </a:r>
            <a:r>
              <a:rPr lang="ko-KR" altLang="en-US" sz="1600" dirty="0">
                <a:solidFill>
                  <a:prstClr val="black"/>
                </a:solidFill>
              </a:rPr>
              <a:t>한 경우에만</a:t>
            </a:r>
            <a:r>
              <a:rPr lang="en-US" altLang="ko-KR" sz="1600" dirty="0" smtClean="0">
                <a:solidFill>
                  <a:prstClr val="black"/>
                </a:solidFill>
              </a:rPr>
              <a:t>,</a:t>
            </a:r>
          </a:p>
          <a:p>
            <a:r>
              <a:rPr lang="en-US" altLang="ko-KR" sz="1600" dirty="0" smtClean="0">
                <a:solidFill>
                  <a:prstClr val="black"/>
                </a:solidFill>
              </a:rPr>
              <a:t>App </a:t>
            </a:r>
            <a:r>
              <a:rPr lang="ko-KR" altLang="en-US" sz="1600" dirty="0">
                <a:solidFill>
                  <a:prstClr val="black"/>
                </a:solidFill>
              </a:rPr>
              <a:t>설치 시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en-US" altLang="ko-KR" sz="1600" dirty="0" smtClean="0">
                <a:solidFill>
                  <a:prstClr val="black"/>
                </a:solidFill>
              </a:rPr>
              <a:t> permission</a:t>
            </a:r>
            <a:r>
              <a:rPr lang="ko-KR" altLang="en-US" sz="1600" dirty="0">
                <a:solidFill>
                  <a:prstClr val="black"/>
                </a:solidFill>
              </a:rPr>
              <a:t>을 요구한다</a:t>
            </a:r>
            <a:r>
              <a:rPr lang="en-US" altLang="ko-KR" sz="1600" dirty="0">
                <a:solidFill>
                  <a:prstClr val="black"/>
                </a:solidFill>
              </a:rPr>
              <a:t>. permission</a:t>
            </a:r>
            <a:r>
              <a:rPr lang="ko-KR" altLang="en-US" sz="1600" dirty="0">
                <a:solidFill>
                  <a:prstClr val="black"/>
                </a:solidFill>
              </a:rPr>
              <a:t>이 승인되지 않을 경우 시스템은 모든 </a:t>
            </a:r>
            <a:r>
              <a:rPr lang="en-US" altLang="ko-KR" sz="1600" dirty="0">
                <a:solidFill>
                  <a:prstClr val="black"/>
                </a:solidFill>
              </a:rPr>
              <a:t>App</a:t>
            </a:r>
            <a:r>
              <a:rPr lang="ko-KR" altLang="en-US" sz="1600" dirty="0" smtClean="0">
                <a:solidFill>
                  <a:prstClr val="black"/>
                </a:solidFill>
              </a:rPr>
              <a:t>들을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r>
              <a:rPr lang="ko-KR" altLang="en-US" sz="1600" dirty="0" smtClean="0">
                <a:solidFill>
                  <a:prstClr val="black"/>
                </a:solidFill>
              </a:rPr>
              <a:t>설치하지 </a:t>
            </a:r>
            <a:r>
              <a:rPr lang="ko-KR" altLang="en-US" sz="1600" dirty="0">
                <a:solidFill>
                  <a:prstClr val="black"/>
                </a:solidFill>
              </a:rPr>
              <a:t>않는다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1600" dirty="0">
              <a:solidFill>
                <a:prstClr val="black"/>
              </a:solidFill>
            </a:endParaRPr>
          </a:p>
          <a:p>
            <a:r>
              <a:rPr lang="ko-KR" altLang="en-US" sz="1600" dirty="0">
                <a:solidFill>
                  <a:prstClr val="black"/>
                </a:solidFill>
              </a:rPr>
              <a:t>안드로이드 </a:t>
            </a:r>
            <a:r>
              <a:rPr lang="en-US" altLang="ko-KR" sz="1600" dirty="0">
                <a:solidFill>
                  <a:prstClr val="black"/>
                </a:solidFill>
              </a:rPr>
              <a:t>6.0 </a:t>
            </a:r>
            <a:r>
              <a:rPr lang="ko-KR" altLang="en-US" sz="1600" dirty="0">
                <a:solidFill>
                  <a:prstClr val="black"/>
                </a:solidFill>
              </a:rPr>
              <a:t>또는 상위 버전</a:t>
            </a:r>
            <a:r>
              <a:rPr lang="en-US" altLang="ko-KR" sz="1600" dirty="0">
                <a:solidFill>
                  <a:prstClr val="black"/>
                </a:solidFill>
              </a:rPr>
              <a:t>, SDK 23 </a:t>
            </a:r>
            <a:r>
              <a:rPr lang="ko-KR" altLang="en-US" sz="1600" dirty="0">
                <a:solidFill>
                  <a:prstClr val="black"/>
                </a:solidFill>
              </a:rPr>
              <a:t>버전 또는 상위 경우 </a:t>
            </a:r>
            <a:r>
              <a:rPr lang="en-US" altLang="ko-KR" sz="1600" dirty="0">
                <a:solidFill>
                  <a:prstClr val="black"/>
                </a:solidFill>
              </a:rPr>
              <a:t>manifest</a:t>
            </a:r>
            <a:r>
              <a:rPr lang="ko-KR" altLang="en-US" sz="1600" dirty="0">
                <a:solidFill>
                  <a:prstClr val="black"/>
                </a:solidFill>
              </a:rPr>
              <a:t>에서 모든 </a:t>
            </a:r>
            <a:r>
              <a:rPr lang="en-US" altLang="ko-KR" sz="1600" dirty="0">
                <a:solidFill>
                  <a:prstClr val="black"/>
                </a:solidFill>
              </a:rPr>
              <a:t>dangerous </a:t>
            </a:r>
            <a:r>
              <a:rPr lang="ko-KR" altLang="en-US" sz="1600" dirty="0">
                <a:solidFill>
                  <a:prstClr val="black"/>
                </a:solidFill>
              </a:rPr>
              <a:t>경우에 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r>
              <a:rPr lang="en-US" altLang="ko-KR" sz="1600" dirty="0" smtClean="0">
                <a:solidFill>
                  <a:prstClr val="black"/>
                </a:solidFill>
              </a:rPr>
              <a:t>permission </a:t>
            </a:r>
            <a:r>
              <a:rPr lang="ko-KR" altLang="en-US" sz="1600" dirty="0" smtClean="0">
                <a:solidFill>
                  <a:prstClr val="black"/>
                </a:solidFill>
              </a:rPr>
              <a:t>승인여부를 </a:t>
            </a:r>
            <a:r>
              <a:rPr lang="ko-KR" altLang="en-US" sz="1600" dirty="0">
                <a:solidFill>
                  <a:prstClr val="black"/>
                </a:solidFill>
              </a:rPr>
              <a:t>확인한다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만약 </a:t>
            </a:r>
            <a:r>
              <a:rPr lang="en-US" altLang="ko-KR" sz="1600" dirty="0">
                <a:solidFill>
                  <a:prstClr val="black"/>
                </a:solidFill>
              </a:rPr>
              <a:t>user</a:t>
            </a:r>
            <a:r>
              <a:rPr lang="ko-KR" altLang="en-US" sz="1600" dirty="0">
                <a:solidFill>
                  <a:prstClr val="black"/>
                </a:solidFill>
              </a:rPr>
              <a:t>가 </a:t>
            </a:r>
            <a:r>
              <a:rPr lang="en-US" altLang="ko-KR" sz="1600" dirty="0">
                <a:solidFill>
                  <a:prstClr val="black"/>
                </a:solidFill>
              </a:rPr>
              <a:t>deny permission</a:t>
            </a:r>
            <a:r>
              <a:rPr lang="ko-KR" altLang="en-US" sz="1600" dirty="0">
                <a:solidFill>
                  <a:prstClr val="black"/>
                </a:solidFill>
              </a:rPr>
              <a:t>을 특정 </a:t>
            </a:r>
            <a:r>
              <a:rPr lang="en-US" altLang="ko-KR" sz="1600" dirty="0">
                <a:solidFill>
                  <a:prstClr val="black"/>
                </a:solidFill>
              </a:rPr>
              <a:t>App</a:t>
            </a:r>
            <a:r>
              <a:rPr lang="ko-KR" altLang="en-US" sz="1600" dirty="0">
                <a:solidFill>
                  <a:prstClr val="black"/>
                </a:solidFill>
              </a:rPr>
              <a:t>에 적용할 경우 </a:t>
            </a:r>
            <a:r>
              <a:rPr lang="ko-KR" altLang="en-US" sz="1600" dirty="0" smtClean="0">
                <a:solidFill>
                  <a:prstClr val="black"/>
                </a:solidFill>
              </a:rPr>
              <a:t>해당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r>
              <a:rPr lang="en-US" altLang="ko-KR" sz="1600" dirty="0" smtClean="0">
                <a:solidFill>
                  <a:prstClr val="black"/>
                </a:solidFill>
              </a:rPr>
              <a:t>App</a:t>
            </a:r>
            <a:r>
              <a:rPr lang="ko-KR" altLang="en-US" sz="1600" dirty="0">
                <a:solidFill>
                  <a:prstClr val="black"/>
                </a:solidFill>
              </a:rPr>
              <a:t>은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제한된 기능만 사용가능하다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1600" dirty="0">
              <a:solidFill>
                <a:prstClr val="black"/>
              </a:solidFill>
            </a:endParaRPr>
          </a:p>
          <a:p>
            <a:r>
              <a:rPr lang="en-US" altLang="ko-KR" sz="1600" dirty="0">
                <a:solidFill>
                  <a:prstClr val="black"/>
                </a:solidFill>
              </a:rPr>
              <a:t>Note: </a:t>
            </a:r>
            <a:r>
              <a:rPr lang="ko-KR" altLang="en-US" sz="1600" dirty="0">
                <a:solidFill>
                  <a:srgbClr val="004CBC"/>
                </a:solidFill>
              </a:rPr>
              <a:t>안드로이드 </a:t>
            </a:r>
            <a:r>
              <a:rPr lang="en-US" altLang="ko-KR" sz="1600" dirty="0">
                <a:solidFill>
                  <a:srgbClr val="004CBC"/>
                </a:solidFill>
              </a:rPr>
              <a:t>6.0</a:t>
            </a:r>
            <a:r>
              <a:rPr lang="ko-KR" altLang="en-US" sz="1600" dirty="0">
                <a:solidFill>
                  <a:srgbClr val="004CBC"/>
                </a:solidFill>
              </a:rPr>
              <a:t>부터 </a:t>
            </a:r>
            <a:r>
              <a:rPr lang="en-US" altLang="ko-KR" sz="1600" dirty="0">
                <a:solidFill>
                  <a:srgbClr val="004CBC"/>
                </a:solidFill>
              </a:rPr>
              <a:t>(API 23) </a:t>
            </a:r>
            <a:r>
              <a:rPr lang="ko-KR" altLang="en-US" sz="1600" dirty="0">
                <a:solidFill>
                  <a:srgbClr val="004CBC"/>
                </a:solidFill>
              </a:rPr>
              <a:t>앱의 </a:t>
            </a:r>
            <a:r>
              <a:rPr lang="en-US" altLang="ko-KR" sz="1600" dirty="0">
                <a:solidFill>
                  <a:srgbClr val="004CBC"/>
                </a:solidFill>
              </a:rPr>
              <a:t>permission</a:t>
            </a:r>
            <a:r>
              <a:rPr lang="ko-KR" altLang="en-US" sz="1600" dirty="0">
                <a:solidFill>
                  <a:srgbClr val="004CBC"/>
                </a:solidFill>
              </a:rPr>
              <a:t>을 어느 </a:t>
            </a:r>
            <a:r>
              <a:rPr lang="ko-KR" altLang="en-US" sz="1600" dirty="0" smtClean="0">
                <a:solidFill>
                  <a:srgbClr val="004CBC"/>
                </a:solidFill>
              </a:rPr>
              <a:t>때</a:t>
            </a:r>
            <a:r>
              <a:rPr lang="ko-KR" altLang="en-US" sz="1600" dirty="0">
                <a:solidFill>
                  <a:srgbClr val="004CBC"/>
                </a:solidFill>
              </a:rPr>
              <a:t>든</a:t>
            </a:r>
            <a:r>
              <a:rPr lang="ko-KR" altLang="en-US" sz="1600" dirty="0" smtClean="0">
                <a:solidFill>
                  <a:srgbClr val="004CBC"/>
                </a:solidFill>
              </a:rPr>
              <a:t>지</a:t>
            </a:r>
            <a:r>
              <a:rPr lang="en-US" altLang="ko-KR" sz="1600" dirty="0">
                <a:solidFill>
                  <a:srgbClr val="004CBC"/>
                </a:solidFill>
              </a:rPr>
              <a:t>, </a:t>
            </a:r>
            <a:r>
              <a:rPr lang="ko-KR" altLang="en-US" sz="1600" dirty="0">
                <a:solidFill>
                  <a:srgbClr val="004CBC"/>
                </a:solidFill>
              </a:rPr>
              <a:t>취소</a:t>
            </a:r>
            <a:r>
              <a:rPr lang="en-US" altLang="ko-KR" sz="1600" dirty="0">
                <a:solidFill>
                  <a:srgbClr val="004CBC"/>
                </a:solidFill>
              </a:rPr>
              <a:t>(revoke)</a:t>
            </a:r>
            <a:r>
              <a:rPr lang="ko-KR" altLang="en-US" sz="1600" dirty="0">
                <a:solidFill>
                  <a:srgbClr val="004CBC"/>
                </a:solidFill>
              </a:rPr>
              <a:t>할 수 있다</a:t>
            </a:r>
            <a:r>
              <a:rPr lang="en-US" altLang="ko-KR" sz="1600" dirty="0">
                <a:solidFill>
                  <a:srgbClr val="004CBC"/>
                </a:solidFill>
              </a:rPr>
              <a:t>.</a:t>
            </a:r>
          </a:p>
          <a:p>
            <a:r>
              <a:rPr lang="en-US" altLang="ko-KR" sz="1600" dirty="0" smtClean="0">
                <a:solidFill>
                  <a:srgbClr val="004CBC"/>
                </a:solidFill>
              </a:rPr>
              <a:t>           </a:t>
            </a:r>
            <a:r>
              <a:rPr lang="en-US" altLang="ko-KR" sz="1600" dirty="0" smtClean="0">
                <a:solidFill>
                  <a:srgbClr val="00B050"/>
                </a:solidFill>
              </a:rPr>
              <a:t>App</a:t>
            </a:r>
            <a:r>
              <a:rPr lang="ko-KR" altLang="en-US" sz="1600" dirty="0">
                <a:solidFill>
                  <a:srgbClr val="00B050"/>
                </a:solidFill>
              </a:rPr>
              <a:t>을 다양하게 테스트하고</a:t>
            </a:r>
            <a:r>
              <a:rPr lang="en-US" altLang="ko-KR" sz="1600" dirty="0">
                <a:solidFill>
                  <a:srgbClr val="00B050"/>
                </a:solidFill>
              </a:rPr>
              <a:t>, permission</a:t>
            </a:r>
            <a:r>
              <a:rPr lang="ko-KR" altLang="en-US" sz="1600" dirty="0">
                <a:solidFill>
                  <a:srgbClr val="00B050"/>
                </a:solidFill>
              </a:rPr>
              <a:t>이 필요할 때는 </a:t>
            </a:r>
            <a:r>
              <a:rPr lang="en-US" altLang="ko-KR" sz="1600" dirty="0">
                <a:solidFill>
                  <a:srgbClr val="00B050"/>
                </a:solidFill>
              </a:rPr>
              <a:t>app target</a:t>
            </a:r>
            <a:r>
              <a:rPr lang="ko-KR" altLang="en-US" sz="1600" dirty="0">
                <a:solidFill>
                  <a:srgbClr val="00B050"/>
                </a:solidFill>
              </a:rPr>
              <a:t>에 따른 </a:t>
            </a:r>
            <a:r>
              <a:rPr lang="en-US" altLang="ko-KR" sz="1600" dirty="0">
                <a:solidFill>
                  <a:srgbClr val="00B050"/>
                </a:solidFill>
              </a:rPr>
              <a:t>API level</a:t>
            </a:r>
            <a:r>
              <a:rPr lang="ko-KR" altLang="en-US" sz="1600" dirty="0" smtClean="0">
                <a:solidFill>
                  <a:srgbClr val="00B050"/>
                </a:solidFill>
              </a:rPr>
              <a:t>을</a:t>
            </a:r>
            <a:endParaRPr lang="en-US" altLang="ko-KR" sz="1600" dirty="0" smtClean="0">
              <a:solidFill>
                <a:srgbClr val="00B050"/>
              </a:solidFill>
            </a:endParaRPr>
          </a:p>
          <a:p>
            <a:r>
              <a:rPr lang="en-US" altLang="ko-KR" sz="1600" dirty="0">
                <a:solidFill>
                  <a:srgbClr val="00B050"/>
                </a:solidFill>
              </a:rPr>
              <a:t> </a:t>
            </a:r>
            <a:r>
              <a:rPr lang="en-US" altLang="ko-KR" sz="1600" dirty="0" smtClean="0">
                <a:solidFill>
                  <a:srgbClr val="00B050"/>
                </a:solidFill>
              </a:rPr>
              <a:t>      </a:t>
            </a:r>
            <a:r>
              <a:rPr lang="ko-KR" altLang="en-US" sz="1600" dirty="0" smtClean="0">
                <a:solidFill>
                  <a:srgbClr val="00B050"/>
                </a:solidFill>
              </a:rPr>
              <a:t>   적용하여 </a:t>
            </a:r>
            <a:r>
              <a:rPr lang="ko-KR" altLang="en-US" sz="1600" dirty="0">
                <a:solidFill>
                  <a:srgbClr val="00B050"/>
                </a:solidFill>
              </a:rPr>
              <a:t>적절하게 구동하여야 한다</a:t>
            </a:r>
            <a:r>
              <a:rPr lang="en-US" altLang="ko-KR" sz="1600" dirty="0" smtClean="0">
                <a:solidFill>
                  <a:srgbClr val="00B050"/>
                </a:solidFill>
              </a:rPr>
              <a:t>.   </a:t>
            </a:r>
          </a:p>
          <a:p>
            <a:r>
              <a:rPr lang="en-US" altLang="ko-KR" sz="1600" dirty="0" smtClean="0">
                <a:solidFill>
                  <a:prstClr val="black"/>
                </a:solidFill>
              </a:rPr>
              <a:t>         (</a:t>
            </a:r>
            <a:r>
              <a:rPr lang="en-US" altLang="ko-KR" sz="1600" dirty="0" smtClean="0">
                <a:solidFill>
                  <a:srgbClr val="00B050"/>
                </a:solidFill>
              </a:rPr>
              <a:t>You </a:t>
            </a:r>
            <a:r>
              <a:rPr lang="en-US" altLang="ko-KR" sz="1600" dirty="0">
                <a:solidFill>
                  <a:srgbClr val="00B050"/>
                </a:solidFill>
              </a:rPr>
              <a:t>should test your app to verify that it behaves </a:t>
            </a:r>
            <a:r>
              <a:rPr lang="en-US" altLang="ko-KR" sz="1600" dirty="0" smtClean="0">
                <a:solidFill>
                  <a:srgbClr val="00B050"/>
                </a:solidFill>
              </a:rPr>
              <a:t>p</a:t>
            </a:r>
            <a:r>
              <a:rPr lang="en-US" altLang="ko-KR" sz="1600" dirty="0">
                <a:solidFill>
                  <a:srgbClr val="00B050"/>
                </a:solidFill>
              </a:rPr>
              <a:t>r</a:t>
            </a:r>
            <a:r>
              <a:rPr lang="en-US" altLang="ko-KR" sz="1600" dirty="0" smtClean="0">
                <a:solidFill>
                  <a:srgbClr val="00B050"/>
                </a:solidFill>
              </a:rPr>
              <a:t>operly </a:t>
            </a:r>
            <a:r>
              <a:rPr lang="en-US" altLang="ko-KR" sz="1600" dirty="0">
                <a:solidFill>
                  <a:srgbClr val="00B050"/>
                </a:solidFill>
              </a:rPr>
              <a:t>when it's missing a </a:t>
            </a:r>
            <a:r>
              <a:rPr lang="en-US" altLang="ko-KR" sz="1600" dirty="0" smtClean="0">
                <a:solidFill>
                  <a:srgbClr val="00B050"/>
                </a:solidFill>
              </a:rPr>
              <a:t>needed</a:t>
            </a:r>
          </a:p>
          <a:p>
            <a:r>
              <a:rPr lang="en-US" altLang="ko-KR" sz="1600" dirty="0">
                <a:solidFill>
                  <a:srgbClr val="00B050"/>
                </a:solidFill>
              </a:rPr>
              <a:t> </a:t>
            </a:r>
            <a:r>
              <a:rPr lang="en-US" altLang="ko-KR" sz="1600" dirty="0" smtClean="0">
                <a:solidFill>
                  <a:srgbClr val="00B050"/>
                </a:solidFill>
              </a:rPr>
              <a:t>          permission</a:t>
            </a:r>
            <a:r>
              <a:rPr lang="en-US" altLang="ko-KR" sz="1600" dirty="0">
                <a:solidFill>
                  <a:srgbClr val="00B050"/>
                </a:solidFill>
              </a:rPr>
              <a:t>, regardless of what API level your app targets</a:t>
            </a:r>
            <a:r>
              <a:rPr lang="en-US" altLang="ko-KR" sz="1600" dirty="0" smtClean="0">
                <a:solidFill>
                  <a:srgbClr val="00B050"/>
                </a:solidFill>
              </a:rPr>
              <a:t>.</a:t>
            </a:r>
            <a:r>
              <a:rPr lang="en-US" altLang="ko-KR" sz="1600" dirty="0" smtClean="0">
                <a:solidFill>
                  <a:prstClr val="black"/>
                </a:solidFill>
              </a:rPr>
              <a:t>)</a:t>
            </a:r>
            <a:endParaRPr lang="en-US" altLang="ko-KR" sz="1600" dirty="0">
              <a:solidFill>
                <a:prstClr val="black"/>
              </a:solidFill>
            </a:endParaRPr>
          </a:p>
          <a:p>
            <a:endParaRPr lang="en-US" altLang="ko-KR" sz="1600" dirty="0" smtClean="0">
              <a:solidFill>
                <a:prstClr val="black"/>
              </a:solidFill>
            </a:endParaRPr>
          </a:p>
          <a:p>
            <a:r>
              <a:rPr lang="ko-KR" altLang="en-US" sz="1600" dirty="0" smtClean="0">
                <a:solidFill>
                  <a:prstClr val="black"/>
                </a:solidFill>
              </a:rPr>
              <a:t>출처 </a:t>
            </a:r>
            <a:r>
              <a:rPr lang="en-US" altLang="ko-KR" sz="1600" dirty="0">
                <a:solidFill>
                  <a:prstClr val="black"/>
                </a:solidFill>
              </a:rPr>
              <a:t>: </a:t>
            </a:r>
            <a:r>
              <a:rPr lang="en-US" altLang="ko-KR" sz="1600" dirty="0">
                <a:solidFill>
                  <a:prstClr val="black"/>
                </a:solidFill>
                <a:hlinkClick r:id="rId3"/>
              </a:rPr>
              <a:t> </a:t>
            </a:r>
            <a:r>
              <a:rPr lang="en-US" altLang="ko-KR" sz="1600" dirty="0" smtClean="0">
                <a:solidFill>
                  <a:prstClr val="black"/>
                </a:solidFill>
                <a:hlinkClick r:id="rId3"/>
              </a:rPr>
              <a:t>Android Developer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en-US" altLang="ko-KR" sz="1600" dirty="0" smtClean="0">
                <a:solidFill>
                  <a:prstClr val="black"/>
                </a:solidFill>
              </a:rPr>
              <a:t>              ||     </a:t>
            </a:r>
            <a:r>
              <a:rPr lang="en-US" altLang="ko-KR" sz="1600" dirty="0" smtClean="0">
                <a:solidFill>
                  <a:prstClr val="black"/>
                </a:solidFill>
                <a:hlinkClick r:id="rId4"/>
              </a:rPr>
              <a:t>SYSTEM_PERMISSION</a:t>
            </a:r>
            <a:endParaRPr lang="ko-KR" alt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84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권한 관련 추가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889" y="1280160"/>
            <a:ext cx="67833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prstClr val="black"/>
                </a:solidFill>
              </a:rPr>
              <a:t>Normal and Dangerous Permissions’ List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  (</a:t>
            </a:r>
            <a:r>
              <a:rPr lang="ko-KR" altLang="en-US" dirty="0" smtClean="0">
                <a:solidFill>
                  <a:prstClr val="black"/>
                </a:solidFill>
                <a:hlinkClick r:id="rId3"/>
              </a:rPr>
              <a:t>링크</a:t>
            </a:r>
            <a:r>
              <a:rPr lang="en-US" altLang="ko-KR" dirty="0" smtClean="0">
                <a:solidFill>
                  <a:prstClr val="black"/>
                </a:solidFill>
              </a:rPr>
              <a:t>)</a:t>
            </a:r>
            <a:endParaRPr lang="en-US" altLang="ko-KR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 - </a:t>
            </a:r>
            <a:r>
              <a:rPr lang="ko-KR" altLang="en-US" dirty="0" smtClean="0">
                <a:solidFill>
                  <a:prstClr val="black"/>
                </a:solidFill>
              </a:rPr>
              <a:t>이 중 </a:t>
            </a:r>
            <a:r>
              <a:rPr lang="en-US" altLang="ko-KR" dirty="0" smtClean="0">
                <a:solidFill>
                  <a:prstClr val="black"/>
                </a:solidFill>
              </a:rPr>
              <a:t>Dangerous </a:t>
            </a:r>
            <a:r>
              <a:rPr lang="ko-KR" altLang="en-US" dirty="0" smtClean="0">
                <a:solidFill>
                  <a:prstClr val="black"/>
                </a:solidFill>
              </a:rPr>
              <a:t>경우에만 </a:t>
            </a:r>
            <a:r>
              <a:rPr lang="en-US" altLang="ko-KR" dirty="0" smtClean="0">
                <a:solidFill>
                  <a:prstClr val="black"/>
                </a:solidFill>
              </a:rPr>
              <a:t>Permission </a:t>
            </a:r>
            <a:r>
              <a:rPr lang="ko-KR" altLang="en-US" dirty="0" smtClean="0">
                <a:solidFill>
                  <a:prstClr val="black"/>
                </a:solidFill>
              </a:rPr>
              <a:t>권한을 체크해주면 된다</a:t>
            </a:r>
            <a:r>
              <a:rPr lang="en-US" altLang="ko-KR" dirty="0" smtClean="0">
                <a:solidFill>
                  <a:prstClr val="black"/>
                </a:solidFill>
              </a:rPr>
              <a:t>.</a:t>
            </a:r>
          </a:p>
          <a:p>
            <a:endParaRPr lang="en-US" altLang="ko-KR" dirty="0">
              <a:solidFill>
                <a:prstClr val="black"/>
              </a:solidFill>
            </a:endParaRPr>
          </a:p>
          <a:p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&lt;= </a:t>
            </a:r>
            <a:r>
              <a:rPr lang="ko-KR" altLang="en-US" dirty="0" smtClean="0">
                <a:solidFill>
                  <a:prstClr val="black"/>
                </a:solidFill>
              </a:rPr>
              <a:t>권한을 가지고 있는지 체크하기 </a:t>
            </a:r>
            <a:r>
              <a:rPr lang="en-US" altLang="ko-KR" dirty="0" smtClean="0">
                <a:solidFill>
                  <a:prstClr val="black"/>
                </a:solidFill>
              </a:rPr>
              <a:t>=&gt;</a:t>
            </a:r>
          </a:p>
          <a:p>
            <a:r>
              <a:rPr lang="en-US" altLang="ko-KR" dirty="0">
                <a:solidFill>
                  <a:prstClr val="black"/>
                </a:solidFill>
                <a:hlinkClick r:id="rId4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hlinkClick r:id="rId4"/>
              </a:rPr>
              <a:t> </a:t>
            </a:r>
            <a:r>
              <a:rPr lang="en-US" altLang="ko-KR" dirty="0" err="1" smtClean="0">
                <a:solidFill>
                  <a:prstClr val="black"/>
                </a:solidFill>
                <a:hlinkClick r:id="rId4"/>
              </a:rPr>
              <a:t>ContextCompat.checkSelfPermission</a:t>
            </a:r>
            <a:r>
              <a:rPr lang="en-US" altLang="ko-KR" dirty="0" smtClean="0">
                <a:solidFill>
                  <a:prstClr val="black"/>
                </a:solidFill>
                <a:hlinkClick r:id="rId4"/>
              </a:rPr>
              <a:t>()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9" y="3429000"/>
            <a:ext cx="86582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64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권한 관련 추가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889" y="1280160"/>
            <a:ext cx="86994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</a:rPr>
              <a:t> &lt;= </a:t>
            </a:r>
            <a:r>
              <a:rPr lang="ko-KR" altLang="en-US" dirty="0" smtClean="0">
                <a:solidFill>
                  <a:prstClr val="black"/>
                </a:solidFill>
              </a:rPr>
              <a:t>해당 권한이 필요한 이유를 설명해주어야 하는 경우인지 확인하는 함수 </a:t>
            </a:r>
            <a:r>
              <a:rPr lang="en-US" altLang="ko-KR" dirty="0" smtClean="0">
                <a:solidFill>
                  <a:prstClr val="black"/>
                </a:solidFill>
              </a:rPr>
              <a:t>=&gt;</a:t>
            </a:r>
          </a:p>
          <a:p>
            <a:r>
              <a:rPr lang="en-US" altLang="ko-KR" dirty="0">
                <a:solidFill>
                  <a:prstClr val="black"/>
                </a:solidFill>
                <a:hlinkClick r:id="rId2"/>
              </a:rPr>
              <a:t> </a:t>
            </a:r>
            <a:r>
              <a:rPr lang="en-US" altLang="ko-KR" dirty="0" err="1" smtClean="0">
                <a:solidFill>
                  <a:prstClr val="black"/>
                </a:solidFill>
                <a:hlinkClick r:id="rId2"/>
              </a:rPr>
              <a:t>shouldShowRequestPermissionRationale</a:t>
            </a:r>
            <a:r>
              <a:rPr lang="en-US" altLang="ko-KR" dirty="0" smtClean="0">
                <a:solidFill>
                  <a:prstClr val="black"/>
                </a:solidFill>
                <a:hlinkClick r:id="rId2"/>
              </a:rPr>
              <a:t>()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- </a:t>
            </a:r>
            <a:r>
              <a:rPr lang="ko-KR" altLang="en-US" dirty="0" smtClean="0">
                <a:solidFill>
                  <a:prstClr val="black"/>
                </a:solidFill>
              </a:rPr>
              <a:t>참고용</a:t>
            </a:r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&lt;= </a:t>
            </a:r>
            <a:r>
              <a:rPr lang="ko-KR" altLang="en-US" dirty="0" smtClean="0">
                <a:solidFill>
                  <a:prstClr val="black"/>
                </a:solidFill>
              </a:rPr>
              <a:t>권한 허가 요청하기 </a:t>
            </a:r>
            <a:r>
              <a:rPr lang="en-US" altLang="ko-KR" dirty="0">
                <a:solidFill>
                  <a:prstClr val="black"/>
                </a:solidFill>
              </a:rPr>
              <a:t>=&gt;</a:t>
            </a:r>
          </a:p>
          <a:p>
            <a:r>
              <a:rPr lang="en-US" altLang="ko-KR" dirty="0" smtClean="0">
                <a:solidFill>
                  <a:prstClr val="black"/>
                </a:solidFill>
                <a:hlinkClick r:id="rId3"/>
              </a:rPr>
              <a:t> </a:t>
            </a:r>
            <a:r>
              <a:rPr lang="en-US" altLang="ko-KR" dirty="0" err="1" smtClean="0">
                <a:solidFill>
                  <a:prstClr val="black"/>
                </a:solidFill>
                <a:hlinkClick r:id="rId3"/>
              </a:rPr>
              <a:t>requestPermissions</a:t>
            </a:r>
            <a:r>
              <a:rPr lang="en-US" altLang="ko-KR" dirty="0" smtClean="0">
                <a:solidFill>
                  <a:prstClr val="black"/>
                </a:solidFill>
                <a:hlinkClick r:id="rId3"/>
              </a:rPr>
              <a:t>()</a:t>
            </a:r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- </a:t>
            </a:r>
            <a:r>
              <a:rPr lang="en-US" altLang="ko-KR" dirty="0" err="1" smtClean="0">
                <a:solidFill>
                  <a:prstClr val="black"/>
                </a:solidFill>
              </a:rPr>
              <a:t>FragmentCompat</a:t>
            </a:r>
            <a:r>
              <a:rPr lang="ko-KR" altLang="en-US" dirty="0" smtClean="0">
                <a:solidFill>
                  <a:prstClr val="black"/>
                </a:solidFill>
              </a:rPr>
              <a:t>와 </a:t>
            </a:r>
            <a:r>
              <a:rPr lang="en-US" altLang="ko-KR" dirty="0" err="1" smtClean="0">
                <a:solidFill>
                  <a:prstClr val="black"/>
                </a:solidFill>
              </a:rPr>
              <a:t>ActivityCompact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클래스에서 이 함수를 사용해 </a:t>
            </a:r>
            <a:r>
              <a:rPr lang="en-US" altLang="ko-KR" dirty="0" smtClean="0">
                <a:solidFill>
                  <a:prstClr val="black"/>
                </a:solidFill>
              </a:rPr>
              <a:t>user</a:t>
            </a:r>
            <a:r>
              <a:rPr lang="ko-KR" altLang="en-US" dirty="0" smtClean="0">
                <a:solidFill>
                  <a:prstClr val="black"/>
                </a:solidFill>
              </a:rPr>
              <a:t>에게 권한</a:t>
            </a:r>
            <a:endParaRPr lang="en-US" altLang="ko-KR" dirty="0" smtClean="0">
              <a:solidFill>
                <a:prstClr val="black"/>
              </a:solidFill>
            </a:endParaRPr>
          </a:p>
          <a:p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허가 요청 </a:t>
            </a:r>
            <a:r>
              <a:rPr lang="en-US" altLang="ko-KR" dirty="0" smtClean="0">
                <a:solidFill>
                  <a:prstClr val="black"/>
                </a:solidFill>
              </a:rPr>
              <a:t>Dialog</a:t>
            </a:r>
            <a:r>
              <a:rPr lang="ko-KR" altLang="en-US" dirty="0" smtClean="0">
                <a:solidFill>
                  <a:prstClr val="black"/>
                </a:solidFill>
              </a:rPr>
              <a:t>를 띄울 수 있다</a:t>
            </a:r>
            <a:r>
              <a:rPr lang="en-US" altLang="ko-KR" dirty="0" smtClean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04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권한 관련 추가 설명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5" b="6353"/>
          <a:stretch/>
        </p:blipFill>
        <p:spPr bwMode="auto">
          <a:xfrm>
            <a:off x="759983" y="1449521"/>
            <a:ext cx="7562850" cy="5318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588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권한 관련 추가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889" y="1280160"/>
            <a:ext cx="4051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</a:rPr>
              <a:t> &lt;= </a:t>
            </a:r>
            <a:r>
              <a:rPr lang="ko-KR" altLang="en-US" dirty="0" smtClean="0">
                <a:solidFill>
                  <a:prstClr val="black"/>
                </a:solidFill>
              </a:rPr>
              <a:t>권한허가 요청 후 결과 가져오기 </a:t>
            </a:r>
            <a:r>
              <a:rPr lang="en-US" altLang="ko-KR" dirty="0" smtClean="0">
                <a:solidFill>
                  <a:prstClr val="black"/>
                </a:solidFill>
              </a:rPr>
              <a:t>=&gt;</a:t>
            </a:r>
          </a:p>
          <a:p>
            <a:r>
              <a:rPr lang="en-US" altLang="ko-KR" dirty="0" smtClean="0">
                <a:solidFill>
                  <a:prstClr val="black"/>
                </a:solidFill>
                <a:hlinkClick r:id="rId2"/>
              </a:rPr>
              <a:t>onRequestpermissionResult()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6"/>
          <a:stretch/>
        </p:blipFill>
        <p:spPr bwMode="auto">
          <a:xfrm>
            <a:off x="823913" y="2088777"/>
            <a:ext cx="7496175" cy="4218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41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42583</TotalTime>
  <Words>2716</Words>
  <Application>Microsoft Office PowerPoint</Application>
  <PresentationFormat>화면 슬라이드 쇼(4:3)</PresentationFormat>
  <Paragraphs>642</Paragraphs>
  <Slides>41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HY중고딕</vt:lpstr>
      <vt:lpstr>굴림체</vt:lpstr>
      <vt:lpstr>돋움체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컨텐트 프로바이더</vt:lpstr>
      <vt:lpstr>Content Provider</vt:lpstr>
      <vt:lpstr>Content Provider</vt:lpstr>
      <vt:lpstr>Content Provider</vt:lpstr>
      <vt:lpstr>Content Provider</vt:lpstr>
      <vt:lpstr>Content Resolver</vt:lpstr>
      <vt:lpstr>URI</vt:lpstr>
      <vt:lpstr>Native ContentProvider</vt:lpstr>
      <vt:lpstr>Native ContentProvider</vt:lpstr>
      <vt:lpstr>주소록 데이터 읽기</vt:lpstr>
      <vt:lpstr>Example #8.1</vt:lpstr>
      <vt:lpstr>CP class</vt:lpstr>
      <vt:lpstr>CP class</vt:lpstr>
      <vt:lpstr>Manifest</vt:lpstr>
      <vt:lpstr>CP class</vt:lpstr>
      <vt:lpstr>URI</vt:lpstr>
      <vt:lpstr>URI</vt:lpstr>
      <vt:lpstr>DB Open</vt:lpstr>
      <vt:lpstr>DB Open</vt:lpstr>
      <vt:lpstr>MIME Type</vt:lpstr>
      <vt:lpstr>Query</vt:lpstr>
      <vt:lpstr>Insert</vt:lpstr>
      <vt:lpstr>Delete</vt:lpstr>
      <vt:lpstr>Update</vt:lpstr>
      <vt:lpstr>PowerPoint 프레젠테이션</vt:lpstr>
      <vt:lpstr>Example #8.2</vt:lpstr>
      <vt:lpstr>Call CP</vt:lpstr>
      <vt:lpstr>Call CP</vt:lpstr>
      <vt:lpstr>Call CP</vt:lpstr>
      <vt:lpstr>PowerPoint 프레젠테이션</vt:lpstr>
      <vt:lpstr>주소록 읽기</vt:lpstr>
      <vt:lpstr>주소록 읽기</vt:lpstr>
      <vt:lpstr>PowerPoint 프레젠테이션</vt:lpstr>
      <vt:lpstr>주소록 읽기</vt:lpstr>
      <vt:lpstr>PowerPoint 프레젠테이션</vt:lpstr>
      <vt:lpstr>API 권한 관련 추가 설명</vt:lpstr>
      <vt:lpstr>API 권한 관련 추가 설명</vt:lpstr>
      <vt:lpstr>API 권한 관련 추가 설명</vt:lpstr>
      <vt:lpstr>API 권한 관련 추가 설명</vt:lpstr>
      <vt:lpstr>API 권한 관련 추가 설명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1921</cp:revision>
  <cp:lastPrinted>2011-03-01T18:43:48Z</cp:lastPrinted>
  <dcterms:created xsi:type="dcterms:W3CDTF">2010-10-12T07:50:15Z</dcterms:created>
  <dcterms:modified xsi:type="dcterms:W3CDTF">2017-11-07T04:21:06Z</dcterms:modified>
</cp:coreProperties>
</file>