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54"/>
  </p:notesMasterIdLst>
  <p:sldIdLst>
    <p:sldId id="256" r:id="rId2"/>
    <p:sldId id="303" r:id="rId3"/>
    <p:sldId id="304" r:id="rId4"/>
    <p:sldId id="307" r:id="rId5"/>
    <p:sldId id="393" r:id="rId6"/>
    <p:sldId id="394" r:id="rId7"/>
    <p:sldId id="395" r:id="rId8"/>
    <p:sldId id="316" r:id="rId9"/>
    <p:sldId id="306" r:id="rId10"/>
    <p:sldId id="399" r:id="rId11"/>
    <p:sldId id="397" r:id="rId12"/>
    <p:sldId id="398" r:id="rId13"/>
    <p:sldId id="392" r:id="rId14"/>
    <p:sldId id="406" r:id="rId15"/>
    <p:sldId id="400" r:id="rId16"/>
    <p:sldId id="401" r:id="rId17"/>
    <p:sldId id="402" r:id="rId18"/>
    <p:sldId id="314" r:id="rId19"/>
    <p:sldId id="315" r:id="rId20"/>
    <p:sldId id="404" r:id="rId21"/>
    <p:sldId id="320" r:id="rId22"/>
    <p:sldId id="321" r:id="rId23"/>
    <p:sldId id="323" r:id="rId24"/>
    <p:sldId id="322" r:id="rId25"/>
    <p:sldId id="324" r:id="rId26"/>
    <p:sldId id="325" r:id="rId27"/>
    <p:sldId id="328" r:id="rId28"/>
    <p:sldId id="387" r:id="rId29"/>
    <p:sldId id="408" r:id="rId30"/>
    <p:sldId id="407" r:id="rId31"/>
    <p:sldId id="430" r:id="rId32"/>
    <p:sldId id="335" r:id="rId33"/>
    <p:sldId id="334" r:id="rId34"/>
    <p:sldId id="336" r:id="rId35"/>
    <p:sldId id="396" r:id="rId36"/>
    <p:sldId id="351" r:id="rId37"/>
    <p:sldId id="337" r:id="rId38"/>
    <p:sldId id="352" r:id="rId39"/>
    <p:sldId id="353" r:id="rId40"/>
    <p:sldId id="339" r:id="rId41"/>
    <p:sldId id="419" r:id="rId42"/>
    <p:sldId id="420" r:id="rId43"/>
    <p:sldId id="421" r:id="rId44"/>
    <p:sldId id="422" r:id="rId45"/>
    <p:sldId id="423" r:id="rId46"/>
    <p:sldId id="424" r:id="rId47"/>
    <p:sldId id="425" r:id="rId48"/>
    <p:sldId id="426" r:id="rId49"/>
    <p:sldId id="427" r:id="rId50"/>
    <p:sldId id="428" r:id="rId51"/>
    <p:sldId id="429" r:id="rId52"/>
    <p:sldId id="294" r:id="rId53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00A249"/>
    <a:srgbClr val="004CBC"/>
    <a:srgbClr val="0066FF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55" autoAdjust="0"/>
    <p:restoredTop sz="94127" autoAdjust="0"/>
  </p:normalViewPr>
  <p:slideViewPr>
    <p:cSldViewPr snapToGrid="0">
      <p:cViewPr varScale="1">
        <p:scale>
          <a:sx n="83" d="100"/>
          <a:sy n="83" d="100"/>
        </p:scale>
        <p:origin x="100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91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mobileandlife.tistory.com/268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19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202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337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311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68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711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862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777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825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359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515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74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495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825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64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783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9602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0067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9174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9223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0532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8257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7386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3613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1784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4950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>
                <a:hlinkClick r:id="rId3"/>
              </a:rPr>
              <a:t>http://mobileandlife.tistory.com/268</a:t>
            </a:r>
            <a:endParaRPr lang="en-US" altLang="ko-KR" dirty="0" smtClean="0"/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SurfaceView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말그대로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일종의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 </a:t>
            </a:r>
          </a:p>
          <a:p>
            <a:pPr marL="228600" indent="-228600">
              <a:buAutoNum type="arabicPeriod"/>
            </a:pP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TextView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ImageView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달리 직접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컨텐츠를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표시하지 않음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SurfaceView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계층구조 내에서 드로잉 전용 공간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제공하는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뷰에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대한 특수한 서브클래스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일반적인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화면에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뷰를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표시하는 연산과 기타 연산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사용자와의 상호작용 처리 등이 모두 하나의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쓰레드에서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되지만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이러한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뷰를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실시간으로 화면을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받아와야하는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카메라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뷰로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사용한다면 다른 작업을 아무것도 할 수 없음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카메라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화면 업데이트를 백그라운드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쓰레드로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수행하여 어플리케이션 자원을 잠식하지 않는 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SurfaceView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사용함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2577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0270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0057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134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4036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1416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1420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2248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0270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1750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1750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1750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4479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2238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8462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5745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4051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36926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5482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1930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3387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3654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6492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11312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109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438197"/>
            <a:chOff x="983729" y="101774"/>
            <a:chExt cx="1474704" cy="438197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438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  <a:p>
              <a:pPr>
                <a:lnSpc>
                  <a:spcPts val="1300"/>
                </a:lnSpc>
              </a:pP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멀티미디어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Multimedia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Multi + Medium</a:t>
            </a:r>
          </a:p>
          <a:p>
            <a:pPr lvl="1"/>
            <a:r>
              <a:rPr lang="ko-KR" altLang="en-US" dirty="0" smtClean="0"/>
              <a:t>다중 매체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여러 형식의 정보 </a:t>
            </a:r>
            <a:r>
              <a:rPr lang="ko-KR" altLang="en-US" dirty="0" err="1" smtClean="0"/>
              <a:t>콘텐츠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비디오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오디오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이미지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텍스트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상호작용 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다양한 형태의 정보를 하나의 형식으로 집중하여 표현하는 매체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선형 </a:t>
            </a:r>
            <a:r>
              <a:rPr lang="ko-KR" altLang="en-US" dirty="0" err="1" smtClean="0"/>
              <a:t>콘텐츠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한번 재생되면 사용자의 상호작용 없이도 끝까지 재생되는 </a:t>
            </a:r>
            <a:r>
              <a:rPr lang="ko-KR" altLang="en-US" dirty="0" err="1" smtClean="0"/>
              <a:t>콘텐츠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라디오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영화</a:t>
            </a:r>
            <a:r>
              <a:rPr lang="en-US" altLang="ko-KR" dirty="0" smtClean="0"/>
              <a:t>, …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비선형 </a:t>
            </a:r>
            <a:r>
              <a:rPr lang="ko-KR" altLang="en-US" dirty="0" err="1" smtClean="0"/>
              <a:t>콘텐츠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사용자와의 상호작용을 통해 흐름을 제할 수 있는 </a:t>
            </a:r>
            <a:r>
              <a:rPr lang="ko-KR" altLang="en-US" dirty="0" err="1" smtClean="0"/>
              <a:t>콘텐츠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프레젠테이션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게임</a:t>
            </a:r>
            <a:r>
              <a:rPr lang="en-US" altLang="ko-KR" dirty="0" smtClean="0"/>
              <a:t>, …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62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Multimedia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안드로이드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소리의 재생</a:t>
            </a:r>
            <a:r>
              <a:rPr lang="en-US" altLang="ko-KR" dirty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녹음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동영상의 재생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사용 가능한 형식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오디오 포맷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WAV, MP3, MIDI, OGG, 3GP</a:t>
            </a:r>
          </a:p>
          <a:p>
            <a:pPr lvl="1"/>
            <a:r>
              <a:rPr lang="ko-KR" altLang="en-US" dirty="0" smtClean="0"/>
              <a:t>비디오</a:t>
            </a:r>
            <a:r>
              <a:rPr lang="en-US" altLang="ko-KR" dirty="0" smtClean="0"/>
              <a:t> </a:t>
            </a:r>
            <a:r>
              <a:rPr lang="ko-KR" altLang="en-US" dirty="0" smtClean="0"/>
              <a:t>포맷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H.263, H.264, MPEG4</a:t>
            </a:r>
            <a:br>
              <a:rPr lang="en-US" altLang="ko-KR" dirty="0" smtClean="0"/>
            </a:br>
            <a:endParaRPr lang="en-US" altLang="ko-KR" dirty="0" smtClean="0"/>
          </a:p>
          <a:p>
            <a:pPr lvl="1"/>
            <a:r>
              <a:rPr lang="ko-KR" altLang="en-US" dirty="0" smtClean="0"/>
              <a:t>제조사에서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코덱을</a:t>
            </a:r>
            <a:r>
              <a:rPr lang="ko-KR" altLang="en-US" dirty="0" smtClean="0"/>
              <a:t> 추가하여 더 많은 형식을 지원할 수 있음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54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Multimedia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455022"/>
              </p:ext>
            </p:extLst>
          </p:nvPr>
        </p:nvGraphicFramePr>
        <p:xfrm>
          <a:off x="560070" y="1397001"/>
          <a:ext cx="7989570" cy="5172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810"/>
                <a:gridCol w="2240280"/>
                <a:gridCol w="834390"/>
                <a:gridCol w="834390"/>
                <a:gridCol w="3314700"/>
              </a:tblGrid>
              <a:tr h="2818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종류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형식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쓰기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읽기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파일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281837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오디오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AAC</a:t>
                      </a:r>
                      <a:r>
                        <a:rPr lang="en-US" altLang="ko-KR" sz="1200" baseline="0" dirty="0" smtClean="0"/>
                        <a:t> LC/LTP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HE-AACv1 (AAC+)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3GPP(.3gp) </a:t>
                      </a:r>
                      <a:r>
                        <a:rPr lang="ko-KR" altLang="en-US" sz="1200" dirty="0" smtClean="0"/>
                        <a:t>및 </a:t>
                      </a:r>
                      <a:r>
                        <a:rPr lang="en-US" altLang="ko-KR" sz="1200" dirty="0" smtClean="0"/>
                        <a:t>MPEG-4(.mp4,</a:t>
                      </a:r>
                      <a:r>
                        <a:rPr lang="en-US" altLang="ko-KR" sz="1200" baseline="0" dirty="0" smtClean="0"/>
                        <a:t> .m4a)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HE-AACv2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AAC(.</a:t>
                      </a:r>
                      <a:r>
                        <a:rPr lang="en-US" altLang="ko-KR" sz="1200" dirty="0" err="1" smtClean="0"/>
                        <a:t>aac</a:t>
                      </a:r>
                      <a:r>
                        <a:rPr lang="en-US" altLang="ko-KR" sz="1200" dirty="0" smtClean="0"/>
                        <a:t>)</a:t>
                      </a:r>
                      <a:r>
                        <a:rPr lang="en-US" altLang="ko-KR" sz="1200" baseline="0" dirty="0" smtClean="0"/>
                        <a:t> (Raw AAC</a:t>
                      </a:r>
                      <a:r>
                        <a:rPr lang="ko-KR" altLang="en-US" sz="1200" baseline="0" dirty="0" smtClean="0"/>
                        <a:t>는 </a:t>
                      </a:r>
                      <a:r>
                        <a:rPr lang="ko-KR" altLang="en-US" sz="1200" baseline="0" dirty="0" err="1" smtClean="0"/>
                        <a:t>미지원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AMR-NB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3GPP(.3gp)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AMR-WB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3GPP(.3gp)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MPEG Audio Layer 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MP3(.mp3)</a:t>
                      </a:r>
                      <a:endParaRPr lang="ko-KR" altLang="en-US" sz="1200" dirty="0" smtClean="0"/>
                    </a:p>
                  </a:txBody>
                  <a:tcPr anchor="ctr"/>
                </a:tc>
              </a:tr>
              <a:tr h="5972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MIDI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Type 0/1(.mid,</a:t>
                      </a:r>
                      <a:r>
                        <a:rPr lang="en-US" altLang="ko-KR" sz="1200" baseline="0" dirty="0" smtClean="0"/>
                        <a:t> .</a:t>
                      </a:r>
                      <a:r>
                        <a:rPr lang="en-US" altLang="ko-KR" sz="1200" baseline="0" dirty="0" err="1" smtClean="0"/>
                        <a:t>xmf</a:t>
                      </a:r>
                      <a:r>
                        <a:rPr lang="en-US" altLang="ko-KR" sz="1200" baseline="0" dirty="0" smtClean="0"/>
                        <a:t>, .</a:t>
                      </a:r>
                      <a:r>
                        <a:rPr lang="en-US" altLang="ko-KR" sz="1200" baseline="0" dirty="0" err="1" smtClean="0"/>
                        <a:t>mxmf</a:t>
                      </a:r>
                      <a:r>
                        <a:rPr lang="en-US" altLang="ko-KR" sz="1200" baseline="0" dirty="0" smtClean="0"/>
                        <a:t>),</a:t>
                      </a:r>
                    </a:p>
                    <a:p>
                      <a:pPr latinLnBrk="1"/>
                      <a:r>
                        <a:rPr lang="en-US" altLang="ko-KR" sz="1200" baseline="0" dirty="0" smtClean="0"/>
                        <a:t>RTTTL/RTX (.</a:t>
                      </a:r>
                      <a:r>
                        <a:rPr lang="en-US" altLang="ko-KR" sz="1200" baseline="0" dirty="0" err="1" smtClean="0"/>
                        <a:t>rtttl</a:t>
                      </a:r>
                      <a:r>
                        <a:rPr lang="en-US" altLang="ko-KR" sz="1200" baseline="0" dirty="0" smtClean="0"/>
                        <a:t>, .</a:t>
                      </a:r>
                      <a:r>
                        <a:rPr lang="en-US" altLang="ko-KR" sz="1200" baseline="0" dirty="0" err="1" smtClean="0"/>
                        <a:t>rtx</a:t>
                      </a:r>
                      <a:r>
                        <a:rPr lang="en-US" altLang="ko-KR" sz="1200" baseline="0" dirty="0" smtClean="0"/>
                        <a:t>), OTA (.</a:t>
                      </a:r>
                      <a:r>
                        <a:rPr lang="en-US" altLang="ko-KR" sz="1200" baseline="0" dirty="0" err="1" smtClean="0"/>
                        <a:t>ota</a:t>
                      </a:r>
                      <a:r>
                        <a:rPr lang="en-US" altLang="ko-KR" sz="1200" baseline="0" dirty="0" smtClean="0"/>
                        <a:t>),</a:t>
                      </a:r>
                    </a:p>
                    <a:p>
                      <a:pPr latinLnBrk="1"/>
                      <a:r>
                        <a:rPr lang="en-US" altLang="ko-KR" sz="1200" baseline="0" dirty="0" err="1" smtClean="0"/>
                        <a:t>iMelody</a:t>
                      </a:r>
                      <a:r>
                        <a:rPr lang="en-US" altLang="ko-KR" sz="1200" baseline="0" dirty="0" smtClean="0"/>
                        <a:t> (.</a:t>
                      </a:r>
                      <a:r>
                        <a:rPr lang="en-US" altLang="ko-KR" sz="1200" baseline="0" dirty="0" err="1" smtClean="0"/>
                        <a:t>imy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Ogg</a:t>
                      </a:r>
                      <a:r>
                        <a:rPr lang="en-US" altLang="ko-KR" sz="1200" dirty="0" smtClean="0"/>
                        <a:t> </a:t>
                      </a:r>
                      <a:r>
                        <a:rPr lang="en-US" altLang="ko-KR" sz="1200" dirty="0" err="1" smtClean="0"/>
                        <a:t>Vorbis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Ogg</a:t>
                      </a:r>
                      <a:r>
                        <a:rPr lang="en-US" altLang="ko-KR" sz="1200" baseline="0" dirty="0" smtClean="0"/>
                        <a:t> (.</a:t>
                      </a:r>
                      <a:r>
                        <a:rPr lang="en-US" altLang="ko-KR" sz="1200" baseline="0" dirty="0" err="1" smtClean="0"/>
                        <a:t>ogg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PCM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WAVE (.wav)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이미지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JPEG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JPEG (.jpg)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Graphics Interchange Format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GIF (.gif)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Portable Network Graphics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PNG (.</a:t>
                      </a:r>
                      <a:r>
                        <a:rPr lang="en-US" altLang="ko-KR" sz="1200" dirty="0" err="1" smtClean="0"/>
                        <a:t>png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Windows</a:t>
                      </a:r>
                      <a:r>
                        <a:rPr lang="en-US" altLang="ko-KR" sz="1200" baseline="0" dirty="0" smtClean="0"/>
                        <a:t> Bitmap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BMP (.bmp)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비디오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H.263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3GPP (.3gp)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H.264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3GPP (.3gp) </a:t>
                      </a:r>
                      <a:r>
                        <a:rPr lang="ko-KR" altLang="en-US" sz="1200" dirty="0" smtClean="0"/>
                        <a:t>및 </a:t>
                      </a:r>
                      <a:r>
                        <a:rPr lang="en-US" altLang="ko-KR" sz="1200" dirty="0" smtClean="0"/>
                        <a:t>MPEG-4 (.mp4)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2818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MPEG4 SP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3GPP (.3gp)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75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MediaPlayer</a:t>
            </a:r>
            <a:r>
              <a:rPr lang="en-US" altLang="ko-KR" dirty="0" smtClean="0"/>
              <a:t> Class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smtClean="0"/>
              <a:t>생성자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public </a:t>
            </a:r>
            <a:r>
              <a:rPr lang="en-US" altLang="ko-KR" dirty="0" err="1" smtClean="0"/>
              <a:t>MediaPlayer</a:t>
            </a:r>
            <a:r>
              <a:rPr lang="en-US" altLang="ko-KR" dirty="0" smtClean="0"/>
              <a:t> ( )</a:t>
            </a:r>
          </a:p>
          <a:p>
            <a:endParaRPr lang="en-US" altLang="ko-KR" dirty="0"/>
          </a:p>
          <a:p>
            <a:r>
              <a:rPr lang="ko-KR" altLang="en-US" dirty="0" smtClean="0"/>
              <a:t>대상지정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setDataSource</a:t>
            </a:r>
            <a:r>
              <a:rPr lang="en-US" altLang="ko-KR" dirty="0" smtClean="0"/>
              <a:t> (String path)</a:t>
            </a:r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setDataSource</a:t>
            </a:r>
            <a:r>
              <a:rPr lang="en-US" altLang="ko-KR" dirty="0"/>
              <a:t> </a:t>
            </a:r>
            <a:r>
              <a:rPr lang="en-US" altLang="ko-KR" dirty="0" smtClean="0"/>
              <a:t>(Context </a:t>
            </a:r>
            <a:r>
              <a:rPr lang="en-US" altLang="ko-KR" dirty="0" err="1" smtClean="0"/>
              <a:t>context</a:t>
            </a:r>
            <a:r>
              <a:rPr lang="en-US" altLang="ko-KR" dirty="0" smtClean="0"/>
              <a:t>, Uri </a:t>
            </a:r>
            <a:r>
              <a:rPr lang="en-US" altLang="ko-KR" dirty="0" err="1" smtClean="0"/>
              <a:t>uri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준비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prepare ( )</a:t>
            </a:r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prepareAsync</a:t>
            </a:r>
            <a:r>
              <a:rPr lang="en-US" altLang="ko-KR" dirty="0"/>
              <a:t> </a:t>
            </a:r>
            <a:r>
              <a:rPr lang="en-US" altLang="ko-KR" dirty="0" smtClean="0"/>
              <a:t>( ): </a:t>
            </a:r>
            <a:r>
              <a:rPr lang="ko-KR" altLang="en-US" dirty="0" smtClean="0"/>
              <a:t>비동기적으로 동작</a:t>
            </a:r>
            <a:r>
              <a:rPr lang="en-US" altLang="ko-KR" dirty="0" smtClean="0"/>
              <a:t>, </a:t>
            </a:r>
            <a:r>
              <a:rPr lang="ko-KR" altLang="en-US" dirty="0" smtClean="0"/>
              <a:t>완료시 콜백을 통해 통보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통합된 과정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static </a:t>
            </a:r>
            <a:r>
              <a:rPr lang="en-US" altLang="ko-KR" dirty="0" err="1" smtClean="0"/>
              <a:t>MediaPlayer</a:t>
            </a:r>
            <a:r>
              <a:rPr lang="en-US" altLang="ko-KR" dirty="0" smtClean="0"/>
              <a:t>  create (Context </a:t>
            </a:r>
            <a:r>
              <a:rPr lang="en-US" altLang="ko-KR" dirty="0" err="1" smtClean="0"/>
              <a:t>context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resId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static </a:t>
            </a:r>
            <a:r>
              <a:rPr lang="en-US" altLang="ko-KR" dirty="0" err="1" smtClean="0"/>
              <a:t>MediaPlayer</a:t>
            </a:r>
            <a:r>
              <a:rPr lang="en-US" altLang="ko-KR" dirty="0" smtClean="0"/>
              <a:t>  create (Context </a:t>
            </a:r>
            <a:r>
              <a:rPr lang="en-US" altLang="ko-KR" dirty="0" err="1" smtClean="0"/>
              <a:t>context</a:t>
            </a:r>
            <a:r>
              <a:rPr lang="en-US" altLang="ko-KR" dirty="0" smtClean="0"/>
              <a:t>, Uri </a:t>
            </a:r>
            <a:r>
              <a:rPr lang="en-US" altLang="ko-KR" dirty="0" err="1" smtClean="0"/>
              <a:t>uri</a:t>
            </a:r>
            <a:r>
              <a:rPr lang="en-US" altLang="ko-KR" dirty="0" smtClean="0"/>
              <a:t>, [</a:t>
            </a:r>
            <a:r>
              <a:rPr lang="en-US" altLang="ko-KR" dirty="0" err="1" smtClean="0"/>
              <a:t>SurfaceHolder</a:t>
            </a:r>
            <a:r>
              <a:rPr lang="en-US" altLang="ko-KR" dirty="0" smtClean="0"/>
              <a:t> holder])</a:t>
            </a:r>
          </a:p>
          <a:p>
            <a:pPr lvl="1"/>
            <a:r>
              <a:rPr lang="ko-KR" altLang="en-US" dirty="0" smtClean="0"/>
              <a:t>파일은 열 수 없음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73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재생관련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start ( )</a:t>
            </a:r>
          </a:p>
          <a:p>
            <a:pPr lvl="1"/>
            <a:r>
              <a:rPr lang="en-US" altLang="ko-KR" dirty="0" smtClean="0"/>
              <a:t>void stop ( )</a:t>
            </a:r>
          </a:p>
          <a:p>
            <a:pPr lvl="1"/>
            <a:r>
              <a:rPr lang="en-US" altLang="ko-KR" dirty="0" smtClean="0"/>
              <a:t>void pause ( )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반복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setLooping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boolean</a:t>
            </a:r>
            <a:r>
              <a:rPr lang="en-US" altLang="ko-KR" dirty="0" smtClean="0"/>
              <a:t> looping)</a:t>
            </a:r>
          </a:p>
          <a:p>
            <a:pPr lvl="1"/>
            <a:r>
              <a:rPr lang="en-US" altLang="ko-KR" dirty="0" err="1" smtClean="0"/>
              <a:t>boolean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isLooping</a:t>
            </a:r>
            <a:r>
              <a:rPr lang="en-US" altLang="ko-KR" dirty="0" smtClean="0"/>
              <a:t> ( )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정리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release ( )</a:t>
            </a:r>
          </a:p>
          <a:p>
            <a:pPr lvl="1"/>
            <a:r>
              <a:rPr lang="en-US" altLang="ko-KR" dirty="0" smtClean="0"/>
              <a:t>void reset ( )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00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재생 길이 조사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위치 조사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변경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getDuration</a:t>
            </a:r>
            <a:r>
              <a:rPr lang="en-US" altLang="ko-KR" dirty="0" smtClean="0"/>
              <a:t> ( )</a:t>
            </a:r>
          </a:p>
          <a:p>
            <a:pPr lvl="1"/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getCurrentPosition</a:t>
            </a:r>
            <a:r>
              <a:rPr lang="en-US" altLang="ko-KR" dirty="0" smtClean="0"/>
              <a:t> ( )</a:t>
            </a:r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seekTo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msec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상태변경이나 에러 발생에 대한 콜백 메서드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setOnErrorListener</a:t>
            </a:r>
            <a:r>
              <a:rPr lang="en-US" altLang="ko-KR" dirty="0" smtClean="0"/>
              <a:t> (</a:t>
            </a:r>
            <a:r>
              <a:rPr lang="en-US" altLang="ko-KR" dirty="0" err="1" smtClean="0"/>
              <a:t>MediaPlayer.OnErrorListener</a:t>
            </a:r>
            <a:r>
              <a:rPr lang="en-US" altLang="ko-KR" dirty="0" smtClean="0"/>
              <a:t> listener)</a:t>
            </a:r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setOnPreparedListener</a:t>
            </a:r>
            <a:r>
              <a:rPr lang="en-US" altLang="ko-KR" dirty="0" smtClean="0"/>
              <a:t> (</a:t>
            </a:r>
            <a:r>
              <a:rPr lang="en-US" altLang="ko-KR" dirty="0" err="1" smtClean="0"/>
              <a:t>MediaPlayer.OnPreparedListener</a:t>
            </a:r>
            <a:r>
              <a:rPr lang="en-US" altLang="ko-KR" dirty="0" smtClean="0"/>
              <a:t> listener)</a:t>
            </a:r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setOnCompletionListener</a:t>
            </a:r>
            <a:r>
              <a:rPr lang="en-US" altLang="ko-KR" dirty="0" smtClean="0"/>
              <a:t> (</a:t>
            </a:r>
            <a:r>
              <a:rPr lang="en-US" altLang="ko-KR" dirty="0" err="1" smtClean="0"/>
              <a:t>MediaPlayer.OnCompletionListener</a:t>
            </a:r>
            <a:r>
              <a:rPr lang="en-US" altLang="ko-KR" dirty="0" smtClean="0"/>
              <a:t> listener)</a:t>
            </a:r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setOnBufferingUpdateListener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MediaPlayer.OnBufferingUpdateListener</a:t>
            </a:r>
            <a:r>
              <a:rPr lang="en-US" altLang="ko-KR" dirty="0" smtClean="0"/>
              <a:t> listener)</a:t>
            </a:r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setOnSeekCompleteListener</a:t>
            </a:r>
            <a:r>
              <a:rPr lang="en-US" altLang="ko-KR" dirty="0" smtClean="0"/>
              <a:t> (</a:t>
            </a:r>
            <a:r>
              <a:rPr lang="en-US" altLang="ko-KR" dirty="0" err="1" smtClean="0"/>
              <a:t>MediaPlayer.OnSeekCompleteListener</a:t>
            </a:r>
            <a:r>
              <a:rPr lang="en-US" altLang="ko-KR" dirty="0" smtClean="0"/>
              <a:t> listener)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55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MediaPlayer</a:t>
            </a:r>
            <a:endParaRPr lang="ko-KR" altLang="en-US" dirty="0"/>
          </a:p>
        </p:txBody>
      </p:sp>
      <p:sp>
        <p:nvSpPr>
          <p:cNvPr id="4" name="타원 3"/>
          <p:cNvSpPr/>
          <p:nvPr/>
        </p:nvSpPr>
        <p:spPr>
          <a:xfrm>
            <a:off x="1234440" y="1855298"/>
            <a:ext cx="1234440" cy="55435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대기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3912870" y="1855297"/>
            <a:ext cx="1234440" cy="55435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초기</a:t>
            </a:r>
            <a:r>
              <a:rPr lang="ko-KR" altLang="en-US" dirty="0"/>
              <a:t>화</a:t>
            </a:r>
          </a:p>
        </p:txBody>
      </p:sp>
      <p:sp>
        <p:nvSpPr>
          <p:cNvPr id="8" name="타원 7"/>
          <p:cNvSpPr/>
          <p:nvPr/>
        </p:nvSpPr>
        <p:spPr>
          <a:xfrm>
            <a:off x="3912870" y="2842087"/>
            <a:ext cx="1234440" cy="55435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준</a:t>
            </a:r>
            <a:r>
              <a:rPr lang="ko-KR" altLang="en-US" dirty="0"/>
              <a:t>비</a:t>
            </a:r>
          </a:p>
        </p:txBody>
      </p:sp>
      <p:sp>
        <p:nvSpPr>
          <p:cNvPr id="9" name="타원 8"/>
          <p:cNvSpPr/>
          <p:nvPr/>
        </p:nvSpPr>
        <p:spPr>
          <a:xfrm>
            <a:off x="3912870" y="4068426"/>
            <a:ext cx="1234440" cy="554355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재생</a:t>
            </a:r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3912870" y="5772192"/>
            <a:ext cx="1234440" cy="55435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완료</a:t>
            </a:r>
            <a:endParaRPr lang="ko-KR" altLang="en-US" dirty="0"/>
          </a:p>
        </p:txBody>
      </p:sp>
      <p:sp>
        <p:nvSpPr>
          <p:cNvPr id="11" name="타원 10"/>
          <p:cNvSpPr/>
          <p:nvPr/>
        </p:nvSpPr>
        <p:spPr>
          <a:xfrm>
            <a:off x="1851660" y="4831378"/>
            <a:ext cx="1234440" cy="55435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정지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5939790" y="4831377"/>
            <a:ext cx="1234440" cy="55435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중단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7360372" y="1855298"/>
            <a:ext cx="1234440" cy="55435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오</a:t>
            </a:r>
            <a:r>
              <a:rPr lang="ko-KR" altLang="en-US" dirty="0"/>
              <a:t>류</a:t>
            </a:r>
          </a:p>
        </p:txBody>
      </p:sp>
      <p:cxnSp>
        <p:nvCxnSpPr>
          <p:cNvPr id="16" name="직선 화살표 연결선 15"/>
          <p:cNvCxnSpPr>
            <a:endCxn id="4" idx="2"/>
          </p:cNvCxnSpPr>
          <p:nvPr/>
        </p:nvCxnSpPr>
        <p:spPr>
          <a:xfrm>
            <a:off x="537210" y="2132474"/>
            <a:ext cx="697230" cy="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4" idx="6"/>
            <a:endCxn id="7" idx="2"/>
          </p:cNvCxnSpPr>
          <p:nvPr/>
        </p:nvCxnSpPr>
        <p:spPr>
          <a:xfrm flipV="1">
            <a:off x="2468880" y="2132475"/>
            <a:ext cx="1443990" cy="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7" idx="6"/>
            <a:endCxn id="22" idx="1"/>
          </p:cNvCxnSpPr>
          <p:nvPr/>
        </p:nvCxnSpPr>
        <p:spPr>
          <a:xfrm>
            <a:off x="5147310" y="2132475"/>
            <a:ext cx="973260" cy="790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타원 21"/>
          <p:cNvSpPr/>
          <p:nvPr/>
        </p:nvSpPr>
        <p:spPr>
          <a:xfrm>
            <a:off x="5939790" y="2842086"/>
            <a:ext cx="1234440" cy="55435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준비중</a:t>
            </a:r>
            <a:endParaRPr lang="ko-KR" altLang="en-US" dirty="0"/>
          </a:p>
        </p:txBody>
      </p:sp>
      <p:cxnSp>
        <p:nvCxnSpPr>
          <p:cNvPr id="25" name="직선 화살표 연결선 24"/>
          <p:cNvCxnSpPr>
            <a:stCxn id="7" idx="4"/>
            <a:endCxn id="8" idx="0"/>
          </p:cNvCxnSpPr>
          <p:nvPr/>
        </p:nvCxnSpPr>
        <p:spPr>
          <a:xfrm>
            <a:off x="4530090" y="2409652"/>
            <a:ext cx="0" cy="43243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8" idx="4"/>
            <a:endCxn id="9" idx="0"/>
          </p:cNvCxnSpPr>
          <p:nvPr/>
        </p:nvCxnSpPr>
        <p:spPr>
          <a:xfrm>
            <a:off x="4530090" y="3396442"/>
            <a:ext cx="0" cy="67198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9" idx="6"/>
            <a:endCxn id="12" idx="1"/>
          </p:cNvCxnSpPr>
          <p:nvPr/>
        </p:nvCxnSpPr>
        <p:spPr>
          <a:xfrm>
            <a:off x="5147310" y="4345604"/>
            <a:ext cx="973260" cy="5669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0"/>
            <a:endCxn id="22" idx="4"/>
          </p:cNvCxnSpPr>
          <p:nvPr/>
        </p:nvCxnSpPr>
        <p:spPr>
          <a:xfrm flipV="1">
            <a:off x="6557010" y="3396441"/>
            <a:ext cx="0" cy="143493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22" idx="2"/>
            <a:endCxn id="8" idx="6"/>
          </p:cNvCxnSpPr>
          <p:nvPr/>
        </p:nvCxnSpPr>
        <p:spPr>
          <a:xfrm flipH="1">
            <a:off x="5147310" y="3119264"/>
            <a:ext cx="792480" cy="1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11" idx="6"/>
            <a:endCxn id="12" idx="2"/>
          </p:cNvCxnSpPr>
          <p:nvPr/>
        </p:nvCxnSpPr>
        <p:spPr>
          <a:xfrm flipV="1">
            <a:off x="3086100" y="5108555"/>
            <a:ext cx="2853690" cy="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9" idx="2"/>
            <a:endCxn id="11" idx="7"/>
          </p:cNvCxnSpPr>
          <p:nvPr/>
        </p:nvCxnSpPr>
        <p:spPr>
          <a:xfrm flipH="1">
            <a:off x="2905320" y="4345604"/>
            <a:ext cx="1007550" cy="56695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endCxn id="13" idx="2"/>
          </p:cNvCxnSpPr>
          <p:nvPr/>
        </p:nvCxnSpPr>
        <p:spPr>
          <a:xfrm flipV="1">
            <a:off x="6488082" y="2132476"/>
            <a:ext cx="872290" cy="5444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61403" y="1809308"/>
            <a:ext cx="681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new</a:t>
            </a:r>
          </a:p>
          <a:p>
            <a:endParaRPr lang="en-US" altLang="ko-KR" sz="800" dirty="0" smtClean="0"/>
          </a:p>
          <a:p>
            <a:r>
              <a:rPr lang="en-US" altLang="ko-KR" sz="1400" dirty="0" smtClean="0"/>
              <a:t>reset()</a:t>
            </a:r>
            <a:endParaRPr lang="ko-KR" altLang="en-US" sz="1400" dirty="0"/>
          </a:p>
        </p:txBody>
      </p:sp>
      <p:sp>
        <p:nvSpPr>
          <p:cNvPr id="81" name="TextBox 80"/>
          <p:cNvSpPr txBox="1"/>
          <p:nvPr/>
        </p:nvSpPr>
        <p:spPr>
          <a:xfrm>
            <a:off x="2431118" y="1830143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setDataSource</a:t>
            </a:r>
            <a:r>
              <a:rPr lang="en-US" altLang="ko-KR" sz="1400" dirty="0" smtClean="0"/>
              <a:t>()</a:t>
            </a:r>
            <a:endParaRPr lang="ko-KR" altLang="en-US" sz="1400" dirty="0"/>
          </a:p>
        </p:txBody>
      </p:sp>
      <p:sp>
        <p:nvSpPr>
          <p:cNvPr id="82" name="TextBox 81"/>
          <p:cNvSpPr txBox="1"/>
          <p:nvPr/>
        </p:nvSpPr>
        <p:spPr>
          <a:xfrm rot="2504892">
            <a:off x="4999850" y="2255764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prepareAsync</a:t>
            </a:r>
            <a:r>
              <a:rPr lang="en-US" altLang="ko-KR" sz="1400" dirty="0" smtClean="0"/>
              <a:t>()</a:t>
            </a:r>
            <a:endParaRPr lang="ko-KR" altLang="en-US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3608043" y="2408696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prepare()</a:t>
            </a:r>
            <a:endParaRPr lang="ko-KR" altLang="en-US" sz="1400" dirty="0"/>
          </a:p>
        </p:txBody>
      </p:sp>
      <p:sp>
        <p:nvSpPr>
          <p:cNvPr id="84" name="TextBox 83"/>
          <p:cNvSpPr txBox="1"/>
          <p:nvPr/>
        </p:nvSpPr>
        <p:spPr>
          <a:xfrm>
            <a:off x="3872538" y="3417264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start()</a:t>
            </a:r>
            <a:endParaRPr lang="ko-KR" altLang="en-US" sz="1400" dirty="0"/>
          </a:p>
        </p:txBody>
      </p:sp>
      <p:sp>
        <p:nvSpPr>
          <p:cNvPr id="85" name="TextBox 84"/>
          <p:cNvSpPr txBox="1"/>
          <p:nvPr/>
        </p:nvSpPr>
        <p:spPr>
          <a:xfrm rot="1815259">
            <a:off x="5262591" y="4258798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stop()</a:t>
            </a:r>
            <a:endParaRPr lang="ko-KR" altLang="en-US" sz="1400" dirty="0"/>
          </a:p>
        </p:txBody>
      </p:sp>
      <p:sp>
        <p:nvSpPr>
          <p:cNvPr id="87" name="TextBox 86"/>
          <p:cNvSpPr txBox="1"/>
          <p:nvPr/>
        </p:nvSpPr>
        <p:spPr>
          <a:xfrm>
            <a:off x="3111249" y="5089563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stop()</a:t>
            </a:r>
            <a:endParaRPr lang="ko-KR" altLang="en-US" sz="1400" dirty="0"/>
          </a:p>
        </p:txBody>
      </p:sp>
      <p:sp>
        <p:nvSpPr>
          <p:cNvPr id="88" name="TextBox 87"/>
          <p:cNvSpPr txBox="1"/>
          <p:nvPr/>
        </p:nvSpPr>
        <p:spPr>
          <a:xfrm rot="19819770">
            <a:off x="3040566" y="4270227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pause()</a:t>
            </a:r>
            <a:endParaRPr lang="ko-KR" altLang="en-US" sz="1400" dirty="0"/>
          </a:p>
        </p:txBody>
      </p:sp>
      <p:cxnSp>
        <p:nvCxnSpPr>
          <p:cNvPr id="89" name="직선 화살표 연결선 88"/>
          <p:cNvCxnSpPr>
            <a:stCxn id="10" idx="6"/>
            <a:endCxn id="12" idx="3"/>
          </p:cNvCxnSpPr>
          <p:nvPr/>
        </p:nvCxnSpPr>
        <p:spPr>
          <a:xfrm flipV="1">
            <a:off x="5147310" y="5304549"/>
            <a:ext cx="973260" cy="74482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 rot="19295995">
            <a:off x="5076367" y="5486161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stop()</a:t>
            </a:r>
            <a:endParaRPr lang="ko-KR" altLang="en-US" sz="1400" dirty="0"/>
          </a:p>
        </p:txBody>
      </p:sp>
      <p:cxnSp>
        <p:nvCxnSpPr>
          <p:cNvPr id="107" name="직선 화살표 연결선 106"/>
          <p:cNvCxnSpPr>
            <a:endCxn id="8" idx="5"/>
          </p:cNvCxnSpPr>
          <p:nvPr/>
        </p:nvCxnSpPr>
        <p:spPr>
          <a:xfrm flipH="1" flipV="1">
            <a:off x="4966530" y="3315259"/>
            <a:ext cx="1376012" cy="151611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 rot="2901269">
            <a:off x="5605702" y="4121935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prepare()</a:t>
            </a:r>
            <a:endParaRPr lang="ko-KR" altLang="en-US" sz="1400" dirty="0"/>
          </a:p>
        </p:txBody>
      </p:sp>
      <p:sp>
        <p:nvSpPr>
          <p:cNvPr id="117" name="TextBox 116"/>
          <p:cNvSpPr txBox="1"/>
          <p:nvPr/>
        </p:nvSpPr>
        <p:spPr>
          <a:xfrm>
            <a:off x="6557010" y="4332849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prepareAsync</a:t>
            </a:r>
            <a:r>
              <a:rPr lang="en-US" altLang="ko-KR" sz="1400" dirty="0" smtClean="0"/>
              <a:t>()</a:t>
            </a:r>
            <a:endParaRPr lang="ko-KR" altLang="en-US" sz="1400" dirty="0"/>
          </a:p>
        </p:txBody>
      </p:sp>
      <p:cxnSp>
        <p:nvCxnSpPr>
          <p:cNvPr id="118" name="직선 화살표 연결선 117"/>
          <p:cNvCxnSpPr>
            <a:endCxn id="8" idx="2"/>
          </p:cNvCxnSpPr>
          <p:nvPr/>
        </p:nvCxnSpPr>
        <p:spPr>
          <a:xfrm>
            <a:off x="3151828" y="3119263"/>
            <a:ext cx="761042" cy="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068296" y="2811486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create()</a:t>
            </a:r>
            <a:endParaRPr lang="ko-KR" altLang="en-US" sz="1400" dirty="0"/>
          </a:p>
        </p:txBody>
      </p:sp>
      <p:cxnSp>
        <p:nvCxnSpPr>
          <p:cNvPr id="127" name="직선 화살표 연결선 126"/>
          <p:cNvCxnSpPr>
            <a:stCxn id="10" idx="0"/>
            <a:endCxn id="9" idx="4"/>
          </p:cNvCxnSpPr>
          <p:nvPr/>
        </p:nvCxnSpPr>
        <p:spPr>
          <a:xfrm flipV="1">
            <a:off x="4530090" y="4622781"/>
            <a:ext cx="0" cy="114941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8" name="자유형 137"/>
          <p:cNvSpPr/>
          <p:nvPr/>
        </p:nvSpPr>
        <p:spPr>
          <a:xfrm>
            <a:off x="4715400" y="4640626"/>
            <a:ext cx="181170" cy="1131566"/>
          </a:xfrm>
          <a:custGeom>
            <a:avLst/>
            <a:gdLst>
              <a:gd name="connsiteX0" fmla="*/ 0 w 251460"/>
              <a:gd name="connsiteY0" fmla="*/ 0 h 800100"/>
              <a:gd name="connsiteX1" fmla="*/ 251460 w 251460"/>
              <a:gd name="connsiteY1" fmla="*/ 377190 h 800100"/>
              <a:gd name="connsiteX2" fmla="*/ 0 w 251460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" h="800100">
                <a:moveTo>
                  <a:pt x="0" y="0"/>
                </a:moveTo>
                <a:cubicBezTo>
                  <a:pt x="125730" y="121920"/>
                  <a:pt x="251460" y="243840"/>
                  <a:pt x="251460" y="377190"/>
                </a:cubicBezTo>
                <a:cubicBezTo>
                  <a:pt x="251460" y="510540"/>
                  <a:pt x="125730" y="655320"/>
                  <a:pt x="0" y="800100"/>
                </a:cubicBezTo>
              </a:path>
            </a:pathLst>
          </a:custGeom>
          <a:ln>
            <a:prstDash val="sysDot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TextBox 138"/>
          <p:cNvSpPr txBox="1"/>
          <p:nvPr/>
        </p:nvSpPr>
        <p:spPr>
          <a:xfrm>
            <a:off x="3865426" y="5445160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start()</a:t>
            </a:r>
            <a:endParaRPr lang="ko-KR" altLang="en-US" sz="1400" dirty="0"/>
          </a:p>
        </p:txBody>
      </p:sp>
      <p:sp>
        <p:nvSpPr>
          <p:cNvPr id="144" name="타원 143"/>
          <p:cNvSpPr/>
          <p:nvPr/>
        </p:nvSpPr>
        <p:spPr>
          <a:xfrm>
            <a:off x="1196678" y="3140086"/>
            <a:ext cx="1234440" cy="55435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종료</a:t>
            </a:r>
            <a:endParaRPr lang="ko-KR" altLang="en-US" dirty="0"/>
          </a:p>
        </p:txBody>
      </p:sp>
      <p:cxnSp>
        <p:nvCxnSpPr>
          <p:cNvPr id="145" name="직선 화살표 연결선 144"/>
          <p:cNvCxnSpPr>
            <a:endCxn id="144" idx="2"/>
          </p:cNvCxnSpPr>
          <p:nvPr/>
        </p:nvCxnSpPr>
        <p:spPr>
          <a:xfrm flipV="1">
            <a:off x="324388" y="3417264"/>
            <a:ext cx="872290" cy="54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252092" y="3114931"/>
            <a:ext cx="851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release()</a:t>
            </a:r>
            <a:endParaRPr lang="ko-KR" altLang="en-US" sz="1400" dirty="0"/>
          </a:p>
        </p:txBody>
      </p:sp>
      <p:sp>
        <p:nvSpPr>
          <p:cNvPr id="147" name="TextBox 146"/>
          <p:cNvSpPr txBox="1"/>
          <p:nvPr/>
        </p:nvSpPr>
        <p:spPr>
          <a:xfrm rot="19819770">
            <a:off x="3013737" y="4649829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start()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916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Sound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9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17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새로운 프로젝트 시작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 Project</a:t>
            </a:r>
          </a:p>
          <a:p>
            <a:pPr lvl="1"/>
            <a:r>
              <a:rPr lang="en-US" altLang="ko-KR" dirty="0"/>
              <a:t>Application name</a:t>
            </a:r>
            <a:r>
              <a:rPr lang="en-US" altLang="ko-KR" dirty="0" smtClean="0"/>
              <a:t>: Ex_Sound1</a:t>
            </a:r>
          </a:p>
          <a:p>
            <a:pPr lvl="1"/>
            <a:r>
              <a:rPr lang="en-US" altLang="ko-KR" dirty="0" smtClean="0"/>
              <a:t>Build Target: Android 4.4</a:t>
            </a:r>
          </a:p>
          <a:p>
            <a:pPr lvl="1"/>
            <a:r>
              <a:rPr lang="en-US" altLang="ko-KR" dirty="0" smtClean="0"/>
              <a:t>Package name: vr.ex.sound1</a:t>
            </a:r>
          </a:p>
          <a:p>
            <a:pPr lvl="1"/>
            <a:r>
              <a:rPr lang="en-US" altLang="ko-KR" dirty="0" smtClean="0"/>
              <a:t>Create Activity: Act1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err="1" smtClean="0"/>
              <a:t>Bitbucket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knumobile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lecturenote</a:t>
            </a:r>
            <a:r>
              <a:rPr lang="en-US" altLang="ko-KR" dirty="0" smtClean="0"/>
              <a:t>/downloads/</a:t>
            </a:r>
            <a:br>
              <a:rPr lang="en-US" altLang="ko-KR" dirty="0" smtClean="0"/>
            </a:br>
            <a:r>
              <a:rPr lang="ko-KR" altLang="en-US" dirty="0" smtClean="0"/>
              <a:t>각자 원하는 </a:t>
            </a:r>
            <a:r>
              <a:rPr lang="en-US" altLang="ko-KR" dirty="0" smtClean="0"/>
              <a:t>mp3 </a:t>
            </a:r>
            <a:r>
              <a:rPr lang="ko-KR" altLang="en-US" dirty="0" smtClean="0"/>
              <a:t>파일을 이용</a:t>
            </a:r>
            <a:r>
              <a:rPr lang="en-US" altLang="ko-KR" dirty="0" smtClean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실습을 위한 </a:t>
            </a:r>
            <a:r>
              <a:rPr lang="en-US" altLang="ko-KR" dirty="0" smtClean="0"/>
              <a:t>mp4 </a:t>
            </a:r>
            <a:r>
              <a:rPr lang="ko-KR" altLang="en-US" dirty="0" smtClean="0"/>
              <a:t>파일 </a:t>
            </a:r>
            <a:r>
              <a:rPr lang="en-US" altLang="ko-KR" dirty="0" err="1" smtClean="0"/>
              <a:t>bitbucket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제공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10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270" y="1675204"/>
            <a:ext cx="3554730" cy="518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5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Sound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32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Ex_Sound1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4333943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&lt;?xml version=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"1.0" encoding="utf-8"?&gt;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xmlns:android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"http://</a:t>
            </a:r>
            <a:r>
              <a:rPr lang="en-US" altLang="ko-K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sche...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android:orientation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"vertical"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fill_parent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fill_parent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"@+id/button1"</a:t>
            </a:r>
          </a:p>
          <a:p>
            <a:r>
              <a:rPr lang="en-US" altLang="ko-KR" sz="1600" dirty="0">
                <a:latin typeface="맑은 고딕"/>
              </a:rPr>
              <a:t>   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 smtClean="0">
                <a:solidFill>
                  <a:srgbClr val="2A00FF"/>
                </a:solidFill>
                <a:latin typeface="맑은 고딕"/>
              </a:rPr>
              <a:t>“Piano"</a:t>
            </a:r>
            <a:endParaRPr lang="en-US" altLang="ko-KR" sz="1600" i="1" dirty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startMP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600" dirty="0">
                <a:latin typeface="맑은 고딕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450" y="1462814"/>
            <a:ext cx="3042350" cy="473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7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906" y="2859580"/>
            <a:ext cx="3670372" cy="3555072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Sound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362" y="1167172"/>
            <a:ext cx="8229600" cy="4641492"/>
          </a:xfrm>
        </p:spPr>
        <p:txBody>
          <a:bodyPr/>
          <a:lstStyle/>
          <a:p>
            <a:r>
              <a:rPr lang="en-US" altLang="ko-KR" dirty="0" smtClean="0"/>
              <a:t>Raw </a:t>
            </a:r>
            <a:r>
              <a:rPr lang="ko-KR" altLang="en-US" dirty="0" smtClean="0"/>
              <a:t>리소스에 사운드 파일을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/res/raw/music.mp3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62" y="1946648"/>
            <a:ext cx="3639671" cy="1977459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411" y="3010139"/>
            <a:ext cx="2897283" cy="2007566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직사각형 5"/>
          <p:cNvSpPr/>
          <p:nvPr/>
        </p:nvSpPr>
        <p:spPr>
          <a:xfrm>
            <a:off x="2768849" y="2826351"/>
            <a:ext cx="1139763" cy="167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432237" y="3228787"/>
            <a:ext cx="1139763" cy="167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529978" y="5505823"/>
            <a:ext cx="1139763" cy="167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803578" y="25399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66966" y="29344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②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93107" y="52831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③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40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619120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Act1 extends Activity {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private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MediaPlayer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dirty="0" smtClean="0"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/** Called when the activity is first created. */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@Override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R.layout.main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dirty="0"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MediaPlayer.create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R.raw.music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endParaRPr lang="ko-KR" altLang="en-US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startMP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start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  <a:r>
              <a:rPr lang="ko-KR" altLang="en-US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endParaRPr lang="ko-KR" altLang="en-US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Ex_Sound1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40850" y="4419600"/>
            <a:ext cx="5721983" cy="342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1462100" y="5537200"/>
            <a:ext cx="2936283" cy="342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41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#02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Audio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85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새로운 프로젝트 시작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 Project</a:t>
            </a:r>
          </a:p>
          <a:p>
            <a:pPr lvl="1"/>
            <a:r>
              <a:rPr lang="en-US" altLang="ko-KR" dirty="0" smtClean="0"/>
              <a:t>Project name: Ex_Audio</a:t>
            </a:r>
          </a:p>
          <a:p>
            <a:pPr lvl="1"/>
            <a:r>
              <a:rPr lang="en-US" altLang="ko-KR" dirty="0" smtClean="0"/>
              <a:t>Build Target: Android 4.4</a:t>
            </a:r>
          </a:p>
          <a:p>
            <a:pPr lvl="1"/>
            <a:r>
              <a:rPr lang="en-US" altLang="ko-KR" dirty="0" smtClean="0"/>
              <a:t>Package name: </a:t>
            </a:r>
            <a:r>
              <a:rPr lang="en-US" altLang="ko-KR" dirty="0" err="1" smtClean="0"/>
              <a:t>vr.ex.Audio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Create Activity: Act1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 smtClean="0"/>
              <a:t>Ex1</a:t>
            </a:r>
            <a:r>
              <a:rPr lang="ko-KR" altLang="en-US" dirty="0" smtClean="0"/>
              <a:t>과 동일하게 </a:t>
            </a:r>
            <a:r>
              <a:rPr lang="en-US" altLang="ko-KR" dirty="0" smtClean="0"/>
              <a:t>raw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music.mp3 </a:t>
            </a:r>
            <a:r>
              <a:rPr lang="ko-KR" altLang="en-US" dirty="0" smtClean="0"/>
              <a:t>추가</a:t>
            </a:r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434" y="1504716"/>
            <a:ext cx="4410819" cy="315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5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Audio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32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4333943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/>
              </a:rPr>
              <a:t>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"@+id/button1"</a:t>
            </a:r>
          </a:p>
          <a:p>
            <a:r>
              <a:rPr lang="en-US" altLang="ko-KR" sz="1600" dirty="0">
                <a:latin typeface="맑은 고딕"/>
              </a:rPr>
              <a:t>   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600" i="1" dirty="0">
                <a:solidFill>
                  <a:srgbClr val="2A00FF"/>
                </a:solidFill>
                <a:latin typeface="맑은 고딕"/>
              </a:rPr>
              <a:t>재생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startMP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600" dirty="0">
                <a:latin typeface="맑은 고딕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"@+id/button2"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600" i="1" dirty="0">
                <a:solidFill>
                  <a:srgbClr val="2A00FF"/>
                </a:solidFill>
                <a:latin typeface="맑은 고딕"/>
              </a:rPr>
              <a:t>중지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stopMP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600" dirty="0">
                <a:latin typeface="맑은 고딕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/&gt;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752" y="1466292"/>
            <a:ext cx="3093029" cy="47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5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32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3805657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&lt;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Button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"@+id/button1"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ko-KR" alt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재생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startMP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&lt;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Button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"@+id/button2"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ko-KR" alt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중지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stopMP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"@+id/button3"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400" i="1" dirty="0" err="1">
                <a:solidFill>
                  <a:srgbClr val="2A00FF"/>
                </a:solidFill>
                <a:latin typeface="맑은 고딕"/>
              </a:rPr>
              <a:t>일시정지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pauseMP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751" y="1466291"/>
            <a:ext cx="2973319" cy="473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7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351270" cy="41857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Act1 extends Activity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private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MediaPlayer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/** Called when the activity is first created. */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@Override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R.layout.main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initMP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pPr lvl="0"/>
            <a:endParaRPr lang="en-US" altLang="ko-KR" sz="1400" dirty="0" smtClean="0">
              <a:solidFill>
                <a:srgbClr val="646464"/>
              </a:solidFill>
              <a:latin typeface="돋움체"/>
              <a:ea typeface="돋움체"/>
            </a:endParaRPr>
          </a:p>
          <a:p>
            <a:pPr lvl="0"/>
            <a:r>
              <a:rPr lang="en-US" altLang="ko-KR" sz="1400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sz="14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pPr lvl="0"/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onDestroy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pPr lvl="0"/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        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!=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pPr lvl="0"/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.release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pPr lvl="0"/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pPr lvl="0"/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.onDestroy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pPr lvl="0"/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2506133" y="423333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399328" y="5592356"/>
            <a:ext cx="1972166" cy="283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28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926491"/>
            <a:ext cx="6288901" cy="24622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initMP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MediaPlayer.create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(this,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R.raw.music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}</a:t>
            </a:r>
          </a:p>
          <a:p>
            <a:endParaRPr lang="ko-KR" altLang="en-US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startMP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.start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b="1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400" b="1" dirty="0">
                <a:solidFill>
                  <a:srgbClr val="0000C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smtClean="0">
                <a:solidFill>
                  <a:srgbClr val="0000C0"/>
                </a:solidFill>
                <a:latin typeface="돋움체"/>
                <a:ea typeface="돋움체"/>
              </a:rPr>
              <a:t>       </a:t>
            </a:r>
            <a:r>
              <a:rPr lang="en-US" altLang="ko-KR" sz="1400" b="1" dirty="0" err="1" smtClean="0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.setLooping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b="1" dirty="0" smtClean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44646" y="2134155"/>
            <a:ext cx="4418245" cy="319774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1444646" y="3056681"/>
            <a:ext cx="3221996" cy="234205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862891" y="213415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생</a:t>
            </a:r>
            <a:r>
              <a:rPr lang="ko-KR" altLang="en-US" dirty="0"/>
              <a:t>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203" y="29506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재생</a:t>
            </a:r>
            <a:endParaRPr lang="ko-KR" altLang="en-US" dirty="0"/>
          </a:p>
        </p:txBody>
      </p:sp>
      <p:sp>
        <p:nvSpPr>
          <p:cNvPr id="15" name="Rectangle 10"/>
          <p:cNvSpPr/>
          <p:nvPr/>
        </p:nvSpPr>
        <p:spPr>
          <a:xfrm>
            <a:off x="1444646" y="3479627"/>
            <a:ext cx="3221996" cy="234205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666643" y="3412063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반복재생 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942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926491"/>
            <a:ext cx="6400800" cy="32932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pauseMP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.isPlaying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pause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}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start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stopMP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stop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initMP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023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진행률 막대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32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4607864" cy="41857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Button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"@+id/button3"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ko-KR" altLang="en-US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일시정지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pauseMP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rgbClr val="3F7F7F"/>
                </a:solidFill>
                <a:latin typeface="맑은 고딕"/>
              </a:rPr>
              <a:t>ProgressBar</a:t>
            </a:r>
            <a:endParaRPr lang="en-US" altLang="ko-KR" sz="14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"@+id/progressBar1"</a:t>
            </a:r>
          </a:p>
          <a:p>
            <a:r>
              <a:rPr lang="en-US" altLang="ko-KR" sz="1400" dirty="0">
                <a:latin typeface="맑은 고딕"/>
              </a:rPr>
              <a:t>    </a:t>
            </a:r>
            <a:r>
              <a:rPr lang="en-US" altLang="ko-KR" sz="1400" dirty="0" smtClean="0">
                <a:latin typeface="맑은 고딕"/>
              </a:rPr>
              <a:t>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7F007F"/>
                </a:solidFill>
                <a:latin typeface="맑은 고딕"/>
              </a:rPr>
              <a:t>style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"?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android:attr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/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progressBarStyleHorizontal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 smtClean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rgbClr val="3F7F7F"/>
                </a:solidFill>
                <a:latin typeface="맑은 고딕"/>
              </a:rPr>
              <a:t>TextView</a:t>
            </a:r>
            <a:endParaRPr lang="en-US" altLang="ko-KR" sz="14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"@+id/textView1"</a:t>
            </a:r>
          </a:p>
          <a:p>
            <a:r>
              <a:rPr lang="en-US" altLang="ko-KR" sz="1400" dirty="0">
                <a:latin typeface="맑은 고딕"/>
              </a:rPr>
              <a:t>    </a:t>
            </a:r>
            <a:r>
              <a:rPr lang="en-US" altLang="ko-KR" sz="1400" dirty="0" smtClean="0">
                <a:latin typeface="맑은 고딕"/>
              </a:rPr>
              <a:t>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400" i="1" dirty="0">
                <a:solidFill>
                  <a:srgbClr val="2A00FF"/>
                </a:solidFill>
                <a:latin typeface="맑은 고딕"/>
              </a:rPr>
              <a:t>음악 재생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latin typeface="맑은 고딕"/>
              </a:rPr>
              <a:t>    </a:t>
            </a:r>
            <a:r>
              <a:rPr lang="ko-KR" altLang="en-US" sz="1400" dirty="0" smtClean="0">
                <a:latin typeface="맑은 고딕"/>
              </a:rPr>
              <a:t>    </a:t>
            </a:r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/&gt;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054" y="1516888"/>
            <a:ext cx="2948746" cy="463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0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97230" y="1926491"/>
            <a:ext cx="7978140" cy="378565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Act1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Activity </a:t>
            </a:r>
            <a:r>
              <a:rPr lang="en-US" altLang="ko-KR" sz="1600" b="1" dirty="0">
                <a:solidFill>
                  <a:srgbClr val="7F0055"/>
                </a:solidFill>
                <a:latin typeface="돋움체"/>
                <a:ea typeface="돋움체"/>
              </a:rPr>
              <a:t>implements</a:t>
            </a:r>
            <a:r>
              <a:rPr lang="en-US" altLang="ko-KR" sz="1600" b="1" dirty="0">
                <a:solidFill>
                  <a:srgbClr val="000000"/>
                </a:solidFill>
                <a:latin typeface="돋움체"/>
                <a:ea typeface="돋움체"/>
              </a:rPr>
              <a:t> Runnable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MediaPlayer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null;</a:t>
            </a:r>
          </a:p>
          <a:p>
            <a:endParaRPr lang="en-US" altLang="ko-KR" sz="1600" dirty="0" smtClean="0">
              <a:solidFill>
                <a:srgbClr val="7F0055"/>
              </a:solidFill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private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ProgressBar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mProgress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…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showProgress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    if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!=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&amp;&amp;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.isPlaying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600" dirty="0" smtClean="0">
                <a:solidFill>
                  <a:srgbClr val="0000C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mProgress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.setProgress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.getCurrentPosition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TextView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output = 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TextView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600" dirty="0">
                <a:solidFill>
                  <a:srgbClr val="0000C0"/>
                </a:solidFill>
                <a:latin typeface="돋움체"/>
                <a:ea typeface="돋움체"/>
              </a:rPr>
              <a:t>textView1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output.setText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600" dirty="0" smtClean="0">
                <a:solidFill>
                  <a:srgbClr val="2A00FF"/>
                </a:solidFill>
                <a:latin typeface="돋움체"/>
                <a:ea typeface="돋움체"/>
              </a:rPr>
              <a:t>                    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재생 중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+ 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"\n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현재 위치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: "</a:t>
            </a:r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+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.getCurrentPosition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 / 1000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+ 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"\n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전체 길이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: "</a:t>
            </a:r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+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.getDuration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 / 1000 );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89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97230" y="1926491"/>
            <a:ext cx="7978140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Class </a:t>
            </a:r>
            <a:r>
              <a:rPr lang="en-US" altLang="ko-KR" sz="1400" dirty="0" err="1" smtClean="0">
                <a:solidFill>
                  <a:schemeClr val="tx1"/>
                </a:solidFill>
                <a:latin typeface="돋움체"/>
                <a:ea typeface="돋움체"/>
              </a:rPr>
              <a:t>ProThread</a:t>
            </a:r>
            <a:r>
              <a:rPr lang="en-US" altLang="ko-KR" sz="1400" dirty="0" smtClean="0">
                <a:solidFill>
                  <a:schemeClr val="tx1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extends </a:t>
            </a:r>
            <a:r>
              <a:rPr lang="en-US" altLang="ko-KR" sz="1400" dirty="0" smtClean="0">
                <a:solidFill>
                  <a:schemeClr val="tx1"/>
                </a:solidFill>
                <a:latin typeface="돋움체"/>
                <a:ea typeface="돋움체"/>
              </a:rPr>
              <a:t>Thread{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Handler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mHandler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Handler() {</a:t>
            </a:r>
          </a:p>
          <a:p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handleMessage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(Message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            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msg.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what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== 1)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showProgress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};</a:t>
            </a:r>
          </a:p>
          <a:p>
            <a:endParaRPr lang="en-US" altLang="ko-KR" sz="1400" dirty="0" smtClean="0">
              <a:solidFill>
                <a:srgbClr val="646464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run()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while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!=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try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Thread.sleep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(500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catch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InterruptedException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e)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e.printStackTrace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    break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mHandler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.sendMessage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Message.obtain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mHandler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1));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400" dirty="0" smtClean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4686300" y="3755114"/>
            <a:ext cx="4606289" cy="772613"/>
          </a:xfrm>
          <a:prstGeom prst="horizontalScroll">
            <a:avLst>
              <a:gd name="adj" fmla="val 1511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 smtClean="0"/>
              <a:t>쓰레드와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핸들러를</a:t>
            </a:r>
            <a:r>
              <a:rPr lang="ko-KR" altLang="en-US" dirty="0" smtClean="0"/>
              <a:t> 활용하여 화면을 갱신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179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97230" y="1926491"/>
            <a:ext cx="7978140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initMP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mPlayer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=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MediaPlayer.create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(this,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R.raw.music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  <a:endParaRPr lang="en-US" altLang="ko-K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endParaRPr lang="en-US" altLang="ko-KR" sz="1600" dirty="0" smtClean="0">
              <a:solidFill>
                <a:srgbClr val="0000C0"/>
              </a:solidFill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C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smtClean="0">
                <a:solidFill>
                  <a:srgbClr val="0000C0"/>
                </a:solidFill>
                <a:latin typeface="돋움체"/>
                <a:ea typeface="돋움체"/>
              </a:rPr>
              <a:t>       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mProgress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= 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ProgressBar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600" dirty="0">
                <a:solidFill>
                  <a:srgbClr val="0000C0"/>
                </a:solidFill>
                <a:latin typeface="돋움체"/>
                <a:ea typeface="돋움체"/>
              </a:rPr>
              <a:t>progressBar1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mProgress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.setProgress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mProgress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.setMax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ProThread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thrd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ProThread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thrd.setDaemon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thrd.start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endParaRPr lang="ko-KR" altLang="en-US" sz="1600" dirty="0">
              <a:latin typeface="돋움체"/>
              <a:ea typeface="돋움체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82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97230" y="1926491"/>
            <a:ext cx="7978140" cy="3108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startMP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</a:t>
            </a:r>
            <a:endParaRPr lang="ko-KR" altLang="en-US" sz="14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Button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btn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btn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= (Button)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button1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 // </a:t>
            </a:r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각 버튼의 </a:t>
            </a:r>
            <a:r>
              <a:rPr lang="ko-KR" altLang="en-US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상황별</a:t>
            </a:r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Enable </a:t>
            </a:r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결정</a:t>
            </a:r>
            <a:endParaRPr lang="en-US" altLang="ko-KR" sz="14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btn.setEnabled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btn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= (Button)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button2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btn.setEnabled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 smtClean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mProgress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.setProgress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mProgress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.setMax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mPlayer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.getDuration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mPlayer.setLooping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(true);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mPlayer.start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endParaRPr lang="en-US" altLang="ko-K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67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MediaPlayer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Ex_Audio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926491"/>
            <a:ext cx="7978140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pauseMP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if (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mPlayer.isPlaying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mPlayer.pause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TextView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output = 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TextView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textView1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output.setText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 err="1" smtClean="0">
                <a:solidFill>
                  <a:srgbClr val="2A00FF"/>
                </a:solidFill>
                <a:latin typeface="돋움체"/>
                <a:ea typeface="돋움체"/>
              </a:rPr>
              <a:t>일시정지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} else {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mPlayer.start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200" dirty="0" smtClean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stopMP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mPlayer.stop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initMP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Button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btn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btn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= (Button)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button1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btn.setEnabled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btn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= (Button)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button2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btn.setEnabled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200" dirty="0" smtClean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mProgress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.setProgress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mProgress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.setMax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TextView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output = 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TextView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textView1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output.setText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 smtClean="0">
                <a:solidFill>
                  <a:srgbClr val="2A00FF"/>
                </a:solidFill>
                <a:latin typeface="돋움체"/>
                <a:ea typeface="돋움체"/>
              </a:rPr>
              <a:t>중지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287550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#03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Video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82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SurfaceView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Surface</a:t>
            </a:r>
          </a:p>
          <a:p>
            <a:pPr lvl="1"/>
            <a:r>
              <a:rPr lang="en-US" altLang="ko-KR" dirty="0" err="1" smtClean="0"/>
              <a:t>SurfaceView</a:t>
            </a:r>
            <a:r>
              <a:rPr lang="ko-KR" altLang="en-US" dirty="0"/>
              <a:t>는 </a:t>
            </a:r>
            <a:r>
              <a:rPr lang="en-US" altLang="ko-KR" dirty="0" err="1"/>
              <a:t>SurfaceView</a:t>
            </a:r>
            <a:r>
              <a:rPr lang="en-US" altLang="ko-KR" dirty="0"/>
              <a:t> </a:t>
            </a:r>
            <a:r>
              <a:rPr lang="ko-KR" altLang="en-US" dirty="0"/>
              <a:t>자체가 내용을 표시하는 것이 아니라 내부의 </a:t>
            </a:r>
            <a:r>
              <a:rPr lang="en-US" altLang="ko-KR" dirty="0" err="1"/>
              <a:t>SurfaceHolder</a:t>
            </a:r>
            <a:r>
              <a:rPr lang="ko-KR" altLang="en-US" dirty="0"/>
              <a:t>를 </a:t>
            </a:r>
            <a:r>
              <a:rPr lang="ko-KR" altLang="en-US" dirty="0" smtClean="0"/>
              <a:t>통해 최종적으로 </a:t>
            </a:r>
            <a:r>
              <a:rPr lang="en-US" altLang="ko-KR" dirty="0"/>
              <a:t>Surface</a:t>
            </a:r>
            <a:r>
              <a:rPr lang="ko-KR" altLang="en-US" dirty="0"/>
              <a:t>라는 </a:t>
            </a:r>
            <a:r>
              <a:rPr lang="ko-KR" altLang="en-US" dirty="0" smtClean="0"/>
              <a:t>객체 위에 </a:t>
            </a:r>
            <a:r>
              <a:rPr lang="ko-KR" altLang="en-US" dirty="0"/>
              <a:t>그 내용을 표시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2058624" y="2598046"/>
            <a:ext cx="5026752" cy="3934704"/>
            <a:chOff x="1523999" y="1366345"/>
            <a:chExt cx="6337738" cy="4960882"/>
          </a:xfrm>
        </p:grpSpPr>
        <p:sp>
          <p:nvSpPr>
            <p:cNvPr id="5" name="직사각형 4"/>
            <p:cNvSpPr/>
            <p:nvPr/>
          </p:nvSpPr>
          <p:spPr>
            <a:xfrm>
              <a:off x="1523999" y="1629103"/>
              <a:ext cx="6337738" cy="33422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834055" y="2049517"/>
              <a:ext cx="5717627" cy="22492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Surface</a:t>
              </a:r>
              <a:endParaRPr lang="ko-KR" altLang="en-US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834055" y="4532586"/>
              <a:ext cx="5717627" cy="8776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 smtClean="0"/>
                <a:t>SurfaceHolder</a:t>
              </a:r>
              <a:endParaRPr lang="ko-KR" altLang="en-US" dirty="0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2774730" y="1366345"/>
              <a:ext cx="3836276" cy="504496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 smtClean="0"/>
                <a:t>SurfaceView</a:t>
              </a:r>
              <a:endParaRPr lang="ko-KR" altLang="en-US" dirty="0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2235248" y="5680840"/>
              <a:ext cx="4915240" cy="646387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Image or Video</a:t>
              </a:r>
              <a:endParaRPr lang="ko-KR" altLang="en-US" dirty="0"/>
            </a:p>
          </p:txBody>
        </p:sp>
        <p:grpSp>
          <p:nvGrpSpPr>
            <p:cNvPr id="13" name="그룹 12"/>
            <p:cNvGrpSpPr/>
            <p:nvPr/>
          </p:nvGrpSpPr>
          <p:grpSpPr>
            <a:xfrm>
              <a:off x="3555123" y="4056992"/>
              <a:ext cx="2275491" cy="1702677"/>
              <a:chOff x="3767957" y="4056992"/>
              <a:chExt cx="2275491" cy="1702677"/>
            </a:xfrm>
          </p:grpSpPr>
          <p:sp>
            <p:nvSpPr>
              <p:cNvPr id="10" name="위쪽 화살표 9"/>
              <p:cNvSpPr/>
              <p:nvPr/>
            </p:nvSpPr>
            <p:spPr>
              <a:xfrm>
                <a:off x="4443247" y="5181600"/>
                <a:ext cx="924911" cy="578069"/>
              </a:xfrm>
              <a:prstGeom prst="up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위쪽 화살표 10"/>
              <p:cNvSpPr/>
              <p:nvPr/>
            </p:nvSpPr>
            <p:spPr>
              <a:xfrm>
                <a:off x="5118537" y="4056992"/>
                <a:ext cx="924911" cy="578069"/>
              </a:xfrm>
              <a:prstGeom prst="up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위쪽 화살표 11"/>
              <p:cNvSpPr/>
              <p:nvPr/>
            </p:nvSpPr>
            <p:spPr>
              <a:xfrm flipV="1">
                <a:off x="3767957" y="4056992"/>
                <a:ext cx="924911" cy="578069"/>
              </a:xfrm>
              <a:prstGeom prst="up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173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새로운 프로젝트 시작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 Project</a:t>
            </a:r>
          </a:p>
          <a:p>
            <a:pPr lvl="1"/>
            <a:r>
              <a:rPr lang="en-US" altLang="ko-KR" dirty="0"/>
              <a:t>Application name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Ex_Video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Build Target: Android 4.4</a:t>
            </a:r>
          </a:p>
          <a:p>
            <a:pPr lvl="1"/>
            <a:r>
              <a:rPr lang="en-US" altLang="ko-KR" dirty="0" smtClean="0"/>
              <a:t>Package name: </a:t>
            </a:r>
            <a:r>
              <a:rPr lang="en-US" altLang="ko-KR" dirty="0" err="1" smtClean="0"/>
              <a:t>vr.ex.video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Create Activity: Act1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29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158" y="1484672"/>
            <a:ext cx="3463102" cy="504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0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Video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32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Ex_Video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4341445" cy="47705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/>
              </a:rPr>
              <a:t>   </a:t>
            </a:r>
            <a:r>
              <a:rPr lang="en-US" altLang="ko-KR" sz="1600" dirty="0" smtClean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"@+id/button1"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600" i="1" dirty="0">
                <a:solidFill>
                  <a:srgbClr val="2A00FF"/>
                </a:solidFill>
                <a:latin typeface="맑은 고딕"/>
              </a:rPr>
              <a:t>재생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startMP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600" dirty="0">
                <a:latin typeface="맑은 고딕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"@+id/button2"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600" i="1" dirty="0">
                <a:solidFill>
                  <a:srgbClr val="2A00FF"/>
                </a:solidFill>
                <a:latin typeface="맑은 고딕"/>
              </a:rPr>
              <a:t>중지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stopMP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600" dirty="0">
                <a:latin typeface="맑은 고딕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 err="1">
                <a:solidFill>
                  <a:srgbClr val="3F7F7F"/>
                </a:solidFill>
                <a:latin typeface="맑은 고딕"/>
              </a:rPr>
              <a:t>SurfaceView</a:t>
            </a:r>
            <a:endParaRPr lang="en-US" altLang="ko-KR" sz="16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600" dirty="0">
                <a:latin typeface="맑은 고딕"/>
              </a:rPr>
              <a:t>       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"@+id/surfaceView1"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latin typeface="맑은 고딕"/>
              </a:rPr>
              <a:t>       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600" dirty="0">
                <a:latin typeface="맑은 고딕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/&gt;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245" y="1926491"/>
            <a:ext cx="2983460" cy="476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78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Video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3720" y="1052872"/>
            <a:ext cx="8229600" cy="5322528"/>
          </a:xfrm>
        </p:spPr>
        <p:txBody>
          <a:bodyPr/>
          <a:lstStyle/>
          <a:p>
            <a:r>
              <a:rPr lang="en-US" altLang="ko-KR" dirty="0" smtClean="0"/>
              <a:t>SD</a:t>
            </a:r>
            <a:r>
              <a:rPr lang="ko-KR" altLang="en-US" dirty="0" smtClean="0"/>
              <a:t>카드에 영</a:t>
            </a:r>
            <a:r>
              <a:rPr lang="ko-KR" altLang="en-US" dirty="0"/>
              <a:t>상</a:t>
            </a:r>
            <a:r>
              <a:rPr lang="ko-KR" altLang="en-US" dirty="0" smtClean="0"/>
              <a:t> 파일을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DDMS</a:t>
            </a:r>
            <a:r>
              <a:rPr lang="ko-KR" altLang="en-US" dirty="0" smtClean="0"/>
              <a:t>에서 기기로 </a:t>
            </a:r>
            <a:r>
              <a:rPr lang="en-US" altLang="ko-KR" dirty="0" smtClean="0"/>
              <a:t>Push</a:t>
            </a:r>
          </a:p>
          <a:p>
            <a:pPr lvl="1"/>
            <a:r>
              <a:rPr lang="en-US" altLang="ko-KR" dirty="0" smtClean="0"/>
              <a:t>API 23</a:t>
            </a:r>
            <a:r>
              <a:rPr lang="ko-KR" altLang="en-US" dirty="0" smtClean="0"/>
              <a:t>이하 버전을 이용 </a:t>
            </a:r>
            <a:r>
              <a:rPr lang="en-US" altLang="ko-KR" dirty="0" smtClean="0"/>
              <a:t>(api24 DDMS</a:t>
            </a:r>
            <a:r>
              <a:rPr lang="en-US" altLang="ko-KR" dirty="0"/>
              <a:t> </a:t>
            </a:r>
            <a:r>
              <a:rPr lang="ko-KR" altLang="en-US" dirty="0" err="1" smtClean="0"/>
              <a:t>미작동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 smtClean="0"/>
              <a:t>Manifest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permission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13625" y="6130727"/>
            <a:ext cx="8129790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uses-permission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android:name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dirty="0" err="1" smtClean="0">
                <a:solidFill>
                  <a:srgbClr val="2A00FF"/>
                </a:solidFill>
                <a:latin typeface="맑은 고딕"/>
              </a:rPr>
              <a:t>android.permission.READ_EXTERNAL_STORAGE</a:t>
            </a:r>
            <a:r>
              <a:rPr lang="en-US" altLang="ko-KR" sz="1600" dirty="0">
                <a:solidFill>
                  <a:srgbClr val="2A00FF"/>
                </a:solidFill>
                <a:latin typeface="맑은 고딕"/>
              </a:rPr>
              <a:t>" </a:t>
            </a:r>
            <a:r>
              <a:rPr lang="en-US" altLang="ko-KR" sz="1600" dirty="0" smtClean="0">
                <a:solidFill>
                  <a:srgbClr val="008080"/>
                </a:solidFill>
                <a:latin typeface="맑은 고딕"/>
              </a:rPr>
              <a:t>/&gt;</a:t>
            </a:r>
            <a:endParaRPr lang="en-US" altLang="ko-KR" sz="1600" dirty="0">
              <a:solidFill>
                <a:srgbClr val="008080"/>
              </a:solidFill>
              <a:latin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82" y="2117519"/>
            <a:ext cx="54006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7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Video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29" y="1926491"/>
            <a:ext cx="7645687" cy="41668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0">
              <a:lnSpc>
                <a:spcPct val="115000"/>
              </a:lnSpc>
            </a:pP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public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class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Act1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extends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Activity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latin typeface="Consolas"/>
                <a:cs typeface="Times New Roman"/>
              </a:rPr>
              <a:t> 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private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MediaPlayer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null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private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SurfaceView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private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SurfaceHolder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mHolder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private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String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mSdPath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Environment.</a:t>
            </a:r>
            <a:r>
              <a:rPr lang="en-US" altLang="ko-KR" sz="1100" i="1" kern="0" dirty="0" err="1">
                <a:solidFill>
                  <a:srgbClr val="000000"/>
                </a:solidFill>
                <a:latin typeface="Consolas"/>
                <a:cs typeface="Times New Roman"/>
              </a:rPr>
              <a:t>getExternalStorageDirectory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.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getAbsolutePath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private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String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mVideoFile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100" kern="0" dirty="0">
                <a:solidFill>
                  <a:srgbClr val="2A00FF"/>
                </a:solidFill>
                <a:latin typeface="Consolas"/>
                <a:cs typeface="Times New Roman"/>
              </a:rPr>
              <a:t>"test.mp4"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latin typeface="Consolas"/>
                <a:cs typeface="Times New Roman"/>
              </a:rPr>
              <a:t> 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kern="0" dirty="0">
                <a:solidFill>
                  <a:srgbClr val="3F5FBF"/>
                </a:solidFill>
                <a:latin typeface="Consolas"/>
                <a:cs typeface="Times New Roman"/>
              </a:rPr>
              <a:t>/** Called when the activity is first created. */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kern="0" dirty="0">
                <a:solidFill>
                  <a:srgbClr val="646464"/>
                </a:solidFill>
                <a:latin typeface="Consolas"/>
                <a:cs typeface="Times New Roman"/>
              </a:rPr>
              <a:t>@Override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public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void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onCreate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(Bundle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savedInstanceState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b="1" kern="0" dirty="0" err="1">
                <a:solidFill>
                  <a:srgbClr val="7F0055"/>
                </a:solidFill>
                <a:latin typeface="Consolas"/>
                <a:cs typeface="Times New Roman"/>
              </a:rPr>
              <a:t>super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.onCreate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savedInstanceState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 smtClean="0">
                <a:solidFill>
                  <a:srgbClr val="000000"/>
                </a:solidFill>
                <a:latin typeface="Consolas"/>
                <a:cs typeface="Times New Roman"/>
              </a:rPr>
              <a:t>setContentView</a:t>
            </a: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(R.layout.</a:t>
            </a:r>
            <a:r>
              <a:rPr lang="en-US" altLang="ko-KR" sz="1100" i="1" kern="0" dirty="0" smtClean="0">
                <a:solidFill>
                  <a:srgbClr val="0000C0"/>
                </a:solidFill>
                <a:latin typeface="Consolas"/>
                <a:cs typeface="Times New Roman"/>
              </a:rPr>
              <a:t>activity_act1</a:t>
            </a: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latin typeface="Consolas"/>
                <a:cs typeface="Times New Roman"/>
              </a:rPr>
              <a:t> 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(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SurfaceView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findViewById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(R.id.</a:t>
            </a:r>
            <a:r>
              <a:rPr lang="en-US" altLang="ko-KR" sz="1100" i="1" kern="0" dirty="0">
                <a:solidFill>
                  <a:srgbClr val="0000C0"/>
                </a:solidFill>
                <a:latin typeface="Consolas"/>
                <a:cs typeface="Times New Roman"/>
              </a:rPr>
              <a:t>surfaceView1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mHolder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mView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.getHolder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mHolder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.setType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SurfaceHolder.</a:t>
            </a:r>
            <a:r>
              <a:rPr lang="en-US" altLang="ko-KR" sz="1100" i="1" kern="0" dirty="0" err="1">
                <a:solidFill>
                  <a:srgbClr val="0000C0"/>
                </a:solidFill>
                <a:latin typeface="Consolas"/>
                <a:cs typeface="Times New Roman"/>
              </a:rPr>
              <a:t>SURFACE_TYPE_PUSH_BUFFERS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new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MediaPlayer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//</a:t>
            </a:r>
            <a:r>
              <a:rPr lang="en-US" altLang="ko-KR" sz="1100" kern="0" dirty="0" err="1" smtClean="0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 err="1" smtClean="0">
                <a:solidFill>
                  <a:srgbClr val="000000"/>
                </a:solidFill>
                <a:latin typeface="Consolas"/>
                <a:cs typeface="Times New Roman"/>
              </a:rPr>
              <a:t>.setDisplay</a:t>
            </a: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 err="1" smtClean="0">
                <a:solidFill>
                  <a:srgbClr val="0000C0"/>
                </a:solidFill>
                <a:latin typeface="Consolas"/>
                <a:cs typeface="Times New Roman"/>
              </a:rPr>
              <a:t>mHolder</a:t>
            </a: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 smtClean="0">
              <a:latin typeface="맑은 고딕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	}</a:t>
            </a:r>
            <a:endParaRPr lang="ko-KR" altLang="ko-KR" sz="1100" kern="100" dirty="0">
              <a:latin typeface="맑은 고딕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Ex_Video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43829" y="5070848"/>
            <a:ext cx="4466571" cy="821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50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Video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715600" cy="47643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protected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void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onDestroy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if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(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!=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null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.release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null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}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b="1" kern="0" dirty="0" err="1">
                <a:solidFill>
                  <a:srgbClr val="7F0055"/>
                </a:solidFill>
                <a:latin typeface="Consolas"/>
                <a:cs typeface="Times New Roman"/>
              </a:rPr>
              <a:t>super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.onDestroy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}</a:t>
            </a:r>
            <a:r>
              <a:rPr lang="en-US" altLang="ko-KR" sz="1100" kern="0" dirty="0">
                <a:latin typeface="Consolas"/>
                <a:cs typeface="Times New Roman"/>
              </a:rPr>
              <a:t> 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public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void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startMP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(View v)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try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.setDataSource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mSdPath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+ </a:t>
            </a:r>
            <a:r>
              <a:rPr lang="en-US" altLang="ko-KR" sz="1100" kern="0" dirty="0">
                <a:solidFill>
                  <a:srgbClr val="2A00FF"/>
                </a:solidFill>
                <a:latin typeface="Consolas"/>
                <a:cs typeface="Times New Roman"/>
              </a:rPr>
              <a:t>"/"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+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mVideoFile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	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.setDisplay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mHolder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 smtClean="0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 err="1" smtClean="0">
                <a:solidFill>
                  <a:srgbClr val="000000"/>
                </a:solidFill>
                <a:latin typeface="Consolas"/>
                <a:cs typeface="Times New Roman"/>
              </a:rPr>
              <a:t>.prepare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}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catch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(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IOException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e)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e.printStackTrace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return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}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.setLooping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true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.start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}</a:t>
            </a:r>
            <a:r>
              <a:rPr lang="en-US" altLang="ko-KR" sz="1100" kern="0" dirty="0">
                <a:latin typeface="Consolas"/>
                <a:cs typeface="Times New Roman"/>
              </a:rPr>
              <a:t> 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public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void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stopMP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(View v)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.stop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mPlayer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.reset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}</a:t>
            </a:r>
            <a:r>
              <a:rPr lang="en-US" altLang="ko-KR" sz="1100" kern="0" dirty="0">
                <a:latin typeface="Consolas"/>
                <a:cs typeface="Times New Roman"/>
              </a:rPr>
              <a:t> 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}</a:t>
            </a:r>
            <a:endParaRPr lang="ko-KR" altLang="ko-KR" sz="1100" kern="100" dirty="0">
              <a:latin typeface="맑은 고딕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Ex_Video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07098" y="3686547"/>
            <a:ext cx="4022401" cy="6221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2590027" y="5056374"/>
            <a:ext cx="2164853" cy="402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2543829" y="5856474"/>
            <a:ext cx="2211051" cy="402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3407098" y="2365748"/>
            <a:ext cx="4022401" cy="402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94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Video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484672"/>
            <a:ext cx="4743450" cy="4641492"/>
          </a:xfrm>
        </p:spPr>
        <p:txBody>
          <a:bodyPr/>
          <a:lstStyle/>
          <a:p>
            <a:pPr lvl="1"/>
            <a:endParaRPr lang="en-US" altLang="ko-KR" dirty="0"/>
          </a:p>
          <a:p>
            <a:r>
              <a:rPr lang="en-US" altLang="ko-KR" dirty="0" smtClean="0"/>
              <a:t>Device</a:t>
            </a:r>
            <a:r>
              <a:rPr lang="ko-KR" altLang="en-US" dirty="0" smtClean="0"/>
              <a:t>에서 실행된 화면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490" y="1686285"/>
            <a:ext cx="3149903" cy="503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0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VideoView</a:t>
            </a:r>
            <a:r>
              <a:rPr lang="en-US" altLang="ko-KR" dirty="0" smtClean="0"/>
              <a:t> Class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대상지정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setVideoPath</a:t>
            </a:r>
            <a:r>
              <a:rPr lang="en-US" altLang="ko-KR" dirty="0" smtClean="0"/>
              <a:t> (String path)</a:t>
            </a:r>
          </a:p>
          <a:p>
            <a:pPr lvl="1"/>
            <a:r>
              <a:rPr lang="en-US" altLang="ko-KR" dirty="0"/>
              <a:t>void </a:t>
            </a:r>
            <a:r>
              <a:rPr lang="en-US" altLang="ko-KR" dirty="0" err="1" smtClean="0"/>
              <a:t>setVideoURI</a:t>
            </a:r>
            <a:r>
              <a:rPr lang="en-US" altLang="ko-KR" dirty="0" smtClean="0"/>
              <a:t> (Uri </a:t>
            </a:r>
            <a:r>
              <a:rPr lang="en-US" altLang="ko-KR" dirty="0" err="1" smtClean="0"/>
              <a:t>uri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재생 및 중지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start ( )</a:t>
            </a:r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stopPlayback</a:t>
            </a:r>
            <a:r>
              <a:rPr lang="en-US" altLang="ko-KR" dirty="0" smtClean="0"/>
              <a:t> ( )</a:t>
            </a:r>
          </a:p>
          <a:p>
            <a:pPr lvl="1"/>
            <a:r>
              <a:rPr lang="en-US" altLang="ko-KR" dirty="0" smtClean="0"/>
              <a:t>void pause ( )</a:t>
            </a:r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seekTo</a:t>
            </a:r>
            <a:r>
              <a:rPr lang="en-US" altLang="ko-KR" dirty="0" smtClean="0"/>
              <a:t> 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msec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r>
              <a:rPr lang="en-US" altLang="ko-KR" dirty="0" err="1" smtClean="0"/>
              <a:t>MediaController</a:t>
            </a:r>
            <a:r>
              <a:rPr lang="en-US" altLang="ko-KR" dirty="0" smtClean="0"/>
              <a:t> Class</a:t>
            </a:r>
          </a:p>
          <a:p>
            <a:pPr lvl="1"/>
            <a:r>
              <a:rPr lang="ko-KR" altLang="en-US" dirty="0" smtClean="0"/>
              <a:t>동영상 재생관련 버튼과 재생 위치를 나타내는 프로그래스바 제공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new </a:t>
            </a:r>
            <a:r>
              <a:rPr lang="ko-KR" altLang="en-US" dirty="0" smtClean="0"/>
              <a:t>연산자로 생성하여 </a:t>
            </a:r>
            <a:r>
              <a:rPr lang="en-US" altLang="ko-KR" dirty="0" err="1" smtClean="0"/>
              <a:t>VideoView</a:t>
            </a:r>
            <a:r>
              <a:rPr lang="ko-KR" altLang="en-US" dirty="0" smtClean="0"/>
              <a:t>에 부착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setMediaController</a:t>
            </a:r>
            <a:r>
              <a:rPr lang="en-US" altLang="ko-KR" dirty="0" smtClean="0"/>
              <a:t> (</a:t>
            </a:r>
            <a:r>
              <a:rPr lang="en-US" altLang="ko-KR" dirty="0" err="1" smtClean="0"/>
              <a:t>MediaController</a:t>
            </a:r>
            <a:r>
              <a:rPr lang="en-US" altLang="ko-KR" dirty="0" smtClean="0"/>
              <a:t> controller)</a:t>
            </a:r>
          </a:p>
          <a:p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16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새로운 프로젝트 시작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 Project</a:t>
            </a:r>
          </a:p>
          <a:p>
            <a:pPr lvl="1"/>
            <a:r>
              <a:rPr lang="en-US" altLang="ko-KR" dirty="0"/>
              <a:t>Application name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Ex_VideoView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Build Target: Android 4.4</a:t>
            </a:r>
          </a:p>
          <a:p>
            <a:pPr lvl="1"/>
            <a:r>
              <a:rPr lang="en-US" altLang="ko-KR" dirty="0" smtClean="0"/>
              <a:t>Package name: </a:t>
            </a:r>
            <a:r>
              <a:rPr lang="en-US" altLang="ko-KR" dirty="0" err="1" smtClean="0"/>
              <a:t>vr.ex.videoview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Create Activity: Act1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462" y="1484672"/>
            <a:ext cx="3095968" cy="451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143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VideoView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32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Ex_Videoview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28" y="1926491"/>
            <a:ext cx="6647974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&lt;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LinearLayout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android:orientation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="vertical"</a:t>
            </a: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android:layout_width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="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match_parent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"</a:t>
            </a: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android:layout_height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="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match_parent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"</a:t>
            </a: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xmlns:android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="http://schemas.android.com/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apk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/res/android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"&gt;</a:t>
            </a:r>
          </a:p>
          <a:p>
            <a:endParaRPr lang="ko-KR" altLang="en-US" sz="1600" dirty="0" smtClean="0"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</a:t>
            </a:r>
            <a:r>
              <a:rPr lang="en-US" altLang="ko-KR" sz="1600" dirty="0" smtClean="0">
                <a:solidFill>
                  <a:srgbClr val="008080"/>
                </a:solidFill>
                <a:latin typeface="돋움체" pitchFamily="49" charset="-127"/>
                <a:ea typeface="돋움체" pitchFamily="49" charset="-127"/>
              </a:rPr>
              <a:t>&lt;</a:t>
            </a:r>
            <a:r>
              <a:rPr lang="en-US" altLang="ko-KR" sz="1600" dirty="0" err="1" smtClean="0">
                <a:solidFill>
                  <a:srgbClr val="3F7F7F"/>
                </a:solidFill>
                <a:latin typeface="돋움체" pitchFamily="49" charset="-127"/>
                <a:ea typeface="돋움체" pitchFamily="49" charset="-127"/>
              </a:rPr>
              <a:t>VideoView</a:t>
            </a:r>
            <a:endParaRPr lang="en-US" altLang="ko-KR" sz="1600" dirty="0" smtClean="0">
              <a:solidFill>
                <a:srgbClr val="3F7F7F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600" dirty="0" smtClean="0"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600" dirty="0" err="1" smtClean="0">
                <a:solidFill>
                  <a:srgbClr val="7F007F"/>
                </a:solidFill>
                <a:latin typeface="돋움체" pitchFamily="49" charset="-127"/>
                <a:ea typeface="돋움체" pitchFamily="49" charset="-127"/>
              </a:rPr>
              <a:t>android:id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=</a:t>
            </a:r>
            <a:r>
              <a:rPr lang="en-US" altLang="ko-KR" sz="1600" i="1" dirty="0" smtClean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"@+id/</a:t>
            </a:r>
            <a:r>
              <a:rPr lang="en-US" altLang="ko-KR" sz="1600" i="1" dirty="0" err="1" smtClean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surface_view</a:t>
            </a:r>
            <a:r>
              <a:rPr lang="en-US" altLang="ko-KR" sz="1600" i="1" dirty="0" smtClean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"</a:t>
            </a:r>
          </a:p>
          <a:p>
            <a:r>
              <a:rPr lang="en-US" altLang="ko-KR" sz="1600" dirty="0" smtClean="0"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600" u="sng" dirty="0" err="1" smtClean="0">
                <a:solidFill>
                  <a:srgbClr val="7F007F"/>
                </a:solidFill>
                <a:latin typeface="돋움체" pitchFamily="49" charset="-127"/>
                <a:ea typeface="돋움체" pitchFamily="49" charset="-127"/>
              </a:rPr>
              <a:t>android:layout_width</a:t>
            </a:r>
            <a:r>
              <a:rPr lang="en-US" altLang="ko-KR" sz="1600" u="sng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=</a:t>
            </a:r>
            <a:r>
              <a:rPr lang="en-US" altLang="ko-KR" sz="1600" i="1" u="sng" dirty="0" smtClean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"320px"</a:t>
            </a:r>
          </a:p>
          <a:p>
            <a:r>
              <a:rPr lang="en-US" altLang="ko-KR" sz="1600" dirty="0" smtClean="0"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600" u="sng" dirty="0" err="1" smtClean="0">
                <a:solidFill>
                  <a:srgbClr val="7F007F"/>
                </a:solidFill>
                <a:latin typeface="돋움체" pitchFamily="49" charset="-127"/>
                <a:ea typeface="돋움체" pitchFamily="49" charset="-127"/>
              </a:rPr>
              <a:t>android:layout_height</a:t>
            </a:r>
            <a:r>
              <a:rPr lang="en-US" altLang="ko-KR" sz="1600" u="sng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=</a:t>
            </a:r>
            <a:r>
              <a:rPr lang="en-US" altLang="ko-KR" sz="1600" i="1" u="sng" dirty="0" smtClean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"240px" </a:t>
            </a:r>
            <a:r>
              <a:rPr lang="en-US" altLang="ko-KR" sz="1600" i="1" u="sng" dirty="0" smtClean="0">
                <a:solidFill>
                  <a:srgbClr val="008080"/>
                </a:solidFill>
                <a:latin typeface="돋움체" pitchFamily="49" charset="-127"/>
                <a:ea typeface="돋움체" pitchFamily="49" charset="-127"/>
              </a:rPr>
              <a:t>/&gt;</a:t>
            </a:r>
          </a:p>
          <a:p>
            <a:endParaRPr lang="ko-KR" altLang="en-US" sz="1600" dirty="0" smtClean="0"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&lt;/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LinearLayout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&gt;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돋움체" pitchFamily="49" charset="-127"/>
              <a:ea typeface="돋움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888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VideoView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700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Ex_Videoview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28" y="1926491"/>
            <a:ext cx="8162993" cy="33881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0">
              <a:lnSpc>
                <a:spcPct val="115000"/>
              </a:lnSpc>
            </a:pP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public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class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Act1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extends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Activity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latin typeface="Consolas"/>
                <a:cs typeface="Times New Roman"/>
              </a:rPr>
              <a:t> 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private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VideoView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mVideoView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private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String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mSdPath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Environment.</a:t>
            </a:r>
            <a:r>
              <a:rPr lang="en-US" altLang="ko-KR" sz="1100" i="1" kern="0" dirty="0" err="1">
                <a:solidFill>
                  <a:srgbClr val="000000"/>
                </a:solidFill>
                <a:latin typeface="Consolas"/>
                <a:cs typeface="Times New Roman"/>
              </a:rPr>
              <a:t>getExternalStorageDirectory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.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getAbsolutePath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private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String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mVideoFile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100" kern="0" dirty="0" smtClean="0">
                <a:solidFill>
                  <a:srgbClr val="2A00FF"/>
                </a:solidFill>
                <a:latin typeface="Consolas"/>
                <a:cs typeface="Times New Roman"/>
              </a:rPr>
              <a:t>“video.mp4</a:t>
            </a:r>
            <a:r>
              <a:rPr lang="en-US" altLang="ko-KR" sz="1100" kern="0" dirty="0">
                <a:solidFill>
                  <a:srgbClr val="2A00FF"/>
                </a:solidFill>
                <a:latin typeface="Consolas"/>
                <a:cs typeface="Times New Roman"/>
              </a:rPr>
              <a:t>"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private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String </a:t>
            </a:r>
            <a:r>
              <a:rPr lang="en-US" altLang="ko-KR" sz="1100" kern="0" dirty="0">
                <a:solidFill>
                  <a:srgbClr val="0000C0"/>
                </a:solidFill>
                <a:latin typeface="Consolas"/>
                <a:cs typeface="Times New Roman"/>
              </a:rPr>
              <a:t>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mSdPath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+ </a:t>
            </a:r>
            <a:r>
              <a:rPr lang="en-US" altLang="ko-KR" sz="1100" kern="0" dirty="0">
                <a:solidFill>
                  <a:srgbClr val="2A00FF"/>
                </a:solidFill>
                <a:latin typeface="Consolas"/>
                <a:cs typeface="Times New Roman"/>
              </a:rPr>
              <a:t>"/"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+ 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mVideoFile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latin typeface="Consolas"/>
                <a:cs typeface="Times New Roman"/>
              </a:rPr>
              <a:t> 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kern="0" dirty="0">
                <a:solidFill>
                  <a:srgbClr val="3F5FBF"/>
                </a:solidFill>
                <a:latin typeface="Consolas"/>
                <a:cs typeface="Times New Roman"/>
              </a:rPr>
              <a:t>/** Called when the activity is first created. */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kern="0" dirty="0">
                <a:solidFill>
                  <a:srgbClr val="646464"/>
                </a:solidFill>
                <a:latin typeface="Consolas"/>
                <a:cs typeface="Times New Roman"/>
              </a:rPr>
              <a:t>@Override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public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void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onCreate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(Bundle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savedInstanceState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b="1" kern="0" dirty="0" err="1">
                <a:solidFill>
                  <a:srgbClr val="7F0055"/>
                </a:solidFill>
                <a:latin typeface="Consolas"/>
                <a:cs typeface="Times New Roman"/>
              </a:rPr>
              <a:t>super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.onCreate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savedInstanceState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 smtClean="0">
                <a:solidFill>
                  <a:srgbClr val="000000"/>
                </a:solidFill>
                <a:latin typeface="Consolas"/>
                <a:cs typeface="Times New Roman"/>
              </a:rPr>
              <a:t>setContentView</a:t>
            </a:r>
            <a:r>
              <a:rPr lang="en-US" altLang="ko-KR" sz="11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(R.layout.activity_act1);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latin typeface="Consolas"/>
                <a:cs typeface="Times New Roman"/>
              </a:rPr>
              <a:t> 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mVideoView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(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VideoView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findViewById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R.id.</a:t>
            </a:r>
            <a:r>
              <a:rPr lang="en-US" altLang="ko-KR" sz="1100" i="1" kern="0" dirty="0" err="1">
                <a:solidFill>
                  <a:srgbClr val="0000C0"/>
                </a:solidFill>
                <a:latin typeface="Consolas"/>
                <a:cs typeface="Times New Roman"/>
              </a:rPr>
              <a:t>surface_view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MediaController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mediaController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new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MediaController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this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mediaController.</a:t>
            </a:r>
            <a:r>
              <a:rPr lang="en-US" altLang="ko-KR" sz="1100" kern="0" dirty="0" err="1">
                <a:solidFill>
                  <a:srgbClr val="000000"/>
                </a:solidFill>
                <a:highlight>
                  <a:srgbClr val="C0C0C0"/>
                </a:highlight>
                <a:latin typeface="Consolas"/>
                <a:cs typeface="Times New Roman"/>
              </a:rPr>
              <a:t>setAnchorView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mVideoView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41533" y="2297211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동영상 재생에 특화된 위젯</a:t>
            </a:r>
            <a:endParaRPr lang="ko-KR" altLang="en-US" sz="14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00500" y="2451100"/>
            <a:ext cx="54103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9397" y="5593278"/>
            <a:ext cx="7612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solidFill>
                  <a:srgbClr val="FF0000"/>
                </a:solidFill>
              </a:rPr>
              <a:t>MediaController</a:t>
            </a:r>
            <a:r>
              <a:rPr lang="en-US" altLang="ko-KR" dirty="0" smtClean="0">
                <a:solidFill>
                  <a:srgbClr val="FF0000"/>
                </a:solidFill>
              </a:rPr>
              <a:t> import </a:t>
            </a:r>
            <a:r>
              <a:rPr lang="ko-KR" altLang="en-US" dirty="0" smtClean="0">
                <a:solidFill>
                  <a:srgbClr val="FF0000"/>
                </a:solidFill>
              </a:rPr>
              <a:t>시 </a:t>
            </a:r>
            <a:r>
              <a:rPr lang="en-US" altLang="ko-KR" dirty="0" err="1" smtClean="0">
                <a:solidFill>
                  <a:srgbClr val="FF0000"/>
                </a:solidFill>
              </a:rPr>
              <a:t>android.widget.VideoView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로 할 것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56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VideoView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2518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Ex_Videoview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 smtClean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 smtClean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 smtClean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 smtClean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 smtClean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Manifest</a:t>
            </a:r>
            <a:r>
              <a:rPr lang="ko-KR" altLang="en-US" dirty="0" smtClean="0">
                <a:solidFill>
                  <a:prstClr val="black"/>
                </a:solidFill>
              </a:rPr>
              <a:t>에 </a:t>
            </a:r>
            <a:r>
              <a:rPr lang="en-US" altLang="ko-KR" dirty="0" smtClean="0">
                <a:solidFill>
                  <a:prstClr val="black"/>
                </a:solidFill>
              </a:rPr>
              <a:t>permission </a:t>
            </a:r>
            <a:r>
              <a:rPr lang="ko-KR" altLang="en-US" dirty="0" smtClean="0">
                <a:solidFill>
                  <a:prstClr val="black"/>
                </a:solidFill>
              </a:rPr>
              <a:t>추가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28" y="1926491"/>
            <a:ext cx="7973806" cy="28176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Log.</a:t>
            </a:r>
            <a:r>
              <a:rPr lang="en-US" altLang="ko-KR" sz="1100" i="1" kern="0" dirty="0" err="1">
                <a:solidFill>
                  <a:srgbClr val="000000"/>
                </a:solidFill>
                <a:latin typeface="Consolas"/>
                <a:cs typeface="Times New Roman"/>
              </a:rPr>
              <a:t>d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>
                <a:solidFill>
                  <a:srgbClr val="2A00FF"/>
                </a:solidFill>
                <a:latin typeface="Consolas"/>
                <a:cs typeface="Times New Roman"/>
              </a:rPr>
              <a:t>"4csoft"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, </a:t>
            </a:r>
            <a:r>
              <a:rPr lang="en-US" altLang="ko-KR" sz="1100" kern="0" dirty="0">
                <a:solidFill>
                  <a:srgbClr val="2A00FF"/>
                </a:solidFill>
                <a:latin typeface="Consolas"/>
                <a:cs typeface="Times New Roman"/>
              </a:rPr>
              <a:t>"----     path : "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+ </a:t>
            </a:r>
            <a:r>
              <a:rPr lang="en-US" altLang="ko-KR" sz="1100" kern="0" dirty="0">
                <a:solidFill>
                  <a:srgbClr val="0000C0"/>
                </a:solidFill>
                <a:latin typeface="Consolas"/>
                <a:cs typeface="Times New Roman"/>
              </a:rPr>
              <a:t>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if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(</a:t>
            </a:r>
            <a:r>
              <a:rPr lang="en-US" altLang="ko-KR" sz="1100" kern="0" dirty="0">
                <a:solidFill>
                  <a:srgbClr val="0000C0"/>
                </a:solidFill>
                <a:latin typeface="Consolas"/>
                <a:cs typeface="Times New Roman"/>
              </a:rPr>
              <a:t>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== </a:t>
            </a:r>
            <a:r>
              <a:rPr lang="en-US" altLang="ko-KR" sz="1100" kern="0" dirty="0">
                <a:solidFill>
                  <a:srgbClr val="2A00FF"/>
                </a:solidFill>
                <a:latin typeface="Consolas"/>
                <a:cs typeface="Times New Roman"/>
              </a:rPr>
              <a:t>""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Toast.</a:t>
            </a:r>
            <a:r>
              <a:rPr lang="en-US" altLang="ko-KR" sz="1100" i="1" kern="0" dirty="0" err="1">
                <a:solidFill>
                  <a:srgbClr val="000000"/>
                </a:solidFill>
                <a:latin typeface="Consolas"/>
                <a:cs typeface="Times New Roman"/>
              </a:rPr>
              <a:t>makeText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	Act1.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this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,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	</a:t>
            </a:r>
            <a:r>
              <a:rPr lang="en-US" altLang="ko-KR" sz="1100" kern="0" dirty="0">
                <a:solidFill>
                  <a:srgbClr val="2A00FF"/>
                </a:solidFill>
                <a:latin typeface="Consolas"/>
                <a:cs typeface="Times New Roman"/>
              </a:rPr>
              <a:t>"Please edit </a:t>
            </a:r>
            <a:r>
              <a:rPr lang="en-US" altLang="ko-KR" sz="1100" kern="0" dirty="0" err="1">
                <a:solidFill>
                  <a:srgbClr val="2A00FF"/>
                </a:solidFill>
                <a:latin typeface="Consolas"/>
                <a:cs typeface="Times New Roman"/>
              </a:rPr>
              <a:t>VideoViewDemo</a:t>
            </a:r>
            <a:r>
              <a:rPr lang="en-US" altLang="ko-KR" sz="1100" kern="0" dirty="0">
                <a:solidFill>
                  <a:srgbClr val="2A00FF"/>
                </a:solidFill>
                <a:latin typeface="Consolas"/>
                <a:cs typeface="Times New Roman"/>
              </a:rPr>
              <a:t> Activity, and set path"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	+ </a:t>
            </a:r>
            <a:r>
              <a:rPr lang="en-US" altLang="ko-KR" sz="1100" kern="0" dirty="0">
                <a:solidFill>
                  <a:srgbClr val="2A00FF"/>
                </a:solidFill>
                <a:latin typeface="Consolas"/>
                <a:cs typeface="Times New Roman"/>
              </a:rPr>
              <a:t>" variable to your media file URL/path"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,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	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Toast.</a:t>
            </a:r>
            <a:r>
              <a:rPr lang="en-US" altLang="ko-KR" sz="1100" i="1" kern="0" dirty="0" err="1">
                <a:solidFill>
                  <a:srgbClr val="0000C0"/>
                </a:solidFill>
                <a:latin typeface="Consolas"/>
                <a:cs typeface="Times New Roman"/>
              </a:rPr>
              <a:t>LENGTH_LONG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).show();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} </a:t>
            </a:r>
            <a:r>
              <a:rPr lang="en-US" altLang="ko-KR" sz="1100" b="1" kern="0" dirty="0">
                <a:solidFill>
                  <a:srgbClr val="7F0055"/>
                </a:solidFill>
                <a:latin typeface="Consolas"/>
                <a:cs typeface="Times New Roman"/>
              </a:rPr>
              <a:t>else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 {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mVideoView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.setMediaController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mediaController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mVideoView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.setVideoPath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</a:t>
            </a:r>
            <a:r>
              <a:rPr lang="en-US" altLang="ko-KR" sz="1100" kern="0" dirty="0">
                <a:solidFill>
                  <a:srgbClr val="0000C0"/>
                </a:solidFill>
                <a:latin typeface="Consolas"/>
                <a:cs typeface="Times New Roman"/>
              </a:rPr>
              <a:t>path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	</a:t>
            </a:r>
            <a:r>
              <a:rPr lang="en-US" altLang="ko-KR" sz="1100" kern="0" dirty="0" err="1">
                <a:solidFill>
                  <a:srgbClr val="0000C0"/>
                </a:solidFill>
                <a:latin typeface="Consolas"/>
                <a:cs typeface="Times New Roman"/>
              </a:rPr>
              <a:t>mVideoView</a:t>
            </a:r>
            <a:r>
              <a:rPr lang="en-US" altLang="ko-KR" sz="1100" kern="0" dirty="0" err="1">
                <a:solidFill>
                  <a:srgbClr val="000000"/>
                </a:solidFill>
                <a:latin typeface="Consolas"/>
                <a:cs typeface="Times New Roman"/>
              </a:rPr>
              <a:t>.start</a:t>
            </a: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();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	}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Consolas"/>
                <a:cs typeface="Times New Roman"/>
              </a:rPr>
              <a:t>	}</a:t>
            </a:r>
            <a:endParaRPr lang="ko-KR" altLang="ko-KR" sz="1100" kern="100" dirty="0">
              <a:latin typeface="맑은 고딕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ko-KR" altLang="ko-KR" sz="1100" kern="100" dirty="0">
              <a:latin typeface="맑은 고딕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1244" y="5444927"/>
            <a:ext cx="8129790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uses-permission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android:name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dirty="0" err="1" smtClean="0">
                <a:solidFill>
                  <a:srgbClr val="2A00FF"/>
                </a:solidFill>
                <a:latin typeface="맑은 고딕"/>
              </a:rPr>
              <a:t>android.permission.READ_EXTERNAL_STORAGE</a:t>
            </a:r>
            <a:r>
              <a:rPr lang="en-US" altLang="ko-KR" sz="1600" dirty="0">
                <a:solidFill>
                  <a:srgbClr val="2A00FF"/>
                </a:solidFill>
                <a:latin typeface="맑은 고딕"/>
              </a:rPr>
              <a:t>" </a:t>
            </a:r>
            <a:r>
              <a:rPr lang="en-US" altLang="ko-KR" sz="1600" dirty="0" smtClean="0">
                <a:solidFill>
                  <a:srgbClr val="008080"/>
                </a:solidFill>
                <a:latin typeface="맑은 고딕"/>
              </a:rPr>
              <a:t>/&gt;</a:t>
            </a:r>
            <a:endParaRPr lang="en-US" altLang="ko-KR" sz="1600" dirty="0">
              <a:solidFill>
                <a:srgbClr val="00808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4440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VideoView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836" y="1378906"/>
            <a:ext cx="3227985" cy="51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6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#04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41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49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3720" y="1052872"/>
            <a:ext cx="8229600" cy="5322528"/>
          </a:xfrm>
        </p:spPr>
        <p:txBody>
          <a:bodyPr/>
          <a:lstStyle/>
          <a:p>
            <a:r>
              <a:rPr lang="en-US" altLang="ko-KR" dirty="0" smtClean="0"/>
              <a:t>Permission </a:t>
            </a:r>
            <a:r>
              <a:rPr lang="ko-KR" altLang="en-US" dirty="0" smtClean="0"/>
              <a:t>설정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API 23</a:t>
            </a:r>
            <a:r>
              <a:rPr lang="ko-KR" altLang="en-US" dirty="0" smtClean="0"/>
              <a:t>이상 버전을 이용 시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42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497" y="1970051"/>
            <a:ext cx="2467293" cy="438629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567" y="1970051"/>
            <a:ext cx="2478009" cy="4405349"/>
          </a:xfrm>
          <a:prstGeom prst="rect">
            <a:avLst/>
          </a:prstGeom>
        </p:spPr>
      </p:pic>
      <p:sp>
        <p:nvSpPr>
          <p:cNvPr id="8" name="아래쪽 화살표 7"/>
          <p:cNvSpPr/>
          <p:nvPr/>
        </p:nvSpPr>
        <p:spPr>
          <a:xfrm rot="16200000">
            <a:off x="4411637" y="3550747"/>
            <a:ext cx="320726" cy="64750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05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3143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RequestRuntimePermission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</a:t>
            </a:r>
            <a:r>
              <a:rPr lang="en-US" altLang="ko-KR" dirty="0" err="1" smtClean="0">
                <a:solidFill>
                  <a:prstClr val="black"/>
                </a:solidFill>
              </a:rPr>
              <a:t>activitymain.xml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7230" y="2432107"/>
            <a:ext cx="3691890" cy="3108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&lt;</a:t>
            </a:r>
            <a:r>
              <a:rPr lang="en-US" sz="1400" b="1" dirty="0">
                <a:solidFill>
                  <a:srgbClr val="000080"/>
                </a:solidFill>
              </a:rPr>
              <a:t>Button</a:t>
            </a:r>
            <a:br>
              <a:rPr lang="en-US" sz="1400" b="1" dirty="0">
                <a:solidFill>
                  <a:srgbClr val="000080"/>
                </a:solidFill>
              </a:rPr>
            </a:br>
            <a:r>
              <a:rPr lang="en-US" sz="1400" b="1" dirty="0">
                <a:solidFill>
                  <a:srgbClr val="00008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:layout_width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match_parent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:layout_height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wrap_content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:text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"Call"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:id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"@+id/call"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:onClick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"ask"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:layout_marginBottom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smtClean="0">
                <a:solidFill>
                  <a:srgbClr val="008000"/>
                </a:solidFill>
              </a:rPr>
              <a:t>10dp”</a:t>
            </a:r>
            <a:r>
              <a:rPr lang="en-US" sz="1400" dirty="0" smtClean="0"/>
              <a:t>/&gt;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&lt;</a:t>
            </a:r>
            <a:r>
              <a:rPr lang="en-US" sz="1400" b="1" dirty="0">
                <a:solidFill>
                  <a:srgbClr val="000080"/>
                </a:solidFill>
              </a:rPr>
              <a:t>Button</a:t>
            </a:r>
            <a:br>
              <a:rPr lang="en-US" sz="1400" b="1" dirty="0">
                <a:solidFill>
                  <a:srgbClr val="000080"/>
                </a:solidFill>
              </a:rPr>
            </a:br>
            <a:r>
              <a:rPr lang="en-US" sz="1400" b="1" dirty="0">
                <a:solidFill>
                  <a:srgbClr val="00008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:layout_width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match_parent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:layout_height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wrap_content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:text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"Read </a:t>
            </a:r>
            <a:r>
              <a:rPr lang="en-US" sz="1400" b="1" dirty="0" err="1">
                <a:solidFill>
                  <a:srgbClr val="008000"/>
                </a:solidFill>
              </a:rPr>
              <a:t>ExStorage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:id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"@+id/read"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:onClick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"ask"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:layout_marginBottom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smtClean="0">
                <a:solidFill>
                  <a:srgbClr val="008000"/>
                </a:solidFill>
              </a:rPr>
              <a:t>10dp”</a:t>
            </a:r>
            <a:r>
              <a:rPr lang="en-US" sz="1400" dirty="0" smtClean="0"/>
              <a:t>/&gt;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5374" y="2432107"/>
            <a:ext cx="3787904" cy="3108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&lt;</a:t>
            </a:r>
            <a:r>
              <a:rPr lang="en-US" sz="1400" b="1" dirty="0">
                <a:solidFill>
                  <a:srgbClr val="000080"/>
                </a:solidFill>
              </a:rPr>
              <a:t>Button</a:t>
            </a:r>
            <a:br>
              <a:rPr lang="en-US" sz="1400" b="1" dirty="0">
                <a:solidFill>
                  <a:srgbClr val="000080"/>
                </a:solidFill>
              </a:rPr>
            </a:br>
            <a:r>
              <a:rPr lang="en-US" sz="1400" b="1" dirty="0">
                <a:solidFill>
                  <a:srgbClr val="00008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:layout_width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match_parent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:layout_height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wrap_content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:text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"Camera"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:id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"@+id/camera"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:onClick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"ask"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:layout_marginBottom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"10dp</a:t>
            </a:r>
            <a:r>
              <a:rPr lang="en-US" sz="1400" b="1" dirty="0" smtClean="0">
                <a:solidFill>
                  <a:srgbClr val="008000"/>
                </a:solidFill>
              </a:rPr>
              <a:t>"</a:t>
            </a:r>
            <a:r>
              <a:rPr lang="en-US" sz="1400" dirty="0" smtClean="0"/>
              <a:t>/&gt;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&lt;</a:t>
            </a:r>
            <a:r>
              <a:rPr lang="en-US" sz="1400" b="1" dirty="0">
                <a:solidFill>
                  <a:srgbClr val="000080"/>
                </a:solidFill>
              </a:rPr>
              <a:t>Button</a:t>
            </a:r>
            <a:br>
              <a:rPr lang="en-US" sz="1400" b="1" dirty="0">
                <a:solidFill>
                  <a:srgbClr val="000080"/>
                </a:solidFill>
              </a:rPr>
            </a:br>
            <a:r>
              <a:rPr lang="en-US" sz="1400" b="1" dirty="0">
                <a:solidFill>
                  <a:srgbClr val="00008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:layout_width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match_parent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:layout_height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wrap_content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:text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"Get Accounts"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:id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"@+id/accounts"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:onClick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"ask"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:layout_marginBottom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"10dp"</a:t>
            </a:r>
            <a:r>
              <a:rPr lang="en-US" sz="1400" dirty="0"/>
              <a:t>/&gt;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2065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44</a:t>
            </a:fld>
            <a:endParaRPr lang="ko-KR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402" y="1482011"/>
            <a:ext cx="2643759" cy="47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3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3536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RequestRuntimePermission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/manifests/</a:t>
            </a:r>
            <a:r>
              <a:rPr lang="en-US" altLang="ko-KR" dirty="0" err="1" smtClean="0">
                <a:solidFill>
                  <a:prstClr val="black"/>
                </a:solidFill>
              </a:rPr>
              <a:t>AndroidManifest.xml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7230" y="1993195"/>
            <a:ext cx="7629906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i="1" dirty="0"/>
              <a:t>&lt;?</a:t>
            </a:r>
            <a:r>
              <a:rPr lang="en-US" sz="1400" b="1" dirty="0">
                <a:solidFill>
                  <a:srgbClr val="0000FF"/>
                </a:solidFill>
              </a:rPr>
              <a:t>xml version=</a:t>
            </a:r>
            <a:r>
              <a:rPr lang="en-US" sz="1400" b="1" dirty="0">
                <a:solidFill>
                  <a:srgbClr val="008000"/>
                </a:solidFill>
              </a:rPr>
              <a:t>"1.0" </a:t>
            </a:r>
            <a:r>
              <a:rPr lang="en-US" sz="1400" b="1" dirty="0">
                <a:solidFill>
                  <a:srgbClr val="0000FF"/>
                </a:solidFill>
              </a:rPr>
              <a:t>encoding=</a:t>
            </a:r>
            <a:r>
              <a:rPr lang="en-US" sz="1400" b="1" dirty="0">
                <a:solidFill>
                  <a:srgbClr val="008000"/>
                </a:solidFill>
              </a:rPr>
              <a:t>"utf-8"</a:t>
            </a:r>
            <a:r>
              <a:rPr lang="en-US" sz="1400" i="1" dirty="0"/>
              <a:t>?&gt;</a:t>
            </a:r>
            <a:br>
              <a:rPr lang="en-US" sz="1400" i="1" dirty="0"/>
            </a:br>
            <a:r>
              <a:rPr lang="en-US" sz="1400" dirty="0"/>
              <a:t>&lt;</a:t>
            </a:r>
            <a:r>
              <a:rPr lang="en-US" sz="1400" b="1" dirty="0">
                <a:solidFill>
                  <a:srgbClr val="000080"/>
                </a:solidFill>
              </a:rPr>
              <a:t>manifest </a:t>
            </a:r>
            <a:r>
              <a:rPr lang="en-US" sz="1400" b="1" dirty="0" err="1">
                <a:solidFill>
                  <a:srgbClr val="0000FF"/>
                </a:solidFill>
              </a:rPr>
              <a:t>xmlns: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"http://</a:t>
            </a:r>
            <a:r>
              <a:rPr lang="en-US" sz="1400" b="1" dirty="0" err="1">
                <a:solidFill>
                  <a:srgbClr val="008000"/>
                </a:solidFill>
              </a:rPr>
              <a:t>schemas.android.com</a:t>
            </a:r>
            <a:r>
              <a:rPr lang="en-US" sz="1400" b="1" dirty="0">
                <a:solidFill>
                  <a:srgbClr val="008000"/>
                </a:solidFill>
              </a:rPr>
              <a:t>/</a:t>
            </a:r>
            <a:r>
              <a:rPr lang="en-US" sz="1400" b="1" dirty="0" err="1">
                <a:solidFill>
                  <a:srgbClr val="008000"/>
                </a:solidFill>
              </a:rPr>
              <a:t>apk</a:t>
            </a:r>
            <a:r>
              <a:rPr lang="en-US" sz="1400" b="1" dirty="0">
                <a:solidFill>
                  <a:srgbClr val="008000"/>
                </a:solidFill>
              </a:rPr>
              <a:t>/res/android"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</a:t>
            </a:r>
            <a:r>
              <a:rPr lang="en-US" sz="1400" b="1" dirty="0">
                <a:solidFill>
                  <a:srgbClr val="0000FF"/>
                </a:solidFill>
              </a:rPr>
              <a:t>package=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com.example.vrlab.requestruntimepermission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dirty="0"/>
              <a:t>&gt;</a:t>
            </a:r>
            <a:br>
              <a:rPr lang="en-US" sz="1400" dirty="0"/>
            </a:br>
            <a:r>
              <a:rPr lang="en-US" sz="1400" dirty="0"/>
              <a:t>    &lt;</a:t>
            </a:r>
            <a:r>
              <a:rPr lang="en-US" sz="1400" b="1" dirty="0">
                <a:solidFill>
                  <a:srgbClr val="000080"/>
                </a:solidFill>
              </a:rPr>
              <a:t>uses-permission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:name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android.permission.CALL_PHONE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dirty="0"/>
              <a:t>/&gt;</a:t>
            </a:r>
            <a:br>
              <a:rPr lang="en-US" sz="1400" dirty="0"/>
            </a:br>
            <a:r>
              <a:rPr lang="en-US" sz="1400" dirty="0"/>
              <a:t>    &lt;</a:t>
            </a:r>
            <a:r>
              <a:rPr lang="en-US" sz="1400" b="1" dirty="0">
                <a:solidFill>
                  <a:srgbClr val="000080"/>
                </a:solidFill>
              </a:rPr>
              <a:t>uses-permission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:name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android.permission.READ_EXTERNAL_STORAGE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dirty="0"/>
              <a:t>/&gt;</a:t>
            </a:r>
            <a:br>
              <a:rPr lang="en-US" sz="1400" dirty="0"/>
            </a:br>
            <a:r>
              <a:rPr lang="en-US" sz="1400" dirty="0"/>
              <a:t>    &lt;</a:t>
            </a:r>
            <a:r>
              <a:rPr lang="en-US" sz="1400" b="1" dirty="0">
                <a:solidFill>
                  <a:srgbClr val="000080"/>
                </a:solidFill>
              </a:rPr>
              <a:t>uses-permission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:name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android.permission.CAMERA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dirty="0"/>
              <a:t>/&gt;</a:t>
            </a:r>
            <a:br>
              <a:rPr lang="en-US" sz="1400" dirty="0"/>
            </a:br>
            <a:r>
              <a:rPr lang="en-US" sz="1400" dirty="0"/>
              <a:t>    &lt;</a:t>
            </a:r>
            <a:r>
              <a:rPr lang="en-US" sz="1400" b="1" dirty="0">
                <a:solidFill>
                  <a:srgbClr val="000080"/>
                </a:solidFill>
              </a:rPr>
              <a:t>uses-permission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:name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android.permission.GET_ACCOUNTS</a:t>
            </a:r>
            <a:r>
              <a:rPr lang="en-US" sz="1400" b="1" dirty="0">
                <a:solidFill>
                  <a:srgbClr val="008000"/>
                </a:solidFill>
              </a:rPr>
              <a:t>" </a:t>
            </a:r>
            <a:r>
              <a:rPr lang="en-US" sz="1400" dirty="0"/>
              <a:t>/&gt;</a:t>
            </a:r>
            <a:br>
              <a:rPr lang="en-US" sz="1400" dirty="0"/>
            </a:br>
            <a:r>
              <a:rPr lang="en-US" sz="1400" dirty="0"/>
              <a:t>    &lt;</a:t>
            </a:r>
            <a:r>
              <a:rPr lang="en-US" sz="1400" b="1" dirty="0">
                <a:solidFill>
                  <a:srgbClr val="000080"/>
                </a:solidFill>
              </a:rPr>
              <a:t>application</a:t>
            </a:r>
            <a:br>
              <a:rPr lang="en-US" sz="1400" b="1" dirty="0">
                <a:solidFill>
                  <a:srgbClr val="000080"/>
                </a:solidFill>
              </a:rPr>
            </a:br>
            <a:r>
              <a:rPr lang="en-US" sz="1400" b="1" dirty="0">
                <a:solidFill>
                  <a:srgbClr val="000080"/>
                </a:solidFill>
              </a:rPr>
              <a:t>    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:allowBackup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"true"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:icon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"@</a:t>
            </a:r>
            <a:r>
              <a:rPr lang="en-US" sz="1400" b="1" dirty="0" err="1">
                <a:solidFill>
                  <a:srgbClr val="008000"/>
                </a:solidFill>
              </a:rPr>
              <a:t>mipmap</a:t>
            </a:r>
            <a:r>
              <a:rPr lang="en-US" sz="1400" b="1" dirty="0">
                <a:solidFill>
                  <a:srgbClr val="008000"/>
                </a:solidFill>
              </a:rPr>
              <a:t>/</a:t>
            </a:r>
            <a:r>
              <a:rPr lang="en-US" sz="1400" b="1" dirty="0" err="1">
                <a:solidFill>
                  <a:srgbClr val="008000"/>
                </a:solidFill>
              </a:rPr>
              <a:t>ic_launcher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:label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"@string/</a:t>
            </a:r>
            <a:r>
              <a:rPr lang="en-US" sz="1400" b="1" dirty="0" err="1">
                <a:solidFill>
                  <a:srgbClr val="008000"/>
                </a:solidFill>
              </a:rPr>
              <a:t>app_name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:supportsRtl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"true"</a:t>
            </a:r>
            <a:br>
              <a:rPr lang="en-US" sz="1400" b="1" dirty="0">
                <a:solidFill>
                  <a:srgbClr val="008000"/>
                </a:solidFill>
              </a:rPr>
            </a:br>
            <a:r>
              <a:rPr lang="en-US" sz="1400" b="1" dirty="0">
                <a:solidFill>
                  <a:srgbClr val="008000"/>
                </a:solidFill>
              </a:rPr>
              <a:t>       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:theme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"@style/</a:t>
            </a:r>
            <a:r>
              <a:rPr lang="en-US" sz="1400" b="1" dirty="0" err="1">
                <a:solidFill>
                  <a:srgbClr val="008000"/>
                </a:solidFill>
              </a:rPr>
              <a:t>AppTheme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dirty="0"/>
              <a:t>&gt;</a:t>
            </a:r>
            <a:br>
              <a:rPr lang="en-US" sz="1400" dirty="0"/>
            </a:br>
            <a:r>
              <a:rPr lang="en-US" sz="1400" dirty="0"/>
              <a:t>        &lt;</a:t>
            </a:r>
            <a:r>
              <a:rPr lang="en-US" sz="1400" b="1" dirty="0">
                <a:solidFill>
                  <a:srgbClr val="000080"/>
                </a:solidFill>
              </a:rPr>
              <a:t>activity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:name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".</a:t>
            </a:r>
            <a:r>
              <a:rPr lang="en-US" sz="1400" b="1" dirty="0" err="1">
                <a:solidFill>
                  <a:srgbClr val="008000"/>
                </a:solidFill>
              </a:rPr>
              <a:t>MainActivity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dirty="0"/>
              <a:t>&gt;</a:t>
            </a:r>
            <a:br>
              <a:rPr lang="en-US" sz="1400" dirty="0"/>
            </a:br>
            <a:r>
              <a:rPr lang="en-US" sz="1400" dirty="0"/>
              <a:t>            &lt;</a:t>
            </a:r>
            <a:r>
              <a:rPr lang="en-US" sz="1400" b="1" dirty="0">
                <a:solidFill>
                  <a:srgbClr val="000080"/>
                </a:solidFill>
              </a:rPr>
              <a:t>intent-filter</a:t>
            </a:r>
            <a:r>
              <a:rPr lang="en-US" sz="1400" dirty="0"/>
              <a:t>&gt;</a:t>
            </a:r>
            <a:br>
              <a:rPr lang="en-US" sz="1400" dirty="0"/>
            </a:br>
            <a:r>
              <a:rPr lang="en-US" sz="1400" dirty="0"/>
              <a:t>                &lt;</a:t>
            </a:r>
            <a:r>
              <a:rPr lang="en-US" sz="1400" b="1" dirty="0">
                <a:solidFill>
                  <a:srgbClr val="000080"/>
                </a:solidFill>
              </a:rPr>
              <a:t>action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:name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android.intent.action.MAIN</a:t>
            </a:r>
            <a:r>
              <a:rPr lang="en-US" sz="1400" b="1" dirty="0">
                <a:solidFill>
                  <a:srgbClr val="008000"/>
                </a:solidFill>
              </a:rPr>
              <a:t>" </a:t>
            </a:r>
            <a:r>
              <a:rPr lang="en-US" sz="1400" dirty="0"/>
              <a:t>/&gt;</a:t>
            </a:r>
            <a:br>
              <a:rPr lang="en-US" sz="1400" dirty="0"/>
            </a:br>
            <a:r>
              <a:rPr lang="en-US" sz="1400" dirty="0"/>
              <a:t>                &lt;</a:t>
            </a:r>
            <a:r>
              <a:rPr lang="en-US" sz="1400" b="1" dirty="0">
                <a:solidFill>
                  <a:srgbClr val="000080"/>
                </a:solidFill>
              </a:rPr>
              <a:t>category </a:t>
            </a:r>
            <a:r>
              <a:rPr lang="en-US" sz="1400" b="1" dirty="0" err="1">
                <a:solidFill>
                  <a:srgbClr val="660E7A"/>
                </a:solidFill>
              </a:rPr>
              <a:t>android</a:t>
            </a:r>
            <a:r>
              <a:rPr lang="en-US" sz="1400" b="1" dirty="0" err="1">
                <a:solidFill>
                  <a:srgbClr val="0000FF"/>
                </a:solidFill>
              </a:rPr>
              <a:t>:name</a:t>
            </a:r>
            <a:r>
              <a:rPr lang="en-US" sz="1400" b="1" dirty="0">
                <a:solidFill>
                  <a:srgbClr val="0000FF"/>
                </a:solidFill>
              </a:rPr>
              <a:t>=</a:t>
            </a:r>
            <a:r>
              <a:rPr lang="en-US" sz="1400" b="1" dirty="0">
                <a:solidFill>
                  <a:srgbClr val="008000"/>
                </a:solidFill>
              </a:rPr>
              <a:t>"</a:t>
            </a:r>
            <a:r>
              <a:rPr lang="en-US" sz="1400" b="1" dirty="0" err="1">
                <a:solidFill>
                  <a:srgbClr val="008000"/>
                </a:solidFill>
              </a:rPr>
              <a:t>android.intent.category.LAUNCHER</a:t>
            </a:r>
            <a:r>
              <a:rPr lang="en-US" sz="1400" b="1" dirty="0">
                <a:solidFill>
                  <a:srgbClr val="008000"/>
                </a:solidFill>
              </a:rPr>
              <a:t>" </a:t>
            </a:r>
            <a:r>
              <a:rPr lang="en-US" sz="1400" dirty="0"/>
              <a:t>/&gt;</a:t>
            </a:r>
            <a:br>
              <a:rPr lang="en-US" sz="1400" dirty="0"/>
            </a:br>
            <a:r>
              <a:rPr lang="en-US" sz="1400" dirty="0"/>
              <a:t>            &lt;/</a:t>
            </a:r>
            <a:r>
              <a:rPr lang="en-US" sz="1400" b="1" dirty="0">
                <a:solidFill>
                  <a:srgbClr val="000080"/>
                </a:solidFill>
              </a:rPr>
              <a:t>intent-filter</a:t>
            </a:r>
            <a:r>
              <a:rPr lang="en-US" sz="1400" dirty="0"/>
              <a:t>&gt;</a:t>
            </a:r>
            <a:br>
              <a:rPr lang="en-US" sz="1400" dirty="0"/>
            </a:br>
            <a:r>
              <a:rPr lang="en-US" sz="1400" dirty="0"/>
              <a:t>        &lt;/</a:t>
            </a:r>
            <a:r>
              <a:rPr lang="en-US" sz="1400" b="1" dirty="0">
                <a:solidFill>
                  <a:srgbClr val="000080"/>
                </a:solidFill>
              </a:rPr>
              <a:t>activity</a:t>
            </a:r>
            <a:r>
              <a:rPr lang="en-US" sz="1400" dirty="0"/>
              <a:t>&gt;</a:t>
            </a:r>
            <a:br>
              <a:rPr lang="en-US" sz="1400" dirty="0"/>
            </a:br>
            <a:r>
              <a:rPr lang="en-US" sz="1400" dirty="0"/>
              <a:t>    &lt;/</a:t>
            </a:r>
            <a:r>
              <a:rPr lang="en-US" sz="1400" b="1" dirty="0">
                <a:solidFill>
                  <a:srgbClr val="000080"/>
                </a:solidFill>
              </a:rPr>
              <a:t>application</a:t>
            </a:r>
            <a:r>
              <a:rPr lang="en-US" sz="1400" dirty="0"/>
              <a:t>&gt;</a:t>
            </a:r>
            <a:br>
              <a:rPr lang="en-US" sz="1400" dirty="0"/>
            </a:br>
            <a:r>
              <a:rPr lang="en-US" sz="1400" dirty="0"/>
              <a:t>&lt;/</a:t>
            </a:r>
            <a:r>
              <a:rPr lang="en-US" sz="1400" b="1" dirty="0">
                <a:solidFill>
                  <a:srgbClr val="000080"/>
                </a:solidFill>
              </a:rPr>
              <a:t>manifest</a:t>
            </a:r>
            <a:r>
              <a:rPr lang="en-US" sz="1400" dirty="0"/>
              <a:t>&gt;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20" y="1442489"/>
            <a:ext cx="30480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2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3143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RequestRuntimePermission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/java/</a:t>
            </a:r>
            <a:r>
              <a:rPr lang="en-US" altLang="ko-KR" dirty="0" err="1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7230" y="1993195"/>
            <a:ext cx="8312658" cy="116955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</a:rPr>
              <a:t>public class </a:t>
            </a:r>
            <a:r>
              <a:rPr lang="en-US" sz="1400" dirty="0" err="1"/>
              <a:t>MainActivity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000080"/>
                </a:solidFill>
              </a:rPr>
              <a:t>extends </a:t>
            </a:r>
            <a:r>
              <a:rPr lang="en-US" sz="1400" dirty="0"/>
              <a:t>Activity {</a:t>
            </a:r>
            <a:endParaRPr lang="en-US" sz="1400" b="1" dirty="0" smtClean="0">
              <a:solidFill>
                <a:srgbClr val="000080"/>
              </a:solidFill>
            </a:endParaRPr>
          </a:p>
          <a:p>
            <a:r>
              <a:rPr lang="en-US" sz="1400" b="1" dirty="0" smtClean="0">
                <a:solidFill>
                  <a:srgbClr val="000080"/>
                </a:solidFill>
              </a:rPr>
              <a:t>	static </a:t>
            </a:r>
            <a:r>
              <a:rPr lang="en-US" sz="1400" b="1" dirty="0">
                <a:solidFill>
                  <a:srgbClr val="000080"/>
                </a:solidFill>
              </a:rPr>
              <a:t>final </a:t>
            </a:r>
            <a:r>
              <a:rPr lang="en-US" sz="1400" dirty="0"/>
              <a:t>Integer </a:t>
            </a:r>
            <a:r>
              <a:rPr lang="en-US" sz="1400" b="1" i="1" dirty="0">
                <a:solidFill>
                  <a:srgbClr val="660E7A"/>
                </a:solidFill>
              </a:rPr>
              <a:t>CALL </a:t>
            </a:r>
            <a:r>
              <a:rPr lang="en-US" sz="1400" dirty="0"/>
              <a:t>= </a:t>
            </a:r>
            <a:r>
              <a:rPr lang="en-US" sz="1400" dirty="0">
                <a:solidFill>
                  <a:srgbClr val="0000FF"/>
                </a:solidFill>
              </a:rPr>
              <a:t>1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 smtClean="0"/>
              <a:t>	</a:t>
            </a:r>
            <a:r>
              <a:rPr lang="en-US" sz="1400" b="1" dirty="0" smtClean="0">
                <a:solidFill>
                  <a:srgbClr val="000080"/>
                </a:solidFill>
              </a:rPr>
              <a:t>static </a:t>
            </a:r>
            <a:r>
              <a:rPr lang="en-US" sz="1400" b="1" dirty="0">
                <a:solidFill>
                  <a:srgbClr val="000080"/>
                </a:solidFill>
              </a:rPr>
              <a:t>final </a:t>
            </a:r>
            <a:r>
              <a:rPr lang="en-US" sz="1400" dirty="0"/>
              <a:t>Integer </a:t>
            </a:r>
            <a:r>
              <a:rPr lang="en-US" sz="1400" b="1" i="1" dirty="0">
                <a:solidFill>
                  <a:srgbClr val="660E7A"/>
                </a:solidFill>
              </a:rPr>
              <a:t>READ_EXST </a:t>
            </a:r>
            <a:r>
              <a:rPr lang="en-US" sz="1400" dirty="0"/>
              <a:t>= </a:t>
            </a:r>
            <a:r>
              <a:rPr lang="en-US" sz="1400" dirty="0">
                <a:solidFill>
                  <a:srgbClr val="0000FF"/>
                </a:solidFill>
              </a:rPr>
              <a:t>2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 smtClean="0"/>
              <a:t>	</a:t>
            </a:r>
            <a:r>
              <a:rPr lang="en-US" sz="1400" b="1" dirty="0" smtClean="0">
                <a:solidFill>
                  <a:srgbClr val="000080"/>
                </a:solidFill>
              </a:rPr>
              <a:t>static </a:t>
            </a:r>
            <a:r>
              <a:rPr lang="en-US" sz="1400" b="1" dirty="0">
                <a:solidFill>
                  <a:srgbClr val="000080"/>
                </a:solidFill>
              </a:rPr>
              <a:t>final </a:t>
            </a:r>
            <a:r>
              <a:rPr lang="en-US" sz="1400" dirty="0"/>
              <a:t>Integer </a:t>
            </a:r>
            <a:r>
              <a:rPr lang="en-US" sz="1400" b="1" i="1" dirty="0">
                <a:solidFill>
                  <a:srgbClr val="660E7A"/>
                </a:solidFill>
              </a:rPr>
              <a:t>CAM </a:t>
            </a:r>
            <a:r>
              <a:rPr lang="en-US" sz="1400" dirty="0"/>
              <a:t>= </a:t>
            </a:r>
            <a:r>
              <a:rPr lang="en-US" sz="1400" dirty="0">
                <a:solidFill>
                  <a:srgbClr val="0000FF"/>
                </a:solidFill>
              </a:rPr>
              <a:t>3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 smtClean="0"/>
              <a:t>	</a:t>
            </a:r>
            <a:r>
              <a:rPr lang="en-US" sz="1400" b="1" dirty="0" smtClean="0">
                <a:solidFill>
                  <a:srgbClr val="000080"/>
                </a:solidFill>
              </a:rPr>
              <a:t>static </a:t>
            </a:r>
            <a:r>
              <a:rPr lang="en-US" sz="1400" b="1" dirty="0">
                <a:solidFill>
                  <a:srgbClr val="000080"/>
                </a:solidFill>
              </a:rPr>
              <a:t>final </a:t>
            </a:r>
            <a:r>
              <a:rPr lang="en-US" sz="1400" dirty="0"/>
              <a:t>Integer </a:t>
            </a:r>
            <a:r>
              <a:rPr lang="en-US" sz="1400" b="1" i="1" dirty="0">
                <a:solidFill>
                  <a:srgbClr val="660E7A"/>
                </a:solidFill>
              </a:rPr>
              <a:t>ACCOUNTS </a:t>
            </a:r>
            <a:r>
              <a:rPr lang="en-US" sz="1400" dirty="0"/>
              <a:t>= </a:t>
            </a:r>
            <a:r>
              <a:rPr lang="en-US" sz="1400" dirty="0">
                <a:solidFill>
                  <a:srgbClr val="0000FF"/>
                </a:solidFill>
              </a:rPr>
              <a:t>4</a:t>
            </a:r>
            <a:r>
              <a:rPr lang="en-US" sz="1400" dirty="0"/>
              <a:t>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3351370"/>
            <a:ext cx="8312658" cy="289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</a:rPr>
              <a:t>private void </a:t>
            </a:r>
            <a:r>
              <a:rPr lang="en-US" sz="1400" dirty="0" err="1"/>
              <a:t>askForPermission</a:t>
            </a:r>
            <a:r>
              <a:rPr lang="en-US" sz="1400" dirty="0"/>
              <a:t>(String permission, Integer </a:t>
            </a:r>
            <a:r>
              <a:rPr lang="en-US" sz="1400" dirty="0" err="1"/>
              <a:t>requestCode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{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b="1" dirty="0">
                <a:solidFill>
                  <a:srgbClr val="000080"/>
                </a:solidFill>
              </a:rPr>
              <a:t>if</a:t>
            </a:r>
            <a:r>
              <a:rPr lang="en-US" sz="1400" dirty="0"/>
              <a:t>(</a:t>
            </a:r>
            <a:r>
              <a:rPr lang="en-US" sz="1400" dirty="0" err="1"/>
              <a:t>ContextCompat.</a:t>
            </a:r>
            <a:r>
              <a:rPr lang="en-US" sz="1400" i="1" dirty="0" err="1"/>
              <a:t>checkSelfPermission</a:t>
            </a:r>
            <a:r>
              <a:rPr lang="en-US" sz="1400" dirty="0"/>
              <a:t>(</a:t>
            </a:r>
            <a:r>
              <a:rPr lang="en-US" sz="1400" dirty="0" err="1"/>
              <a:t>MainActivity.</a:t>
            </a:r>
            <a:r>
              <a:rPr lang="en-US" sz="1400" b="1" dirty="0" err="1">
                <a:solidFill>
                  <a:srgbClr val="000080"/>
                </a:solidFill>
              </a:rPr>
              <a:t>this</a:t>
            </a:r>
            <a:r>
              <a:rPr lang="en-US" sz="1400" dirty="0"/>
              <a:t>, permission)</a:t>
            </a:r>
            <a:br>
              <a:rPr lang="en-US" sz="1400" dirty="0"/>
            </a:br>
            <a:r>
              <a:rPr lang="en-US" sz="1400" dirty="0"/>
              <a:t>            != </a:t>
            </a:r>
            <a:r>
              <a:rPr lang="en-US" sz="1400" dirty="0" err="1"/>
              <a:t>PackageManager.</a:t>
            </a:r>
            <a:r>
              <a:rPr lang="en-US" sz="1400" b="1" i="1" dirty="0" err="1">
                <a:solidFill>
                  <a:srgbClr val="660E7A"/>
                </a:solidFill>
              </a:rPr>
              <a:t>PERMISSION_GRANTED</a:t>
            </a:r>
            <a:r>
              <a:rPr lang="en-US" sz="1400" dirty="0"/>
              <a:t>) {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b="1" dirty="0">
                <a:solidFill>
                  <a:srgbClr val="000080"/>
                </a:solidFill>
              </a:rPr>
              <a:t>if </a:t>
            </a:r>
            <a:r>
              <a:rPr lang="en-US" sz="1400" dirty="0"/>
              <a:t>(</a:t>
            </a:r>
            <a:r>
              <a:rPr lang="en-US" sz="1400" dirty="0" err="1"/>
              <a:t>ActivityCompat.</a:t>
            </a:r>
            <a:r>
              <a:rPr lang="en-US" sz="1400" i="1" dirty="0" err="1"/>
              <a:t>shouldShowRequestPermissionRationale</a:t>
            </a:r>
            <a:r>
              <a:rPr lang="en-US" sz="1400" dirty="0"/>
              <a:t>(</a:t>
            </a:r>
            <a:r>
              <a:rPr lang="en-US" sz="1400" dirty="0" err="1"/>
              <a:t>MainActivity.</a:t>
            </a:r>
            <a:r>
              <a:rPr lang="en-US" sz="1400" b="1" dirty="0" err="1">
                <a:solidFill>
                  <a:srgbClr val="000080"/>
                </a:solidFill>
              </a:rPr>
              <a:t>this</a:t>
            </a:r>
            <a:r>
              <a:rPr lang="en-US" sz="1400" dirty="0"/>
              <a:t>, permission)) {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ActivityCompat.</a:t>
            </a:r>
            <a:r>
              <a:rPr lang="en-US" sz="1400" i="1" dirty="0" err="1"/>
              <a:t>requestPermissions</a:t>
            </a:r>
            <a:r>
              <a:rPr lang="en-US" sz="1400" dirty="0"/>
              <a:t>(</a:t>
            </a:r>
            <a:r>
              <a:rPr lang="en-US" sz="1400" dirty="0" err="1"/>
              <a:t>MainActivity.</a:t>
            </a:r>
            <a:r>
              <a:rPr lang="en-US" sz="1400" b="1" dirty="0" err="1">
                <a:solidFill>
                  <a:srgbClr val="000080"/>
                </a:solidFill>
              </a:rPr>
              <a:t>this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000080"/>
                </a:solidFill>
              </a:rPr>
              <a:t>new </a:t>
            </a:r>
            <a:r>
              <a:rPr lang="en-US" sz="1400" dirty="0"/>
              <a:t>String[]{permission}, </a:t>
            </a:r>
            <a:r>
              <a:rPr lang="en-US" sz="1400" dirty="0" err="1"/>
              <a:t>requestCode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        } </a:t>
            </a:r>
            <a:r>
              <a:rPr lang="en-US" sz="1400" b="1" dirty="0">
                <a:solidFill>
                  <a:srgbClr val="000080"/>
                </a:solidFill>
              </a:rPr>
              <a:t>else </a:t>
            </a:r>
            <a:r>
              <a:rPr lang="en-US" sz="1400" dirty="0"/>
              <a:t>{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ActivityCompat.</a:t>
            </a:r>
            <a:r>
              <a:rPr lang="en-US" sz="1400" i="1" dirty="0" err="1"/>
              <a:t>requestPermissions</a:t>
            </a:r>
            <a:r>
              <a:rPr lang="en-US" sz="1400" dirty="0"/>
              <a:t>(</a:t>
            </a:r>
            <a:r>
              <a:rPr lang="en-US" sz="1400" dirty="0" err="1"/>
              <a:t>MainActivity.</a:t>
            </a:r>
            <a:r>
              <a:rPr lang="en-US" sz="1400" b="1" dirty="0" err="1">
                <a:solidFill>
                  <a:srgbClr val="000080"/>
                </a:solidFill>
              </a:rPr>
              <a:t>this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000080"/>
                </a:solidFill>
              </a:rPr>
              <a:t>new </a:t>
            </a:r>
            <a:r>
              <a:rPr lang="en-US" sz="1400" dirty="0"/>
              <a:t>String[]{permission}, </a:t>
            </a:r>
            <a:r>
              <a:rPr lang="en-US" sz="1400" dirty="0" err="1"/>
              <a:t>requestCode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        }</a:t>
            </a:r>
            <a:br>
              <a:rPr lang="en-US" sz="1400" dirty="0"/>
            </a:br>
            <a:r>
              <a:rPr lang="en-US" sz="1400" dirty="0"/>
              <a:t>    } </a:t>
            </a:r>
            <a:r>
              <a:rPr lang="en-US" sz="1400" b="1" dirty="0">
                <a:solidFill>
                  <a:srgbClr val="000080"/>
                </a:solidFill>
              </a:rPr>
              <a:t>else </a:t>
            </a:r>
            <a:r>
              <a:rPr lang="en-US" sz="1400" dirty="0"/>
              <a:t>{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dirty="0" err="1"/>
              <a:t>Toast.</a:t>
            </a:r>
            <a:r>
              <a:rPr lang="en-US" sz="1400" i="1" dirty="0" err="1"/>
              <a:t>makeText</a:t>
            </a:r>
            <a:r>
              <a:rPr lang="en-US" sz="1400" dirty="0"/>
              <a:t>(</a:t>
            </a:r>
            <a:r>
              <a:rPr lang="en-US" sz="1400" b="1" dirty="0">
                <a:solidFill>
                  <a:srgbClr val="000080"/>
                </a:solidFill>
              </a:rPr>
              <a:t>this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008000"/>
                </a:solidFill>
              </a:rPr>
              <a:t>"" </a:t>
            </a:r>
            <a:r>
              <a:rPr lang="en-US" sz="1400" dirty="0"/>
              <a:t>+ permission + </a:t>
            </a:r>
            <a:r>
              <a:rPr lang="en-US" sz="1400" b="1" dirty="0">
                <a:solidFill>
                  <a:srgbClr val="008000"/>
                </a:solidFill>
              </a:rPr>
              <a:t>" is already granted"</a:t>
            </a:r>
            <a:r>
              <a:rPr lang="en-US" sz="1400" dirty="0"/>
              <a:t>, </a:t>
            </a:r>
            <a:r>
              <a:rPr lang="en-US" sz="1400" dirty="0" err="1"/>
              <a:t>Toast.</a:t>
            </a:r>
            <a:r>
              <a:rPr lang="en-US" sz="1400" b="1" i="1" dirty="0" err="1">
                <a:solidFill>
                  <a:srgbClr val="660E7A"/>
                </a:solidFill>
              </a:rPr>
              <a:t>LENGTH_SHORT</a:t>
            </a:r>
            <a:r>
              <a:rPr lang="en-US" sz="1400" dirty="0"/>
              <a:t>).show();</a:t>
            </a:r>
            <a:br>
              <a:rPr lang="en-US" sz="1400" dirty="0"/>
            </a:br>
            <a:r>
              <a:rPr lang="en-US" sz="1400" dirty="0"/>
              <a:t>    }</a:t>
            </a:r>
            <a:br>
              <a:rPr lang="en-US" sz="1400" dirty="0"/>
            </a:br>
            <a:r>
              <a:rPr lang="en-US" sz="1400" dirty="0"/>
              <a:t>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78968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3143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RequestRuntimePermission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/java/</a:t>
            </a:r>
            <a:r>
              <a:rPr lang="en-US" altLang="ko-KR" dirty="0" err="1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987451"/>
            <a:ext cx="7846048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</a:rPr>
              <a:t>public void </a:t>
            </a:r>
            <a:r>
              <a:rPr lang="en-US" sz="1400" dirty="0"/>
              <a:t>ask(View v) {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b="1" dirty="0">
                <a:solidFill>
                  <a:srgbClr val="000080"/>
                </a:solidFill>
              </a:rPr>
              <a:t>switch </a:t>
            </a:r>
            <a:r>
              <a:rPr lang="en-US" sz="1400" dirty="0"/>
              <a:t>(</a:t>
            </a:r>
            <a:r>
              <a:rPr lang="en-US" sz="1400" dirty="0" err="1"/>
              <a:t>v.getId</a:t>
            </a:r>
            <a:r>
              <a:rPr lang="en-US" sz="1400" dirty="0"/>
              <a:t>()) {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b="1" dirty="0">
                <a:solidFill>
                  <a:srgbClr val="000080"/>
                </a:solidFill>
              </a:rPr>
              <a:t>case </a:t>
            </a:r>
            <a:r>
              <a:rPr lang="en-US" sz="1400" dirty="0" err="1"/>
              <a:t>R.id.</a:t>
            </a:r>
            <a:r>
              <a:rPr lang="en-US" sz="1400" b="1" i="1" dirty="0" err="1">
                <a:solidFill>
                  <a:srgbClr val="660E7A"/>
                </a:solidFill>
              </a:rPr>
              <a:t>call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askForPermission</a:t>
            </a:r>
            <a:r>
              <a:rPr lang="en-US" sz="1400" dirty="0"/>
              <a:t>(</a:t>
            </a:r>
            <a:r>
              <a:rPr lang="en-US" sz="1400" dirty="0" err="1"/>
              <a:t>Manifest.permission.</a:t>
            </a:r>
            <a:r>
              <a:rPr lang="en-US" sz="1400" b="1" i="1" dirty="0" err="1">
                <a:solidFill>
                  <a:srgbClr val="660E7A"/>
                </a:solidFill>
              </a:rPr>
              <a:t>CALL_PHONE</a:t>
            </a:r>
            <a:r>
              <a:rPr lang="en-US" sz="1400" dirty="0"/>
              <a:t>, </a:t>
            </a:r>
            <a:r>
              <a:rPr lang="en-US" sz="1400" b="1" i="1" dirty="0">
                <a:solidFill>
                  <a:srgbClr val="660E7A"/>
                </a:solidFill>
              </a:rPr>
              <a:t>CALL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b="1" dirty="0">
                <a:solidFill>
                  <a:srgbClr val="000080"/>
                </a:solidFill>
              </a:rPr>
              <a:t>break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b="1" dirty="0">
                <a:solidFill>
                  <a:srgbClr val="000080"/>
                </a:solidFill>
              </a:rPr>
              <a:t>case </a:t>
            </a:r>
            <a:r>
              <a:rPr lang="en-US" sz="1400" dirty="0" err="1"/>
              <a:t>R.id.</a:t>
            </a:r>
            <a:r>
              <a:rPr lang="en-US" sz="1400" b="1" i="1" dirty="0" err="1">
                <a:solidFill>
                  <a:srgbClr val="660E7A"/>
                </a:solidFill>
              </a:rPr>
              <a:t>read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askForPermission</a:t>
            </a:r>
            <a:r>
              <a:rPr lang="en-US" sz="1400" dirty="0"/>
              <a:t>(</a:t>
            </a:r>
            <a:r>
              <a:rPr lang="en-US" sz="1400" dirty="0" err="1"/>
              <a:t>Manifest.permission.</a:t>
            </a:r>
            <a:r>
              <a:rPr lang="en-US" sz="1400" b="1" i="1" dirty="0" err="1">
                <a:solidFill>
                  <a:srgbClr val="660E7A"/>
                </a:solidFill>
              </a:rPr>
              <a:t>READ_EXTERNAL_STORAGE</a:t>
            </a:r>
            <a:r>
              <a:rPr lang="en-US" sz="1400" dirty="0"/>
              <a:t>, </a:t>
            </a:r>
            <a:r>
              <a:rPr lang="en-US" sz="1400" b="1" i="1" dirty="0">
                <a:solidFill>
                  <a:srgbClr val="660E7A"/>
                </a:solidFill>
              </a:rPr>
              <a:t>READ_EXST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b="1" dirty="0">
                <a:solidFill>
                  <a:srgbClr val="000080"/>
                </a:solidFill>
              </a:rPr>
              <a:t>break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b="1" dirty="0">
                <a:solidFill>
                  <a:srgbClr val="000080"/>
                </a:solidFill>
              </a:rPr>
              <a:t>case </a:t>
            </a:r>
            <a:r>
              <a:rPr lang="en-US" sz="1400" dirty="0" err="1"/>
              <a:t>R.id.</a:t>
            </a:r>
            <a:r>
              <a:rPr lang="en-US" sz="1400" b="1" i="1" dirty="0" err="1">
                <a:solidFill>
                  <a:srgbClr val="660E7A"/>
                </a:solidFill>
              </a:rPr>
              <a:t>camera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askForPermission</a:t>
            </a:r>
            <a:r>
              <a:rPr lang="en-US" sz="1400" dirty="0"/>
              <a:t>(</a:t>
            </a:r>
            <a:r>
              <a:rPr lang="en-US" sz="1400" dirty="0" err="1"/>
              <a:t>Manifest.permission.</a:t>
            </a:r>
            <a:r>
              <a:rPr lang="en-US" sz="1400" b="1" i="1" dirty="0" err="1">
                <a:solidFill>
                  <a:srgbClr val="660E7A"/>
                </a:solidFill>
              </a:rPr>
              <a:t>CAMERA</a:t>
            </a:r>
            <a:r>
              <a:rPr lang="en-US" sz="1400" dirty="0"/>
              <a:t>, </a:t>
            </a:r>
            <a:r>
              <a:rPr lang="en-US" sz="1400" b="1" i="1" dirty="0">
                <a:solidFill>
                  <a:srgbClr val="660E7A"/>
                </a:solidFill>
              </a:rPr>
              <a:t>CAM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b="1" dirty="0">
                <a:solidFill>
                  <a:srgbClr val="000080"/>
                </a:solidFill>
              </a:rPr>
              <a:t>break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b="1" dirty="0">
                <a:solidFill>
                  <a:srgbClr val="000080"/>
                </a:solidFill>
              </a:rPr>
              <a:t>case </a:t>
            </a:r>
            <a:r>
              <a:rPr lang="en-US" sz="1400" dirty="0" err="1"/>
              <a:t>R.id.</a:t>
            </a:r>
            <a:r>
              <a:rPr lang="en-US" sz="1400" b="1" i="1" dirty="0" err="1">
                <a:solidFill>
                  <a:srgbClr val="660E7A"/>
                </a:solidFill>
              </a:rPr>
              <a:t>accounts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askForPermission</a:t>
            </a:r>
            <a:r>
              <a:rPr lang="en-US" sz="1400" dirty="0"/>
              <a:t>(</a:t>
            </a:r>
            <a:r>
              <a:rPr lang="en-US" sz="1400" dirty="0" err="1"/>
              <a:t>Manifest.permission.</a:t>
            </a:r>
            <a:r>
              <a:rPr lang="en-US" sz="1400" b="1" i="1" dirty="0" err="1">
                <a:solidFill>
                  <a:srgbClr val="660E7A"/>
                </a:solidFill>
              </a:rPr>
              <a:t>GET_ACCOUNTS</a:t>
            </a:r>
            <a:r>
              <a:rPr lang="en-US" sz="1400" dirty="0"/>
              <a:t>, </a:t>
            </a:r>
            <a:r>
              <a:rPr lang="en-US" sz="1400" b="1" i="1" dirty="0">
                <a:solidFill>
                  <a:srgbClr val="660E7A"/>
                </a:solidFill>
              </a:rPr>
              <a:t>ACCOUNTS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b="1" dirty="0">
                <a:solidFill>
                  <a:srgbClr val="000080"/>
                </a:solidFill>
              </a:rPr>
              <a:t>break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b="1" dirty="0">
                <a:solidFill>
                  <a:srgbClr val="000080"/>
                </a:solidFill>
              </a:rPr>
              <a:t>default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b="1" dirty="0">
                <a:solidFill>
                  <a:srgbClr val="000080"/>
                </a:solidFill>
              </a:rPr>
              <a:t>break</a:t>
            </a:r>
            <a:r>
              <a:rPr lang="en-US" sz="1400" dirty="0"/>
              <a:t>;</a:t>
            </a:r>
            <a:br>
              <a:rPr lang="en-US" sz="1400" dirty="0"/>
            </a:br>
            <a:r>
              <a:rPr lang="en-US" sz="1400" dirty="0"/>
              <a:t>    }</a:t>
            </a:r>
            <a:br>
              <a:rPr lang="en-US" sz="1400" dirty="0"/>
            </a:br>
            <a:r>
              <a:rPr lang="en-US" sz="1400" dirty="0"/>
              <a:t>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8776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3143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RequestRuntimePermission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/java/</a:t>
            </a:r>
            <a:r>
              <a:rPr lang="en-US" altLang="ko-KR" dirty="0" err="1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7264" y="1902107"/>
            <a:ext cx="8778240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808000"/>
                </a:solidFill>
              </a:rPr>
              <a:t>@Override</a:t>
            </a:r>
            <a:br>
              <a:rPr lang="en-US" sz="1300" dirty="0">
                <a:solidFill>
                  <a:srgbClr val="808000"/>
                </a:solidFill>
              </a:rPr>
            </a:br>
            <a:r>
              <a:rPr lang="en-US" sz="1300" b="1" dirty="0">
                <a:solidFill>
                  <a:srgbClr val="000080"/>
                </a:solidFill>
              </a:rPr>
              <a:t>public void </a:t>
            </a:r>
            <a:r>
              <a:rPr lang="en-US" sz="1300" dirty="0" err="1"/>
              <a:t>onRequestPermissionsResult</a:t>
            </a:r>
            <a:r>
              <a:rPr lang="en-US" sz="1300" dirty="0"/>
              <a:t>(</a:t>
            </a:r>
            <a:r>
              <a:rPr lang="en-US" sz="1300" b="1" dirty="0" err="1">
                <a:solidFill>
                  <a:srgbClr val="000080"/>
                </a:solidFill>
              </a:rPr>
              <a:t>int</a:t>
            </a:r>
            <a:r>
              <a:rPr lang="en-US" sz="1300" b="1" dirty="0">
                <a:solidFill>
                  <a:srgbClr val="000080"/>
                </a:solidFill>
              </a:rPr>
              <a:t> </a:t>
            </a:r>
            <a:r>
              <a:rPr lang="en-US" sz="1300" dirty="0" err="1"/>
              <a:t>requestCode</a:t>
            </a:r>
            <a:r>
              <a:rPr lang="en-US" sz="1300" dirty="0"/>
              <a:t>, String permissions[], </a:t>
            </a:r>
            <a:r>
              <a:rPr lang="en-US" sz="1300" b="1" dirty="0" err="1">
                <a:solidFill>
                  <a:srgbClr val="000080"/>
                </a:solidFill>
              </a:rPr>
              <a:t>int</a:t>
            </a:r>
            <a:r>
              <a:rPr lang="en-US" sz="1300" dirty="0"/>
              <a:t>[] </a:t>
            </a:r>
            <a:r>
              <a:rPr lang="en-US" sz="1300" dirty="0" err="1"/>
              <a:t>grantResults</a:t>
            </a:r>
            <a:r>
              <a:rPr lang="en-US" sz="1300" dirty="0"/>
              <a:t>) {</a:t>
            </a:r>
            <a:br>
              <a:rPr lang="en-US" sz="1300" dirty="0"/>
            </a:br>
            <a:r>
              <a:rPr lang="en-US" sz="1300" dirty="0"/>
              <a:t>    </a:t>
            </a:r>
            <a:r>
              <a:rPr lang="en-US" sz="1300" b="1" dirty="0" err="1">
                <a:solidFill>
                  <a:srgbClr val="000080"/>
                </a:solidFill>
              </a:rPr>
              <a:t>super</a:t>
            </a:r>
            <a:r>
              <a:rPr lang="en-US" sz="1300" dirty="0" err="1"/>
              <a:t>.onRequestPermissionsResult</a:t>
            </a:r>
            <a:r>
              <a:rPr lang="en-US" sz="1300" dirty="0"/>
              <a:t>(</a:t>
            </a:r>
            <a:r>
              <a:rPr lang="en-US" sz="1300" dirty="0" err="1"/>
              <a:t>requestCode</a:t>
            </a:r>
            <a:r>
              <a:rPr lang="en-US" sz="1300" dirty="0"/>
              <a:t>, permissions, </a:t>
            </a:r>
            <a:r>
              <a:rPr lang="en-US" sz="1300" dirty="0" err="1"/>
              <a:t>grantResults</a:t>
            </a:r>
            <a:r>
              <a:rPr lang="en-US" sz="1300" dirty="0"/>
              <a:t>);</a:t>
            </a:r>
            <a:br>
              <a:rPr lang="en-US" sz="1300" dirty="0"/>
            </a:br>
            <a:r>
              <a:rPr lang="en-US" sz="1300" dirty="0"/>
              <a:t>    </a:t>
            </a:r>
            <a:r>
              <a:rPr lang="en-US" sz="1300" b="1" dirty="0">
                <a:solidFill>
                  <a:srgbClr val="000080"/>
                </a:solidFill>
              </a:rPr>
              <a:t>if</a:t>
            </a:r>
            <a:r>
              <a:rPr lang="en-US" sz="1300" dirty="0"/>
              <a:t>(</a:t>
            </a:r>
            <a:r>
              <a:rPr lang="en-US" sz="1300" dirty="0" err="1"/>
              <a:t>ActivityCompat.</a:t>
            </a:r>
            <a:r>
              <a:rPr lang="en-US" sz="1300" i="1" dirty="0" err="1"/>
              <a:t>checkSelfPermission</a:t>
            </a:r>
            <a:r>
              <a:rPr lang="en-US" sz="1300" dirty="0"/>
              <a:t>(</a:t>
            </a:r>
            <a:r>
              <a:rPr lang="en-US" sz="1300" b="1" dirty="0">
                <a:solidFill>
                  <a:srgbClr val="000080"/>
                </a:solidFill>
              </a:rPr>
              <a:t>this</a:t>
            </a:r>
            <a:r>
              <a:rPr lang="en-US" sz="1300" dirty="0"/>
              <a:t>, permissions[</a:t>
            </a:r>
            <a:r>
              <a:rPr lang="en-US" sz="1300" dirty="0">
                <a:solidFill>
                  <a:srgbClr val="0000FF"/>
                </a:solidFill>
              </a:rPr>
              <a:t>0</a:t>
            </a:r>
            <a:r>
              <a:rPr lang="en-US" sz="1300" dirty="0"/>
              <a:t>]) == </a:t>
            </a:r>
            <a:r>
              <a:rPr lang="en-US" sz="1300" dirty="0" err="1"/>
              <a:t>PackageManager.</a:t>
            </a:r>
            <a:r>
              <a:rPr lang="en-US" sz="1300" b="1" i="1" dirty="0" err="1">
                <a:solidFill>
                  <a:srgbClr val="660E7A"/>
                </a:solidFill>
              </a:rPr>
              <a:t>PERMISSION_GRANTED</a:t>
            </a:r>
            <a:r>
              <a:rPr lang="en-US" sz="1300" dirty="0"/>
              <a:t>) {</a:t>
            </a:r>
            <a:br>
              <a:rPr lang="en-US" sz="1300" dirty="0"/>
            </a:br>
            <a:r>
              <a:rPr lang="en-US" sz="1300" dirty="0"/>
              <a:t>        </a:t>
            </a:r>
            <a:r>
              <a:rPr lang="en-US" sz="1300" b="1" dirty="0">
                <a:solidFill>
                  <a:srgbClr val="000080"/>
                </a:solidFill>
              </a:rPr>
              <a:t>switch </a:t>
            </a:r>
            <a:r>
              <a:rPr lang="en-US" sz="1300" dirty="0"/>
              <a:t>(</a:t>
            </a:r>
            <a:r>
              <a:rPr lang="en-US" sz="1300" dirty="0" err="1"/>
              <a:t>requestCode</a:t>
            </a:r>
            <a:r>
              <a:rPr lang="en-US" sz="1300" dirty="0"/>
              <a:t>) {</a:t>
            </a:r>
            <a:br>
              <a:rPr lang="en-US" sz="1300" dirty="0"/>
            </a:br>
            <a:r>
              <a:rPr lang="en-US" sz="1300" dirty="0"/>
              <a:t>            </a:t>
            </a:r>
            <a:r>
              <a:rPr lang="en-US" sz="1300" b="1" dirty="0">
                <a:solidFill>
                  <a:srgbClr val="000080"/>
                </a:solidFill>
              </a:rPr>
              <a:t>case </a:t>
            </a:r>
            <a:r>
              <a:rPr lang="en-US" sz="1300" dirty="0">
                <a:solidFill>
                  <a:srgbClr val="0000FF"/>
                </a:solidFill>
              </a:rPr>
              <a:t>1</a:t>
            </a:r>
            <a:r>
              <a:rPr lang="en-US" sz="1300" dirty="0"/>
              <a:t>: </a:t>
            </a:r>
            <a:r>
              <a:rPr lang="en-US" sz="1300" i="1" dirty="0">
                <a:solidFill>
                  <a:srgbClr val="808080"/>
                </a:solidFill>
              </a:rPr>
              <a:t>// Call</a:t>
            </a:r>
            <a:br>
              <a:rPr lang="en-US" sz="1300" i="1" dirty="0">
                <a:solidFill>
                  <a:srgbClr val="808080"/>
                </a:solidFill>
              </a:rPr>
            </a:br>
            <a:r>
              <a:rPr lang="en-US" sz="1300" i="1" dirty="0">
                <a:solidFill>
                  <a:srgbClr val="808080"/>
                </a:solidFill>
              </a:rPr>
              <a:t>                </a:t>
            </a:r>
            <a:r>
              <a:rPr lang="en-US" sz="1300" dirty="0"/>
              <a:t>Intent </a:t>
            </a:r>
            <a:r>
              <a:rPr lang="en-US" sz="1300" dirty="0" err="1"/>
              <a:t>callIntent</a:t>
            </a:r>
            <a:r>
              <a:rPr lang="en-US" sz="1300" dirty="0"/>
              <a:t> = </a:t>
            </a:r>
            <a:r>
              <a:rPr lang="en-US" sz="1300" b="1" dirty="0">
                <a:solidFill>
                  <a:srgbClr val="000080"/>
                </a:solidFill>
              </a:rPr>
              <a:t>new </a:t>
            </a:r>
            <a:r>
              <a:rPr lang="en-US" sz="1300" dirty="0"/>
              <a:t>Intent(</a:t>
            </a:r>
            <a:r>
              <a:rPr lang="en-US" sz="1300" dirty="0" err="1"/>
              <a:t>Intent.</a:t>
            </a:r>
            <a:r>
              <a:rPr lang="en-US" sz="1300" b="1" i="1" dirty="0" err="1">
                <a:solidFill>
                  <a:srgbClr val="660E7A"/>
                </a:solidFill>
              </a:rPr>
              <a:t>ACTION_CALL</a:t>
            </a:r>
            <a:r>
              <a:rPr lang="en-US" sz="1300" dirty="0"/>
              <a:t>);</a:t>
            </a:r>
            <a:br>
              <a:rPr lang="en-US" sz="1300" dirty="0"/>
            </a:br>
            <a:r>
              <a:rPr lang="en-US" sz="1300" dirty="0"/>
              <a:t>                </a:t>
            </a:r>
            <a:r>
              <a:rPr lang="en-US" sz="1300" dirty="0" err="1"/>
              <a:t>callIntent.setData</a:t>
            </a:r>
            <a:r>
              <a:rPr lang="en-US" sz="1300" dirty="0"/>
              <a:t>(</a:t>
            </a:r>
            <a:r>
              <a:rPr lang="en-US" sz="1300" dirty="0" err="1"/>
              <a:t>Uri.</a:t>
            </a:r>
            <a:r>
              <a:rPr lang="en-US" sz="1300" i="1" dirty="0" err="1"/>
              <a:t>parse</a:t>
            </a:r>
            <a:r>
              <a:rPr lang="en-US" sz="1300" dirty="0"/>
              <a:t>(</a:t>
            </a:r>
            <a:r>
              <a:rPr lang="en-US" sz="1300" b="1" dirty="0">
                <a:solidFill>
                  <a:srgbClr val="008000"/>
                </a:solidFill>
              </a:rPr>
              <a:t>"</a:t>
            </a:r>
            <a:r>
              <a:rPr lang="en-US" sz="1300" b="1" dirty="0" err="1">
                <a:solidFill>
                  <a:srgbClr val="008000"/>
                </a:solidFill>
              </a:rPr>
              <a:t>tel</a:t>
            </a:r>
            <a:r>
              <a:rPr lang="en-US" sz="1300" b="1" dirty="0">
                <a:solidFill>
                  <a:srgbClr val="008000"/>
                </a:solidFill>
              </a:rPr>
              <a:t>:" </a:t>
            </a:r>
            <a:r>
              <a:rPr lang="en-US" sz="1300" dirty="0"/>
              <a:t>+ </a:t>
            </a:r>
            <a:r>
              <a:rPr lang="en-US" sz="1300" b="1" dirty="0">
                <a:solidFill>
                  <a:srgbClr val="008000"/>
                </a:solidFill>
              </a:rPr>
              <a:t>"{This is a telephone number}"</a:t>
            </a:r>
            <a:r>
              <a:rPr lang="en-US" sz="1300" dirty="0"/>
              <a:t>));</a:t>
            </a:r>
            <a:br>
              <a:rPr lang="en-US" sz="1300" dirty="0"/>
            </a:br>
            <a:r>
              <a:rPr lang="en-US" sz="1300" dirty="0"/>
              <a:t>                </a:t>
            </a:r>
            <a:r>
              <a:rPr lang="en-US" sz="1300" b="1" dirty="0">
                <a:solidFill>
                  <a:srgbClr val="000080"/>
                </a:solidFill>
              </a:rPr>
              <a:t>if </a:t>
            </a:r>
            <a:r>
              <a:rPr lang="en-US" sz="1300" dirty="0"/>
              <a:t>(</a:t>
            </a:r>
            <a:r>
              <a:rPr lang="en-US" sz="1300" dirty="0" err="1"/>
              <a:t>ActivityCompat.</a:t>
            </a:r>
            <a:r>
              <a:rPr lang="en-US" sz="1300" i="1" dirty="0" err="1"/>
              <a:t>checkSelfPermission</a:t>
            </a:r>
            <a:r>
              <a:rPr lang="en-US" sz="1300" dirty="0"/>
              <a:t>(</a:t>
            </a:r>
            <a:r>
              <a:rPr lang="en-US" sz="1300" b="1" dirty="0">
                <a:solidFill>
                  <a:srgbClr val="000080"/>
                </a:solidFill>
              </a:rPr>
              <a:t>this</a:t>
            </a:r>
            <a:r>
              <a:rPr lang="en-US" sz="1300" dirty="0"/>
              <a:t>, </a:t>
            </a:r>
            <a:r>
              <a:rPr lang="en-US" sz="1300" dirty="0" err="1"/>
              <a:t>Manifest.permission.</a:t>
            </a:r>
            <a:r>
              <a:rPr lang="en-US" sz="1300" b="1" i="1" dirty="0" err="1">
                <a:solidFill>
                  <a:srgbClr val="660E7A"/>
                </a:solidFill>
              </a:rPr>
              <a:t>CALL_PHONE</a:t>
            </a:r>
            <a:r>
              <a:rPr lang="en-US" sz="1300" dirty="0"/>
              <a:t>) != </a:t>
            </a:r>
            <a:r>
              <a:rPr lang="en-US" sz="1300" dirty="0" err="1"/>
              <a:t>PackageManager.</a:t>
            </a:r>
            <a:r>
              <a:rPr lang="en-US" sz="1300" b="1" i="1" dirty="0" err="1">
                <a:solidFill>
                  <a:srgbClr val="660E7A"/>
                </a:solidFill>
              </a:rPr>
              <a:t>PERMISSION_GRANTED</a:t>
            </a:r>
            <a:r>
              <a:rPr lang="en-US" sz="1300" dirty="0"/>
              <a:t>) {</a:t>
            </a:r>
            <a:br>
              <a:rPr lang="en-US" sz="1300" dirty="0"/>
            </a:br>
            <a:r>
              <a:rPr lang="en-US" sz="1300" dirty="0"/>
              <a:t>                    </a:t>
            </a:r>
            <a:r>
              <a:rPr lang="en-US" sz="1300" dirty="0" err="1"/>
              <a:t>startActivity</a:t>
            </a:r>
            <a:r>
              <a:rPr lang="en-US" sz="1300" dirty="0"/>
              <a:t>(</a:t>
            </a:r>
            <a:r>
              <a:rPr lang="en-US" sz="1300" dirty="0" err="1"/>
              <a:t>callIntent</a:t>
            </a:r>
            <a:r>
              <a:rPr lang="en-US" sz="1300" dirty="0"/>
              <a:t>);</a:t>
            </a:r>
            <a:br>
              <a:rPr lang="en-US" sz="1300" dirty="0"/>
            </a:br>
            <a:r>
              <a:rPr lang="en-US" sz="1300" dirty="0"/>
              <a:t>                }</a:t>
            </a:r>
            <a:br>
              <a:rPr lang="en-US" sz="1300" dirty="0"/>
            </a:br>
            <a:r>
              <a:rPr lang="en-US" sz="1300" dirty="0"/>
              <a:t>                </a:t>
            </a:r>
            <a:r>
              <a:rPr lang="en-US" sz="1300" b="1" dirty="0">
                <a:solidFill>
                  <a:srgbClr val="000080"/>
                </a:solidFill>
              </a:rPr>
              <a:t>break</a:t>
            </a:r>
            <a:r>
              <a:rPr lang="en-US" sz="1300" dirty="0"/>
              <a:t>;</a:t>
            </a:r>
            <a:br>
              <a:rPr lang="en-US" sz="1300" dirty="0"/>
            </a:br>
            <a:r>
              <a:rPr lang="en-US" sz="1300" dirty="0"/>
              <a:t>            </a:t>
            </a:r>
            <a:r>
              <a:rPr lang="en-US" sz="1300" b="1" dirty="0">
                <a:solidFill>
                  <a:srgbClr val="000080"/>
                </a:solidFill>
              </a:rPr>
              <a:t>case </a:t>
            </a:r>
            <a:r>
              <a:rPr lang="en-US" sz="1300" dirty="0">
                <a:solidFill>
                  <a:srgbClr val="0000FF"/>
                </a:solidFill>
              </a:rPr>
              <a:t>2</a:t>
            </a:r>
            <a:r>
              <a:rPr lang="en-US" sz="1300" dirty="0"/>
              <a:t>: </a:t>
            </a:r>
            <a:r>
              <a:rPr lang="en-US" sz="1300" i="1" dirty="0">
                <a:solidFill>
                  <a:srgbClr val="808080"/>
                </a:solidFill>
              </a:rPr>
              <a:t>// Read EX ST</a:t>
            </a:r>
            <a:br>
              <a:rPr lang="en-US" sz="1300" i="1" dirty="0">
                <a:solidFill>
                  <a:srgbClr val="808080"/>
                </a:solidFill>
              </a:rPr>
            </a:br>
            <a:r>
              <a:rPr lang="en-US" sz="1300" i="1" dirty="0">
                <a:solidFill>
                  <a:srgbClr val="808080"/>
                </a:solidFill>
              </a:rPr>
              <a:t>                </a:t>
            </a:r>
            <a:r>
              <a:rPr lang="en-US" sz="1300" dirty="0"/>
              <a:t>Intent </a:t>
            </a:r>
            <a:r>
              <a:rPr lang="en-US" sz="1300" dirty="0" err="1"/>
              <a:t>imageIntent</a:t>
            </a:r>
            <a:r>
              <a:rPr lang="en-US" sz="1300" dirty="0"/>
              <a:t> = </a:t>
            </a:r>
            <a:r>
              <a:rPr lang="en-US" sz="1300" b="1" dirty="0">
                <a:solidFill>
                  <a:srgbClr val="000080"/>
                </a:solidFill>
              </a:rPr>
              <a:t>new </a:t>
            </a:r>
            <a:r>
              <a:rPr lang="en-US" sz="1300" dirty="0"/>
              <a:t>Intent(</a:t>
            </a:r>
            <a:r>
              <a:rPr lang="en-US" sz="1300" dirty="0" err="1"/>
              <a:t>Intent.</a:t>
            </a:r>
            <a:r>
              <a:rPr lang="en-US" sz="1300" b="1" i="1" dirty="0" err="1">
                <a:solidFill>
                  <a:srgbClr val="660E7A"/>
                </a:solidFill>
              </a:rPr>
              <a:t>ACTION_PICK</a:t>
            </a:r>
            <a:r>
              <a:rPr lang="en-US" sz="1300" dirty="0"/>
              <a:t>, </a:t>
            </a:r>
            <a:r>
              <a:rPr lang="en-US" sz="1300" dirty="0" err="1"/>
              <a:t>MediaStore.Images.Media.</a:t>
            </a:r>
            <a:r>
              <a:rPr lang="en-US" sz="1300" b="1" i="1" dirty="0" err="1">
                <a:solidFill>
                  <a:srgbClr val="660E7A"/>
                </a:solidFill>
              </a:rPr>
              <a:t>EXTERNAL_CONTENT_URI</a:t>
            </a:r>
            <a:r>
              <a:rPr lang="en-US" sz="1300" dirty="0"/>
              <a:t>);</a:t>
            </a:r>
            <a:br>
              <a:rPr lang="en-US" sz="1300" dirty="0"/>
            </a:br>
            <a:r>
              <a:rPr lang="en-US" sz="1300" dirty="0"/>
              <a:t>                </a:t>
            </a:r>
            <a:r>
              <a:rPr lang="en-US" sz="1300" dirty="0" err="1"/>
              <a:t>startActivityForResult</a:t>
            </a:r>
            <a:r>
              <a:rPr lang="en-US" sz="1300" dirty="0"/>
              <a:t>(</a:t>
            </a:r>
            <a:r>
              <a:rPr lang="en-US" sz="1300" dirty="0" err="1"/>
              <a:t>imageIntent</a:t>
            </a:r>
            <a:r>
              <a:rPr lang="en-US" sz="1300" dirty="0"/>
              <a:t>, </a:t>
            </a:r>
            <a:r>
              <a:rPr lang="en-US" sz="1300" dirty="0">
                <a:solidFill>
                  <a:srgbClr val="0000FF"/>
                </a:solidFill>
              </a:rPr>
              <a:t>2</a:t>
            </a:r>
            <a:r>
              <a:rPr lang="en-US" sz="1300" dirty="0"/>
              <a:t>);</a:t>
            </a:r>
            <a:br>
              <a:rPr lang="en-US" sz="1300" dirty="0"/>
            </a:br>
            <a:r>
              <a:rPr lang="en-US" sz="1300" dirty="0"/>
              <a:t>                </a:t>
            </a:r>
            <a:r>
              <a:rPr lang="en-US" sz="1300" b="1" dirty="0">
                <a:solidFill>
                  <a:srgbClr val="000080"/>
                </a:solidFill>
              </a:rPr>
              <a:t>break</a:t>
            </a:r>
            <a:r>
              <a:rPr lang="en-US" sz="1300" dirty="0"/>
              <a:t>;</a:t>
            </a:r>
            <a:br>
              <a:rPr lang="en-US" sz="1300" dirty="0"/>
            </a:br>
            <a:r>
              <a:rPr lang="en-US" sz="1300" dirty="0"/>
              <a:t>            </a:t>
            </a:r>
            <a:r>
              <a:rPr lang="en-US" sz="1300" b="1" dirty="0">
                <a:solidFill>
                  <a:srgbClr val="000080"/>
                </a:solidFill>
              </a:rPr>
              <a:t>case </a:t>
            </a:r>
            <a:r>
              <a:rPr lang="en-US" sz="1300" dirty="0">
                <a:solidFill>
                  <a:srgbClr val="0000FF"/>
                </a:solidFill>
              </a:rPr>
              <a:t>3</a:t>
            </a:r>
            <a:r>
              <a:rPr lang="en-US" sz="1300" dirty="0"/>
              <a:t>: </a:t>
            </a:r>
            <a:r>
              <a:rPr lang="en-US" sz="1300" i="1" dirty="0">
                <a:solidFill>
                  <a:srgbClr val="808080"/>
                </a:solidFill>
              </a:rPr>
              <a:t>// Camera</a:t>
            </a:r>
            <a:br>
              <a:rPr lang="en-US" sz="1300" i="1" dirty="0">
                <a:solidFill>
                  <a:srgbClr val="808080"/>
                </a:solidFill>
              </a:rPr>
            </a:br>
            <a:r>
              <a:rPr lang="en-US" sz="1300" i="1" dirty="0">
                <a:solidFill>
                  <a:srgbClr val="808080"/>
                </a:solidFill>
              </a:rPr>
              <a:t>                </a:t>
            </a:r>
            <a:r>
              <a:rPr lang="en-US" sz="1300" dirty="0"/>
              <a:t>Intent </a:t>
            </a:r>
            <a:r>
              <a:rPr lang="en-US" sz="1300" dirty="0" err="1"/>
              <a:t>takePictureIntent</a:t>
            </a:r>
            <a:r>
              <a:rPr lang="en-US" sz="1300" dirty="0"/>
              <a:t> = </a:t>
            </a:r>
            <a:r>
              <a:rPr lang="en-US" sz="1300" b="1" dirty="0">
                <a:solidFill>
                  <a:srgbClr val="000080"/>
                </a:solidFill>
              </a:rPr>
              <a:t>new </a:t>
            </a:r>
            <a:r>
              <a:rPr lang="en-US" sz="1300" dirty="0"/>
              <a:t>Intent(</a:t>
            </a:r>
            <a:r>
              <a:rPr lang="en-US" sz="1300" dirty="0" err="1"/>
              <a:t>MediaStore.</a:t>
            </a:r>
            <a:r>
              <a:rPr lang="en-US" sz="1300" b="1" i="1" dirty="0" err="1">
                <a:solidFill>
                  <a:srgbClr val="660E7A"/>
                </a:solidFill>
              </a:rPr>
              <a:t>ACTION_IMAGE_CAPTURE</a:t>
            </a:r>
            <a:r>
              <a:rPr lang="en-US" sz="1300" dirty="0"/>
              <a:t>);</a:t>
            </a:r>
            <a:br>
              <a:rPr lang="en-US" sz="1300" dirty="0"/>
            </a:br>
            <a:r>
              <a:rPr lang="en-US" sz="1300" dirty="0"/>
              <a:t>                </a:t>
            </a:r>
            <a:r>
              <a:rPr lang="en-US" sz="1300" b="1" dirty="0">
                <a:solidFill>
                  <a:srgbClr val="000080"/>
                </a:solidFill>
              </a:rPr>
              <a:t>if</a:t>
            </a:r>
            <a:r>
              <a:rPr lang="en-US" sz="1300" dirty="0"/>
              <a:t>(</a:t>
            </a:r>
            <a:r>
              <a:rPr lang="en-US" sz="1300" dirty="0" err="1"/>
              <a:t>takePictureIntent.resolveActivity</a:t>
            </a:r>
            <a:r>
              <a:rPr lang="en-US" sz="1300" dirty="0"/>
              <a:t>(</a:t>
            </a:r>
            <a:r>
              <a:rPr lang="en-US" sz="1300" dirty="0" err="1"/>
              <a:t>getPackageManager</a:t>
            </a:r>
            <a:r>
              <a:rPr lang="en-US" sz="1300" dirty="0"/>
              <a:t>()) != </a:t>
            </a:r>
            <a:r>
              <a:rPr lang="en-US" sz="1300" b="1" dirty="0">
                <a:solidFill>
                  <a:srgbClr val="000080"/>
                </a:solidFill>
              </a:rPr>
              <a:t>null</a:t>
            </a:r>
            <a:r>
              <a:rPr lang="en-US" sz="1300" dirty="0"/>
              <a:t>) {</a:t>
            </a:r>
            <a:br>
              <a:rPr lang="en-US" sz="1300" dirty="0"/>
            </a:br>
            <a:r>
              <a:rPr lang="en-US" sz="1300" dirty="0"/>
              <a:t>                    </a:t>
            </a:r>
            <a:r>
              <a:rPr lang="en-US" sz="1300" dirty="0" err="1"/>
              <a:t>startActivityForResult</a:t>
            </a:r>
            <a:r>
              <a:rPr lang="en-US" sz="1300" dirty="0"/>
              <a:t>(</a:t>
            </a:r>
            <a:r>
              <a:rPr lang="en-US" sz="1300" dirty="0" err="1"/>
              <a:t>takePictureIntent</a:t>
            </a:r>
            <a:r>
              <a:rPr lang="en-US" sz="1300" dirty="0"/>
              <a:t>, </a:t>
            </a:r>
            <a:r>
              <a:rPr lang="en-US" sz="1300" dirty="0">
                <a:solidFill>
                  <a:srgbClr val="0000FF"/>
                </a:solidFill>
              </a:rPr>
              <a:t>3</a:t>
            </a:r>
            <a:r>
              <a:rPr lang="en-US" sz="1300" dirty="0"/>
              <a:t>);</a:t>
            </a:r>
            <a:br>
              <a:rPr lang="en-US" sz="1300" dirty="0"/>
            </a:br>
            <a:r>
              <a:rPr lang="en-US" sz="1300" dirty="0"/>
              <a:t>                }</a:t>
            </a:r>
            <a:br>
              <a:rPr lang="en-US" sz="1300" dirty="0"/>
            </a:br>
            <a:r>
              <a:rPr lang="en-US" sz="1300" dirty="0"/>
              <a:t>                </a:t>
            </a:r>
            <a:r>
              <a:rPr lang="en-US" sz="1300" b="1" dirty="0">
                <a:solidFill>
                  <a:srgbClr val="000080"/>
                </a:solidFill>
              </a:rPr>
              <a:t>break</a:t>
            </a:r>
            <a:r>
              <a:rPr lang="en-US" sz="1300" dirty="0" smtClean="0"/>
              <a:t>;</a:t>
            </a:r>
            <a:endParaRPr lang="en-US" altLang="ko-KR" sz="13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400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49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3143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RequestRuntimePermission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/java/</a:t>
            </a:r>
            <a:r>
              <a:rPr lang="en-US" altLang="ko-KR" dirty="0" err="1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7264" y="2485497"/>
            <a:ext cx="8778240" cy="26930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300" smtClean="0"/>
              <a:t>            </a:t>
            </a:r>
            <a:r>
              <a:rPr lang="en-US" sz="1300" b="1" dirty="0">
                <a:solidFill>
                  <a:srgbClr val="000080"/>
                </a:solidFill>
              </a:rPr>
              <a:t>case </a:t>
            </a:r>
            <a:r>
              <a:rPr lang="en-US" sz="1300" dirty="0">
                <a:solidFill>
                  <a:srgbClr val="0000FF"/>
                </a:solidFill>
              </a:rPr>
              <a:t>4</a:t>
            </a:r>
            <a:r>
              <a:rPr lang="en-US" sz="1300" dirty="0"/>
              <a:t>: </a:t>
            </a:r>
            <a:r>
              <a:rPr lang="en-US" sz="1300" i="1" dirty="0">
                <a:solidFill>
                  <a:srgbClr val="808080"/>
                </a:solidFill>
              </a:rPr>
              <a:t>// Accounts</a:t>
            </a:r>
            <a:br>
              <a:rPr lang="en-US" sz="1300" i="1" dirty="0">
                <a:solidFill>
                  <a:srgbClr val="808080"/>
                </a:solidFill>
              </a:rPr>
            </a:br>
            <a:r>
              <a:rPr lang="en-US" sz="1300" i="1" dirty="0">
                <a:solidFill>
                  <a:srgbClr val="808080"/>
                </a:solidFill>
              </a:rPr>
              <a:t>                </a:t>
            </a:r>
            <a:r>
              <a:rPr lang="en-US" sz="1300" dirty="0" err="1"/>
              <a:t>AccountManager</a:t>
            </a:r>
            <a:r>
              <a:rPr lang="en-US" sz="1300" dirty="0"/>
              <a:t> manager = (</a:t>
            </a:r>
            <a:r>
              <a:rPr lang="en-US" sz="1300" dirty="0" err="1"/>
              <a:t>AccountManager</a:t>
            </a:r>
            <a:r>
              <a:rPr lang="en-US" sz="1300" dirty="0"/>
              <a:t>) </a:t>
            </a:r>
            <a:r>
              <a:rPr lang="en-US" sz="1300" dirty="0" err="1"/>
              <a:t>getSystemService</a:t>
            </a:r>
            <a:r>
              <a:rPr lang="en-US" sz="1300" dirty="0"/>
              <a:t>(</a:t>
            </a:r>
            <a:r>
              <a:rPr lang="en-US" sz="1300" b="1" i="1" dirty="0">
                <a:solidFill>
                  <a:srgbClr val="660E7A"/>
                </a:solidFill>
              </a:rPr>
              <a:t>ACCOUNT_SERVICE</a:t>
            </a:r>
            <a:r>
              <a:rPr lang="en-US" sz="1300" dirty="0"/>
              <a:t>);</a:t>
            </a:r>
            <a:br>
              <a:rPr lang="en-US" sz="1300" dirty="0"/>
            </a:br>
            <a:r>
              <a:rPr lang="en-US" sz="1300" dirty="0"/>
              <a:t>                Account[] list = </a:t>
            </a:r>
            <a:r>
              <a:rPr lang="en-US" sz="1300" dirty="0" err="1"/>
              <a:t>manager.getAccounts</a:t>
            </a:r>
            <a:r>
              <a:rPr lang="en-US" sz="1300" dirty="0"/>
              <a:t>();</a:t>
            </a:r>
            <a:br>
              <a:rPr lang="en-US" sz="1300" dirty="0"/>
            </a:br>
            <a:r>
              <a:rPr lang="en-US" sz="1300" dirty="0"/>
              <a:t>                </a:t>
            </a:r>
            <a:r>
              <a:rPr lang="en-US" sz="1300" dirty="0" err="1"/>
              <a:t>Toast.</a:t>
            </a:r>
            <a:r>
              <a:rPr lang="en-US" sz="1300" i="1" dirty="0" err="1"/>
              <a:t>makeText</a:t>
            </a:r>
            <a:r>
              <a:rPr lang="en-US" sz="1300" dirty="0"/>
              <a:t>(</a:t>
            </a:r>
            <a:r>
              <a:rPr lang="en-US" sz="1300" b="1" dirty="0">
                <a:solidFill>
                  <a:srgbClr val="000080"/>
                </a:solidFill>
              </a:rPr>
              <a:t>this</a:t>
            </a:r>
            <a:r>
              <a:rPr lang="en-US" sz="1300" dirty="0"/>
              <a:t>, </a:t>
            </a:r>
            <a:r>
              <a:rPr lang="en-US" sz="1300" b="1" dirty="0">
                <a:solidFill>
                  <a:srgbClr val="008000"/>
                </a:solidFill>
              </a:rPr>
              <a:t>"" </a:t>
            </a:r>
            <a:r>
              <a:rPr lang="en-US" sz="1300" dirty="0"/>
              <a:t>+list[</a:t>
            </a:r>
            <a:r>
              <a:rPr lang="en-US" sz="1300" dirty="0">
                <a:solidFill>
                  <a:srgbClr val="0000FF"/>
                </a:solidFill>
              </a:rPr>
              <a:t>0</a:t>
            </a:r>
            <a:r>
              <a:rPr lang="en-US" sz="1300" dirty="0"/>
              <a:t>].</a:t>
            </a:r>
            <a:r>
              <a:rPr lang="en-US" sz="1300" b="1" dirty="0">
                <a:solidFill>
                  <a:srgbClr val="660E7A"/>
                </a:solidFill>
              </a:rPr>
              <a:t>name</a:t>
            </a:r>
            <a:r>
              <a:rPr lang="en-US" sz="1300" dirty="0"/>
              <a:t>, </a:t>
            </a:r>
            <a:r>
              <a:rPr lang="en-US" sz="1300" dirty="0" err="1"/>
              <a:t>Toast.</a:t>
            </a:r>
            <a:r>
              <a:rPr lang="en-US" sz="1300" b="1" i="1" dirty="0" err="1">
                <a:solidFill>
                  <a:srgbClr val="660E7A"/>
                </a:solidFill>
              </a:rPr>
              <a:t>LENGTH_SHORT</a:t>
            </a:r>
            <a:r>
              <a:rPr lang="en-US" sz="1300" dirty="0"/>
              <a:t>).show();</a:t>
            </a:r>
            <a:br>
              <a:rPr lang="en-US" sz="1300" dirty="0"/>
            </a:br>
            <a:r>
              <a:rPr lang="en-US" sz="1300" dirty="0"/>
              <a:t>                </a:t>
            </a:r>
            <a:r>
              <a:rPr lang="en-US" sz="1300" b="1" dirty="0">
                <a:solidFill>
                  <a:srgbClr val="000080"/>
                </a:solidFill>
              </a:rPr>
              <a:t>for</a:t>
            </a:r>
            <a:r>
              <a:rPr lang="en-US" sz="1300" dirty="0"/>
              <a:t>(</a:t>
            </a:r>
            <a:r>
              <a:rPr lang="en-US" sz="1300" b="1" dirty="0" err="1">
                <a:solidFill>
                  <a:srgbClr val="000080"/>
                </a:solidFill>
              </a:rPr>
              <a:t>int</a:t>
            </a:r>
            <a:r>
              <a:rPr lang="en-US" sz="1300" b="1" dirty="0">
                <a:solidFill>
                  <a:srgbClr val="000080"/>
                </a:solidFill>
              </a:rPr>
              <a:t> </a:t>
            </a:r>
            <a:r>
              <a:rPr lang="en-US" sz="1300" dirty="0" err="1"/>
              <a:t>i</a:t>
            </a:r>
            <a:r>
              <a:rPr lang="en-US" sz="1300" dirty="0"/>
              <a:t>=</a:t>
            </a:r>
            <a:r>
              <a:rPr lang="en-US" sz="1300" dirty="0">
                <a:solidFill>
                  <a:srgbClr val="0000FF"/>
                </a:solidFill>
              </a:rPr>
              <a:t>0</a:t>
            </a:r>
            <a:r>
              <a:rPr lang="en-US" sz="1300" dirty="0"/>
              <a:t>; </a:t>
            </a:r>
            <a:r>
              <a:rPr lang="en-US" sz="1300" dirty="0" err="1"/>
              <a:t>i</a:t>
            </a:r>
            <a:r>
              <a:rPr lang="en-US" sz="1300" dirty="0"/>
              <a:t>&lt;</a:t>
            </a:r>
            <a:r>
              <a:rPr lang="en-US" sz="1300" dirty="0" err="1"/>
              <a:t>list.</a:t>
            </a:r>
            <a:r>
              <a:rPr lang="en-US" sz="1300" b="1" dirty="0" err="1">
                <a:solidFill>
                  <a:srgbClr val="660E7A"/>
                </a:solidFill>
              </a:rPr>
              <a:t>length</a:t>
            </a:r>
            <a:r>
              <a:rPr lang="en-US" sz="1300" dirty="0" err="1"/>
              <a:t>;i</a:t>
            </a:r>
            <a:r>
              <a:rPr lang="en-US" sz="1300" dirty="0"/>
              <a:t>++) {</a:t>
            </a:r>
            <a:br>
              <a:rPr lang="en-US" sz="1300" dirty="0"/>
            </a:br>
            <a:r>
              <a:rPr lang="en-US" sz="1300" dirty="0"/>
              <a:t>                    </a:t>
            </a:r>
            <a:r>
              <a:rPr lang="en-US" sz="1300" dirty="0" err="1"/>
              <a:t>Log.</a:t>
            </a:r>
            <a:r>
              <a:rPr lang="en-US" sz="1300" i="1" dirty="0" err="1"/>
              <a:t>e</a:t>
            </a:r>
            <a:r>
              <a:rPr lang="en-US" sz="1300" dirty="0"/>
              <a:t>(</a:t>
            </a:r>
            <a:r>
              <a:rPr lang="en-US" sz="1300" b="1" dirty="0">
                <a:solidFill>
                  <a:srgbClr val="008000"/>
                </a:solidFill>
              </a:rPr>
              <a:t>"Account "</a:t>
            </a:r>
            <a:r>
              <a:rPr lang="en-US" sz="1300" dirty="0"/>
              <a:t>+</a:t>
            </a:r>
            <a:r>
              <a:rPr lang="en-US" sz="1300" dirty="0" err="1"/>
              <a:t>i</a:t>
            </a:r>
            <a:r>
              <a:rPr lang="en-US" sz="1300" dirty="0"/>
              <a:t>, </a:t>
            </a:r>
            <a:r>
              <a:rPr lang="en-US" sz="1300" b="1" dirty="0">
                <a:solidFill>
                  <a:srgbClr val="008000"/>
                </a:solidFill>
              </a:rPr>
              <a:t>""</a:t>
            </a:r>
            <a:r>
              <a:rPr lang="en-US" sz="1300" dirty="0"/>
              <a:t>+list[</a:t>
            </a:r>
            <a:r>
              <a:rPr lang="en-US" sz="1300" dirty="0" err="1"/>
              <a:t>i</a:t>
            </a:r>
            <a:r>
              <a:rPr lang="en-US" sz="1300" dirty="0"/>
              <a:t>].</a:t>
            </a:r>
            <a:r>
              <a:rPr lang="en-US" sz="1300" b="1" dirty="0">
                <a:solidFill>
                  <a:srgbClr val="660E7A"/>
                </a:solidFill>
              </a:rPr>
              <a:t>name</a:t>
            </a:r>
            <a:r>
              <a:rPr lang="en-US" sz="1300" dirty="0"/>
              <a:t>);</a:t>
            </a:r>
            <a:br>
              <a:rPr lang="en-US" sz="1300" dirty="0"/>
            </a:br>
            <a:r>
              <a:rPr lang="en-US" sz="1300" dirty="0"/>
              <a:t>                </a:t>
            </a:r>
            <a:r>
              <a:rPr lang="en-US" sz="1300" dirty="0" smtClean="0"/>
              <a:t>}</a:t>
            </a:r>
            <a:r>
              <a:rPr lang="en-US" sz="1300" dirty="0"/>
              <a:t/>
            </a:r>
            <a:br>
              <a:rPr lang="en-US" sz="1300" dirty="0"/>
            </a:br>
            <a:r>
              <a:rPr lang="en-US" sz="1300" dirty="0"/>
              <a:t>        }</a:t>
            </a:r>
            <a:br>
              <a:rPr lang="en-US" sz="1300" dirty="0"/>
            </a:br>
            <a:r>
              <a:rPr lang="en-US" sz="1300" dirty="0"/>
              <a:t>        </a:t>
            </a:r>
            <a:r>
              <a:rPr lang="en-US" sz="1300" dirty="0" err="1"/>
              <a:t>Toast.</a:t>
            </a:r>
            <a:r>
              <a:rPr lang="en-US" sz="1300" i="1" dirty="0" err="1"/>
              <a:t>makeText</a:t>
            </a:r>
            <a:r>
              <a:rPr lang="en-US" sz="1300" dirty="0"/>
              <a:t>(</a:t>
            </a:r>
            <a:r>
              <a:rPr lang="en-US" sz="1300" b="1" dirty="0">
                <a:solidFill>
                  <a:srgbClr val="000080"/>
                </a:solidFill>
              </a:rPr>
              <a:t>this</a:t>
            </a:r>
            <a:r>
              <a:rPr lang="en-US" sz="1300" dirty="0"/>
              <a:t>, </a:t>
            </a:r>
            <a:r>
              <a:rPr lang="en-US" sz="1300" b="1" dirty="0">
                <a:solidFill>
                  <a:srgbClr val="008000"/>
                </a:solidFill>
              </a:rPr>
              <a:t>"Permission granted"</a:t>
            </a:r>
            <a:r>
              <a:rPr lang="en-US" sz="1300" dirty="0"/>
              <a:t>, </a:t>
            </a:r>
            <a:r>
              <a:rPr lang="en-US" sz="1300" dirty="0" err="1"/>
              <a:t>Toast.</a:t>
            </a:r>
            <a:r>
              <a:rPr lang="en-US" sz="1300" b="1" i="1" dirty="0" err="1">
                <a:solidFill>
                  <a:srgbClr val="660E7A"/>
                </a:solidFill>
              </a:rPr>
              <a:t>LENGTH_SHORT</a:t>
            </a:r>
            <a:r>
              <a:rPr lang="en-US" sz="1300" dirty="0"/>
              <a:t>).show();</a:t>
            </a:r>
            <a:br>
              <a:rPr lang="en-US" sz="1300" dirty="0"/>
            </a:br>
            <a:r>
              <a:rPr lang="en-US" sz="1300" dirty="0"/>
              <a:t>    } </a:t>
            </a:r>
            <a:r>
              <a:rPr lang="en-US" sz="1300" b="1" dirty="0">
                <a:solidFill>
                  <a:srgbClr val="000080"/>
                </a:solidFill>
              </a:rPr>
              <a:t>else </a:t>
            </a:r>
            <a:r>
              <a:rPr lang="en-US" sz="1300" dirty="0"/>
              <a:t>{</a:t>
            </a:r>
            <a:br>
              <a:rPr lang="en-US" sz="1300" dirty="0"/>
            </a:br>
            <a:r>
              <a:rPr lang="en-US" sz="1300" dirty="0"/>
              <a:t>        </a:t>
            </a:r>
            <a:r>
              <a:rPr lang="en-US" sz="1300" dirty="0" err="1"/>
              <a:t>Toast.</a:t>
            </a:r>
            <a:r>
              <a:rPr lang="en-US" sz="1300" i="1" dirty="0" err="1"/>
              <a:t>makeText</a:t>
            </a:r>
            <a:r>
              <a:rPr lang="en-US" sz="1300" dirty="0"/>
              <a:t>(</a:t>
            </a:r>
            <a:r>
              <a:rPr lang="en-US" sz="1300" b="1" dirty="0">
                <a:solidFill>
                  <a:srgbClr val="000080"/>
                </a:solidFill>
              </a:rPr>
              <a:t>this</a:t>
            </a:r>
            <a:r>
              <a:rPr lang="en-US" sz="1300" dirty="0"/>
              <a:t>, </a:t>
            </a:r>
            <a:r>
              <a:rPr lang="en-US" sz="1300" b="1" dirty="0">
                <a:solidFill>
                  <a:srgbClr val="008000"/>
                </a:solidFill>
              </a:rPr>
              <a:t>"Permission denied"</a:t>
            </a:r>
            <a:r>
              <a:rPr lang="en-US" sz="1300" dirty="0"/>
              <a:t>, </a:t>
            </a:r>
            <a:r>
              <a:rPr lang="en-US" sz="1300" dirty="0" err="1"/>
              <a:t>Toast.</a:t>
            </a:r>
            <a:r>
              <a:rPr lang="en-US" sz="1300" b="1" i="1" dirty="0" err="1">
                <a:solidFill>
                  <a:srgbClr val="660E7A"/>
                </a:solidFill>
              </a:rPr>
              <a:t>LENGTH_SHORT</a:t>
            </a:r>
            <a:r>
              <a:rPr lang="en-US" sz="1300" dirty="0"/>
              <a:t>).show();</a:t>
            </a:r>
            <a:br>
              <a:rPr lang="en-US" sz="1300" dirty="0"/>
            </a:br>
            <a:r>
              <a:rPr lang="en-US" sz="1300" dirty="0"/>
              <a:t>    </a:t>
            </a:r>
            <a:r>
              <a:rPr lang="en-US" sz="1300" dirty="0" smtClean="0"/>
              <a:t>}</a:t>
            </a:r>
            <a:r>
              <a:rPr lang="en-US" sz="1300" dirty="0"/>
              <a:t/>
            </a:r>
            <a:br>
              <a:rPr lang="en-US" sz="1300" dirty="0"/>
            </a:br>
            <a:r>
              <a:rPr lang="en-US" sz="1300" dirty="0"/>
              <a:t>}</a:t>
            </a:r>
            <a:endParaRPr lang="en-US" altLang="ko-KR" sz="13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050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50</a:t>
            </a:fld>
            <a:endParaRPr lang="ko-KR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68" y="1441801"/>
            <a:ext cx="1987051" cy="35325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906" y="1441801"/>
            <a:ext cx="1987051" cy="35325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044" y="1441801"/>
            <a:ext cx="1987051" cy="35325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181" y="1441801"/>
            <a:ext cx="1987051" cy="35325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6003" y="5108448"/>
            <a:ext cx="1133856" cy="37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선택 시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694044" y="5108448"/>
            <a:ext cx="1987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Permission </a:t>
            </a:r>
            <a:r>
              <a:rPr lang="ko-KR" altLang="en-US" sz="1400" dirty="0" smtClean="0"/>
              <a:t>승인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6925180" y="5108448"/>
            <a:ext cx="19870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이미 승인된</a:t>
            </a:r>
          </a:p>
          <a:p>
            <a:pPr algn="ctr"/>
            <a:r>
              <a:rPr lang="en-US" sz="1400" dirty="0" smtClean="0"/>
              <a:t>Permission</a:t>
            </a:r>
            <a:r>
              <a:rPr lang="ko-KR" altLang="en-US" sz="1400" dirty="0" smtClean="0"/>
              <a:t>을 다시</a:t>
            </a:r>
          </a:p>
          <a:p>
            <a:pPr algn="ctr"/>
            <a:r>
              <a:rPr lang="ko-KR" altLang="en-US" sz="1400" dirty="0" smtClean="0"/>
              <a:t>선택 시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1729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51</a:t>
            </a:fld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497" y="1543331"/>
            <a:ext cx="2467293" cy="4386299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567" y="1543331"/>
            <a:ext cx="2478009" cy="4405349"/>
          </a:xfrm>
          <a:prstGeom prst="rect">
            <a:avLst/>
          </a:prstGeom>
        </p:spPr>
      </p:pic>
      <p:sp>
        <p:nvSpPr>
          <p:cNvPr id="15" name="아래쪽 화살표 14"/>
          <p:cNvSpPr/>
          <p:nvPr/>
        </p:nvSpPr>
        <p:spPr>
          <a:xfrm rot="16200000">
            <a:off x="4411637" y="3124027"/>
            <a:ext cx="320726" cy="64750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182898" y="5995346"/>
            <a:ext cx="273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모두 </a:t>
            </a:r>
            <a:r>
              <a:rPr lang="en-US" altLang="ko-KR" dirty="0" smtClean="0"/>
              <a:t>Allow </a:t>
            </a:r>
            <a:r>
              <a:rPr lang="ko-KR" altLang="en-US" dirty="0" smtClean="0"/>
              <a:t>했을 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93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52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43531</TotalTime>
  <Words>2059</Words>
  <Application>Microsoft Office PowerPoint</Application>
  <PresentationFormat>화면 슬라이드 쇼(4:3)</PresentationFormat>
  <Paragraphs>808</Paragraphs>
  <Slides>52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3" baseType="lpstr">
      <vt:lpstr>HY중고딕</vt:lpstr>
      <vt:lpstr>돋움체</vt:lpstr>
      <vt:lpstr>맑은 고딕</vt:lpstr>
      <vt:lpstr>Arial</vt:lpstr>
      <vt:lpstr>Calibri</vt:lpstr>
      <vt:lpstr>Century Gothic</vt:lpstr>
      <vt:lpstr>Consolas</vt:lpstr>
      <vt:lpstr>Courier New</vt:lpstr>
      <vt:lpstr>Palatino Linotype</vt:lpstr>
      <vt:lpstr>Times New Roman</vt:lpstr>
      <vt:lpstr>Executive</vt:lpstr>
      <vt:lpstr>멀티미디어</vt:lpstr>
      <vt:lpstr>Multimedia</vt:lpstr>
      <vt:lpstr>Multimedia</vt:lpstr>
      <vt:lpstr>Multimedia</vt:lpstr>
      <vt:lpstr>MediaPlayer Class</vt:lpstr>
      <vt:lpstr>MediaPlayer Class</vt:lpstr>
      <vt:lpstr>MediaPlayer Class</vt:lpstr>
      <vt:lpstr>MediaPlayer</vt:lpstr>
      <vt:lpstr>Example #01</vt:lpstr>
      <vt:lpstr>New Project</vt:lpstr>
      <vt:lpstr>Sound</vt:lpstr>
      <vt:lpstr>Sound</vt:lpstr>
      <vt:lpstr>MediaPlayer</vt:lpstr>
      <vt:lpstr>Example #02</vt:lpstr>
      <vt:lpstr>New Project</vt:lpstr>
      <vt:lpstr>Audio</vt:lpstr>
      <vt:lpstr>MediaPlayer</vt:lpstr>
      <vt:lpstr>MediaPlayer</vt:lpstr>
      <vt:lpstr>MediaPlayer</vt:lpstr>
      <vt:lpstr>MediaPlayer</vt:lpstr>
      <vt:lpstr>진행률 막대</vt:lpstr>
      <vt:lpstr>MediaPlayer</vt:lpstr>
      <vt:lpstr>MediaPlayer</vt:lpstr>
      <vt:lpstr>MediaPlayer</vt:lpstr>
      <vt:lpstr>MediaPlayer</vt:lpstr>
      <vt:lpstr>MediaPlayer</vt:lpstr>
      <vt:lpstr>Example #03</vt:lpstr>
      <vt:lpstr>SurfaceView</vt:lpstr>
      <vt:lpstr>New Project</vt:lpstr>
      <vt:lpstr>Video</vt:lpstr>
      <vt:lpstr>Video</vt:lpstr>
      <vt:lpstr>Video</vt:lpstr>
      <vt:lpstr>Video</vt:lpstr>
      <vt:lpstr>Video</vt:lpstr>
      <vt:lpstr>VideoView Class</vt:lpstr>
      <vt:lpstr>New Project</vt:lpstr>
      <vt:lpstr>VideoView </vt:lpstr>
      <vt:lpstr>VideoView</vt:lpstr>
      <vt:lpstr>VideoView</vt:lpstr>
      <vt:lpstr>VideoView</vt:lpstr>
      <vt:lpstr>Example #04</vt:lpstr>
      <vt:lpstr>Permission</vt:lpstr>
      <vt:lpstr>Permission</vt:lpstr>
      <vt:lpstr>Permission</vt:lpstr>
      <vt:lpstr>Permission</vt:lpstr>
      <vt:lpstr>Permission</vt:lpstr>
      <vt:lpstr>Permission</vt:lpstr>
      <vt:lpstr>Permission</vt:lpstr>
      <vt:lpstr>Permission</vt:lpstr>
      <vt:lpstr>Permission</vt:lpstr>
      <vt:lpstr>Permission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2019</cp:revision>
  <cp:lastPrinted>2011-03-01T18:43:48Z</cp:lastPrinted>
  <dcterms:created xsi:type="dcterms:W3CDTF">2010-10-12T07:50:15Z</dcterms:created>
  <dcterms:modified xsi:type="dcterms:W3CDTF">2017-11-28T04:49:25Z</dcterms:modified>
</cp:coreProperties>
</file>